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_rels/presentation.xml.rels" ContentType="application/vnd.openxmlformats-package.relationships+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_rels/slideLayout22.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17.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16.xml.rels" ContentType="application/vnd.openxmlformats-package.relationships+xml"/>
  <Override PartName="/ppt/slideLayouts/_rels/slideLayout18.xml.rels" ContentType="application/vnd.openxmlformats-package.relationships+xml"/>
  <Override PartName="/ppt/slideLayouts/_rels/slideLayout5.xml.rels" ContentType="application/vnd.openxmlformats-package.relationships+xml"/>
  <Override PartName="/ppt/slideLayouts/_rels/slideLayout13.xml.rels" ContentType="application/vnd.openxmlformats-package.relationships+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1.xml.rels" ContentType="application/vnd.openxmlformats-package.relationships+xml"/>
  <Override PartName="/ppt/slideLayouts/_rels/slideLayout14.xml.rels" ContentType="application/vnd.openxmlformats-package.relationships+xml"/>
  <Override PartName="/ppt/slideLayouts/_rels/slideLayout10.xml.rels" ContentType="application/vnd.openxmlformats-package.relationships+xml"/>
  <Override PartName="/ppt/slideLayouts/_rels/slideLayout24.xml.rels" ContentType="application/vnd.openxmlformats-package.relationships+xml"/>
  <Override PartName="/ppt/slideLayouts/_rels/slideLayout9.xml.rels" ContentType="application/vnd.openxmlformats-package.relationships+xml"/>
  <Override PartName="/ppt/slideLayouts/_rels/slideLayout23.xml.rels" ContentType="application/vnd.openxmlformats-package.relationships+xml"/>
  <Override PartName="/ppt/slideLayouts/_rels/slideLayout8.xml.rels" ContentType="application/vnd.openxmlformats-package.relationships+xml"/>
  <Override PartName="/ppt/slideLayouts/_rels/slideLayout15.xml.rels" ContentType="application/vnd.openxmlformats-package.relationships+xml"/>
  <Override PartName="/ppt/slideLayouts/_rels/slideLayout2.xml.rels" ContentType="application/vnd.openxmlformats-package.relationships+xml"/>
  <Override PartName="/ppt/slideLayouts/_rels/slideLayout20.xml.rels" ContentType="application/vnd.openxmlformats-package.relationships+xml"/>
  <Override PartName="/ppt/slideLayouts/slideLayout6.xml" ContentType="application/vnd.openxmlformats-officedocument.presentationml.slideLayout+xml"/>
  <Override PartName="/ppt/slideLayouts/slideLayout24.xml" ContentType="application/vnd.openxmlformats-officedocument.presentationml.slideLayout+xml"/>
  <Override PartName="/ppt/slideLayouts/slideLayout5.xml" ContentType="application/vnd.openxmlformats-officedocument.presentationml.slideLayout+xml"/>
  <Override PartName="/ppt/slideLayouts/slideLayout23.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3.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4.xml" ContentType="application/vnd.openxmlformats-officedocument.presentationml.slideLayout+xml"/>
  <Override PartName="/ppt/slideLayouts/slideLayout22.xml" ContentType="application/vnd.openxmlformats-officedocument.presentationml.slideLayout+xml"/>
  <Override PartName="/ppt/media/image1.jpeg" ContentType="image/jpeg"/>
  <Override PartName="/ppt/media/image2.jpeg" ContentType="image/jpeg"/>
  <Override PartName="/ppt/media/image3.png" ContentType="image/png"/>
  <Override PartName="/ppt/media/image4.png" ContentType="image/png"/>
  <Override PartName="/ppt/media/image5.jpeg" ContentType="image/jpeg"/>
  <Override PartName="/ppt/presProps.xml" ContentType="application/vnd.openxmlformats-officedocument.presentationml.presProps+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_rels/slide24.xml.rels" ContentType="application/vnd.openxmlformats-package.relationships+xml"/>
  <Override PartName="/ppt/slides/_rels/slide15.xml.rels" ContentType="application/vnd.openxmlformats-package.relationships+xml"/>
  <Override PartName="/ppt/slides/_rels/slide31.xml.rels" ContentType="application/vnd.openxmlformats-package.relationships+xml"/>
  <Override PartName="/ppt/slides/_rels/slide4.xml.rels" ContentType="application/vnd.openxmlformats-package.relationships+xml"/>
  <Override PartName="/ppt/slides/_rels/slide8.xml.rels" ContentType="application/vnd.openxmlformats-package.relationships+xml"/>
  <Override PartName="/ppt/slides/_rels/slide27.xml.rels" ContentType="application/vnd.openxmlformats-package.relationships+xml"/>
  <Override PartName="/ppt/slides/_rels/slide2.xml.rels" ContentType="application/vnd.openxmlformats-package.relationships+xml"/>
  <Override PartName="/ppt/slides/_rels/slide21.xml.rels" ContentType="application/vnd.openxmlformats-package.relationships+xml"/>
  <Override PartName="/ppt/slides/_rels/slide5.xml.rels" ContentType="application/vnd.openxmlformats-package.relationships+xml"/>
  <Override PartName="/ppt/slides/_rels/slide33.xml.rels" ContentType="application/vnd.openxmlformats-package.relationships+xml"/>
  <Override PartName="/ppt/slides/_rels/slide34.xml.rels" ContentType="application/vnd.openxmlformats-package.relationships+xml"/>
  <Override PartName="/ppt/slides/_rels/slide6.xml.rels" ContentType="application/vnd.openxmlformats-package.relationships+xml"/>
  <Override PartName="/ppt/slides/_rels/slide16.xml.rels" ContentType="application/vnd.openxmlformats-package.relationships+xml"/>
  <Override PartName="/ppt/slides/_rels/slide32.xml.rels" ContentType="application/vnd.openxmlformats-package.relationships+xml"/>
  <Override PartName="/ppt/slides/_rels/slide10.xml.rels" ContentType="application/vnd.openxmlformats-package.relationships+xml"/>
  <Override PartName="/ppt/slides/_rels/slide25.xml.rels" ContentType="application/vnd.openxmlformats-package.relationships+xml"/>
  <Override PartName="/ppt/slides/_rels/slide20.xml.rels" ContentType="application/vnd.openxmlformats-package.relationships+xml"/>
  <Override PartName="/ppt/slides/_rels/slide1.xml.rels" ContentType="application/vnd.openxmlformats-package.relationships+xml"/>
  <Override PartName="/ppt/slides/_rels/slide7.xml.rels" ContentType="application/vnd.openxmlformats-package.relationships+xml"/>
  <Override PartName="/ppt/slides/_rels/slide26.xml.rels" ContentType="application/vnd.openxmlformats-package.relationships+xml"/>
  <Override PartName="/ppt/slides/_rels/slide11.xml.rels" ContentType="application/vnd.openxmlformats-package.relationships+xml"/>
  <Override PartName="/ppt/slides/_rels/slide17.xml.rels" ContentType="application/vnd.openxmlformats-package.relationships+xml"/>
  <Override PartName="/ppt/slides/_rels/slide12.xml.rels" ContentType="application/vnd.openxmlformats-package.relationships+xml"/>
  <Override PartName="/ppt/slides/_rels/slide18.xml.rels" ContentType="application/vnd.openxmlformats-package.relationships+xml"/>
  <Override PartName="/ppt/slides/_rels/slide13.xml.rels" ContentType="application/vnd.openxmlformats-package.relationships+xml"/>
  <Override PartName="/ppt/slides/_rels/slide19.xml.rels" ContentType="application/vnd.openxmlformats-package.relationships+xml"/>
  <Override PartName="/ppt/slides/_rels/slide9.xml.rels" ContentType="application/vnd.openxmlformats-package.relationships+xml"/>
  <Override PartName="/ppt/slides/_rels/slide3.xml.rels" ContentType="application/vnd.openxmlformats-package.relationships+xml"/>
  <Override PartName="/ppt/slides/_rels/slide28.xml.rels" ContentType="application/vnd.openxmlformats-package.relationships+xml"/>
  <Override PartName="/ppt/slides/_rels/slide22.xml.rels" ContentType="application/vnd.openxmlformats-package.relationships+xml"/>
  <Override PartName="/ppt/slides/_rels/slide23.xml.rels" ContentType="application/vnd.openxmlformats-package.relationships+xml"/>
  <Override PartName="/ppt/slides/_rels/slide14.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slide30.xml" ContentType="application/vnd.openxmlformats-officedocument.presentationml.slide+xml"/>
  <Override PartName="/ppt/slides/slide31.xml" ContentType="application/vnd.openxmlformats-officedocument.presentationml.slide+xml"/>
  <Override PartName="/ppt/slides/slide6.xml" ContentType="application/vnd.openxmlformats-officedocument.presentationml.slide+xml"/>
  <Override PartName="/ppt/slides/slide32.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628DAE0D-4F48-4916-AC84-D64A3B7D6F80}" type="slidenum">
              <a:t>&lt;#&gt;</a:t>
            </a:fld>
          </a:p>
        </p:txBody>
      </p:sp>
      <p:sp>
        <p:nvSpPr>
          <p:cNvPr id="4" name="PlaceHolder 3"/>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Calibri"/>
            </a:endParaRPr>
          </a:p>
        </p:txBody>
      </p:sp>
      <p:sp>
        <p:nvSpPr>
          <p:cNvPr id="6" name="PlaceHolder 2"/>
          <p:cNvSpPr>
            <a:spLocks noGrp="1"/>
          </p:cNvSpPr>
          <p:nvPr>
            <p:ph type="subTitle"/>
          </p:nvPr>
        </p:nvSpPr>
        <p:spPr>
          <a:xfrm>
            <a:off x="838080" y="1825560"/>
            <a:ext cx="10515240" cy="435096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8E3B5C14-2C93-43C3-A203-DBFC84771729}"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Calibri"/>
            </a:endParaRPr>
          </a:p>
        </p:txBody>
      </p:sp>
      <p:sp>
        <p:nvSpPr>
          <p:cNvPr id="8" name="PlaceHolder 2"/>
          <p:cNvSpPr>
            <a:spLocks noGrp="1"/>
          </p:cNvSpPr>
          <p:nvPr>
            <p:ph/>
          </p:nvPr>
        </p:nvSpPr>
        <p:spPr>
          <a:xfrm>
            <a:off x="838080" y="1825560"/>
            <a:ext cx="10515240" cy="435096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Calibri"/>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19B5BE26-9262-4289-BB5B-5DC7842EFAED}"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Calibri"/>
            </a:endParaRPr>
          </a:p>
        </p:txBody>
      </p:sp>
      <p:sp>
        <p:nvSpPr>
          <p:cNvPr id="10" name="PlaceHolder 2"/>
          <p:cNvSpPr>
            <a:spLocks noGrp="1"/>
          </p:cNvSpPr>
          <p:nvPr>
            <p:ph/>
          </p:nvPr>
        </p:nvSpPr>
        <p:spPr>
          <a:xfrm>
            <a:off x="838080" y="1825560"/>
            <a:ext cx="5131080" cy="435096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Calibri"/>
            </a:endParaRPr>
          </a:p>
        </p:txBody>
      </p:sp>
      <p:sp>
        <p:nvSpPr>
          <p:cNvPr id="11" name="PlaceHolder 3"/>
          <p:cNvSpPr>
            <a:spLocks noGrp="1"/>
          </p:cNvSpPr>
          <p:nvPr>
            <p:ph/>
          </p:nvPr>
        </p:nvSpPr>
        <p:spPr>
          <a:xfrm>
            <a:off x="6226200" y="1825560"/>
            <a:ext cx="5131080" cy="435096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Calibr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139B5E1F-56AE-4A88-8737-A639A0B79CE4}" type="slidenum">
              <a:t>&lt;#&gt;</a:t>
            </a:fld>
          </a:p>
        </p:txBody>
      </p:sp>
      <p:sp>
        <p:nvSpPr>
          <p:cNvPr id="7" name="PlaceHolder 6"/>
          <p:cNvSpPr>
            <a:spLocks noGrp="1"/>
          </p:cNvSpPr>
          <p:nvPr>
            <p:ph type="dt" idx="1"/>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Calibri"/>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5B1C36FB-BF3A-4B90-97B2-F3C0DC53FF6E}" type="slidenum">
              <a:t>&lt;#&gt;</a:t>
            </a:fld>
          </a:p>
        </p:txBody>
      </p:sp>
      <p:sp>
        <p:nvSpPr>
          <p:cNvPr id="5" name="PlaceHolder 4"/>
          <p:cNvSpPr>
            <a:spLocks noGrp="1"/>
          </p:cNvSpPr>
          <p:nvPr>
            <p:ph type="dt" idx="1"/>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838080" y="365040"/>
            <a:ext cx="10515240" cy="614412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93905AFC-9C27-4B19-9096-568A68096B9A}" type="slidenum">
              <a:t>&lt;#&gt;</a:t>
            </a:fld>
          </a:p>
        </p:txBody>
      </p:sp>
      <p:sp>
        <p:nvSpPr>
          <p:cNvPr id="5" name="PlaceHolder 4"/>
          <p:cNvSpPr>
            <a:spLocks noGrp="1"/>
          </p:cNvSpPr>
          <p:nvPr>
            <p:ph type="dt" idx="1"/>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Calibri"/>
            </a:endParaRPr>
          </a:p>
        </p:txBody>
      </p:sp>
      <p:sp>
        <p:nvSpPr>
          <p:cNvPr id="15"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Calibri"/>
            </a:endParaRPr>
          </a:p>
        </p:txBody>
      </p:sp>
      <p:sp>
        <p:nvSpPr>
          <p:cNvPr id="16" name="PlaceHolder 3"/>
          <p:cNvSpPr>
            <a:spLocks noGrp="1"/>
          </p:cNvSpPr>
          <p:nvPr>
            <p:ph/>
          </p:nvPr>
        </p:nvSpPr>
        <p:spPr>
          <a:xfrm>
            <a:off x="6226200" y="1825560"/>
            <a:ext cx="5131080" cy="435096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Calibri"/>
            </a:endParaRPr>
          </a:p>
        </p:txBody>
      </p:sp>
      <p:sp>
        <p:nvSpPr>
          <p:cNvPr id="17" name="PlaceHolder 4"/>
          <p:cNvSpPr>
            <a:spLocks noGrp="1"/>
          </p:cNvSpPr>
          <p:nvPr>
            <p:ph/>
          </p:nvPr>
        </p:nvSpPr>
        <p:spPr>
          <a:xfrm>
            <a:off x="838080" y="4098240"/>
            <a:ext cx="5131080" cy="20750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4459A4AF-0B97-44AD-95F2-AD16256914E0}"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Calibri"/>
            </a:endParaRPr>
          </a:p>
        </p:txBody>
      </p:sp>
      <p:sp>
        <p:nvSpPr>
          <p:cNvPr id="19" name="PlaceHolder 2"/>
          <p:cNvSpPr>
            <a:spLocks noGrp="1"/>
          </p:cNvSpPr>
          <p:nvPr>
            <p:ph/>
          </p:nvPr>
        </p:nvSpPr>
        <p:spPr>
          <a:xfrm>
            <a:off x="838080" y="1825560"/>
            <a:ext cx="5131080" cy="435096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Calibri"/>
            </a:endParaRPr>
          </a:p>
        </p:txBody>
      </p:sp>
      <p:sp>
        <p:nvSpPr>
          <p:cNvPr id="20"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Calibri"/>
            </a:endParaRPr>
          </a:p>
        </p:txBody>
      </p:sp>
      <p:sp>
        <p:nvSpPr>
          <p:cNvPr id="21" name="PlaceHolder 4"/>
          <p:cNvSpPr>
            <a:spLocks noGrp="1"/>
          </p:cNvSpPr>
          <p:nvPr>
            <p:ph/>
          </p:nvPr>
        </p:nvSpPr>
        <p:spPr>
          <a:xfrm>
            <a:off x="6226200" y="4098240"/>
            <a:ext cx="5131080" cy="20750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5468DC0E-84A5-4D1B-A542-058ECEA6267E}"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Calibri"/>
            </a:endParaRPr>
          </a:p>
        </p:txBody>
      </p:sp>
      <p:sp>
        <p:nvSpPr>
          <p:cNvPr id="23"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Calibri"/>
            </a:endParaRPr>
          </a:p>
        </p:txBody>
      </p:sp>
      <p:sp>
        <p:nvSpPr>
          <p:cNvPr id="24"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Calibri"/>
            </a:endParaRPr>
          </a:p>
        </p:txBody>
      </p:sp>
      <p:sp>
        <p:nvSpPr>
          <p:cNvPr id="25" name="PlaceHolder 4"/>
          <p:cNvSpPr>
            <a:spLocks noGrp="1"/>
          </p:cNvSpPr>
          <p:nvPr>
            <p:ph/>
          </p:nvPr>
        </p:nvSpPr>
        <p:spPr>
          <a:xfrm>
            <a:off x="838080" y="4098240"/>
            <a:ext cx="10515240" cy="20750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EB763C0E-0448-4746-A3FF-81F3D5124347}"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Calibri"/>
            </a:endParaRPr>
          </a:p>
        </p:txBody>
      </p:sp>
      <p:sp>
        <p:nvSpPr>
          <p:cNvPr id="27" name="PlaceHolder 2"/>
          <p:cNvSpPr>
            <a:spLocks noGrp="1"/>
          </p:cNvSpPr>
          <p:nvPr>
            <p:ph/>
          </p:nvPr>
        </p:nvSpPr>
        <p:spPr>
          <a:xfrm>
            <a:off x="838080" y="1825560"/>
            <a:ext cx="10515240" cy="20750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Calibri"/>
            </a:endParaRPr>
          </a:p>
        </p:txBody>
      </p:sp>
      <p:sp>
        <p:nvSpPr>
          <p:cNvPr id="28" name="PlaceHolder 3"/>
          <p:cNvSpPr>
            <a:spLocks noGrp="1"/>
          </p:cNvSpPr>
          <p:nvPr>
            <p:ph/>
          </p:nvPr>
        </p:nvSpPr>
        <p:spPr>
          <a:xfrm>
            <a:off x="838080" y="4098240"/>
            <a:ext cx="10515240" cy="20750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Calibr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E4A33FCD-B0FD-4F1B-9DEC-A74670DE9C65}" type="slidenum">
              <a:t>&lt;#&gt;</a:t>
            </a:fld>
          </a:p>
        </p:txBody>
      </p:sp>
      <p:sp>
        <p:nvSpPr>
          <p:cNvPr id="7" name="PlaceHolder 6"/>
          <p:cNvSpPr>
            <a:spLocks noGrp="1"/>
          </p:cNvSpPr>
          <p:nvPr>
            <p:ph type="dt" idx="1"/>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Calibri"/>
            </a:endParaRPr>
          </a:p>
        </p:txBody>
      </p:sp>
      <p:sp>
        <p:nvSpPr>
          <p:cNvPr id="30"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Calibri"/>
            </a:endParaRPr>
          </a:p>
        </p:txBody>
      </p:sp>
      <p:sp>
        <p:nvSpPr>
          <p:cNvPr id="31"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Calibri"/>
            </a:endParaRPr>
          </a:p>
        </p:txBody>
      </p:sp>
      <p:sp>
        <p:nvSpPr>
          <p:cNvPr id="32" name="PlaceHolder 4"/>
          <p:cNvSpPr>
            <a:spLocks noGrp="1"/>
          </p:cNvSpPr>
          <p:nvPr>
            <p:ph/>
          </p:nvPr>
        </p:nvSpPr>
        <p:spPr>
          <a:xfrm>
            <a:off x="838080" y="4098240"/>
            <a:ext cx="5131080" cy="20750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Calibri"/>
            </a:endParaRPr>
          </a:p>
        </p:txBody>
      </p:sp>
      <p:sp>
        <p:nvSpPr>
          <p:cNvPr id="33" name="PlaceHolder 5"/>
          <p:cNvSpPr>
            <a:spLocks noGrp="1"/>
          </p:cNvSpPr>
          <p:nvPr>
            <p:ph/>
          </p:nvPr>
        </p:nvSpPr>
        <p:spPr>
          <a:xfrm>
            <a:off x="6226200" y="4098240"/>
            <a:ext cx="5131080" cy="20750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Calibri"/>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90BEDCC9-35FF-4CF5-8608-BBA119E102B3}" type="slidenum">
              <a:t>&lt;#&gt;</a:t>
            </a:fld>
          </a:p>
        </p:txBody>
      </p:sp>
      <p:sp>
        <p:nvSpPr>
          <p:cNvPr id="9" name="PlaceHolder 8"/>
          <p:cNvSpPr>
            <a:spLocks noGrp="1"/>
          </p:cNvSpPr>
          <p:nvPr>
            <p:ph type="dt" idx="1"/>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Calibri"/>
            </a:endParaRPr>
          </a:p>
        </p:txBody>
      </p:sp>
      <p:sp>
        <p:nvSpPr>
          <p:cNvPr id="35" name="PlaceHolder 2"/>
          <p:cNvSpPr>
            <a:spLocks noGrp="1"/>
          </p:cNvSpPr>
          <p:nvPr>
            <p:ph/>
          </p:nvPr>
        </p:nvSpPr>
        <p:spPr>
          <a:xfrm>
            <a:off x="838080" y="1825560"/>
            <a:ext cx="3385800" cy="20750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Calibri"/>
            </a:endParaRPr>
          </a:p>
        </p:txBody>
      </p:sp>
      <p:sp>
        <p:nvSpPr>
          <p:cNvPr id="36" name="PlaceHolder 3"/>
          <p:cNvSpPr>
            <a:spLocks noGrp="1"/>
          </p:cNvSpPr>
          <p:nvPr>
            <p:ph/>
          </p:nvPr>
        </p:nvSpPr>
        <p:spPr>
          <a:xfrm>
            <a:off x="4393440" y="1825560"/>
            <a:ext cx="3385800" cy="20750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Calibri"/>
            </a:endParaRPr>
          </a:p>
        </p:txBody>
      </p:sp>
      <p:sp>
        <p:nvSpPr>
          <p:cNvPr id="37" name="PlaceHolder 4"/>
          <p:cNvSpPr>
            <a:spLocks noGrp="1"/>
          </p:cNvSpPr>
          <p:nvPr>
            <p:ph/>
          </p:nvPr>
        </p:nvSpPr>
        <p:spPr>
          <a:xfrm>
            <a:off x="7949160" y="1825560"/>
            <a:ext cx="3385800" cy="20750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Calibri"/>
            </a:endParaRPr>
          </a:p>
        </p:txBody>
      </p:sp>
      <p:sp>
        <p:nvSpPr>
          <p:cNvPr id="38" name="PlaceHolder 5"/>
          <p:cNvSpPr>
            <a:spLocks noGrp="1"/>
          </p:cNvSpPr>
          <p:nvPr>
            <p:ph/>
          </p:nvPr>
        </p:nvSpPr>
        <p:spPr>
          <a:xfrm>
            <a:off x="838080" y="4098240"/>
            <a:ext cx="3385800" cy="20750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Calibri"/>
            </a:endParaRPr>
          </a:p>
        </p:txBody>
      </p:sp>
      <p:sp>
        <p:nvSpPr>
          <p:cNvPr id="39" name="PlaceHolder 6"/>
          <p:cNvSpPr>
            <a:spLocks noGrp="1"/>
          </p:cNvSpPr>
          <p:nvPr>
            <p:ph/>
          </p:nvPr>
        </p:nvSpPr>
        <p:spPr>
          <a:xfrm>
            <a:off x="4393440" y="4098240"/>
            <a:ext cx="3385800" cy="20750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Calibri"/>
            </a:endParaRPr>
          </a:p>
        </p:txBody>
      </p:sp>
      <p:sp>
        <p:nvSpPr>
          <p:cNvPr id="40" name="PlaceHolder 7"/>
          <p:cNvSpPr>
            <a:spLocks noGrp="1"/>
          </p:cNvSpPr>
          <p:nvPr>
            <p:ph/>
          </p:nvPr>
        </p:nvSpPr>
        <p:spPr>
          <a:xfrm>
            <a:off x="7949160" y="4098240"/>
            <a:ext cx="3385800" cy="20750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Calibri"/>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3A329E23-73B2-4C38-AFCF-D0EE1AF913DE}" type="slidenum">
              <a:t>&lt;#&gt;</a:t>
            </a:fld>
          </a:p>
        </p:txBody>
      </p:sp>
      <p:sp>
        <p:nvSpPr>
          <p:cNvPr id="11" name="PlaceHolder 10"/>
          <p:cNvSpPr>
            <a:spLocks noGrp="1"/>
          </p:cNvSpPr>
          <p:nvPr>
            <p:ph type="dt" idx="1"/>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431EC613-6ECC-4C06-A58B-7C950FCD5E0A}"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Calibri"/>
            </a:endParaRPr>
          </a:p>
        </p:txBody>
      </p:sp>
      <p:sp>
        <p:nvSpPr>
          <p:cNvPr id="47" name="PlaceHolder 2"/>
          <p:cNvSpPr>
            <a:spLocks noGrp="1"/>
          </p:cNvSpPr>
          <p:nvPr>
            <p:ph type="subTitle"/>
          </p:nvPr>
        </p:nvSpPr>
        <p:spPr>
          <a:xfrm>
            <a:off x="838080" y="1825560"/>
            <a:ext cx="10515240" cy="435096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9A5FCE1B-36D1-4FCB-8094-71D503368CF7}" type="slidenum">
              <a:t>&lt;#&gt;</a:t>
            </a:fld>
          </a:p>
        </p:txBody>
      </p:sp>
      <p:sp>
        <p:nvSpPr>
          <p:cNvPr id="6" name="PlaceHolder 5"/>
          <p:cNvSpPr>
            <a:spLocks noGrp="1"/>
          </p:cNvSpPr>
          <p:nvPr>
            <p:ph type="dt" idx="4"/>
          </p:nvPr>
        </p:nvSpPr>
        <p:spPr/>
        <p:txBody>
          <a:bodyPr/>
          <a:p>
            <a:r>
              <a:rPr lang="en-US"/>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Calibri"/>
            </a:endParaRPr>
          </a:p>
        </p:txBody>
      </p:sp>
      <p:sp>
        <p:nvSpPr>
          <p:cNvPr id="49" name="PlaceHolder 2"/>
          <p:cNvSpPr>
            <a:spLocks noGrp="1"/>
          </p:cNvSpPr>
          <p:nvPr>
            <p:ph/>
          </p:nvPr>
        </p:nvSpPr>
        <p:spPr>
          <a:xfrm>
            <a:off x="838080" y="1825560"/>
            <a:ext cx="10515240" cy="435096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Calibri"/>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6ABD92F1-D4BA-45B8-9AE4-E540431508C0}" type="slidenum">
              <a:t>&lt;#&gt;</a:t>
            </a:fld>
          </a:p>
        </p:txBody>
      </p:sp>
      <p:sp>
        <p:nvSpPr>
          <p:cNvPr id="6" name="PlaceHolder 5"/>
          <p:cNvSpPr>
            <a:spLocks noGrp="1"/>
          </p:cNvSpPr>
          <p:nvPr>
            <p:ph type="dt" idx="4"/>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Calibri"/>
            </a:endParaRPr>
          </a:p>
        </p:txBody>
      </p:sp>
      <p:sp>
        <p:nvSpPr>
          <p:cNvPr id="51" name="PlaceHolder 2"/>
          <p:cNvSpPr>
            <a:spLocks noGrp="1"/>
          </p:cNvSpPr>
          <p:nvPr>
            <p:ph/>
          </p:nvPr>
        </p:nvSpPr>
        <p:spPr>
          <a:xfrm>
            <a:off x="838080" y="1825560"/>
            <a:ext cx="5131080" cy="435096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Calibri"/>
            </a:endParaRPr>
          </a:p>
        </p:txBody>
      </p:sp>
      <p:sp>
        <p:nvSpPr>
          <p:cNvPr id="52" name="PlaceHolder 3"/>
          <p:cNvSpPr>
            <a:spLocks noGrp="1"/>
          </p:cNvSpPr>
          <p:nvPr>
            <p:ph/>
          </p:nvPr>
        </p:nvSpPr>
        <p:spPr>
          <a:xfrm>
            <a:off x="6226200" y="1825560"/>
            <a:ext cx="5131080" cy="435096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Calibri"/>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3F8BBFF7-FE1A-4076-9B81-ADFA37DA4D87}" type="slidenum">
              <a:t>&lt;#&gt;</a:t>
            </a:fld>
          </a:p>
        </p:txBody>
      </p:sp>
      <p:sp>
        <p:nvSpPr>
          <p:cNvPr id="7" name="PlaceHolder 6"/>
          <p:cNvSpPr>
            <a:spLocks noGrp="1"/>
          </p:cNvSpPr>
          <p:nvPr>
            <p:ph type="dt" idx="4"/>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Calibri"/>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8E6E21EC-7FF1-414D-9CA0-55FD2777F9DA}" type="slidenum">
              <a:t>&lt;#&gt;</a:t>
            </a:fld>
          </a:p>
        </p:txBody>
      </p:sp>
      <p:sp>
        <p:nvSpPr>
          <p:cNvPr id="5" name="PlaceHolder 4"/>
          <p:cNvSpPr>
            <a:spLocks noGrp="1"/>
          </p:cNvSpPr>
          <p:nvPr>
            <p:ph type="dt" idx="4"/>
          </p:nvPr>
        </p:nvSpPr>
        <p:spPr/>
        <p:txBody>
          <a:bodyPr/>
          <a:p>
            <a:r>
              <a:rPr lang="en-US"/>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838080" y="365040"/>
            <a:ext cx="10515240" cy="614412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F23FA320-DE03-4700-ACD0-7691625DC6CC}" type="slidenum">
              <a:t>&lt;#&gt;</a:t>
            </a:fld>
          </a:p>
        </p:txBody>
      </p:sp>
      <p:sp>
        <p:nvSpPr>
          <p:cNvPr id="5" name="PlaceHolder 4"/>
          <p:cNvSpPr>
            <a:spLocks noGrp="1"/>
          </p:cNvSpPr>
          <p:nvPr>
            <p:ph type="dt" idx="4"/>
          </p:nvPr>
        </p:nvSpPr>
        <p:spPr/>
        <p:txBody>
          <a:bodyPr/>
          <a:p>
            <a:r>
              <a:rPr lang="en-US"/>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Calibri"/>
            </a:endParaRPr>
          </a:p>
        </p:txBody>
      </p:sp>
      <p:sp>
        <p:nvSpPr>
          <p:cNvPr id="56"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Calibri"/>
            </a:endParaRPr>
          </a:p>
        </p:txBody>
      </p:sp>
      <p:sp>
        <p:nvSpPr>
          <p:cNvPr id="57" name="PlaceHolder 3"/>
          <p:cNvSpPr>
            <a:spLocks noGrp="1"/>
          </p:cNvSpPr>
          <p:nvPr>
            <p:ph/>
          </p:nvPr>
        </p:nvSpPr>
        <p:spPr>
          <a:xfrm>
            <a:off x="6226200" y="1825560"/>
            <a:ext cx="5131080" cy="435096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Calibri"/>
            </a:endParaRPr>
          </a:p>
        </p:txBody>
      </p:sp>
      <p:sp>
        <p:nvSpPr>
          <p:cNvPr id="58" name="PlaceHolder 4"/>
          <p:cNvSpPr>
            <a:spLocks noGrp="1"/>
          </p:cNvSpPr>
          <p:nvPr>
            <p:ph/>
          </p:nvPr>
        </p:nvSpPr>
        <p:spPr>
          <a:xfrm>
            <a:off x="838080" y="4098240"/>
            <a:ext cx="5131080" cy="20750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Calibr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57F1D020-C844-4594-AC26-66EFB2923729}" type="slidenum">
              <a:t>&lt;#&gt;</a:t>
            </a:fld>
          </a:p>
        </p:txBody>
      </p:sp>
      <p:sp>
        <p:nvSpPr>
          <p:cNvPr id="8" name="PlaceHolder 7"/>
          <p:cNvSpPr>
            <a:spLocks noGrp="1"/>
          </p:cNvSpPr>
          <p:nvPr>
            <p:ph type="dt" idx="4"/>
          </p:nvPr>
        </p:nvSpPr>
        <p:spPr/>
        <p:txBody>
          <a:bodyPr/>
          <a:p>
            <a:r>
              <a:rPr lang="en-US"/>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Calibri"/>
            </a:endParaRPr>
          </a:p>
        </p:txBody>
      </p:sp>
      <p:sp>
        <p:nvSpPr>
          <p:cNvPr id="60" name="PlaceHolder 2"/>
          <p:cNvSpPr>
            <a:spLocks noGrp="1"/>
          </p:cNvSpPr>
          <p:nvPr>
            <p:ph/>
          </p:nvPr>
        </p:nvSpPr>
        <p:spPr>
          <a:xfrm>
            <a:off x="838080" y="1825560"/>
            <a:ext cx="5131080" cy="435096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Calibri"/>
            </a:endParaRPr>
          </a:p>
        </p:txBody>
      </p:sp>
      <p:sp>
        <p:nvSpPr>
          <p:cNvPr id="61"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Calibri"/>
            </a:endParaRPr>
          </a:p>
        </p:txBody>
      </p:sp>
      <p:sp>
        <p:nvSpPr>
          <p:cNvPr id="62" name="PlaceHolder 4"/>
          <p:cNvSpPr>
            <a:spLocks noGrp="1"/>
          </p:cNvSpPr>
          <p:nvPr>
            <p:ph/>
          </p:nvPr>
        </p:nvSpPr>
        <p:spPr>
          <a:xfrm>
            <a:off x="6226200" y="4098240"/>
            <a:ext cx="5131080" cy="20750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Calibr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E8BE5DF5-9CFC-453A-AAA8-1D3FAD8D12D2}" type="slidenum">
              <a:t>&lt;#&gt;</a:t>
            </a:fld>
          </a:p>
        </p:txBody>
      </p:sp>
      <p:sp>
        <p:nvSpPr>
          <p:cNvPr id="8" name="PlaceHolder 7"/>
          <p:cNvSpPr>
            <a:spLocks noGrp="1"/>
          </p:cNvSpPr>
          <p:nvPr>
            <p:ph type="dt" idx="4"/>
          </p:nvPr>
        </p:nvSpPr>
        <p:spPr/>
        <p:txBody>
          <a:bodyPr/>
          <a:p>
            <a:r>
              <a:rPr lang="en-US"/>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Calibri"/>
            </a:endParaRPr>
          </a:p>
        </p:txBody>
      </p:sp>
      <p:sp>
        <p:nvSpPr>
          <p:cNvPr id="64"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Calibri"/>
            </a:endParaRPr>
          </a:p>
        </p:txBody>
      </p:sp>
      <p:sp>
        <p:nvSpPr>
          <p:cNvPr id="65"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Calibri"/>
            </a:endParaRPr>
          </a:p>
        </p:txBody>
      </p:sp>
      <p:sp>
        <p:nvSpPr>
          <p:cNvPr id="66" name="PlaceHolder 4"/>
          <p:cNvSpPr>
            <a:spLocks noGrp="1"/>
          </p:cNvSpPr>
          <p:nvPr>
            <p:ph/>
          </p:nvPr>
        </p:nvSpPr>
        <p:spPr>
          <a:xfrm>
            <a:off x="838080" y="4098240"/>
            <a:ext cx="10515240" cy="20750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Calibr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E29E6A1C-A47D-4630-A3C2-C27B098E5AE4}" type="slidenum">
              <a:t>&lt;#&gt;</a:t>
            </a:fld>
          </a:p>
        </p:txBody>
      </p:sp>
      <p:sp>
        <p:nvSpPr>
          <p:cNvPr id="8" name="PlaceHolder 7"/>
          <p:cNvSpPr>
            <a:spLocks noGrp="1"/>
          </p:cNvSpPr>
          <p:nvPr>
            <p:ph type="dt" idx="4"/>
          </p:nvPr>
        </p:nvSpPr>
        <p:spPr/>
        <p:txBody>
          <a:bodyPr/>
          <a:p>
            <a:r>
              <a:rPr lang="en-US"/>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Calibri"/>
            </a:endParaRPr>
          </a:p>
        </p:txBody>
      </p:sp>
      <p:sp>
        <p:nvSpPr>
          <p:cNvPr id="68" name="PlaceHolder 2"/>
          <p:cNvSpPr>
            <a:spLocks noGrp="1"/>
          </p:cNvSpPr>
          <p:nvPr>
            <p:ph/>
          </p:nvPr>
        </p:nvSpPr>
        <p:spPr>
          <a:xfrm>
            <a:off x="838080" y="1825560"/>
            <a:ext cx="10515240" cy="20750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Calibri"/>
            </a:endParaRPr>
          </a:p>
        </p:txBody>
      </p:sp>
      <p:sp>
        <p:nvSpPr>
          <p:cNvPr id="69" name="PlaceHolder 3"/>
          <p:cNvSpPr>
            <a:spLocks noGrp="1"/>
          </p:cNvSpPr>
          <p:nvPr>
            <p:ph/>
          </p:nvPr>
        </p:nvSpPr>
        <p:spPr>
          <a:xfrm>
            <a:off x="838080" y="4098240"/>
            <a:ext cx="10515240" cy="20750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Calibri"/>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88927BA1-E26C-43CC-B488-83B3EF30B89F}" type="slidenum">
              <a:t>&lt;#&gt;</a:t>
            </a:fld>
          </a:p>
        </p:txBody>
      </p:sp>
      <p:sp>
        <p:nvSpPr>
          <p:cNvPr id="7" name="PlaceHolder 6"/>
          <p:cNvSpPr>
            <a:spLocks noGrp="1"/>
          </p:cNvSpPr>
          <p:nvPr>
            <p:ph type="dt" idx="4"/>
          </p:nvPr>
        </p:nvSpPr>
        <p:spPr/>
        <p:txBody>
          <a:bodyPr/>
          <a:p>
            <a:r>
              <a:rPr lang="en-US"/>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Calibri"/>
            </a:endParaRPr>
          </a:p>
        </p:txBody>
      </p:sp>
      <p:sp>
        <p:nvSpPr>
          <p:cNvPr id="71"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Calibri"/>
            </a:endParaRPr>
          </a:p>
        </p:txBody>
      </p:sp>
      <p:sp>
        <p:nvSpPr>
          <p:cNvPr id="72"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Calibri"/>
            </a:endParaRPr>
          </a:p>
        </p:txBody>
      </p:sp>
      <p:sp>
        <p:nvSpPr>
          <p:cNvPr id="73" name="PlaceHolder 4"/>
          <p:cNvSpPr>
            <a:spLocks noGrp="1"/>
          </p:cNvSpPr>
          <p:nvPr>
            <p:ph/>
          </p:nvPr>
        </p:nvSpPr>
        <p:spPr>
          <a:xfrm>
            <a:off x="838080" y="4098240"/>
            <a:ext cx="5131080" cy="20750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Calibri"/>
            </a:endParaRPr>
          </a:p>
        </p:txBody>
      </p:sp>
      <p:sp>
        <p:nvSpPr>
          <p:cNvPr id="74" name="PlaceHolder 5"/>
          <p:cNvSpPr>
            <a:spLocks noGrp="1"/>
          </p:cNvSpPr>
          <p:nvPr>
            <p:ph/>
          </p:nvPr>
        </p:nvSpPr>
        <p:spPr>
          <a:xfrm>
            <a:off x="6226200" y="4098240"/>
            <a:ext cx="5131080" cy="20750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Calibri"/>
            </a:endParaRPr>
          </a:p>
        </p:txBody>
      </p:sp>
      <p:sp>
        <p:nvSpPr>
          <p:cNvPr id="7" name="PlaceHolder 6"/>
          <p:cNvSpPr>
            <a:spLocks noGrp="1"/>
          </p:cNvSpPr>
          <p:nvPr>
            <p:ph type="ftr" idx="5"/>
          </p:nvPr>
        </p:nvSpPr>
        <p:spPr/>
        <p:txBody>
          <a:bodyPr/>
          <a:p>
            <a:r>
              <a:t>Footer</a:t>
            </a:r>
          </a:p>
        </p:txBody>
      </p:sp>
      <p:sp>
        <p:nvSpPr>
          <p:cNvPr id="8" name="PlaceHolder 7"/>
          <p:cNvSpPr>
            <a:spLocks noGrp="1"/>
          </p:cNvSpPr>
          <p:nvPr>
            <p:ph type="sldNum" idx="6"/>
          </p:nvPr>
        </p:nvSpPr>
        <p:spPr/>
        <p:txBody>
          <a:bodyPr/>
          <a:p>
            <a:fld id="{F86DC6E9-EA9D-4B0D-B189-4674BEA75FA0}" type="slidenum">
              <a:t>&lt;#&gt;</a:t>
            </a:fld>
          </a:p>
        </p:txBody>
      </p:sp>
      <p:sp>
        <p:nvSpPr>
          <p:cNvPr id="9" name="PlaceHolder 8"/>
          <p:cNvSpPr>
            <a:spLocks noGrp="1"/>
          </p:cNvSpPr>
          <p:nvPr>
            <p:ph type="dt" idx="4"/>
          </p:nvPr>
        </p:nvSpPr>
        <p:spPr/>
        <p:txBody>
          <a:bodyPr/>
          <a:p>
            <a:r>
              <a:rPr lang="en-US"/>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Calibri"/>
            </a:endParaRPr>
          </a:p>
        </p:txBody>
      </p:sp>
      <p:sp>
        <p:nvSpPr>
          <p:cNvPr id="76" name="PlaceHolder 2"/>
          <p:cNvSpPr>
            <a:spLocks noGrp="1"/>
          </p:cNvSpPr>
          <p:nvPr>
            <p:ph/>
          </p:nvPr>
        </p:nvSpPr>
        <p:spPr>
          <a:xfrm>
            <a:off x="838080" y="1825560"/>
            <a:ext cx="3385800" cy="20750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Calibri"/>
            </a:endParaRPr>
          </a:p>
        </p:txBody>
      </p:sp>
      <p:sp>
        <p:nvSpPr>
          <p:cNvPr id="77" name="PlaceHolder 3"/>
          <p:cNvSpPr>
            <a:spLocks noGrp="1"/>
          </p:cNvSpPr>
          <p:nvPr>
            <p:ph/>
          </p:nvPr>
        </p:nvSpPr>
        <p:spPr>
          <a:xfrm>
            <a:off x="4393440" y="1825560"/>
            <a:ext cx="3385800" cy="20750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Calibri"/>
            </a:endParaRPr>
          </a:p>
        </p:txBody>
      </p:sp>
      <p:sp>
        <p:nvSpPr>
          <p:cNvPr id="78" name="PlaceHolder 4"/>
          <p:cNvSpPr>
            <a:spLocks noGrp="1"/>
          </p:cNvSpPr>
          <p:nvPr>
            <p:ph/>
          </p:nvPr>
        </p:nvSpPr>
        <p:spPr>
          <a:xfrm>
            <a:off x="7949160" y="1825560"/>
            <a:ext cx="3385800" cy="20750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Calibri"/>
            </a:endParaRPr>
          </a:p>
        </p:txBody>
      </p:sp>
      <p:sp>
        <p:nvSpPr>
          <p:cNvPr id="79" name="PlaceHolder 5"/>
          <p:cNvSpPr>
            <a:spLocks noGrp="1"/>
          </p:cNvSpPr>
          <p:nvPr>
            <p:ph/>
          </p:nvPr>
        </p:nvSpPr>
        <p:spPr>
          <a:xfrm>
            <a:off x="838080" y="4098240"/>
            <a:ext cx="3385800" cy="20750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Calibri"/>
            </a:endParaRPr>
          </a:p>
        </p:txBody>
      </p:sp>
      <p:sp>
        <p:nvSpPr>
          <p:cNvPr id="80" name="PlaceHolder 6"/>
          <p:cNvSpPr>
            <a:spLocks noGrp="1"/>
          </p:cNvSpPr>
          <p:nvPr>
            <p:ph/>
          </p:nvPr>
        </p:nvSpPr>
        <p:spPr>
          <a:xfrm>
            <a:off x="4393440" y="4098240"/>
            <a:ext cx="3385800" cy="20750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Calibri"/>
            </a:endParaRPr>
          </a:p>
        </p:txBody>
      </p:sp>
      <p:sp>
        <p:nvSpPr>
          <p:cNvPr id="81" name="PlaceHolder 7"/>
          <p:cNvSpPr>
            <a:spLocks noGrp="1"/>
          </p:cNvSpPr>
          <p:nvPr>
            <p:ph/>
          </p:nvPr>
        </p:nvSpPr>
        <p:spPr>
          <a:xfrm>
            <a:off x="7949160" y="4098240"/>
            <a:ext cx="3385800" cy="207504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rgbClr val="000000"/>
              </a:solidFill>
              <a:latin typeface="Calibri"/>
            </a:endParaRPr>
          </a:p>
        </p:txBody>
      </p:sp>
      <p:sp>
        <p:nvSpPr>
          <p:cNvPr id="9" name="PlaceHolder 8"/>
          <p:cNvSpPr>
            <a:spLocks noGrp="1"/>
          </p:cNvSpPr>
          <p:nvPr>
            <p:ph type="ftr" idx="5"/>
          </p:nvPr>
        </p:nvSpPr>
        <p:spPr/>
        <p:txBody>
          <a:bodyPr/>
          <a:p>
            <a:r>
              <a:t>Footer</a:t>
            </a:r>
          </a:p>
        </p:txBody>
      </p:sp>
      <p:sp>
        <p:nvSpPr>
          <p:cNvPr id="10" name="PlaceHolder 9"/>
          <p:cNvSpPr>
            <a:spLocks noGrp="1"/>
          </p:cNvSpPr>
          <p:nvPr>
            <p:ph type="sldNum" idx="6"/>
          </p:nvPr>
        </p:nvSpPr>
        <p:spPr/>
        <p:txBody>
          <a:bodyPr/>
          <a:p>
            <a:fld id="{8F6EB6BD-AFF9-40FB-855F-483599F4F086}" type="slidenum">
              <a:t>&lt;#&gt;</a:t>
            </a:fld>
          </a:p>
        </p:txBody>
      </p:sp>
      <p:sp>
        <p:nvSpPr>
          <p:cNvPr id="11" name="PlaceHolder 10"/>
          <p:cNvSpPr>
            <a:spLocks noGrp="1"/>
          </p:cNvSpPr>
          <p:nvPr>
            <p:ph type="dt" idx="4"/>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1523880" y="1122480"/>
            <a:ext cx="9143640" cy="2387160"/>
          </a:xfrm>
          <a:prstGeom prst="rect">
            <a:avLst/>
          </a:prstGeom>
          <a:noFill/>
          <a:ln w="0">
            <a:noFill/>
          </a:ln>
        </p:spPr>
        <p:txBody>
          <a:bodyPr anchor="b">
            <a:noAutofit/>
          </a:bodyPr>
          <a:p>
            <a:pPr indent="0" algn="ctr">
              <a:lnSpc>
                <a:spcPct val="90000"/>
              </a:lnSpc>
              <a:buNone/>
            </a:pPr>
            <a:r>
              <a:rPr b="0" lang="en-US" sz="6000" spc="-1" strike="noStrike">
                <a:solidFill>
                  <a:srgbClr val="000000"/>
                </a:solidFill>
                <a:latin typeface="Calibri Light"/>
              </a:rPr>
              <a:t>Click </a:t>
            </a:r>
            <a:r>
              <a:rPr b="0" lang="en-US" sz="6000" spc="-1" strike="noStrike">
                <a:solidFill>
                  <a:srgbClr val="000000"/>
                </a:solidFill>
                <a:latin typeface="Calibri Light"/>
              </a:rPr>
              <a:t>to </a:t>
            </a:r>
            <a:r>
              <a:rPr b="0" lang="en-US" sz="6000" spc="-1" strike="noStrike">
                <a:solidFill>
                  <a:srgbClr val="000000"/>
                </a:solidFill>
                <a:latin typeface="Calibri Light"/>
              </a:rPr>
              <a:t>edit </a:t>
            </a:r>
            <a:r>
              <a:rPr b="0" lang="en-US" sz="6000" spc="-1" strike="noStrike">
                <a:solidFill>
                  <a:srgbClr val="000000"/>
                </a:solidFill>
                <a:latin typeface="Calibri Light"/>
              </a:rPr>
              <a:t>Mast</a:t>
            </a:r>
            <a:r>
              <a:rPr b="0" lang="en-US" sz="6000" spc="-1" strike="noStrike">
                <a:solidFill>
                  <a:srgbClr val="000000"/>
                </a:solidFill>
                <a:latin typeface="Calibri Light"/>
              </a:rPr>
              <a:t>er </a:t>
            </a:r>
            <a:r>
              <a:rPr b="0" lang="en-US" sz="6000" spc="-1" strike="noStrike">
                <a:solidFill>
                  <a:srgbClr val="000000"/>
                </a:solidFill>
                <a:latin typeface="Calibri Light"/>
              </a:rPr>
              <a:t>title </a:t>
            </a:r>
            <a:r>
              <a:rPr b="0" lang="en-US" sz="6000" spc="-1" strike="noStrike">
                <a:solidFill>
                  <a:srgbClr val="000000"/>
                </a:solidFill>
                <a:latin typeface="Calibri Light"/>
              </a:rPr>
              <a:t>style</a:t>
            </a:r>
            <a:endParaRPr b="0" lang="en-US" sz="6000" spc="-1" strike="noStrike">
              <a:solidFill>
                <a:srgbClr val="000000"/>
              </a:solidFill>
              <a:latin typeface="Calibri"/>
            </a:endParaRPr>
          </a:p>
        </p:txBody>
      </p:sp>
      <p:sp>
        <p:nvSpPr>
          <p:cNvPr id="1" name="PlaceHolder 2"/>
          <p:cNvSpPr>
            <a:spLocks noGrp="1"/>
          </p:cNvSpPr>
          <p:nvPr>
            <p:ph type="dt" idx="1"/>
          </p:nvPr>
        </p:nvSpPr>
        <p:spPr>
          <a:xfrm>
            <a:off x="838080" y="6356520"/>
            <a:ext cx="2742840" cy="364680"/>
          </a:xfrm>
          <a:prstGeom prst="rect">
            <a:avLst/>
          </a:prstGeom>
          <a:noFill/>
          <a:ln w="0">
            <a:noFill/>
          </a:ln>
        </p:spPr>
        <p:txBody>
          <a:bodyPr anchor="ctr">
            <a:noAutofit/>
          </a:bodyPr>
          <a:lstStyle>
            <a:lvl1pPr indent="0">
              <a:lnSpc>
                <a:spcPct val="100000"/>
              </a:lnSpc>
              <a:buNone/>
              <a:defRPr b="0" lang="en-US" sz="1200" spc="-1" strike="noStrike">
                <a:solidFill>
                  <a:srgbClr val="8b8b8b"/>
                </a:solidFill>
                <a:latin typeface="Calibri"/>
              </a:defRPr>
            </a:lvl1pPr>
          </a:lstStyle>
          <a:p>
            <a:pPr indent="0">
              <a:lnSpc>
                <a:spcPct val="100000"/>
              </a:lnSpc>
              <a:buNone/>
            </a:pPr>
            <a:r>
              <a:rPr b="0" lang="en-US" sz="1200" spc="-1" strike="noStrike">
                <a:solidFill>
                  <a:srgbClr val="8b8b8b"/>
                </a:solidFill>
                <a:latin typeface="Calibri"/>
              </a:rPr>
              <a:t>&lt;date/time&gt;</a:t>
            </a:r>
            <a:endParaRPr b="0" lang="en-US" sz="1200" spc="-1" strike="noStrike">
              <a:solidFill>
                <a:srgbClr val="000000"/>
              </a:solidFill>
              <a:latin typeface="Times New Roman"/>
            </a:endParaRPr>
          </a:p>
        </p:txBody>
      </p:sp>
      <p:sp>
        <p:nvSpPr>
          <p:cNvPr id="2" name="PlaceHolder 3"/>
          <p:cNvSpPr>
            <a:spLocks noGrp="1"/>
          </p:cNvSpPr>
          <p:nvPr>
            <p:ph type="ftr" idx="2"/>
          </p:nvPr>
        </p:nvSpPr>
        <p:spPr>
          <a:xfrm>
            <a:off x="4038480" y="6356520"/>
            <a:ext cx="4114440" cy="364680"/>
          </a:xfrm>
          <a:prstGeom prst="rect">
            <a:avLst/>
          </a:prstGeom>
          <a:noFill/>
          <a:ln w="0">
            <a:noFill/>
          </a:ln>
        </p:spPr>
        <p:txBody>
          <a:bodyPr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 name="PlaceHolder 4"/>
          <p:cNvSpPr>
            <a:spLocks noGrp="1"/>
          </p:cNvSpPr>
          <p:nvPr>
            <p:ph type="sldNum" idx="3"/>
          </p:nvPr>
        </p:nvSpPr>
        <p:spPr>
          <a:xfrm>
            <a:off x="8610480" y="6356520"/>
            <a:ext cx="2742840" cy="364680"/>
          </a:xfrm>
          <a:prstGeom prst="rect">
            <a:avLst/>
          </a:prstGeom>
          <a:noFill/>
          <a:ln w="0">
            <a:noFill/>
          </a:ln>
        </p:spPr>
        <p:txBody>
          <a:bodyPr anchor="ctr">
            <a:noAutofit/>
          </a:bodyPr>
          <a:lstStyle>
            <a:lvl1pPr indent="0" algn="r">
              <a:lnSpc>
                <a:spcPct val="100000"/>
              </a:lnSpc>
              <a:buNone/>
              <a:defRPr b="0" lang="en-US" sz="1200" spc="-1" strike="noStrike">
                <a:solidFill>
                  <a:srgbClr val="8b8b8b"/>
                </a:solidFill>
                <a:latin typeface="Calibri"/>
              </a:defRPr>
            </a:lvl1pPr>
          </a:lstStyle>
          <a:p>
            <a:pPr indent="0" algn="r">
              <a:lnSpc>
                <a:spcPct val="100000"/>
              </a:lnSpc>
              <a:buNone/>
            </a:pPr>
            <a:fld id="{8486750E-392C-446A-B235-A68D903E26D7}" type="slidenum">
              <a:rPr b="0" lang="en-US" sz="1200" spc="-1" strike="noStrike">
                <a:solidFill>
                  <a:srgbClr val="8b8b8b"/>
                </a:solidFill>
                <a:latin typeface="Calibri"/>
              </a:rPr>
              <a:t>&lt;number&gt;</a:t>
            </a:fld>
            <a:endParaRPr b="0" lang="en-US" sz="1200" spc="-1" strike="noStrike">
              <a:solidFill>
                <a:srgbClr val="000000"/>
              </a:solidFill>
              <a:latin typeface="Times New Roman"/>
            </a:endParaRP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2800" spc="-1" strike="noStrike">
                <a:solidFill>
                  <a:srgbClr val="000000"/>
                </a:solidFill>
                <a:latin typeface="Calibri"/>
              </a:rPr>
              <a:t>Click to edit the outline text format</a:t>
            </a:r>
            <a:endParaRPr b="0" lang="en-US" sz="2800" spc="-1" strike="noStrike">
              <a:solidFill>
                <a:srgbClr val="000000"/>
              </a:solidFill>
              <a:latin typeface="Calibri"/>
            </a:endParaRPr>
          </a:p>
          <a:p>
            <a:pPr lvl="1" marL="864000" indent="-324000">
              <a:lnSpc>
                <a:spcPct val="90000"/>
              </a:lnSpc>
              <a:spcBef>
                <a:spcPts val="1134"/>
              </a:spcBef>
              <a:buClr>
                <a:srgbClr val="000000"/>
              </a:buClr>
              <a:buSzPct val="75000"/>
              <a:buFont typeface="Symbol" charset="2"/>
              <a:buChar char=""/>
            </a:pPr>
            <a:r>
              <a:rPr b="0" lang="en-US" sz="2000" spc="-1" strike="noStrike">
                <a:solidFill>
                  <a:srgbClr val="000000"/>
                </a:solidFill>
                <a:latin typeface="Calibri"/>
              </a:rPr>
              <a:t>Second Outline Level</a:t>
            </a:r>
            <a:endParaRPr b="0" lang="en-US" sz="2000" spc="-1" strike="noStrike">
              <a:solidFill>
                <a:srgbClr val="000000"/>
              </a:solidFill>
              <a:latin typeface="Calibri"/>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rgbClr val="000000"/>
                </a:solidFill>
                <a:latin typeface="Calibri"/>
              </a:rPr>
              <a:t>Third Outline Level</a:t>
            </a:r>
            <a:endParaRPr b="0" lang="en-US" sz="1800" spc="-1" strike="noStrike">
              <a:solidFill>
                <a:srgbClr val="000000"/>
              </a:solidFill>
              <a:latin typeface="Calibri"/>
            </a:endParaRPr>
          </a:p>
          <a:p>
            <a:pPr lvl="3" marL="1728000" indent="-216000">
              <a:lnSpc>
                <a:spcPct val="90000"/>
              </a:lnSpc>
              <a:spcBef>
                <a:spcPts val="567"/>
              </a:spcBef>
              <a:buClr>
                <a:srgbClr val="000000"/>
              </a:buClr>
              <a:buSzPct val="75000"/>
              <a:buFont typeface="Symbol" charset="2"/>
              <a:buChar char=""/>
            </a:pPr>
            <a:r>
              <a:rPr b="0" lang="en-US" sz="1800" spc="-1" strike="noStrike">
                <a:solidFill>
                  <a:srgbClr val="000000"/>
                </a:solidFill>
                <a:latin typeface="Calibri"/>
              </a:rPr>
              <a:t>Fourth Outline Level</a:t>
            </a:r>
            <a:endParaRPr b="0" lang="en-US" sz="1800" spc="-1" strike="noStrike">
              <a:solidFill>
                <a:srgbClr val="000000"/>
              </a:solidFill>
              <a:latin typeface="Calibri"/>
            </a:endParaRPr>
          </a:p>
          <a:p>
            <a:pPr lvl="4" marL="2160000" indent="-216000">
              <a:lnSpc>
                <a:spcPct val="90000"/>
              </a:lnSpc>
              <a:spcBef>
                <a:spcPts val="283"/>
              </a:spcBef>
              <a:buClr>
                <a:srgbClr val="000000"/>
              </a:buClr>
              <a:buSzPct val="45000"/>
              <a:buFont typeface="Wingdings" charset="2"/>
              <a:buChar char=""/>
            </a:pPr>
            <a:r>
              <a:rPr b="0" lang="en-US" sz="2000" spc="-1" strike="noStrike">
                <a:solidFill>
                  <a:srgbClr val="000000"/>
                </a:solidFill>
                <a:latin typeface="Calibri"/>
              </a:rPr>
              <a:t>Fifth Outline Level</a:t>
            </a:r>
            <a:endParaRPr b="0" lang="en-US" sz="2000" spc="-1" strike="noStrike">
              <a:solidFill>
                <a:srgbClr val="000000"/>
              </a:solidFill>
              <a:latin typeface="Calibri"/>
            </a:endParaRPr>
          </a:p>
          <a:p>
            <a:pPr lvl="5" marL="2592000" indent="-216000">
              <a:lnSpc>
                <a:spcPct val="90000"/>
              </a:lnSpc>
              <a:spcBef>
                <a:spcPts val="283"/>
              </a:spcBef>
              <a:buClr>
                <a:srgbClr val="000000"/>
              </a:buClr>
              <a:buSzPct val="45000"/>
              <a:buFont typeface="Wingdings" charset="2"/>
              <a:buChar char=""/>
            </a:pPr>
            <a:r>
              <a:rPr b="0" lang="en-US" sz="2000" spc="-1" strike="noStrike">
                <a:solidFill>
                  <a:srgbClr val="000000"/>
                </a:solidFill>
                <a:latin typeface="Calibri"/>
              </a:rPr>
              <a:t>Sixth Outline Level</a:t>
            </a:r>
            <a:endParaRPr b="0" lang="en-US" sz="2000" spc="-1" strike="noStrike">
              <a:solidFill>
                <a:srgbClr val="000000"/>
              </a:solidFill>
              <a:latin typeface="Calibri"/>
            </a:endParaRPr>
          </a:p>
          <a:p>
            <a:pPr lvl="6" marL="3024000" indent="-216000">
              <a:lnSpc>
                <a:spcPct val="90000"/>
              </a:lnSpc>
              <a:spcBef>
                <a:spcPts val="283"/>
              </a:spcBef>
              <a:buClr>
                <a:srgbClr val="000000"/>
              </a:buClr>
              <a:buSzPct val="45000"/>
              <a:buFont typeface="Wingdings" charset="2"/>
              <a:buChar char=""/>
            </a:pPr>
            <a:r>
              <a:rPr b="0" lang="en-US" sz="2000" spc="-1" strike="noStrike">
                <a:solidFill>
                  <a:srgbClr val="000000"/>
                </a:solidFill>
                <a:latin typeface="Calibri"/>
              </a:rPr>
              <a:t>Seventh Outline Level</a:t>
            </a:r>
            <a:endParaRPr b="0" lang="en-US" sz="2000" spc="-1" strike="noStrike">
              <a:solidFill>
                <a:srgbClr val="000000"/>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838080" y="365040"/>
            <a:ext cx="10515240" cy="1325160"/>
          </a:xfrm>
          <a:prstGeom prst="rect">
            <a:avLst/>
          </a:prstGeom>
          <a:noFill/>
          <a:ln w="0">
            <a:noFill/>
          </a:ln>
        </p:spPr>
        <p:txBody>
          <a:bodyPr anchor="ctr">
            <a:noAutofit/>
          </a:bodyPr>
          <a:p>
            <a:pPr indent="0">
              <a:lnSpc>
                <a:spcPct val="90000"/>
              </a:lnSpc>
              <a:buNone/>
            </a:pPr>
            <a:r>
              <a:rPr b="0" lang="en-US" sz="4400" spc="-1" strike="noStrike">
                <a:solidFill>
                  <a:srgbClr val="000000"/>
                </a:solidFill>
                <a:latin typeface="Calibri Light"/>
              </a:rPr>
              <a:t>Click to </a:t>
            </a:r>
            <a:r>
              <a:rPr b="0" lang="en-US" sz="4400" spc="-1" strike="noStrike">
                <a:solidFill>
                  <a:srgbClr val="000000"/>
                </a:solidFill>
                <a:latin typeface="Calibri Light"/>
              </a:rPr>
              <a:t>edit </a:t>
            </a:r>
            <a:r>
              <a:rPr b="0" lang="en-US" sz="4400" spc="-1" strike="noStrike">
                <a:solidFill>
                  <a:srgbClr val="000000"/>
                </a:solidFill>
                <a:latin typeface="Calibri Light"/>
              </a:rPr>
              <a:t>Master </a:t>
            </a:r>
            <a:r>
              <a:rPr b="0" lang="en-US" sz="4400" spc="-1" strike="noStrike">
                <a:solidFill>
                  <a:srgbClr val="000000"/>
                </a:solidFill>
                <a:latin typeface="Calibri Light"/>
              </a:rPr>
              <a:t>title </a:t>
            </a:r>
            <a:r>
              <a:rPr b="0" lang="en-US" sz="4400" spc="-1" strike="noStrike">
                <a:solidFill>
                  <a:srgbClr val="000000"/>
                </a:solidFill>
                <a:latin typeface="Calibri Light"/>
              </a:rPr>
              <a:t>style</a:t>
            </a:r>
            <a:endParaRPr b="0" lang="en-US" sz="4400" spc="-1" strike="noStrike">
              <a:solidFill>
                <a:srgbClr val="000000"/>
              </a:solidFill>
              <a:latin typeface="Calibri"/>
            </a:endParaRPr>
          </a:p>
        </p:txBody>
      </p:sp>
      <p:sp>
        <p:nvSpPr>
          <p:cNvPr id="42" name="PlaceHolder 2"/>
          <p:cNvSpPr>
            <a:spLocks noGrp="1"/>
          </p:cNvSpPr>
          <p:nvPr>
            <p:ph type="body"/>
          </p:nvPr>
        </p:nvSpPr>
        <p:spPr>
          <a:xfrm>
            <a:off x="838080" y="1825560"/>
            <a:ext cx="10515240" cy="4350960"/>
          </a:xfrm>
          <a:prstGeom prst="rect">
            <a:avLst/>
          </a:prstGeom>
          <a:noFill/>
          <a:ln w="0">
            <a:noFill/>
          </a:ln>
        </p:spPr>
        <p:txBody>
          <a:bodyPr anchor="t">
            <a:noAutofit/>
          </a:bodyPr>
          <a:p>
            <a:pPr marL="228600" indent="-228600">
              <a:lnSpc>
                <a:spcPct val="90000"/>
              </a:lnSpc>
              <a:spcBef>
                <a:spcPts val="1001"/>
              </a:spcBef>
              <a:buClr>
                <a:srgbClr val="000000"/>
              </a:buClr>
              <a:buFont typeface="Arial"/>
              <a:buChar char="•"/>
            </a:pPr>
            <a:r>
              <a:rPr b="0" lang="en-US" sz="2800" spc="-1" strike="noStrike">
                <a:solidFill>
                  <a:srgbClr val="000000"/>
                </a:solidFill>
                <a:latin typeface="Calibri"/>
              </a:rPr>
              <a:t>Edit Master text styles</a:t>
            </a:r>
            <a:endParaRPr b="0" lang="en-US" sz="2800" spc="-1" strike="noStrike">
              <a:solidFill>
                <a:srgbClr val="000000"/>
              </a:solidFill>
              <a:latin typeface="Calibri"/>
            </a:endParaRPr>
          </a:p>
          <a:p>
            <a:pPr lvl="1" marL="685800" indent="-228600">
              <a:lnSpc>
                <a:spcPct val="90000"/>
              </a:lnSpc>
              <a:spcBef>
                <a:spcPts val="499"/>
              </a:spcBef>
              <a:buClr>
                <a:srgbClr val="000000"/>
              </a:buClr>
              <a:buFont typeface="Arial"/>
              <a:buChar char="•"/>
            </a:pPr>
            <a:r>
              <a:rPr b="0" lang="en-US" sz="2400" spc="-1" strike="noStrike">
                <a:solidFill>
                  <a:srgbClr val="000000"/>
                </a:solidFill>
                <a:latin typeface="Calibri"/>
              </a:rPr>
              <a:t>Second level</a:t>
            </a:r>
            <a:endParaRPr b="0" lang="en-US" sz="2400" spc="-1" strike="noStrike">
              <a:solidFill>
                <a:srgbClr val="000000"/>
              </a:solidFill>
              <a:latin typeface="Calibri"/>
            </a:endParaRPr>
          </a:p>
          <a:p>
            <a:pPr lvl="2" marL="1143000" indent="-228600">
              <a:lnSpc>
                <a:spcPct val="90000"/>
              </a:lnSpc>
              <a:spcBef>
                <a:spcPts val="499"/>
              </a:spcBef>
              <a:buClr>
                <a:srgbClr val="000000"/>
              </a:buClr>
              <a:buFont typeface="Arial"/>
              <a:buChar char="•"/>
            </a:pPr>
            <a:r>
              <a:rPr b="0" lang="en-US" sz="2000" spc="-1" strike="noStrike">
                <a:solidFill>
                  <a:srgbClr val="000000"/>
                </a:solidFill>
                <a:latin typeface="Calibri"/>
              </a:rPr>
              <a:t>Third level</a:t>
            </a:r>
            <a:endParaRPr b="0" lang="en-US" sz="2000" spc="-1" strike="noStrike">
              <a:solidFill>
                <a:srgbClr val="000000"/>
              </a:solidFill>
              <a:latin typeface="Calibri"/>
            </a:endParaRPr>
          </a:p>
          <a:p>
            <a:pPr lvl="3" marL="1600200" indent="-228600">
              <a:lnSpc>
                <a:spcPct val="90000"/>
              </a:lnSpc>
              <a:spcBef>
                <a:spcPts val="499"/>
              </a:spcBef>
              <a:buClr>
                <a:srgbClr val="000000"/>
              </a:buClr>
              <a:buFont typeface="Arial"/>
              <a:buChar char="•"/>
            </a:pPr>
            <a:r>
              <a:rPr b="0" lang="en-US" sz="1800" spc="-1" strike="noStrike">
                <a:solidFill>
                  <a:srgbClr val="000000"/>
                </a:solidFill>
                <a:latin typeface="Calibri"/>
              </a:rPr>
              <a:t>Fourth level</a:t>
            </a:r>
            <a:endParaRPr b="0" lang="en-US" sz="1800" spc="-1" strike="noStrike">
              <a:solidFill>
                <a:srgbClr val="000000"/>
              </a:solidFill>
              <a:latin typeface="Calibri"/>
            </a:endParaRPr>
          </a:p>
          <a:p>
            <a:pPr lvl="4" marL="2057400" indent="-228600">
              <a:lnSpc>
                <a:spcPct val="90000"/>
              </a:lnSpc>
              <a:spcBef>
                <a:spcPts val="499"/>
              </a:spcBef>
              <a:buClr>
                <a:srgbClr val="000000"/>
              </a:buClr>
              <a:buFont typeface="Arial"/>
              <a:buChar char="•"/>
            </a:pPr>
            <a:r>
              <a:rPr b="0" lang="en-US" sz="1800" spc="-1" strike="noStrike">
                <a:solidFill>
                  <a:srgbClr val="000000"/>
                </a:solidFill>
                <a:latin typeface="Calibri"/>
              </a:rPr>
              <a:t>Fifth level</a:t>
            </a:r>
            <a:endParaRPr b="0" lang="en-US" sz="1800" spc="-1" strike="noStrike">
              <a:solidFill>
                <a:srgbClr val="000000"/>
              </a:solidFill>
              <a:latin typeface="Calibri"/>
            </a:endParaRPr>
          </a:p>
        </p:txBody>
      </p:sp>
      <p:sp>
        <p:nvSpPr>
          <p:cNvPr id="43" name="PlaceHolder 3"/>
          <p:cNvSpPr>
            <a:spLocks noGrp="1"/>
          </p:cNvSpPr>
          <p:nvPr>
            <p:ph type="dt" idx="4"/>
          </p:nvPr>
        </p:nvSpPr>
        <p:spPr>
          <a:xfrm>
            <a:off x="838080" y="6356520"/>
            <a:ext cx="2742840" cy="364680"/>
          </a:xfrm>
          <a:prstGeom prst="rect">
            <a:avLst/>
          </a:prstGeom>
          <a:noFill/>
          <a:ln w="0">
            <a:noFill/>
          </a:ln>
        </p:spPr>
        <p:txBody>
          <a:bodyPr anchor="ctr">
            <a:noAutofit/>
          </a:bodyPr>
          <a:lstStyle>
            <a:lvl1pPr indent="0">
              <a:lnSpc>
                <a:spcPct val="100000"/>
              </a:lnSpc>
              <a:buNone/>
              <a:defRPr b="0" lang="en-US" sz="1200" spc="-1" strike="noStrike">
                <a:solidFill>
                  <a:srgbClr val="8b8b8b"/>
                </a:solidFill>
                <a:latin typeface="Calibri"/>
              </a:defRPr>
            </a:lvl1pPr>
          </a:lstStyle>
          <a:p>
            <a:pPr indent="0">
              <a:lnSpc>
                <a:spcPct val="100000"/>
              </a:lnSpc>
              <a:buNone/>
            </a:pPr>
            <a:r>
              <a:rPr b="0" lang="en-US" sz="1200" spc="-1" strike="noStrike">
                <a:solidFill>
                  <a:srgbClr val="8b8b8b"/>
                </a:solidFill>
                <a:latin typeface="Calibri"/>
              </a:rPr>
              <a:t>&lt;date/time&gt;</a:t>
            </a:r>
            <a:endParaRPr b="0" lang="en-US" sz="1200" spc="-1" strike="noStrike">
              <a:solidFill>
                <a:srgbClr val="000000"/>
              </a:solidFill>
              <a:latin typeface="Times New Roman"/>
            </a:endParaRPr>
          </a:p>
        </p:txBody>
      </p:sp>
      <p:sp>
        <p:nvSpPr>
          <p:cNvPr id="44" name="PlaceHolder 4"/>
          <p:cNvSpPr>
            <a:spLocks noGrp="1"/>
          </p:cNvSpPr>
          <p:nvPr>
            <p:ph type="ftr" idx="5"/>
          </p:nvPr>
        </p:nvSpPr>
        <p:spPr>
          <a:xfrm>
            <a:off x="4038480" y="6356520"/>
            <a:ext cx="4114440" cy="364680"/>
          </a:xfrm>
          <a:prstGeom prst="rect">
            <a:avLst/>
          </a:prstGeom>
          <a:noFill/>
          <a:ln w="0">
            <a:noFill/>
          </a:ln>
        </p:spPr>
        <p:txBody>
          <a:bodyPr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5" name="PlaceHolder 5"/>
          <p:cNvSpPr>
            <a:spLocks noGrp="1"/>
          </p:cNvSpPr>
          <p:nvPr>
            <p:ph type="sldNum" idx="6"/>
          </p:nvPr>
        </p:nvSpPr>
        <p:spPr>
          <a:xfrm>
            <a:off x="8610480" y="6356520"/>
            <a:ext cx="2742840" cy="364680"/>
          </a:xfrm>
          <a:prstGeom prst="rect">
            <a:avLst/>
          </a:prstGeom>
          <a:noFill/>
          <a:ln w="0">
            <a:noFill/>
          </a:ln>
        </p:spPr>
        <p:txBody>
          <a:bodyPr anchor="ctr">
            <a:noAutofit/>
          </a:bodyPr>
          <a:lstStyle>
            <a:lvl1pPr indent="0" algn="r">
              <a:lnSpc>
                <a:spcPct val="100000"/>
              </a:lnSpc>
              <a:buNone/>
              <a:defRPr b="0" lang="en-US" sz="1200" spc="-1" strike="noStrike">
                <a:solidFill>
                  <a:srgbClr val="8b8b8b"/>
                </a:solidFill>
                <a:latin typeface="Calibri"/>
              </a:defRPr>
            </a:lvl1pPr>
          </a:lstStyle>
          <a:p>
            <a:pPr indent="0" algn="r">
              <a:lnSpc>
                <a:spcPct val="100000"/>
              </a:lnSpc>
              <a:buNone/>
            </a:pPr>
            <a:fld id="{14FCB6E3-2708-4EDA-9D5E-4B0CE3FEF309}" type="slidenum">
              <a:rPr b="0" lang="en-US" sz="1200" spc="-1" strike="noStrike">
                <a:solidFill>
                  <a:srgbClr val="8b8b8b"/>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1.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3.xml"/>
</Relationships>
</file>

<file path=ppt/slides/_rels/slide12.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3.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9.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13.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title"/>
          </p:nvPr>
        </p:nvSpPr>
        <p:spPr>
          <a:xfrm>
            <a:off x="0" y="2788920"/>
            <a:ext cx="12191760" cy="976680"/>
          </a:xfrm>
          <a:prstGeom prst="rect">
            <a:avLst/>
          </a:prstGeom>
          <a:noFill/>
          <a:ln w="0">
            <a:noFill/>
          </a:ln>
        </p:spPr>
        <p:txBody>
          <a:bodyPr anchor="b">
            <a:noAutofit/>
          </a:bodyPr>
          <a:p>
            <a:pPr indent="0" algn="ctr">
              <a:lnSpc>
                <a:spcPct val="90000"/>
              </a:lnSpc>
              <a:buNone/>
            </a:pPr>
            <a:r>
              <a:rPr b="0" lang="en-US" sz="6000" spc="-1" strike="noStrike">
                <a:solidFill>
                  <a:srgbClr val="000000"/>
                </a:solidFill>
                <a:latin typeface="Calibri Light"/>
              </a:rPr>
              <a:t>Cach</a:t>
            </a:r>
            <a:r>
              <a:rPr b="0" lang="en-US" sz="6000" spc="-1" strike="noStrike">
                <a:solidFill>
                  <a:srgbClr val="000000"/>
                </a:solidFill>
                <a:latin typeface="Calibri Light"/>
              </a:rPr>
              <a:t>es</a:t>
            </a:r>
            <a:endParaRPr b="0" lang="en-US" sz="60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83" name="Picture 2" descr="Image result for need for speed"/>
          <p:cNvPicPr/>
          <p:nvPr/>
        </p:nvPicPr>
        <p:blipFill>
          <a:blip r:embed="rId1"/>
          <a:srcRect l="0" t="3437" r="0" b="0"/>
          <a:stretch/>
        </p:blipFill>
        <p:spPr>
          <a:xfrm>
            <a:off x="0" y="0"/>
            <a:ext cx="12191760" cy="6857640"/>
          </a:xfrm>
          <a:prstGeom prst="rect">
            <a:avLst/>
          </a:prstGeom>
          <a:ln w="0">
            <a:noFill/>
          </a:ln>
        </p:spPr>
      </p:pic>
      <p:sp>
        <p:nvSpPr>
          <p:cNvPr id="84" name="Freeform 5"/>
          <p:cNvSpPr/>
          <p:nvPr/>
        </p:nvSpPr>
        <p:spPr>
          <a:xfrm flipH="1">
            <a:off x="-720" y="998280"/>
            <a:ext cx="6016680" cy="5859360"/>
          </a:xfrm>
          <a:custGeom>
            <a:avLst/>
            <a:gdLst>
              <a:gd name="textAreaLeft" fmla="*/ -360 w 6016680"/>
              <a:gd name="textAreaRight" fmla="*/ 6016680 w 6016680"/>
              <a:gd name="textAreaTop" fmla="*/ 0 h 5859360"/>
              <a:gd name="textAreaBottom" fmla="*/ 5859720 h 5859360"/>
            </a:gdLst>
            <a:ahLst/>
            <a:rect l="textAreaLeft" t="textAreaTop" r="textAreaRight" b="textAreaBottom"/>
            <a:pathLst>
              <a:path w="1333" h="1298">
                <a:moveTo>
                  <a:pt x="1333" y="1031"/>
                </a:moveTo>
                <a:cubicBezTo>
                  <a:pt x="1333" y="380"/>
                  <a:pt x="1333" y="380"/>
                  <a:pt x="1333" y="380"/>
                </a:cubicBezTo>
                <a:cubicBezTo>
                  <a:pt x="1215" y="154"/>
                  <a:pt x="979" y="0"/>
                  <a:pt x="706" y="0"/>
                </a:cubicBezTo>
                <a:cubicBezTo>
                  <a:pt x="317" y="0"/>
                  <a:pt x="0" y="316"/>
                  <a:pt x="0" y="706"/>
                </a:cubicBezTo>
                <a:cubicBezTo>
                  <a:pt x="0" y="954"/>
                  <a:pt x="129" y="1172"/>
                  <a:pt x="323" y="1298"/>
                </a:cubicBezTo>
                <a:cubicBezTo>
                  <a:pt x="1090" y="1298"/>
                  <a:pt x="1090" y="1298"/>
                  <a:pt x="1090" y="1298"/>
                </a:cubicBezTo>
                <a:cubicBezTo>
                  <a:pt x="1193" y="1232"/>
                  <a:pt x="1276" y="1140"/>
                  <a:pt x="1333" y="1031"/>
                </a:cubicBezTo>
                <a:close/>
              </a:path>
            </a:pathLst>
          </a:custGeom>
          <a:solidFill>
            <a:schemeClr val="bg1">
              <a:alpha val="75000"/>
            </a:schemeClr>
          </a:solidFill>
          <a:ln w="50800">
            <a:noFill/>
          </a:ln>
        </p:spPr>
        <p:style>
          <a:lnRef idx="0"/>
          <a:fillRef idx="0"/>
          <a:effectRef idx="0"/>
          <a:fontRef idx="minor"/>
        </p:style>
        <p:txBody>
          <a:bodyPr anchor="t">
            <a:normAutofit/>
          </a:bodyPr>
          <a:p>
            <a:pPr algn="ctr">
              <a:lnSpc>
                <a:spcPct val="100000"/>
              </a:lnSpc>
              <a:spcAft>
                <a:spcPts val="1001"/>
              </a:spcAft>
            </a:pPr>
            <a:endParaRPr b="0" lang="en-US" sz="1600" spc="-1" strike="noStrike" cap="all">
              <a:solidFill>
                <a:srgbClr val="000000"/>
              </a:solidFill>
              <a:latin typeface="Calibri"/>
            </a:endParaRPr>
          </a:p>
        </p:txBody>
      </p:sp>
      <p:cxnSp>
        <p:nvCxnSpPr>
          <p:cNvPr id="85" name="Straight Connector 72"/>
          <p:cNvCxnSpPr/>
          <p:nvPr/>
        </p:nvCxnSpPr>
        <p:spPr>
          <a:xfrm>
            <a:off x="2286720" y="3336840"/>
            <a:ext cx="936000" cy="360"/>
          </a:xfrm>
          <a:prstGeom prst="straightConnector1">
            <a:avLst/>
          </a:prstGeom>
          <a:ln cap="sq" w="25400">
            <a:solidFill>
              <a:srgbClr val="000000">
                <a:lumMod val="85000"/>
                <a:lumOff val="15000"/>
              </a:srgbClr>
            </a:solidFill>
            <a:bevel/>
          </a:ln>
        </p:spPr>
      </p:cxnSp>
      <p:sp>
        <p:nvSpPr>
          <p:cNvPr id="86" name="PlaceHolder 1"/>
          <p:cNvSpPr>
            <a:spLocks noGrp="1"/>
          </p:cNvSpPr>
          <p:nvPr>
            <p:ph/>
          </p:nvPr>
        </p:nvSpPr>
        <p:spPr>
          <a:xfrm>
            <a:off x="525600" y="3417480"/>
            <a:ext cx="4592520" cy="2619360"/>
          </a:xfrm>
          <a:prstGeom prst="rect">
            <a:avLst/>
          </a:prstGeom>
          <a:noFill/>
          <a:ln w="0">
            <a:noFill/>
          </a:ln>
        </p:spPr>
        <p:txBody>
          <a:bodyPr anchor="ctr">
            <a:normAutofit/>
          </a:bodyPr>
          <a:p>
            <a:pPr indent="0">
              <a:lnSpc>
                <a:spcPct val="90000"/>
              </a:lnSpc>
              <a:spcBef>
                <a:spcPts val="1001"/>
              </a:spcBef>
              <a:buNone/>
              <a:tabLst>
                <a:tab algn="l" pos="0"/>
              </a:tabLst>
            </a:pPr>
            <a:r>
              <a:rPr b="0" lang="en-US" sz="1800" spc="-1" strike="noStrike">
                <a:solidFill>
                  <a:srgbClr val="000000"/>
                </a:solidFill>
                <a:latin typeface="Calibri"/>
              </a:rPr>
              <a:t>DRAM is not fast enough to keep our processors filled with instructions and data. </a:t>
            </a:r>
            <a:endParaRPr b="0" lang="en-US" sz="1800" spc="-1" strike="noStrike">
              <a:solidFill>
                <a:srgbClr val="000000"/>
              </a:solidFill>
              <a:latin typeface="Calibri"/>
            </a:endParaRPr>
          </a:p>
          <a:p>
            <a:pPr indent="0">
              <a:lnSpc>
                <a:spcPct val="90000"/>
              </a:lnSpc>
              <a:spcBef>
                <a:spcPts val="1001"/>
              </a:spcBef>
              <a:buNone/>
              <a:tabLst>
                <a:tab algn="l" pos="0"/>
              </a:tabLst>
            </a:pPr>
            <a:endParaRPr b="0" lang="en-US" sz="1800" spc="-1" strike="noStrike">
              <a:solidFill>
                <a:srgbClr val="000000"/>
              </a:solidFill>
              <a:latin typeface="Calibri"/>
            </a:endParaRPr>
          </a:p>
          <a:p>
            <a:pPr indent="0">
              <a:lnSpc>
                <a:spcPct val="90000"/>
              </a:lnSpc>
              <a:spcBef>
                <a:spcPts val="1001"/>
              </a:spcBef>
              <a:buNone/>
              <a:tabLst>
                <a:tab algn="l" pos="0"/>
              </a:tabLst>
            </a:pPr>
            <a:r>
              <a:rPr b="0" lang="en-US" sz="1800" spc="-1" strike="noStrike">
                <a:solidFill>
                  <a:srgbClr val="000000"/>
                </a:solidFill>
                <a:latin typeface="Calibri"/>
              </a:rPr>
              <a:t>SRAM is too expensive to run our computers on.</a:t>
            </a:r>
            <a:endParaRPr b="0" lang="en-US" sz="1800" spc="-1" strike="noStrike">
              <a:solidFill>
                <a:srgbClr val="000000"/>
              </a:solidFill>
              <a:latin typeface="Calibri"/>
            </a:endParaRPr>
          </a:p>
          <a:p>
            <a:pPr indent="0">
              <a:lnSpc>
                <a:spcPct val="90000"/>
              </a:lnSpc>
              <a:spcBef>
                <a:spcPts val="1001"/>
              </a:spcBef>
              <a:buNone/>
              <a:tabLst>
                <a:tab algn="l" pos="0"/>
              </a:tabLst>
            </a:pPr>
            <a:endParaRPr b="0" lang="en-US" sz="1800" spc="-1" strike="noStrike">
              <a:solidFill>
                <a:srgbClr val="000000"/>
              </a:solidFill>
              <a:latin typeface="Calibri"/>
            </a:endParaRPr>
          </a:p>
          <a:p>
            <a:pPr indent="0">
              <a:lnSpc>
                <a:spcPct val="90000"/>
              </a:lnSpc>
              <a:spcBef>
                <a:spcPts val="1001"/>
              </a:spcBef>
              <a:buNone/>
              <a:tabLst>
                <a:tab algn="l" pos="0"/>
              </a:tabLst>
            </a:pPr>
            <a:r>
              <a:rPr b="0" lang="en-US" sz="1800" spc="-1" strike="noStrike">
                <a:solidFill>
                  <a:srgbClr val="000000"/>
                </a:solidFill>
                <a:latin typeface="Calibri"/>
              </a:rPr>
              <a:t>What do we do?</a:t>
            </a:r>
            <a:endParaRPr b="0" lang="en-US" sz="18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87" name="Picture 2" descr="Image result for lawyer study"/>
          <p:cNvPicPr/>
          <p:nvPr/>
        </p:nvPicPr>
        <p:blipFill>
          <a:blip r:embed="rId1"/>
          <a:srcRect l="0" t="601" r="0" b="15127"/>
          <a:stretch/>
        </p:blipFill>
        <p:spPr>
          <a:xfrm>
            <a:off x="0" y="0"/>
            <a:ext cx="12191760" cy="6857640"/>
          </a:xfrm>
          <a:prstGeom prst="rect">
            <a:avLst/>
          </a:prstGeom>
          <a:ln w="0">
            <a:noFill/>
          </a:ln>
        </p:spPr>
      </p:pic>
      <p:sp>
        <p:nvSpPr>
          <p:cNvPr id="88" name="Freeform: Shape 70"/>
          <p:cNvSpPr/>
          <p:nvPr/>
        </p:nvSpPr>
        <p:spPr>
          <a:xfrm>
            <a:off x="0" y="-2160"/>
            <a:ext cx="5608800" cy="5839920"/>
          </a:xfrm>
          <a:custGeom>
            <a:avLst/>
            <a:gdLst>
              <a:gd name="textAreaLeft" fmla="*/ 0 w 5608800"/>
              <a:gd name="textAreaRight" fmla="*/ 5609160 w 5608800"/>
              <a:gd name="textAreaTop" fmla="*/ 0 h 5839920"/>
              <a:gd name="textAreaBottom" fmla="*/ 5840280 h 5839920"/>
            </a:gdLst>
            <a:ahLst/>
            <a:rect l="textAreaLeft" t="textAreaTop" r="textAreaRight" b="textAreaBottom"/>
            <a:pathLst>
              <a:path w="5609220" h="5840278">
                <a:moveTo>
                  <a:pt x="0" y="0"/>
                </a:moveTo>
                <a:lnTo>
                  <a:pt x="4637091" y="0"/>
                </a:lnTo>
                <a:lnTo>
                  <a:pt x="4822569" y="204077"/>
                </a:lnTo>
                <a:cubicBezTo>
                  <a:pt x="5314007" y="799562"/>
                  <a:pt x="5609220" y="1562987"/>
                  <a:pt x="5609220" y="2395363"/>
                </a:cubicBezTo>
                <a:cubicBezTo>
                  <a:pt x="5609220" y="4297937"/>
                  <a:pt x="4066879" y="5840278"/>
                  <a:pt x="2164305" y="5840278"/>
                </a:cubicBezTo>
                <a:cubicBezTo>
                  <a:pt x="1450840" y="5840278"/>
                  <a:pt x="788032" y="5623387"/>
                  <a:pt x="238220" y="5251941"/>
                </a:cubicBezTo>
                <a:lnTo>
                  <a:pt x="0" y="5073803"/>
                </a:lnTo>
                <a:close/>
              </a:path>
            </a:pathLst>
          </a:cu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tabLst>
                <a:tab algn="l" pos="0"/>
              </a:tabLst>
            </a:pPr>
            <a:endParaRPr b="0" lang="en-US" sz="1800" spc="-1" strike="noStrike">
              <a:solidFill>
                <a:srgbClr val="ffffff"/>
              </a:solidFill>
              <a:latin typeface="Calibri"/>
            </a:endParaRPr>
          </a:p>
        </p:txBody>
      </p:sp>
      <p:sp>
        <p:nvSpPr>
          <p:cNvPr id="89" name="Freeform: Shape 72"/>
          <p:cNvSpPr/>
          <p:nvPr/>
        </p:nvSpPr>
        <p:spPr>
          <a:xfrm>
            <a:off x="-2160" y="0"/>
            <a:ext cx="5441400" cy="5654520"/>
          </a:xfrm>
          <a:custGeom>
            <a:avLst/>
            <a:gdLst>
              <a:gd name="textAreaLeft" fmla="*/ 0 w 5441400"/>
              <a:gd name="textAreaRight" fmla="*/ 5441760 w 5441400"/>
              <a:gd name="textAreaTop" fmla="*/ 0 h 5654520"/>
              <a:gd name="textAreaBottom" fmla="*/ 5654880 h 5654520"/>
            </a:gdLst>
            <a:ahLst/>
            <a:rect l="textAreaLeft" t="textAreaTop" r="textAreaRight" b="textAreaBottom"/>
            <a:pathLst>
              <a:path w="5441859" h="5654940">
                <a:moveTo>
                  <a:pt x="0" y="0"/>
                </a:moveTo>
                <a:lnTo>
                  <a:pt x="4400492" y="0"/>
                </a:lnTo>
                <a:lnTo>
                  <a:pt x="4484767" y="76595"/>
                </a:lnTo>
                <a:cubicBezTo>
                  <a:pt x="5076108" y="667936"/>
                  <a:pt x="5441859" y="1484866"/>
                  <a:pt x="5441859" y="2387221"/>
                </a:cubicBezTo>
                <a:cubicBezTo>
                  <a:pt x="5441859" y="4191932"/>
                  <a:pt x="3978851" y="5654940"/>
                  <a:pt x="2174140" y="5654940"/>
                </a:cubicBezTo>
                <a:cubicBezTo>
                  <a:pt x="1412778" y="5654940"/>
                  <a:pt x="712231" y="5394557"/>
                  <a:pt x="156693" y="4957981"/>
                </a:cubicBezTo>
                <a:lnTo>
                  <a:pt x="0" y="4820612"/>
                </a:lnTo>
                <a:close/>
              </a:path>
            </a:pathLst>
          </a:cu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tabLst>
                <a:tab algn="l" pos="0"/>
              </a:tabLst>
            </a:pPr>
            <a:endParaRPr b="0" lang="en-US" sz="1800" spc="-1" strike="noStrike">
              <a:solidFill>
                <a:srgbClr val="ffffff"/>
              </a:solidFill>
              <a:latin typeface="Calibri"/>
            </a:endParaRPr>
          </a:p>
        </p:txBody>
      </p:sp>
      <p:sp>
        <p:nvSpPr>
          <p:cNvPr id="90" name="PlaceHolder 1"/>
          <p:cNvSpPr>
            <a:spLocks noGrp="1"/>
          </p:cNvSpPr>
          <p:nvPr>
            <p:ph/>
          </p:nvPr>
        </p:nvSpPr>
        <p:spPr>
          <a:xfrm>
            <a:off x="-77040" y="0"/>
            <a:ext cx="5439240" cy="5067360"/>
          </a:xfrm>
          <a:prstGeom prst="rect">
            <a:avLst/>
          </a:prstGeom>
          <a:noFill/>
          <a:ln w="0">
            <a:noFill/>
          </a:ln>
        </p:spPr>
        <p:txBody>
          <a:bodyPr anchor="t">
            <a:noAutofit/>
          </a:bodyPr>
          <a:p>
            <a:pPr indent="0">
              <a:lnSpc>
                <a:spcPct val="90000"/>
              </a:lnSpc>
              <a:spcBef>
                <a:spcPts val="1001"/>
              </a:spcBef>
              <a:buNone/>
              <a:tabLst>
                <a:tab algn="l" pos="0"/>
              </a:tabLst>
            </a:pPr>
            <a:r>
              <a:rPr b="0" lang="en-US" sz="2800" spc="-1" strike="noStrike">
                <a:solidFill>
                  <a:srgbClr val="000000"/>
                </a:solidFill>
                <a:latin typeface="Calibri"/>
              </a:rPr>
              <a:t>Consider this image. </a:t>
            </a: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There are 3 classes of books in this image.</a:t>
            </a: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The book he is reading</a:t>
            </a: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The stack of books next to him.</a:t>
            </a: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The shelves in the </a:t>
            </a: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back of the room</a:t>
            </a:r>
            <a:endParaRPr b="0" lang="en-US" sz="28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PlaceHolder 1"/>
          <p:cNvSpPr>
            <a:spLocks noGrp="1"/>
          </p:cNvSpPr>
          <p:nvPr>
            <p:ph type="title"/>
          </p:nvPr>
        </p:nvSpPr>
        <p:spPr>
          <a:xfrm>
            <a:off x="838080" y="365040"/>
            <a:ext cx="10515240" cy="1325160"/>
          </a:xfrm>
          <a:prstGeom prst="rect">
            <a:avLst/>
          </a:prstGeom>
          <a:noFill/>
          <a:ln w="0">
            <a:noFill/>
          </a:ln>
        </p:spPr>
        <p:txBody>
          <a:bodyPr anchor="ctr">
            <a:noAutofit/>
          </a:bodyPr>
          <a:p>
            <a:pPr indent="0">
              <a:lnSpc>
                <a:spcPct val="90000"/>
              </a:lnSpc>
              <a:buNone/>
            </a:pPr>
            <a:r>
              <a:rPr b="0" lang="en-US" sz="4400" spc="-1" strike="noStrike">
                <a:solidFill>
                  <a:srgbClr val="000000"/>
                </a:solidFill>
                <a:latin typeface="Calibri Light"/>
              </a:rPr>
              <a:t>Access </a:t>
            </a:r>
            <a:r>
              <a:rPr b="0" lang="en-US" sz="4400" spc="-1" strike="noStrike">
                <a:solidFill>
                  <a:srgbClr val="000000"/>
                </a:solidFill>
                <a:latin typeface="Calibri Light"/>
              </a:rPr>
              <a:t>Time </a:t>
            </a:r>
            <a:r>
              <a:rPr b="0" lang="en-US" sz="4400" spc="-1" strike="noStrike">
                <a:solidFill>
                  <a:srgbClr val="000000"/>
                </a:solidFill>
                <a:latin typeface="Calibri Light"/>
              </a:rPr>
              <a:t>and </a:t>
            </a:r>
            <a:r>
              <a:rPr b="0" lang="en-US" sz="4400" spc="-1" strike="noStrike">
                <a:solidFill>
                  <a:srgbClr val="000000"/>
                </a:solidFill>
                <a:latin typeface="Calibri Light"/>
              </a:rPr>
              <a:t>Size</a:t>
            </a:r>
            <a:endParaRPr b="0" lang="en-US" sz="4400" spc="-1" strike="noStrike">
              <a:solidFill>
                <a:srgbClr val="000000"/>
              </a:solidFill>
              <a:latin typeface="Calibri"/>
            </a:endParaRPr>
          </a:p>
        </p:txBody>
      </p:sp>
      <p:sp>
        <p:nvSpPr>
          <p:cNvPr id="92" name="PlaceHolder 2"/>
          <p:cNvSpPr>
            <a:spLocks noGrp="1"/>
          </p:cNvSpPr>
          <p:nvPr>
            <p:ph/>
          </p:nvPr>
        </p:nvSpPr>
        <p:spPr>
          <a:xfrm>
            <a:off x="838080" y="1825560"/>
            <a:ext cx="10515240" cy="4350960"/>
          </a:xfrm>
          <a:prstGeom prst="rect">
            <a:avLst/>
          </a:prstGeom>
          <a:noFill/>
          <a:ln w="0">
            <a:noFill/>
          </a:ln>
        </p:spPr>
        <p:txBody>
          <a:bodyPr anchor="t">
            <a:noAutofit/>
          </a:bodyPr>
          <a:p>
            <a:pPr indent="0">
              <a:lnSpc>
                <a:spcPct val="90000"/>
              </a:lnSpc>
              <a:spcBef>
                <a:spcPts val="1001"/>
              </a:spcBef>
              <a:buNone/>
              <a:tabLst>
                <a:tab algn="l" pos="0"/>
              </a:tabLst>
            </a:pPr>
            <a:r>
              <a:rPr b="0" lang="en-US" sz="2800" spc="-1" strike="noStrike">
                <a:solidFill>
                  <a:srgbClr val="000000"/>
                </a:solidFill>
                <a:latin typeface="Calibri"/>
              </a:rPr>
              <a:t>In that image, how long would it take the man to get to a page:</a:t>
            </a: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a:p>
            <a:pPr marL="514440" indent="-514440">
              <a:lnSpc>
                <a:spcPct val="90000"/>
              </a:lnSpc>
              <a:spcBef>
                <a:spcPts val="1001"/>
              </a:spcBef>
              <a:buClr>
                <a:srgbClr val="000000"/>
              </a:buClr>
              <a:buFont typeface="Arial"/>
              <a:buAutoNum type="arabicParenR"/>
              <a:tabLst>
                <a:tab algn="l" pos="0"/>
              </a:tabLst>
            </a:pPr>
            <a:r>
              <a:rPr b="0" lang="en-US" sz="2800" spc="-1" strike="noStrike">
                <a:solidFill>
                  <a:srgbClr val="000000"/>
                </a:solidFill>
                <a:latin typeface="Calibri"/>
              </a:rPr>
              <a:t>In the book he is reading?</a:t>
            </a:r>
            <a:endParaRPr b="0" lang="en-US" sz="2800" spc="-1" strike="noStrike">
              <a:solidFill>
                <a:srgbClr val="000000"/>
              </a:solidFill>
              <a:latin typeface="Calibri"/>
            </a:endParaRPr>
          </a:p>
          <a:p>
            <a:pPr marL="514440" indent="-514440">
              <a:lnSpc>
                <a:spcPct val="90000"/>
              </a:lnSpc>
              <a:spcBef>
                <a:spcPts val="1001"/>
              </a:spcBef>
              <a:buClr>
                <a:srgbClr val="000000"/>
              </a:buClr>
              <a:buFont typeface="Arial"/>
              <a:buAutoNum type="arabicParenR"/>
              <a:tabLst>
                <a:tab algn="l" pos="0"/>
              </a:tabLst>
            </a:pPr>
            <a:r>
              <a:rPr b="0" lang="en-US" sz="2800" spc="-1" strike="noStrike">
                <a:solidFill>
                  <a:srgbClr val="000000"/>
                </a:solidFill>
                <a:latin typeface="Calibri"/>
              </a:rPr>
              <a:t>In the stack next to him?</a:t>
            </a:r>
            <a:endParaRPr b="0" lang="en-US" sz="2800" spc="-1" strike="noStrike">
              <a:solidFill>
                <a:srgbClr val="000000"/>
              </a:solidFill>
              <a:latin typeface="Calibri"/>
            </a:endParaRPr>
          </a:p>
          <a:p>
            <a:pPr marL="514440" indent="-514440">
              <a:lnSpc>
                <a:spcPct val="90000"/>
              </a:lnSpc>
              <a:spcBef>
                <a:spcPts val="1001"/>
              </a:spcBef>
              <a:buClr>
                <a:srgbClr val="000000"/>
              </a:buClr>
              <a:buFont typeface="Arial"/>
              <a:buAutoNum type="arabicParenR"/>
              <a:tabLst>
                <a:tab algn="l" pos="0"/>
              </a:tabLst>
            </a:pPr>
            <a:r>
              <a:rPr b="0" lang="en-US" sz="2800" spc="-1" strike="noStrike">
                <a:solidFill>
                  <a:srgbClr val="000000"/>
                </a:solidFill>
                <a:latin typeface="Calibri"/>
              </a:rPr>
              <a:t>In a particular book on the shelves?</a:t>
            </a: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How many books (approximately) are in each of the above categories? </a:t>
            </a: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Is this setup optimal?</a:t>
            </a:r>
            <a:endParaRPr b="0" lang="en-US" sz="28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PlaceHolder 1"/>
          <p:cNvSpPr>
            <a:spLocks noGrp="1"/>
          </p:cNvSpPr>
          <p:nvPr>
            <p:ph type="title"/>
          </p:nvPr>
        </p:nvSpPr>
        <p:spPr>
          <a:xfrm>
            <a:off x="838080" y="365040"/>
            <a:ext cx="10515240" cy="1325160"/>
          </a:xfrm>
          <a:prstGeom prst="rect">
            <a:avLst/>
          </a:prstGeom>
          <a:noFill/>
          <a:ln w="0">
            <a:noFill/>
          </a:ln>
        </p:spPr>
        <p:txBody>
          <a:bodyPr anchor="ctr">
            <a:noAutofit/>
          </a:bodyPr>
          <a:p>
            <a:pPr indent="0">
              <a:lnSpc>
                <a:spcPct val="90000"/>
              </a:lnSpc>
              <a:buNone/>
            </a:pPr>
            <a:r>
              <a:rPr b="0" lang="en-US" sz="4400" spc="-1" strike="noStrike">
                <a:solidFill>
                  <a:srgbClr val="000000"/>
                </a:solidFill>
                <a:latin typeface="Calibri Light"/>
              </a:rPr>
              <a:t>Locality</a:t>
            </a:r>
            <a:endParaRPr b="0" lang="en-US" sz="4400" spc="-1" strike="noStrike">
              <a:solidFill>
                <a:srgbClr val="000000"/>
              </a:solidFill>
              <a:latin typeface="Calibri"/>
            </a:endParaRPr>
          </a:p>
        </p:txBody>
      </p:sp>
      <p:sp>
        <p:nvSpPr>
          <p:cNvPr id="94" name="PlaceHolder 2"/>
          <p:cNvSpPr>
            <a:spLocks noGrp="1"/>
          </p:cNvSpPr>
          <p:nvPr>
            <p:ph/>
          </p:nvPr>
        </p:nvSpPr>
        <p:spPr>
          <a:xfrm>
            <a:off x="838080" y="1825560"/>
            <a:ext cx="10515240" cy="4350960"/>
          </a:xfrm>
          <a:prstGeom prst="rect">
            <a:avLst/>
          </a:prstGeom>
          <a:noFill/>
          <a:ln w="0">
            <a:noFill/>
          </a:ln>
        </p:spPr>
        <p:txBody>
          <a:bodyPr anchor="t">
            <a:noAutofit/>
          </a:bodyPr>
          <a:p>
            <a:pPr indent="0">
              <a:lnSpc>
                <a:spcPct val="90000"/>
              </a:lnSpc>
              <a:spcBef>
                <a:spcPts val="1001"/>
              </a:spcBef>
              <a:buNone/>
              <a:tabLst>
                <a:tab algn="l" pos="0"/>
              </a:tabLst>
            </a:pPr>
            <a:r>
              <a:rPr b="0" lang="en-US" sz="2800" spc="-1" strike="noStrike">
                <a:solidFill>
                  <a:srgbClr val="000000"/>
                </a:solidFill>
                <a:latin typeface="Calibri"/>
              </a:rPr>
              <a:t>This setup works for him because he likely has one or both types of locality in his usage pattern:</a:t>
            </a: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a:p>
            <a:pPr marL="514440" indent="-514440">
              <a:lnSpc>
                <a:spcPct val="90000"/>
              </a:lnSpc>
              <a:spcBef>
                <a:spcPts val="1001"/>
              </a:spcBef>
              <a:buClr>
                <a:srgbClr val="000000"/>
              </a:buClr>
              <a:buFont typeface="Arial"/>
              <a:buAutoNum type="arabicParenR"/>
              <a:tabLst>
                <a:tab algn="l" pos="0"/>
              </a:tabLst>
            </a:pPr>
            <a:r>
              <a:rPr b="0" lang="en-US" sz="2800" spc="-1" strike="noStrike">
                <a:solidFill>
                  <a:srgbClr val="000000"/>
                </a:solidFill>
                <a:latin typeface="Calibri"/>
              </a:rPr>
              <a:t>Spatial locality – if he reads a page in one book, the most likely page that he will read is the next page</a:t>
            </a:r>
            <a:endParaRPr b="0" lang="en-US" sz="2800" spc="-1" strike="noStrike">
              <a:solidFill>
                <a:srgbClr val="000000"/>
              </a:solidFill>
              <a:latin typeface="Calibri"/>
            </a:endParaRPr>
          </a:p>
          <a:p>
            <a:pPr marL="514440" indent="-514440">
              <a:lnSpc>
                <a:spcPct val="90000"/>
              </a:lnSpc>
              <a:spcBef>
                <a:spcPts val="1001"/>
              </a:spcBef>
              <a:buClr>
                <a:srgbClr val="000000"/>
              </a:buClr>
              <a:buFont typeface="Arial"/>
              <a:buAutoNum type="arabicParenR"/>
              <a:tabLst>
                <a:tab algn="l" pos="0"/>
              </a:tabLst>
            </a:pPr>
            <a:r>
              <a:rPr b="0" lang="en-US" sz="2800" spc="-1" strike="noStrike">
                <a:solidFill>
                  <a:srgbClr val="000000"/>
                </a:solidFill>
                <a:latin typeface="Calibri"/>
              </a:rPr>
              <a:t>Temporal locality - If he referenced something in one book, it is likely that he will reference it again </a:t>
            </a:r>
            <a:endParaRPr b="0" lang="en-US" sz="28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PlaceHolder 1"/>
          <p:cNvSpPr>
            <a:spLocks noGrp="1"/>
          </p:cNvSpPr>
          <p:nvPr>
            <p:ph type="title"/>
          </p:nvPr>
        </p:nvSpPr>
        <p:spPr>
          <a:xfrm>
            <a:off x="838080" y="365040"/>
            <a:ext cx="10515240" cy="1325160"/>
          </a:xfrm>
          <a:prstGeom prst="rect">
            <a:avLst/>
          </a:prstGeom>
          <a:noFill/>
          <a:ln w="0">
            <a:noFill/>
          </a:ln>
        </p:spPr>
        <p:txBody>
          <a:bodyPr anchor="ctr">
            <a:noAutofit/>
          </a:bodyPr>
          <a:p>
            <a:pPr indent="0">
              <a:lnSpc>
                <a:spcPct val="90000"/>
              </a:lnSpc>
              <a:buNone/>
            </a:pPr>
            <a:r>
              <a:rPr b="0" lang="en-US" sz="4400" spc="-1" strike="noStrike">
                <a:solidFill>
                  <a:srgbClr val="000000"/>
                </a:solidFill>
                <a:latin typeface="Calibri Light"/>
              </a:rPr>
              <a:t>Memor</a:t>
            </a:r>
            <a:r>
              <a:rPr b="0" lang="en-US" sz="4400" spc="-1" strike="noStrike">
                <a:solidFill>
                  <a:srgbClr val="000000"/>
                </a:solidFill>
                <a:latin typeface="Calibri Light"/>
              </a:rPr>
              <a:t>y </a:t>
            </a:r>
            <a:r>
              <a:rPr b="0" lang="en-US" sz="4400" spc="-1" strike="noStrike">
                <a:solidFill>
                  <a:srgbClr val="000000"/>
                </a:solidFill>
                <a:latin typeface="Calibri Light"/>
              </a:rPr>
              <a:t>Hierarc</a:t>
            </a:r>
            <a:r>
              <a:rPr b="0" lang="en-US" sz="4400" spc="-1" strike="noStrike">
                <a:solidFill>
                  <a:srgbClr val="000000"/>
                </a:solidFill>
                <a:latin typeface="Calibri Light"/>
              </a:rPr>
              <a:t>hy</a:t>
            </a:r>
            <a:endParaRPr b="0" lang="en-US" sz="4400" spc="-1" strike="noStrike">
              <a:solidFill>
                <a:srgbClr val="000000"/>
              </a:solidFill>
              <a:latin typeface="Calibri"/>
            </a:endParaRPr>
          </a:p>
        </p:txBody>
      </p:sp>
      <p:sp>
        <p:nvSpPr>
          <p:cNvPr id="96" name="PlaceHolder 2"/>
          <p:cNvSpPr>
            <a:spLocks noGrp="1"/>
          </p:cNvSpPr>
          <p:nvPr>
            <p:ph/>
          </p:nvPr>
        </p:nvSpPr>
        <p:spPr>
          <a:xfrm>
            <a:off x="838080" y="1825560"/>
            <a:ext cx="10515240" cy="568080"/>
          </a:xfrm>
          <a:prstGeom prst="rect">
            <a:avLst/>
          </a:prstGeom>
          <a:noFill/>
          <a:ln w="0">
            <a:noFill/>
          </a:ln>
        </p:spPr>
        <p:txBody>
          <a:bodyPr anchor="t">
            <a:noAutofit/>
          </a:bodyPr>
          <a:p>
            <a:pPr indent="0">
              <a:lnSpc>
                <a:spcPct val="90000"/>
              </a:lnSpc>
              <a:spcBef>
                <a:spcPts val="1001"/>
              </a:spcBef>
              <a:buNone/>
              <a:tabLst>
                <a:tab algn="l" pos="0"/>
              </a:tabLst>
            </a:pPr>
            <a:r>
              <a:rPr b="0" lang="en-US" sz="2800" spc="-1" strike="noStrike">
                <a:solidFill>
                  <a:srgbClr val="000000"/>
                </a:solidFill>
                <a:latin typeface="Calibri"/>
              </a:rPr>
              <a:t>Computers have varying levels of caches/memory. </a:t>
            </a: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p:txBody>
      </p:sp>
      <p:sp>
        <p:nvSpPr>
          <p:cNvPr id="97" name="TextBox 5"/>
          <p:cNvSpPr/>
          <p:nvPr/>
        </p:nvSpPr>
        <p:spPr>
          <a:xfrm>
            <a:off x="487800" y="5111280"/>
            <a:ext cx="2069640" cy="1186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800" spc="-1" strike="noStrike">
                <a:solidFill>
                  <a:srgbClr val="000000"/>
                </a:solidFill>
                <a:latin typeface="Calibri"/>
              </a:rPr>
              <a:t>Close to the CPU</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rPr>
              <a:t>Fast(est)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rPr>
              <a:t>Smallest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rPr>
              <a:t>Most Expensive ($)</a:t>
            </a:r>
            <a:endParaRPr b="0" lang="en-US" sz="1800" spc="-1" strike="noStrike">
              <a:solidFill>
                <a:srgbClr val="000000"/>
              </a:solidFill>
              <a:latin typeface="Arial"/>
            </a:endParaRPr>
          </a:p>
        </p:txBody>
      </p:sp>
      <p:sp>
        <p:nvSpPr>
          <p:cNvPr id="98" name="TextBox 6"/>
          <p:cNvSpPr/>
          <p:nvPr/>
        </p:nvSpPr>
        <p:spPr>
          <a:xfrm>
            <a:off x="9429480" y="5111280"/>
            <a:ext cx="2274480" cy="1186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800" spc="-1" strike="noStrike">
                <a:solidFill>
                  <a:srgbClr val="000000"/>
                </a:solidFill>
                <a:latin typeface="Calibri"/>
              </a:rPr>
              <a:t>Farthest from the CPU</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rPr>
              <a:t>Slow(est)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rPr>
              <a:t>Largest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rPr>
              <a:t>Least Expensive ($)</a:t>
            </a:r>
            <a:endParaRPr b="0" lang="en-US" sz="1800" spc="-1" strike="noStrike">
              <a:solidFill>
                <a:srgbClr val="000000"/>
              </a:solidFill>
              <a:latin typeface="Arial"/>
            </a:endParaRPr>
          </a:p>
        </p:txBody>
      </p:sp>
      <p:pic>
        <p:nvPicPr>
          <p:cNvPr id="99" name="Picture 18" descr=""/>
          <p:cNvPicPr/>
          <p:nvPr/>
        </p:nvPicPr>
        <p:blipFill>
          <a:blip r:embed="rId1"/>
          <a:stretch/>
        </p:blipFill>
        <p:spPr>
          <a:xfrm>
            <a:off x="405000" y="4063680"/>
            <a:ext cx="11565000" cy="1047240"/>
          </a:xfrm>
          <a:prstGeom prst="rect">
            <a:avLst/>
          </a:prstGeom>
          <a:ln w="0">
            <a:noFill/>
          </a:ln>
        </p:spPr>
      </p:pic>
      <p:sp>
        <p:nvSpPr>
          <p:cNvPr id="100" name="TextBox 19"/>
          <p:cNvSpPr/>
          <p:nvPr/>
        </p:nvSpPr>
        <p:spPr>
          <a:xfrm>
            <a:off x="594000" y="3854520"/>
            <a:ext cx="101772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800" spc="-1" strike="noStrike">
                <a:solidFill>
                  <a:srgbClr val="000000"/>
                </a:solidFill>
                <a:latin typeface="Calibri"/>
              </a:rPr>
              <a:t>Registers</a:t>
            </a:r>
            <a:endParaRPr b="0" lang="en-US" sz="1800" spc="-1" strike="noStrike">
              <a:solidFill>
                <a:srgbClr val="000000"/>
              </a:solidFill>
              <a:latin typeface="Arial"/>
            </a:endParaRPr>
          </a:p>
        </p:txBody>
      </p:sp>
      <p:sp>
        <p:nvSpPr>
          <p:cNvPr id="101" name="TextBox 20"/>
          <p:cNvSpPr/>
          <p:nvPr/>
        </p:nvSpPr>
        <p:spPr>
          <a:xfrm>
            <a:off x="2989080" y="3854520"/>
            <a:ext cx="39276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800" spc="-1" strike="noStrike">
                <a:solidFill>
                  <a:srgbClr val="000000"/>
                </a:solidFill>
                <a:latin typeface="Calibri"/>
              </a:rPr>
              <a:t>L1</a:t>
            </a:r>
            <a:endParaRPr b="0" lang="en-US" sz="1800" spc="-1" strike="noStrike">
              <a:solidFill>
                <a:srgbClr val="000000"/>
              </a:solidFill>
              <a:latin typeface="Arial"/>
            </a:endParaRPr>
          </a:p>
        </p:txBody>
      </p:sp>
      <p:sp>
        <p:nvSpPr>
          <p:cNvPr id="102" name="TextBox 21"/>
          <p:cNvSpPr/>
          <p:nvPr/>
        </p:nvSpPr>
        <p:spPr>
          <a:xfrm>
            <a:off x="4758120" y="3854520"/>
            <a:ext cx="39276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800" spc="-1" strike="noStrike">
                <a:solidFill>
                  <a:srgbClr val="000000"/>
                </a:solidFill>
                <a:latin typeface="Calibri"/>
              </a:rPr>
              <a:t>L2</a:t>
            </a:r>
            <a:endParaRPr b="0" lang="en-US" sz="1800" spc="-1" strike="noStrike">
              <a:solidFill>
                <a:srgbClr val="000000"/>
              </a:solidFill>
              <a:latin typeface="Arial"/>
            </a:endParaRPr>
          </a:p>
        </p:txBody>
      </p:sp>
      <p:sp>
        <p:nvSpPr>
          <p:cNvPr id="103" name="TextBox 22"/>
          <p:cNvSpPr/>
          <p:nvPr/>
        </p:nvSpPr>
        <p:spPr>
          <a:xfrm>
            <a:off x="6527160" y="3854520"/>
            <a:ext cx="39276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800" spc="-1" strike="noStrike">
                <a:solidFill>
                  <a:srgbClr val="000000"/>
                </a:solidFill>
                <a:latin typeface="Calibri"/>
              </a:rPr>
              <a:t>L3</a:t>
            </a:r>
            <a:endParaRPr b="0" lang="en-US" sz="1800" spc="-1" strike="noStrike">
              <a:solidFill>
                <a:srgbClr val="000000"/>
              </a:solidFill>
              <a:latin typeface="Arial"/>
            </a:endParaRPr>
          </a:p>
        </p:txBody>
      </p:sp>
      <p:sp>
        <p:nvSpPr>
          <p:cNvPr id="104" name="TextBox 23"/>
          <p:cNvSpPr/>
          <p:nvPr/>
        </p:nvSpPr>
        <p:spPr>
          <a:xfrm>
            <a:off x="8298000" y="3854520"/>
            <a:ext cx="97812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800" spc="-1" strike="noStrike">
                <a:solidFill>
                  <a:srgbClr val="000000"/>
                </a:solidFill>
                <a:latin typeface="Calibri"/>
              </a:rPr>
              <a:t>Memory</a:t>
            </a:r>
            <a:endParaRPr b="0" lang="en-US" sz="1800" spc="-1" strike="noStrike">
              <a:solidFill>
                <a:srgbClr val="000000"/>
              </a:solidFill>
              <a:latin typeface="Arial"/>
            </a:endParaRPr>
          </a:p>
        </p:txBody>
      </p:sp>
      <p:sp>
        <p:nvSpPr>
          <p:cNvPr id="105" name="TextBox 24"/>
          <p:cNvSpPr/>
          <p:nvPr/>
        </p:nvSpPr>
        <p:spPr>
          <a:xfrm>
            <a:off x="10658160" y="3854520"/>
            <a:ext cx="90180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800" spc="-1" strike="noStrike">
                <a:solidFill>
                  <a:srgbClr val="000000"/>
                </a:solidFill>
                <a:latin typeface="Calibri"/>
              </a:rPr>
              <a:t>SSD/HD</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PlaceHolder 1"/>
          <p:cNvSpPr>
            <a:spLocks noGrp="1"/>
          </p:cNvSpPr>
          <p:nvPr>
            <p:ph type="title"/>
          </p:nvPr>
        </p:nvSpPr>
        <p:spPr>
          <a:xfrm>
            <a:off x="505800" y="1130040"/>
            <a:ext cx="10515240" cy="565560"/>
          </a:xfrm>
          <a:prstGeom prst="rect">
            <a:avLst/>
          </a:prstGeom>
          <a:noFill/>
          <a:ln w="0">
            <a:noFill/>
          </a:ln>
        </p:spPr>
        <p:txBody>
          <a:bodyPr anchor="ctr">
            <a:normAutofit fontScale="78000"/>
          </a:bodyPr>
          <a:p>
            <a:pPr indent="0" algn="ctr">
              <a:lnSpc>
                <a:spcPct val="90000"/>
              </a:lnSpc>
              <a:buNone/>
            </a:pPr>
            <a:r>
              <a:rPr b="0" lang="en-US" sz="4400" spc="-1" strike="noStrike">
                <a:solidFill>
                  <a:srgbClr val="000000"/>
                </a:solidFill>
                <a:latin typeface="Calibri Light"/>
              </a:rPr>
              <a:t>Exampl</a:t>
            </a:r>
            <a:r>
              <a:rPr b="0" lang="en-US" sz="4400" spc="-1" strike="noStrike">
                <a:solidFill>
                  <a:srgbClr val="000000"/>
                </a:solidFill>
                <a:latin typeface="Calibri Light"/>
              </a:rPr>
              <a:t>e: </a:t>
            </a:r>
            <a:r>
              <a:rPr b="0" lang="en-US" sz="4400" spc="-1" strike="noStrike">
                <a:solidFill>
                  <a:srgbClr val="000000"/>
                </a:solidFill>
                <a:latin typeface="Calibri Light"/>
              </a:rPr>
              <a:t>Ryzen </a:t>
            </a:r>
            <a:r>
              <a:rPr b="0" lang="en-US" sz="4400" spc="-1" strike="noStrike">
                <a:solidFill>
                  <a:srgbClr val="000000"/>
                </a:solidFill>
                <a:latin typeface="Calibri Light"/>
              </a:rPr>
              <a:t>7 </a:t>
            </a:r>
            <a:r>
              <a:rPr b="0" lang="en-US" sz="4400" spc="-1" strike="noStrike">
                <a:solidFill>
                  <a:srgbClr val="000000"/>
                </a:solidFill>
                <a:latin typeface="Calibri Light"/>
              </a:rPr>
              <a:t>2700X</a:t>
            </a:r>
            <a:endParaRPr b="0" lang="en-US" sz="4400" spc="-1" strike="noStrike">
              <a:solidFill>
                <a:srgbClr val="000000"/>
              </a:solidFill>
              <a:latin typeface="Calibri"/>
            </a:endParaRPr>
          </a:p>
        </p:txBody>
      </p:sp>
      <p:graphicFrame>
        <p:nvGraphicFramePr>
          <p:cNvPr id="107" name="Table 4"/>
          <p:cNvGraphicFramePr/>
          <p:nvPr/>
        </p:nvGraphicFramePr>
        <p:xfrm>
          <a:off x="355320" y="1903680"/>
          <a:ext cx="11480760" cy="3175200"/>
        </p:xfrm>
        <a:graphic>
          <a:graphicData uri="http://schemas.openxmlformats.org/drawingml/2006/table">
            <a:tbl>
              <a:tblPr/>
              <a:tblGrid>
                <a:gridCol w="2296080"/>
                <a:gridCol w="1395720"/>
                <a:gridCol w="5112000"/>
                <a:gridCol w="1122120"/>
                <a:gridCol w="1554480"/>
              </a:tblGrid>
              <a:tr h="482040">
                <a:tc>
                  <a:txBody>
                    <a:bodyPr lIns="68400" rIns="68400" tIns="0" bIns="0" anchor="t">
                      <a:noAutofit/>
                    </a:bodyPr>
                    <a:p>
                      <a:pPr>
                        <a:lnSpc>
                          <a:spcPct val="107000"/>
                        </a:lnSpc>
                      </a:pPr>
                      <a:r>
                        <a:rPr b="0" lang="en-US" sz="2400" spc="-1" strike="noStrike">
                          <a:solidFill>
                            <a:srgbClr val="f2f2f2"/>
                          </a:solidFill>
                          <a:latin typeface="Calibri"/>
                        </a:rPr>
                        <a:t>Memory Type</a:t>
                      </a:r>
                      <a:endParaRPr b="0" lang="en-US" sz="2400" spc="-1" strike="noStrike">
                        <a:solidFill>
                          <a:srgbClr val="000000"/>
                        </a:solidFill>
                        <a:latin typeface="Arial"/>
                      </a:endParaRPr>
                    </a:p>
                  </a:txBody>
                  <a:tcPr anchor="t" marL="68400" marR="68400">
                    <a:lnL w="12240">
                      <a:solidFill>
                        <a:srgbClr val="000000"/>
                      </a:solidFill>
                    </a:lnL>
                    <a:lnR w="12240">
                      <a:solidFill>
                        <a:srgbClr val="000000"/>
                      </a:solidFill>
                    </a:lnR>
                    <a:lnT w="12240">
                      <a:solidFill>
                        <a:srgbClr val="000000"/>
                      </a:solidFill>
                    </a:lnT>
                    <a:lnB w="12240">
                      <a:solidFill>
                        <a:srgbClr val="000000"/>
                      </a:solidFill>
                    </a:lnB>
                    <a:solidFill>
                      <a:schemeClr val="accent1">
                        <a:lumMod val="75000"/>
                      </a:schemeClr>
                    </a:solidFill>
                  </a:tcPr>
                </a:tc>
                <a:tc>
                  <a:txBody>
                    <a:bodyPr lIns="68400" rIns="68400" tIns="0" bIns="0" anchor="t">
                      <a:noAutofit/>
                    </a:bodyPr>
                    <a:p>
                      <a:pPr>
                        <a:lnSpc>
                          <a:spcPct val="107000"/>
                        </a:lnSpc>
                      </a:pPr>
                      <a:r>
                        <a:rPr b="0" lang="en-US" sz="2400" spc="-1" strike="noStrike">
                          <a:solidFill>
                            <a:srgbClr val="f2f2f2"/>
                          </a:solidFill>
                          <a:latin typeface="Calibri"/>
                        </a:rPr>
                        <a:t>Size</a:t>
                      </a:r>
                      <a:endParaRPr b="0" lang="en-US" sz="2400" spc="-1" strike="noStrike">
                        <a:solidFill>
                          <a:srgbClr val="000000"/>
                        </a:solidFill>
                        <a:latin typeface="Arial"/>
                      </a:endParaRPr>
                    </a:p>
                  </a:txBody>
                  <a:tcPr anchor="t" marL="68400" marR="68400">
                    <a:lnL w="12240">
                      <a:solidFill>
                        <a:srgbClr val="000000"/>
                      </a:solidFill>
                    </a:lnL>
                    <a:lnR w="12240">
                      <a:solidFill>
                        <a:srgbClr val="000000"/>
                      </a:solidFill>
                    </a:lnR>
                    <a:lnT w="12240">
                      <a:solidFill>
                        <a:srgbClr val="000000"/>
                      </a:solidFill>
                    </a:lnT>
                    <a:lnB w="12240">
                      <a:solidFill>
                        <a:srgbClr val="000000"/>
                      </a:solidFill>
                    </a:lnB>
                    <a:solidFill>
                      <a:schemeClr val="accent1">
                        <a:lumMod val="75000"/>
                      </a:schemeClr>
                    </a:solidFill>
                  </a:tcPr>
                </a:tc>
                <a:tc>
                  <a:txBody>
                    <a:bodyPr lIns="68400" rIns="68400" tIns="0" bIns="0" anchor="t">
                      <a:noAutofit/>
                    </a:bodyPr>
                    <a:p>
                      <a:pPr>
                        <a:lnSpc>
                          <a:spcPct val="107000"/>
                        </a:lnSpc>
                      </a:pPr>
                      <a:r>
                        <a:rPr b="0" lang="en-US" sz="2400" spc="-1" strike="noStrike">
                          <a:solidFill>
                            <a:srgbClr val="f2f2f2"/>
                          </a:solidFill>
                          <a:latin typeface="Calibri"/>
                        </a:rPr>
                        <a:t>Type</a:t>
                      </a:r>
                      <a:endParaRPr b="0" lang="en-US" sz="2400" spc="-1" strike="noStrike">
                        <a:solidFill>
                          <a:srgbClr val="000000"/>
                        </a:solidFill>
                        <a:latin typeface="Arial"/>
                      </a:endParaRPr>
                    </a:p>
                  </a:txBody>
                  <a:tcPr anchor="t" marL="68400" marR="68400">
                    <a:lnL w="12240">
                      <a:solidFill>
                        <a:srgbClr val="000000"/>
                      </a:solidFill>
                    </a:lnL>
                    <a:lnR w="12240">
                      <a:solidFill>
                        <a:srgbClr val="000000"/>
                      </a:solidFill>
                    </a:lnR>
                    <a:lnT w="12240">
                      <a:solidFill>
                        <a:srgbClr val="000000"/>
                      </a:solidFill>
                    </a:lnT>
                    <a:lnB w="12240">
                      <a:solidFill>
                        <a:srgbClr val="000000"/>
                      </a:solidFill>
                    </a:lnB>
                    <a:solidFill>
                      <a:schemeClr val="accent1">
                        <a:lumMod val="75000"/>
                      </a:schemeClr>
                    </a:solidFill>
                  </a:tcPr>
                </a:tc>
                <a:tc>
                  <a:txBody>
                    <a:bodyPr lIns="68400" rIns="68400" tIns="0" bIns="0" anchor="t">
                      <a:noAutofit/>
                    </a:bodyPr>
                    <a:p>
                      <a:pPr>
                        <a:lnSpc>
                          <a:spcPct val="107000"/>
                        </a:lnSpc>
                      </a:pPr>
                      <a:r>
                        <a:rPr b="0" lang="en-US" sz="2400" spc="-1" strike="noStrike">
                          <a:solidFill>
                            <a:srgbClr val="f2f2f2"/>
                          </a:solidFill>
                          <a:latin typeface="Calibri"/>
                        </a:rPr>
                        <a:t>Latency</a:t>
                      </a:r>
                      <a:endParaRPr b="0" lang="en-US" sz="2400" spc="-1" strike="noStrike">
                        <a:solidFill>
                          <a:srgbClr val="000000"/>
                        </a:solidFill>
                        <a:latin typeface="Arial"/>
                      </a:endParaRPr>
                    </a:p>
                  </a:txBody>
                  <a:tcPr anchor="t" marL="68400" marR="68400">
                    <a:lnL w="12240">
                      <a:solidFill>
                        <a:srgbClr val="000000"/>
                      </a:solidFill>
                    </a:lnL>
                    <a:lnR w="12240">
                      <a:solidFill>
                        <a:srgbClr val="000000"/>
                      </a:solidFill>
                    </a:lnR>
                    <a:lnT w="12240">
                      <a:solidFill>
                        <a:srgbClr val="000000"/>
                      </a:solidFill>
                    </a:lnT>
                    <a:lnB w="12240">
                      <a:solidFill>
                        <a:srgbClr val="000000"/>
                      </a:solidFill>
                    </a:lnB>
                    <a:solidFill>
                      <a:schemeClr val="accent1">
                        <a:lumMod val="75000"/>
                      </a:schemeClr>
                    </a:solidFill>
                  </a:tcPr>
                </a:tc>
                <a:tc>
                  <a:txBody>
                    <a:bodyPr lIns="68400" rIns="68400" tIns="0" bIns="0" anchor="t">
                      <a:noAutofit/>
                    </a:bodyPr>
                    <a:p>
                      <a:pPr>
                        <a:lnSpc>
                          <a:spcPct val="107000"/>
                        </a:lnSpc>
                      </a:pPr>
                      <a:r>
                        <a:rPr b="0" lang="en-US" sz="2400" spc="-1" strike="noStrike">
                          <a:solidFill>
                            <a:srgbClr val="f2f2f2"/>
                          </a:solidFill>
                          <a:latin typeface="Calibri"/>
                        </a:rPr>
                        <a:t>Cycles</a:t>
                      </a:r>
                      <a:endParaRPr b="0" lang="en-US" sz="2400" spc="-1" strike="noStrike">
                        <a:solidFill>
                          <a:srgbClr val="000000"/>
                        </a:solidFill>
                        <a:latin typeface="Arial"/>
                      </a:endParaRPr>
                    </a:p>
                  </a:txBody>
                  <a:tcPr anchor="t" marL="68400" marR="68400">
                    <a:lnL w="12240">
                      <a:solidFill>
                        <a:srgbClr val="000000"/>
                      </a:solidFill>
                    </a:lnL>
                    <a:lnR w="12240">
                      <a:solidFill>
                        <a:srgbClr val="000000"/>
                      </a:solidFill>
                    </a:lnR>
                    <a:lnT w="12240">
                      <a:solidFill>
                        <a:srgbClr val="000000"/>
                      </a:solidFill>
                    </a:lnT>
                    <a:lnB w="12240">
                      <a:solidFill>
                        <a:srgbClr val="000000"/>
                      </a:solidFill>
                    </a:lnB>
                    <a:solidFill>
                      <a:schemeClr val="accent1">
                        <a:lumMod val="75000"/>
                      </a:schemeClr>
                    </a:solidFill>
                  </a:tcPr>
                </a:tc>
              </a:tr>
              <a:tr h="482040">
                <a:tc>
                  <a:txBody>
                    <a:bodyPr lIns="68400" rIns="68400" tIns="0" bIns="0" anchor="t">
                      <a:noAutofit/>
                    </a:bodyPr>
                    <a:p>
                      <a:pPr>
                        <a:lnSpc>
                          <a:spcPct val="107000"/>
                        </a:lnSpc>
                      </a:pPr>
                      <a:r>
                        <a:rPr b="0" lang="en-US" sz="2400" spc="-1" strike="noStrike">
                          <a:solidFill>
                            <a:schemeClr val="dk1"/>
                          </a:solidFill>
                          <a:latin typeface="Calibri"/>
                        </a:rPr>
                        <a:t>Registers</a:t>
                      </a:r>
                      <a:endParaRPr b="0" lang="en-US" sz="2400" spc="-1" strike="noStrike">
                        <a:solidFill>
                          <a:srgbClr val="000000"/>
                        </a:solidFill>
                        <a:latin typeface="Arial"/>
                      </a:endParaRPr>
                    </a:p>
                  </a:txBody>
                  <a:tcPr anchor="t" marL="68400" marR="68400">
                    <a:lnL w="12240">
                      <a:solidFill>
                        <a:srgbClr val="000000"/>
                      </a:solidFill>
                    </a:lnL>
                    <a:lnR w="12240">
                      <a:solidFill>
                        <a:srgbClr val="000000"/>
                      </a:solidFill>
                    </a:lnR>
                    <a:lnT w="12240">
                      <a:solidFill>
                        <a:srgbClr val="000000"/>
                      </a:solidFill>
                    </a:lnT>
                    <a:lnB w="12240">
                      <a:solidFill>
                        <a:srgbClr val="000000"/>
                      </a:solidFill>
                    </a:lnB>
                    <a:solidFill>
                      <a:srgbClr val="e7e7e7"/>
                    </a:solidFill>
                  </a:tcPr>
                </a:tc>
                <a:tc>
                  <a:txBody>
                    <a:bodyPr lIns="68400" rIns="68400" tIns="0" bIns="0" anchor="t">
                      <a:noAutofit/>
                    </a:bodyPr>
                    <a:p>
                      <a:pPr>
                        <a:lnSpc>
                          <a:spcPct val="107000"/>
                        </a:lnSpc>
                      </a:pPr>
                      <a:r>
                        <a:rPr b="0" lang="en-US" sz="2400" spc="-1" strike="noStrike">
                          <a:solidFill>
                            <a:schemeClr val="dk1"/>
                          </a:solidFill>
                          <a:latin typeface="Calibri"/>
                        </a:rPr>
                        <a:t>1KB</a:t>
                      </a:r>
                      <a:endParaRPr b="0" lang="en-US" sz="2400" spc="-1" strike="noStrike">
                        <a:solidFill>
                          <a:srgbClr val="000000"/>
                        </a:solidFill>
                        <a:latin typeface="Arial"/>
                      </a:endParaRPr>
                    </a:p>
                  </a:txBody>
                  <a:tcPr anchor="t" marL="68400" marR="68400">
                    <a:lnL w="12240">
                      <a:solidFill>
                        <a:srgbClr val="000000"/>
                      </a:solidFill>
                    </a:lnL>
                    <a:lnR w="12240">
                      <a:solidFill>
                        <a:srgbClr val="000000"/>
                      </a:solidFill>
                    </a:lnR>
                    <a:lnT w="12240">
                      <a:solidFill>
                        <a:srgbClr val="000000"/>
                      </a:solidFill>
                    </a:lnT>
                    <a:lnB w="12240">
                      <a:solidFill>
                        <a:srgbClr val="000000"/>
                      </a:solidFill>
                    </a:lnB>
                    <a:solidFill>
                      <a:srgbClr val="e7e7e7"/>
                    </a:solidFill>
                  </a:tcPr>
                </a:tc>
                <a:tc>
                  <a:txBody>
                    <a:bodyPr lIns="68400" rIns="68400" tIns="0" bIns="0" anchor="t">
                      <a:noAutofit/>
                    </a:bodyPr>
                    <a:p>
                      <a:pPr>
                        <a:lnSpc>
                          <a:spcPct val="107000"/>
                        </a:lnSpc>
                      </a:pPr>
                      <a:r>
                        <a:rPr b="0" lang="en-US" sz="2400" spc="-1" strike="noStrike">
                          <a:solidFill>
                            <a:schemeClr val="dk1"/>
                          </a:solidFill>
                          <a:latin typeface="Calibri"/>
                        </a:rPr>
                        <a:t>(8 X 16 register X 8 byte registers)</a:t>
                      </a:r>
                      <a:endParaRPr b="0" lang="en-US" sz="2400" spc="-1" strike="noStrike">
                        <a:solidFill>
                          <a:srgbClr val="000000"/>
                        </a:solidFill>
                        <a:latin typeface="Arial"/>
                      </a:endParaRPr>
                    </a:p>
                  </a:txBody>
                  <a:tcPr anchor="t" marL="68400" marR="68400">
                    <a:lnL w="12240">
                      <a:solidFill>
                        <a:srgbClr val="000000"/>
                      </a:solidFill>
                    </a:lnL>
                    <a:lnR w="12240">
                      <a:solidFill>
                        <a:srgbClr val="000000"/>
                      </a:solidFill>
                    </a:lnR>
                    <a:lnT w="12240">
                      <a:solidFill>
                        <a:srgbClr val="000000"/>
                      </a:solidFill>
                    </a:lnT>
                    <a:lnB w="12240">
                      <a:solidFill>
                        <a:srgbClr val="000000"/>
                      </a:solidFill>
                    </a:lnB>
                    <a:solidFill>
                      <a:srgbClr val="e7e7e7"/>
                    </a:solidFill>
                  </a:tcPr>
                </a:tc>
                <a:tc>
                  <a:txBody>
                    <a:bodyPr lIns="68400" rIns="68400" tIns="0" bIns="0" anchor="t">
                      <a:noAutofit/>
                    </a:bodyPr>
                    <a:p>
                      <a:pPr>
                        <a:lnSpc>
                          <a:spcPct val="107000"/>
                        </a:lnSpc>
                      </a:pPr>
                      <a:r>
                        <a:rPr b="0" lang="en-US" sz="2400" spc="-1" strike="noStrike">
                          <a:solidFill>
                            <a:schemeClr val="dk1"/>
                          </a:solidFill>
                          <a:latin typeface="Calibri"/>
                          <a:ea typeface="Calibri"/>
                        </a:rPr>
                        <a:t>~0</a:t>
                      </a:r>
                      <a:endParaRPr b="0" lang="en-US" sz="2400" spc="-1" strike="noStrike">
                        <a:solidFill>
                          <a:srgbClr val="000000"/>
                        </a:solidFill>
                        <a:latin typeface="Arial"/>
                      </a:endParaRPr>
                    </a:p>
                  </a:txBody>
                  <a:tcPr anchor="t" marL="68400" marR="68400">
                    <a:lnL w="12240">
                      <a:solidFill>
                        <a:srgbClr val="000000"/>
                      </a:solidFill>
                    </a:lnL>
                    <a:lnR w="12240">
                      <a:solidFill>
                        <a:srgbClr val="000000"/>
                      </a:solidFill>
                    </a:lnR>
                    <a:lnT w="12240">
                      <a:solidFill>
                        <a:srgbClr val="000000"/>
                      </a:solidFill>
                    </a:lnT>
                    <a:lnB w="12240">
                      <a:solidFill>
                        <a:srgbClr val="000000"/>
                      </a:solidFill>
                    </a:lnB>
                    <a:solidFill>
                      <a:srgbClr val="e7e7e7"/>
                    </a:solidFill>
                  </a:tcPr>
                </a:tc>
                <a:tc>
                  <a:txBody>
                    <a:bodyPr lIns="68400" rIns="68400" tIns="0" bIns="0" anchor="t">
                      <a:noAutofit/>
                    </a:bodyPr>
                    <a:p>
                      <a:pPr>
                        <a:lnSpc>
                          <a:spcPct val="107000"/>
                        </a:lnSpc>
                      </a:pPr>
                      <a:r>
                        <a:rPr b="0" lang="en-US" sz="2400" spc="-1" strike="noStrike">
                          <a:solidFill>
                            <a:schemeClr val="dk1"/>
                          </a:solidFill>
                          <a:latin typeface="Calibri"/>
                          <a:ea typeface="Calibri"/>
                        </a:rPr>
                        <a:t>~0</a:t>
                      </a:r>
                      <a:endParaRPr b="0" lang="en-US" sz="2400" spc="-1" strike="noStrike">
                        <a:solidFill>
                          <a:srgbClr val="000000"/>
                        </a:solidFill>
                        <a:latin typeface="Arial"/>
                      </a:endParaRPr>
                    </a:p>
                  </a:txBody>
                  <a:tcPr anchor="t" marL="68400" marR="68400">
                    <a:lnL w="12240">
                      <a:solidFill>
                        <a:srgbClr val="000000"/>
                      </a:solidFill>
                    </a:lnL>
                    <a:lnR w="12240">
                      <a:solidFill>
                        <a:srgbClr val="000000"/>
                      </a:solidFill>
                    </a:lnR>
                    <a:lnT w="12240">
                      <a:solidFill>
                        <a:srgbClr val="000000"/>
                      </a:solidFill>
                    </a:lnT>
                    <a:lnB w="12240">
                      <a:solidFill>
                        <a:srgbClr val="000000"/>
                      </a:solidFill>
                    </a:lnB>
                    <a:solidFill>
                      <a:srgbClr val="e7e7e7"/>
                    </a:solidFill>
                  </a:tcPr>
                </a:tc>
              </a:tr>
              <a:tr h="448560">
                <a:tc>
                  <a:txBody>
                    <a:bodyPr lIns="68400" rIns="68400" tIns="0" bIns="0" anchor="t">
                      <a:noAutofit/>
                    </a:bodyPr>
                    <a:p>
                      <a:pPr>
                        <a:lnSpc>
                          <a:spcPct val="107000"/>
                        </a:lnSpc>
                      </a:pPr>
                      <a:r>
                        <a:rPr b="0" lang="en-US" sz="2400" spc="-1" strike="noStrike">
                          <a:solidFill>
                            <a:schemeClr val="dk1"/>
                          </a:solidFill>
                          <a:latin typeface="Calibri"/>
                        </a:rPr>
                        <a:t>L1 Cache (I)</a:t>
                      </a:r>
                      <a:endParaRPr b="0" lang="en-US" sz="2400" spc="-1" strike="noStrike">
                        <a:solidFill>
                          <a:srgbClr val="000000"/>
                        </a:solidFill>
                        <a:latin typeface="Arial"/>
                      </a:endParaRPr>
                    </a:p>
                  </a:txBody>
                  <a:tcPr anchor="t" marL="68400" marR="68400">
                    <a:lnL w="12240">
                      <a:solidFill>
                        <a:srgbClr val="000000"/>
                      </a:solidFill>
                    </a:lnL>
                    <a:lnR w="12240">
                      <a:solidFill>
                        <a:srgbClr val="000000"/>
                      </a:solidFill>
                    </a:lnR>
                    <a:lnT w="12240">
                      <a:solidFill>
                        <a:srgbClr val="000000"/>
                      </a:solidFill>
                    </a:lnT>
                    <a:lnB w="12240">
                      <a:solidFill>
                        <a:srgbClr val="000000"/>
                      </a:solidFill>
                    </a:lnB>
                    <a:solidFill>
                      <a:srgbClr val="cccccc"/>
                    </a:solidFill>
                  </a:tcPr>
                </a:tc>
                <a:tc>
                  <a:txBody>
                    <a:bodyPr lIns="68400" rIns="68400" tIns="0" bIns="0" anchor="t">
                      <a:noAutofit/>
                    </a:bodyPr>
                    <a:p>
                      <a:pPr>
                        <a:lnSpc>
                          <a:spcPct val="107000"/>
                        </a:lnSpc>
                      </a:pPr>
                      <a:r>
                        <a:rPr b="0" lang="en-US" sz="2400" spc="-1" strike="noStrike">
                          <a:solidFill>
                            <a:schemeClr val="dk1"/>
                          </a:solidFill>
                          <a:latin typeface="Calibri"/>
                        </a:rPr>
                        <a:t>512KB</a:t>
                      </a:r>
                      <a:endParaRPr b="0" lang="en-US" sz="2400" spc="-1" strike="noStrike">
                        <a:solidFill>
                          <a:srgbClr val="000000"/>
                        </a:solidFill>
                        <a:latin typeface="Arial"/>
                      </a:endParaRPr>
                    </a:p>
                  </a:txBody>
                  <a:tcPr anchor="t" marL="68400" marR="68400">
                    <a:lnL w="12240">
                      <a:solidFill>
                        <a:srgbClr val="000000"/>
                      </a:solidFill>
                    </a:lnL>
                    <a:lnR w="12240">
                      <a:solidFill>
                        <a:srgbClr val="000000"/>
                      </a:solidFill>
                    </a:lnR>
                    <a:lnT w="12240">
                      <a:solidFill>
                        <a:srgbClr val="000000"/>
                      </a:solidFill>
                    </a:lnT>
                    <a:lnB w="12240">
                      <a:solidFill>
                        <a:srgbClr val="000000"/>
                      </a:solidFill>
                    </a:lnB>
                    <a:solidFill>
                      <a:srgbClr val="cccccc"/>
                    </a:solidFill>
                  </a:tcPr>
                </a:tc>
                <a:tc>
                  <a:txBody>
                    <a:bodyPr lIns="68400" rIns="68400" tIns="0" bIns="0" anchor="t">
                      <a:noAutofit/>
                    </a:bodyPr>
                    <a:p>
                      <a:pPr>
                        <a:lnSpc>
                          <a:spcPct val="107000"/>
                        </a:lnSpc>
                      </a:pPr>
                      <a:r>
                        <a:rPr b="0" lang="en-US" sz="2400" spc="-1" strike="noStrike">
                          <a:solidFill>
                            <a:schemeClr val="dk1"/>
                          </a:solidFill>
                          <a:latin typeface="Calibri"/>
                        </a:rPr>
                        <a:t>(8 X 64K, 4 way set assoc)</a:t>
                      </a:r>
                      <a:endParaRPr b="0" lang="en-US" sz="2400" spc="-1" strike="noStrike">
                        <a:solidFill>
                          <a:srgbClr val="000000"/>
                        </a:solidFill>
                        <a:latin typeface="Arial"/>
                      </a:endParaRPr>
                    </a:p>
                  </a:txBody>
                  <a:tcPr anchor="t" marL="68400" marR="68400">
                    <a:lnL w="12240">
                      <a:solidFill>
                        <a:srgbClr val="000000"/>
                      </a:solidFill>
                    </a:lnL>
                    <a:lnR w="12240">
                      <a:solidFill>
                        <a:srgbClr val="000000"/>
                      </a:solidFill>
                    </a:lnR>
                    <a:lnT w="12240">
                      <a:solidFill>
                        <a:srgbClr val="000000"/>
                      </a:solidFill>
                    </a:lnT>
                    <a:lnB w="12240">
                      <a:solidFill>
                        <a:srgbClr val="000000"/>
                      </a:solidFill>
                    </a:lnB>
                    <a:solidFill>
                      <a:srgbClr val="cccccc"/>
                    </a:solidFill>
                  </a:tcPr>
                </a:tc>
                <a:tc>
                  <a:txBody>
                    <a:bodyPr lIns="68400" rIns="68400" tIns="0" bIns="0" anchor="t">
                      <a:noAutofit/>
                    </a:bodyPr>
                    <a:p>
                      <a:pPr>
                        <a:lnSpc>
                          <a:spcPct val="107000"/>
                        </a:lnSpc>
                      </a:pPr>
                      <a:r>
                        <a:rPr b="0" lang="en-US" sz="2400" spc="-1" strike="noStrike">
                          <a:solidFill>
                            <a:schemeClr val="dk1"/>
                          </a:solidFill>
                          <a:latin typeface="Calibri"/>
                        </a:rPr>
                        <a:t>.95ns</a:t>
                      </a:r>
                      <a:endParaRPr b="0" lang="en-US" sz="2400" spc="-1" strike="noStrike">
                        <a:solidFill>
                          <a:srgbClr val="000000"/>
                        </a:solidFill>
                        <a:latin typeface="Arial"/>
                      </a:endParaRPr>
                    </a:p>
                  </a:txBody>
                  <a:tcPr anchor="t" marL="68400" marR="68400">
                    <a:lnL w="12240">
                      <a:solidFill>
                        <a:srgbClr val="000000"/>
                      </a:solidFill>
                    </a:lnL>
                    <a:lnR w="12240">
                      <a:solidFill>
                        <a:srgbClr val="000000"/>
                      </a:solidFill>
                    </a:lnR>
                    <a:lnT w="12240">
                      <a:solidFill>
                        <a:srgbClr val="000000"/>
                      </a:solidFill>
                    </a:lnT>
                    <a:lnB w="12240">
                      <a:solidFill>
                        <a:srgbClr val="000000"/>
                      </a:solidFill>
                    </a:lnB>
                    <a:solidFill>
                      <a:srgbClr val="cccccc"/>
                    </a:solidFill>
                  </a:tcPr>
                </a:tc>
                <a:tc>
                  <a:txBody>
                    <a:bodyPr lIns="68400" rIns="68400" tIns="0" bIns="0" anchor="t">
                      <a:noAutofit/>
                    </a:bodyPr>
                    <a:p>
                      <a:pPr>
                        <a:lnSpc>
                          <a:spcPct val="107000"/>
                        </a:lnSpc>
                      </a:pPr>
                      <a:r>
                        <a:rPr b="0" lang="en-US" sz="2400" spc="-1" strike="noStrike">
                          <a:solidFill>
                            <a:schemeClr val="dk1"/>
                          </a:solidFill>
                          <a:latin typeface="Calibri"/>
                        </a:rPr>
                        <a:t>~4 cycles</a:t>
                      </a:r>
                      <a:endParaRPr b="0" lang="en-US" sz="2400" spc="-1" strike="noStrike">
                        <a:solidFill>
                          <a:srgbClr val="000000"/>
                        </a:solidFill>
                        <a:latin typeface="Arial"/>
                      </a:endParaRPr>
                    </a:p>
                  </a:txBody>
                  <a:tcPr anchor="t" marL="68400" marR="68400">
                    <a:lnL w="12240">
                      <a:solidFill>
                        <a:srgbClr val="000000"/>
                      </a:solidFill>
                    </a:lnL>
                    <a:lnR w="12240">
                      <a:solidFill>
                        <a:srgbClr val="000000"/>
                      </a:solidFill>
                    </a:lnR>
                    <a:lnT w="12240">
                      <a:solidFill>
                        <a:srgbClr val="000000"/>
                      </a:solidFill>
                    </a:lnT>
                    <a:lnB w="12240">
                      <a:solidFill>
                        <a:srgbClr val="000000"/>
                      </a:solidFill>
                    </a:lnB>
                    <a:solidFill>
                      <a:srgbClr val="cccccc"/>
                    </a:solidFill>
                  </a:tcPr>
                </a:tc>
              </a:tr>
              <a:tr h="482040">
                <a:tc>
                  <a:txBody>
                    <a:bodyPr lIns="68400" rIns="68400" tIns="0" bIns="0" anchor="t">
                      <a:noAutofit/>
                    </a:bodyPr>
                    <a:p>
                      <a:pPr>
                        <a:lnSpc>
                          <a:spcPct val="107000"/>
                        </a:lnSpc>
                      </a:pPr>
                      <a:r>
                        <a:rPr b="0" lang="en-US" sz="2400" spc="-1" strike="noStrike">
                          <a:solidFill>
                            <a:schemeClr val="dk1"/>
                          </a:solidFill>
                          <a:latin typeface="Calibri"/>
                        </a:rPr>
                        <a:t>L1 Cache (D)</a:t>
                      </a:r>
                      <a:endParaRPr b="0" lang="en-US" sz="2400" spc="-1" strike="noStrike">
                        <a:solidFill>
                          <a:srgbClr val="000000"/>
                        </a:solidFill>
                        <a:latin typeface="Arial"/>
                      </a:endParaRPr>
                    </a:p>
                  </a:txBody>
                  <a:tcPr anchor="t" marL="68400" marR="68400">
                    <a:lnL w="12240">
                      <a:solidFill>
                        <a:srgbClr val="000000"/>
                      </a:solidFill>
                    </a:lnL>
                    <a:lnR w="12240">
                      <a:solidFill>
                        <a:srgbClr val="000000"/>
                      </a:solidFill>
                    </a:lnR>
                    <a:lnT w="12240">
                      <a:solidFill>
                        <a:srgbClr val="000000"/>
                      </a:solidFill>
                    </a:lnT>
                    <a:lnB w="12240">
                      <a:solidFill>
                        <a:srgbClr val="000000"/>
                      </a:solidFill>
                    </a:lnB>
                    <a:solidFill>
                      <a:srgbClr val="e7e7e7"/>
                    </a:solidFill>
                  </a:tcPr>
                </a:tc>
                <a:tc>
                  <a:txBody>
                    <a:bodyPr lIns="68400" rIns="68400" tIns="0" bIns="0" anchor="t">
                      <a:noAutofit/>
                    </a:bodyPr>
                    <a:p>
                      <a:pPr>
                        <a:lnSpc>
                          <a:spcPct val="107000"/>
                        </a:lnSpc>
                      </a:pPr>
                      <a:r>
                        <a:rPr b="0" lang="en-US" sz="2400" spc="-1" strike="noStrike">
                          <a:solidFill>
                            <a:schemeClr val="dk1"/>
                          </a:solidFill>
                          <a:latin typeface="Calibri"/>
                        </a:rPr>
                        <a:t>256KB</a:t>
                      </a:r>
                      <a:endParaRPr b="0" lang="en-US" sz="2400" spc="-1" strike="noStrike">
                        <a:solidFill>
                          <a:srgbClr val="000000"/>
                        </a:solidFill>
                        <a:latin typeface="Arial"/>
                      </a:endParaRPr>
                    </a:p>
                  </a:txBody>
                  <a:tcPr anchor="t" marL="68400" marR="68400">
                    <a:lnL w="12240">
                      <a:solidFill>
                        <a:srgbClr val="000000"/>
                      </a:solidFill>
                    </a:lnL>
                    <a:lnR w="12240">
                      <a:solidFill>
                        <a:srgbClr val="000000"/>
                      </a:solidFill>
                    </a:lnR>
                    <a:lnT w="12240">
                      <a:solidFill>
                        <a:srgbClr val="000000"/>
                      </a:solidFill>
                    </a:lnT>
                    <a:lnB w="12240">
                      <a:solidFill>
                        <a:srgbClr val="000000"/>
                      </a:solidFill>
                    </a:lnB>
                    <a:solidFill>
                      <a:srgbClr val="e7e7e7"/>
                    </a:solidFill>
                  </a:tcPr>
                </a:tc>
                <a:tc>
                  <a:txBody>
                    <a:bodyPr lIns="68400" rIns="68400" tIns="0" bIns="0" anchor="t">
                      <a:noAutofit/>
                    </a:bodyPr>
                    <a:p>
                      <a:pPr>
                        <a:lnSpc>
                          <a:spcPct val="107000"/>
                        </a:lnSpc>
                      </a:pPr>
                      <a:r>
                        <a:rPr b="0" lang="en-US" sz="2400" spc="-1" strike="noStrike">
                          <a:solidFill>
                            <a:schemeClr val="dk1"/>
                          </a:solidFill>
                          <a:latin typeface="Calibri"/>
                        </a:rPr>
                        <a:t>(8 X 32K, 8 way set assoc, write back)</a:t>
                      </a:r>
                      <a:endParaRPr b="0" lang="en-US" sz="2400" spc="-1" strike="noStrike">
                        <a:solidFill>
                          <a:srgbClr val="000000"/>
                        </a:solidFill>
                        <a:latin typeface="Arial"/>
                      </a:endParaRPr>
                    </a:p>
                  </a:txBody>
                  <a:tcPr anchor="t" marL="68400" marR="68400">
                    <a:lnL w="12240">
                      <a:solidFill>
                        <a:srgbClr val="000000"/>
                      </a:solidFill>
                    </a:lnL>
                    <a:lnR w="12240">
                      <a:solidFill>
                        <a:srgbClr val="000000"/>
                      </a:solidFill>
                    </a:lnR>
                    <a:lnT w="12240">
                      <a:solidFill>
                        <a:srgbClr val="000000"/>
                      </a:solidFill>
                    </a:lnT>
                    <a:lnB w="12240">
                      <a:solidFill>
                        <a:srgbClr val="000000"/>
                      </a:solidFill>
                    </a:lnB>
                    <a:solidFill>
                      <a:srgbClr val="e7e7e7"/>
                    </a:solidFill>
                  </a:tcPr>
                </a:tc>
                <a:tc>
                  <a:txBody>
                    <a:bodyPr lIns="68400" rIns="68400" tIns="0" bIns="0" anchor="t">
                      <a:noAutofit/>
                    </a:bodyPr>
                    <a:p>
                      <a:pPr>
                        <a:lnSpc>
                          <a:spcPct val="107000"/>
                        </a:lnSpc>
                      </a:pPr>
                      <a:r>
                        <a:rPr b="0" lang="en-US" sz="2400" spc="-1" strike="noStrike">
                          <a:solidFill>
                            <a:schemeClr val="dk1"/>
                          </a:solidFill>
                          <a:latin typeface="Calibri"/>
                        </a:rPr>
                        <a:t>.95ns</a:t>
                      </a:r>
                      <a:endParaRPr b="0" lang="en-US" sz="2400" spc="-1" strike="noStrike">
                        <a:solidFill>
                          <a:srgbClr val="000000"/>
                        </a:solidFill>
                        <a:latin typeface="Arial"/>
                      </a:endParaRPr>
                    </a:p>
                  </a:txBody>
                  <a:tcPr anchor="t" marL="68400" marR="68400">
                    <a:lnL w="12240">
                      <a:solidFill>
                        <a:srgbClr val="000000"/>
                      </a:solidFill>
                    </a:lnL>
                    <a:lnR w="12240">
                      <a:solidFill>
                        <a:srgbClr val="000000"/>
                      </a:solidFill>
                    </a:lnR>
                    <a:lnT w="12240">
                      <a:solidFill>
                        <a:srgbClr val="000000"/>
                      </a:solidFill>
                    </a:lnT>
                    <a:lnB w="12240">
                      <a:solidFill>
                        <a:srgbClr val="000000"/>
                      </a:solidFill>
                    </a:lnB>
                    <a:solidFill>
                      <a:srgbClr val="e7e7e7"/>
                    </a:solidFill>
                  </a:tcPr>
                </a:tc>
                <a:tc>
                  <a:txBody>
                    <a:bodyPr lIns="68400" rIns="68400" tIns="0" bIns="0" anchor="t">
                      <a:noAutofit/>
                    </a:bodyPr>
                    <a:p>
                      <a:pPr>
                        <a:lnSpc>
                          <a:spcPct val="107000"/>
                        </a:lnSpc>
                      </a:pPr>
                      <a:r>
                        <a:rPr b="0" lang="en-US" sz="2400" spc="-1" strike="noStrike">
                          <a:solidFill>
                            <a:schemeClr val="dk1"/>
                          </a:solidFill>
                          <a:latin typeface="Calibri"/>
                        </a:rPr>
                        <a:t>~4 cycles</a:t>
                      </a:r>
                      <a:endParaRPr b="0" lang="en-US" sz="2400" spc="-1" strike="noStrike">
                        <a:solidFill>
                          <a:srgbClr val="000000"/>
                        </a:solidFill>
                        <a:latin typeface="Arial"/>
                      </a:endParaRPr>
                    </a:p>
                  </a:txBody>
                  <a:tcPr anchor="t" marL="68400" marR="68400">
                    <a:lnL w="12240">
                      <a:solidFill>
                        <a:srgbClr val="000000"/>
                      </a:solidFill>
                    </a:lnL>
                    <a:lnR w="12240">
                      <a:solidFill>
                        <a:srgbClr val="000000"/>
                      </a:solidFill>
                    </a:lnR>
                    <a:lnT w="12240">
                      <a:solidFill>
                        <a:srgbClr val="000000"/>
                      </a:solidFill>
                    </a:lnT>
                    <a:lnB w="12240">
                      <a:solidFill>
                        <a:srgbClr val="000000"/>
                      </a:solidFill>
                    </a:lnB>
                    <a:solidFill>
                      <a:srgbClr val="e7e7e7"/>
                    </a:solidFill>
                  </a:tcPr>
                </a:tc>
              </a:tr>
              <a:tr h="398880">
                <a:tc>
                  <a:txBody>
                    <a:bodyPr lIns="68400" rIns="68400" tIns="0" bIns="0" anchor="t">
                      <a:noAutofit/>
                    </a:bodyPr>
                    <a:p>
                      <a:pPr>
                        <a:lnSpc>
                          <a:spcPct val="107000"/>
                        </a:lnSpc>
                      </a:pPr>
                      <a:r>
                        <a:rPr b="0" lang="en-US" sz="2400" spc="-1" strike="noStrike">
                          <a:solidFill>
                            <a:schemeClr val="dk1"/>
                          </a:solidFill>
                          <a:latin typeface="Calibri"/>
                        </a:rPr>
                        <a:t>L2 Cache </a:t>
                      </a:r>
                      <a:endParaRPr b="0" lang="en-US" sz="2400" spc="-1" strike="noStrike">
                        <a:solidFill>
                          <a:srgbClr val="000000"/>
                        </a:solidFill>
                        <a:latin typeface="Arial"/>
                      </a:endParaRPr>
                    </a:p>
                  </a:txBody>
                  <a:tcPr anchor="t" marL="68400" marR="68400">
                    <a:lnL w="12240">
                      <a:solidFill>
                        <a:srgbClr val="000000"/>
                      </a:solidFill>
                    </a:lnL>
                    <a:lnR w="12240">
                      <a:solidFill>
                        <a:srgbClr val="000000"/>
                      </a:solidFill>
                    </a:lnR>
                    <a:lnT w="12240">
                      <a:solidFill>
                        <a:srgbClr val="000000"/>
                      </a:solidFill>
                    </a:lnT>
                    <a:lnB w="12240">
                      <a:solidFill>
                        <a:srgbClr val="000000"/>
                      </a:solidFill>
                    </a:lnB>
                    <a:solidFill>
                      <a:srgbClr val="cccccc"/>
                    </a:solidFill>
                  </a:tcPr>
                </a:tc>
                <a:tc>
                  <a:txBody>
                    <a:bodyPr lIns="68400" rIns="68400" tIns="0" bIns="0" anchor="t">
                      <a:noAutofit/>
                    </a:bodyPr>
                    <a:p>
                      <a:pPr>
                        <a:lnSpc>
                          <a:spcPct val="107000"/>
                        </a:lnSpc>
                      </a:pPr>
                      <a:r>
                        <a:rPr b="0" lang="en-US" sz="2400" spc="-1" strike="noStrike">
                          <a:solidFill>
                            <a:schemeClr val="dk1"/>
                          </a:solidFill>
                          <a:latin typeface="Calibri"/>
                        </a:rPr>
                        <a:t>4MB</a:t>
                      </a:r>
                      <a:endParaRPr b="0" lang="en-US" sz="2400" spc="-1" strike="noStrike">
                        <a:solidFill>
                          <a:srgbClr val="000000"/>
                        </a:solidFill>
                        <a:latin typeface="Arial"/>
                      </a:endParaRPr>
                    </a:p>
                  </a:txBody>
                  <a:tcPr anchor="t" marL="68400" marR="68400">
                    <a:lnL w="12240">
                      <a:solidFill>
                        <a:srgbClr val="000000"/>
                      </a:solidFill>
                    </a:lnL>
                    <a:lnR w="12240">
                      <a:solidFill>
                        <a:srgbClr val="000000"/>
                      </a:solidFill>
                    </a:lnR>
                    <a:lnT w="12240">
                      <a:solidFill>
                        <a:srgbClr val="000000"/>
                      </a:solidFill>
                    </a:lnT>
                    <a:lnB w="12240">
                      <a:solidFill>
                        <a:srgbClr val="000000"/>
                      </a:solidFill>
                    </a:lnB>
                    <a:solidFill>
                      <a:srgbClr val="cccccc"/>
                    </a:solidFill>
                  </a:tcPr>
                </a:tc>
                <a:tc>
                  <a:txBody>
                    <a:bodyPr lIns="68400" rIns="68400" tIns="0" bIns="0" anchor="t">
                      <a:noAutofit/>
                    </a:bodyPr>
                    <a:p>
                      <a:pPr>
                        <a:lnSpc>
                          <a:spcPct val="107000"/>
                        </a:lnSpc>
                      </a:pPr>
                      <a:r>
                        <a:rPr b="0" lang="en-US" sz="2400" spc="-1" strike="noStrike">
                          <a:solidFill>
                            <a:schemeClr val="dk1"/>
                          </a:solidFill>
                          <a:latin typeface="Calibri"/>
                        </a:rPr>
                        <a:t>(8 X 512KB, 8 way set assoc, write back)</a:t>
                      </a:r>
                      <a:endParaRPr b="0" lang="en-US" sz="2400" spc="-1" strike="noStrike">
                        <a:solidFill>
                          <a:srgbClr val="000000"/>
                        </a:solidFill>
                        <a:latin typeface="Arial"/>
                      </a:endParaRPr>
                    </a:p>
                  </a:txBody>
                  <a:tcPr anchor="t" marL="68400" marR="68400">
                    <a:lnL w="12240">
                      <a:solidFill>
                        <a:srgbClr val="000000"/>
                      </a:solidFill>
                    </a:lnL>
                    <a:lnR w="12240">
                      <a:solidFill>
                        <a:srgbClr val="000000"/>
                      </a:solidFill>
                    </a:lnR>
                    <a:lnT w="12240">
                      <a:solidFill>
                        <a:srgbClr val="000000"/>
                      </a:solidFill>
                    </a:lnT>
                    <a:lnB w="12240">
                      <a:solidFill>
                        <a:srgbClr val="000000"/>
                      </a:solidFill>
                    </a:lnB>
                    <a:solidFill>
                      <a:srgbClr val="cccccc"/>
                    </a:solidFill>
                  </a:tcPr>
                </a:tc>
                <a:tc>
                  <a:txBody>
                    <a:bodyPr lIns="68400" rIns="68400" tIns="0" bIns="0" anchor="t">
                      <a:noAutofit/>
                    </a:bodyPr>
                    <a:p>
                      <a:pPr>
                        <a:lnSpc>
                          <a:spcPct val="107000"/>
                        </a:lnSpc>
                      </a:pPr>
                      <a:r>
                        <a:rPr b="0" lang="en-US" sz="2400" spc="-1" strike="noStrike">
                          <a:solidFill>
                            <a:schemeClr val="dk1"/>
                          </a:solidFill>
                          <a:latin typeface="Calibri"/>
                        </a:rPr>
                        <a:t>3ns</a:t>
                      </a:r>
                      <a:endParaRPr b="0" lang="en-US" sz="2400" spc="-1" strike="noStrike">
                        <a:solidFill>
                          <a:srgbClr val="000000"/>
                        </a:solidFill>
                        <a:latin typeface="Arial"/>
                      </a:endParaRPr>
                    </a:p>
                  </a:txBody>
                  <a:tcPr anchor="t" marL="68400" marR="68400">
                    <a:lnL w="12240">
                      <a:solidFill>
                        <a:srgbClr val="000000"/>
                      </a:solidFill>
                    </a:lnL>
                    <a:lnR w="12240">
                      <a:solidFill>
                        <a:srgbClr val="000000"/>
                      </a:solidFill>
                    </a:lnR>
                    <a:lnT w="12240">
                      <a:solidFill>
                        <a:srgbClr val="000000"/>
                      </a:solidFill>
                    </a:lnT>
                    <a:lnB w="12240">
                      <a:solidFill>
                        <a:srgbClr val="000000"/>
                      </a:solidFill>
                    </a:lnB>
                    <a:solidFill>
                      <a:srgbClr val="cccccc"/>
                    </a:solidFill>
                  </a:tcPr>
                </a:tc>
                <a:tc>
                  <a:txBody>
                    <a:bodyPr lIns="68400" rIns="68400" tIns="0" bIns="0" anchor="t">
                      <a:noAutofit/>
                    </a:bodyPr>
                    <a:p>
                      <a:pPr>
                        <a:lnSpc>
                          <a:spcPct val="107000"/>
                        </a:lnSpc>
                      </a:pPr>
                      <a:r>
                        <a:rPr b="0" lang="en-US" sz="2400" spc="-1" strike="noStrike">
                          <a:solidFill>
                            <a:schemeClr val="dk1"/>
                          </a:solidFill>
                          <a:latin typeface="Calibri"/>
                        </a:rPr>
                        <a:t>10.4 cycles</a:t>
                      </a:r>
                      <a:endParaRPr b="0" lang="en-US" sz="2400" spc="-1" strike="noStrike">
                        <a:solidFill>
                          <a:srgbClr val="000000"/>
                        </a:solidFill>
                        <a:latin typeface="Arial"/>
                      </a:endParaRPr>
                    </a:p>
                  </a:txBody>
                  <a:tcPr anchor="t" marL="68400" marR="68400">
                    <a:lnL w="12240">
                      <a:solidFill>
                        <a:srgbClr val="000000"/>
                      </a:solidFill>
                    </a:lnL>
                    <a:lnR w="12240">
                      <a:solidFill>
                        <a:srgbClr val="000000"/>
                      </a:solidFill>
                    </a:lnR>
                    <a:lnT w="12240">
                      <a:solidFill>
                        <a:srgbClr val="000000"/>
                      </a:solidFill>
                    </a:lnT>
                    <a:lnB w="12240">
                      <a:solidFill>
                        <a:srgbClr val="000000"/>
                      </a:solidFill>
                    </a:lnB>
                    <a:solidFill>
                      <a:srgbClr val="cccccc"/>
                    </a:solidFill>
                  </a:tcPr>
                </a:tc>
              </a:tr>
              <a:tr h="440280">
                <a:tc>
                  <a:txBody>
                    <a:bodyPr lIns="68400" rIns="68400" tIns="0" bIns="0" anchor="t">
                      <a:noAutofit/>
                    </a:bodyPr>
                    <a:p>
                      <a:pPr>
                        <a:lnSpc>
                          <a:spcPct val="107000"/>
                        </a:lnSpc>
                      </a:pPr>
                      <a:r>
                        <a:rPr b="0" lang="en-US" sz="2400" spc="-1" strike="noStrike">
                          <a:solidFill>
                            <a:schemeClr val="dk1"/>
                          </a:solidFill>
                          <a:latin typeface="Calibri"/>
                        </a:rPr>
                        <a:t>L3 Cache </a:t>
                      </a:r>
                      <a:endParaRPr b="0" lang="en-US" sz="2400" spc="-1" strike="noStrike">
                        <a:solidFill>
                          <a:srgbClr val="000000"/>
                        </a:solidFill>
                        <a:latin typeface="Arial"/>
                      </a:endParaRPr>
                    </a:p>
                  </a:txBody>
                  <a:tcPr anchor="t" marL="68400" marR="68400">
                    <a:lnL w="12240">
                      <a:solidFill>
                        <a:srgbClr val="000000"/>
                      </a:solidFill>
                    </a:lnL>
                    <a:lnR w="12240">
                      <a:solidFill>
                        <a:srgbClr val="000000"/>
                      </a:solidFill>
                    </a:lnR>
                    <a:lnT w="12240">
                      <a:solidFill>
                        <a:srgbClr val="000000"/>
                      </a:solidFill>
                    </a:lnT>
                    <a:lnB w="12240">
                      <a:solidFill>
                        <a:srgbClr val="000000"/>
                      </a:solidFill>
                    </a:lnB>
                    <a:solidFill>
                      <a:srgbClr val="e7e7e7"/>
                    </a:solidFill>
                  </a:tcPr>
                </a:tc>
                <a:tc>
                  <a:txBody>
                    <a:bodyPr lIns="68400" rIns="68400" tIns="0" bIns="0" anchor="t">
                      <a:noAutofit/>
                    </a:bodyPr>
                    <a:p>
                      <a:pPr>
                        <a:lnSpc>
                          <a:spcPct val="107000"/>
                        </a:lnSpc>
                      </a:pPr>
                      <a:r>
                        <a:rPr b="0" lang="en-US" sz="2400" spc="-1" strike="noStrike">
                          <a:solidFill>
                            <a:schemeClr val="dk1"/>
                          </a:solidFill>
                          <a:latin typeface="Calibri"/>
                        </a:rPr>
                        <a:t>16MB</a:t>
                      </a:r>
                      <a:endParaRPr b="0" lang="en-US" sz="2400" spc="-1" strike="noStrike">
                        <a:solidFill>
                          <a:srgbClr val="000000"/>
                        </a:solidFill>
                        <a:latin typeface="Arial"/>
                      </a:endParaRPr>
                    </a:p>
                  </a:txBody>
                  <a:tcPr anchor="t" marL="68400" marR="68400">
                    <a:lnL w="12240">
                      <a:solidFill>
                        <a:srgbClr val="000000"/>
                      </a:solidFill>
                    </a:lnL>
                    <a:lnR w="12240">
                      <a:solidFill>
                        <a:srgbClr val="000000"/>
                      </a:solidFill>
                    </a:lnR>
                    <a:lnT w="12240">
                      <a:solidFill>
                        <a:srgbClr val="000000"/>
                      </a:solidFill>
                    </a:lnT>
                    <a:lnB w="12240">
                      <a:solidFill>
                        <a:srgbClr val="000000"/>
                      </a:solidFill>
                    </a:lnB>
                    <a:solidFill>
                      <a:srgbClr val="e7e7e7"/>
                    </a:solidFill>
                  </a:tcPr>
                </a:tc>
                <a:tc>
                  <a:txBody>
                    <a:bodyPr lIns="68400" rIns="68400" tIns="0" bIns="0" anchor="t">
                      <a:noAutofit/>
                    </a:bodyPr>
                    <a:p>
                      <a:pPr>
                        <a:lnSpc>
                          <a:spcPct val="107000"/>
                        </a:lnSpc>
                      </a:pPr>
                      <a:r>
                        <a:rPr b="0" lang="en-US" sz="2400" spc="-1" strike="noStrike">
                          <a:solidFill>
                            <a:schemeClr val="dk1"/>
                          </a:solidFill>
                          <a:latin typeface="Calibri"/>
                        </a:rPr>
                        <a:t>(2 X 8MB, 16 way set assoc)</a:t>
                      </a:r>
                      <a:endParaRPr b="0" lang="en-US" sz="2400" spc="-1" strike="noStrike">
                        <a:solidFill>
                          <a:srgbClr val="000000"/>
                        </a:solidFill>
                        <a:latin typeface="Arial"/>
                      </a:endParaRPr>
                    </a:p>
                  </a:txBody>
                  <a:tcPr anchor="t" marL="68400" marR="68400">
                    <a:lnL w="12240">
                      <a:solidFill>
                        <a:srgbClr val="000000"/>
                      </a:solidFill>
                    </a:lnL>
                    <a:lnR w="12240">
                      <a:solidFill>
                        <a:srgbClr val="000000"/>
                      </a:solidFill>
                    </a:lnR>
                    <a:lnT w="12240">
                      <a:solidFill>
                        <a:srgbClr val="000000"/>
                      </a:solidFill>
                    </a:lnT>
                    <a:lnB w="12240">
                      <a:solidFill>
                        <a:srgbClr val="000000"/>
                      </a:solidFill>
                    </a:lnB>
                    <a:solidFill>
                      <a:srgbClr val="e7e7e7"/>
                    </a:solidFill>
                  </a:tcPr>
                </a:tc>
                <a:tc>
                  <a:txBody>
                    <a:bodyPr lIns="68400" rIns="68400" tIns="0" bIns="0" anchor="t">
                      <a:noAutofit/>
                    </a:bodyPr>
                    <a:p>
                      <a:pPr>
                        <a:lnSpc>
                          <a:spcPct val="107000"/>
                        </a:lnSpc>
                      </a:pPr>
                      <a:r>
                        <a:rPr b="0" lang="en-US" sz="2400" spc="-1" strike="noStrike">
                          <a:solidFill>
                            <a:schemeClr val="dk1"/>
                          </a:solidFill>
                          <a:latin typeface="Calibri"/>
                        </a:rPr>
                        <a:t>8.1ns</a:t>
                      </a:r>
                      <a:endParaRPr b="0" lang="en-US" sz="2400" spc="-1" strike="noStrike">
                        <a:solidFill>
                          <a:srgbClr val="000000"/>
                        </a:solidFill>
                        <a:latin typeface="Arial"/>
                      </a:endParaRPr>
                    </a:p>
                  </a:txBody>
                  <a:tcPr anchor="t" marL="68400" marR="68400">
                    <a:lnL w="12240">
                      <a:solidFill>
                        <a:srgbClr val="000000"/>
                      </a:solidFill>
                    </a:lnL>
                    <a:lnR w="12240">
                      <a:solidFill>
                        <a:srgbClr val="000000"/>
                      </a:solidFill>
                    </a:lnR>
                    <a:lnT w="12240">
                      <a:solidFill>
                        <a:srgbClr val="000000"/>
                      </a:solidFill>
                    </a:lnT>
                    <a:lnB w="12240">
                      <a:solidFill>
                        <a:srgbClr val="000000"/>
                      </a:solidFill>
                    </a:lnB>
                    <a:solidFill>
                      <a:srgbClr val="e7e7e7"/>
                    </a:solidFill>
                  </a:tcPr>
                </a:tc>
                <a:tc>
                  <a:txBody>
                    <a:bodyPr lIns="68400" rIns="68400" tIns="0" bIns="0" anchor="t">
                      <a:noAutofit/>
                    </a:bodyPr>
                    <a:p>
                      <a:pPr>
                        <a:lnSpc>
                          <a:spcPct val="107000"/>
                        </a:lnSpc>
                      </a:pPr>
                      <a:r>
                        <a:rPr b="0" lang="en-US" sz="2400" spc="-1" strike="noStrike">
                          <a:solidFill>
                            <a:schemeClr val="dk1"/>
                          </a:solidFill>
                          <a:latin typeface="Calibri"/>
                        </a:rPr>
                        <a:t>30 cycles</a:t>
                      </a:r>
                      <a:endParaRPr b="0" lang="en-US" sz="2400" spc="-1" strike="noStrike">
                        <a:solidFill>
                          <a:srgbClr val="000000"/>
                        </a:solidFill>
                        <a:latin typeface="Arial"/>
                      </a:endParaRPr>
                    </a:p>
                  </a:txBody>
                  <a:tcPr anchor="t" marL="68400" marR="68400">
                    <a:lnL w="12240">
                      <a:solidFill>
                        <a:srgbClr val="000000"/>
                      </a:solidFill>
                    </a:lnL>
                    <a:lnR w="12240">
                      <a:solidFill>
                        <a:srgbClr val="000000"/>
                      </a:solidFill>
                    </a:lnR>
                    <a:lnT w="12240">
                      <a:solidFill>
                        <a:srgbClr val="000000"/>
                      </a:solidFill>
                    </a:lnT>
                    <a:lnB w="12240">
                      <a:solidFill>
                        <a:srgbClr val="000000"/>
                      </a:solidFill>
                    </a:lnB>
                    <a:solidFill>
                      <a:srgbClr val="e7e7e7"/>
                    </a:solidFill>
                  </a:tcPr>
                </a:tc>
              </a:tr>
              <a:tr h="440280">
                <a:tc>
                  <a:txBody>
                    <a:bodyPr lIns="68400" rIns="68400" tIns="0" bIns="0" anchor="t">
                      <a:noAutofit/>
                    </a:bodyPr>
                    <a:p>
                      <a:pPr>
                        <a:lnSpc>
                          <a:spcPct val="107000"/>
                        </a:lnSpc>
                      </a:pPr>
                      <a:r>
                        <a:rPr b="0" lang="en-US" sz="2400" spc="-1" strike="noStrike">
                          <a:solidFill>
                            <a:schemeClr val="dk1"/>
                          </a:solidFill>
                          <a:latin typeface="Calibri"/>
                        </a:rPr>
                        <a:t>Main Memory</a:t>
                      </a:r>
                      <a:endParaRPr b="0" lang="en-US" sz="2400" spc="-1" strike="noStrike">
                        <a:solidFill>
                          <a:srgbClr val="000000"/>
                        </a:solidFill>
                        <a:latin typeface="Arial"/>
                      </a:endParaRPr>
                    </a:p>
                  </a:txBody>
                  <a:tcPr anchor="t" marL="68400" marR="68400">
                    <a:lnL w="12240">
                      <a:solidFill>
                        <a:srgbClr val="000000"/>
                      </a:solidFill>
                    </a:lnL>
                    <a:lnR w="12240">
                      <a:solidFill>
                        <a:srgbClr val="000000"/>
                      </a:solidFill>
                    </a:lnR>
                    <a:lnT w="12240">
                      <a:solidFill>
                        <a:srgbClr val="000000"/>
                      </a:solidFill>
                    </a:lnT>
                    <a:lnB w="12240">
                      <a:solidFill>
                        <a:srgbClr val="000000"/>
                      </a:solidFill>
                    </a:lnB>
                    <a:solidFill>
                      <a:srgbClr val="cccccc"/>
                    </a:solidFill>
                  </a:tcPr>
                </a:tc>
                <a:tc>
                  <a:txBody>
                    <a:bodyPr lIns="68400" rIns="68400" tIns="0" bIns="0" anchor="t">
                      <a:noAutofit/>
                    </a:bodyPr>
                    <a:p>
                      <a:pPr>
                        <a:lnSpc>
                          <a:spcPct val="107000"/>
                        </a:lnSpc>
                      </a:pPr>
                      <a:r>
                        <a:rPr b="0" lang="en-US" sz="2400" spc="-1" strike="noStrike">
                          <a:solidFill>
                            <a:schemeClr val="dk1"/>
                          </a:solidFill>
                          <a:latin typeface="Calibri"/>
                        </a:rPr>
                        <a:t>? GB</a:t>
                      </a:r>
                      <a:endParaRPr b="0" lang="en-US" sz="2400" spc="-1" strike="noStrike">
                        <a:solidFill>
                          <a:srgbClr val="000000"/>
                        </a:solidFill>
                        <a:latin typeface="Arial"/>
                      </a:endParaRPr>
                    </a:p>
                  </a:txBody>
                  <a:tcPr anchor="t" marL="68400" marR="68400">
                    <a:lnL w="12240">
                      <a:solidFill>
                        <a:srgbClr val="000000"/>
                      </a:solidFill>
                    </a:lnL>
                    <a:lnR w="12240">
                      <a:solidFill>
                        <a:srgbClr val="000000"/>
                      </a:solidFill>
                    </a:lnR>
                    <a:lnT w="12240">
                      <a:solidFill>
                        <a:srgbClr val="000000"/>
                      </a:solidFill>
                    </a:lnT>
                    <a:lnB w="12240">
                      <a:solidFill>
                        <a:srgbClr val="000000"/>
                      </a:solidFill>
                    </a:lnB>
                    <a:solidFill>
                      <a:srgbClr val="cccccc"/>
                    </a:solidFill>
                  </a:tcPr>
                </a:tc>
                <a:tc>
                  <a:txBody>
                    <a:bodyPr lIns="68400" rIns="68400" tIns="0" bIns="0" anchor="t">
                      <a:noAutofit/>
                    </a:bodyPr>
                    <a:p>
                      <a:endParaRPr b="0" lang="en-US" sz="2400" spc="-1" strike="noStrike">
                        <a:solidFill>
                          <a:schemeClr val="dk1"/>
                        </a:solidFill>
                        <a:latin typeface="Calibri"/>
                        <a:ea typeface="Calibri"/>
                      </a:endParaRPr>
                    </a:p>
                  </a:txBody>
                  <a:tcPr anchor="t" marL="68400" marR="68400">
                    <a:lnL w="12240">
                      <a:solidFill>
                        <a:srgbClr val="000000"/>
                      </a:solidFill>
                    </a:lnL>
                    <a:lnR w="12240">
                      <a:solidFill>
                        <a:srgbClr val="000000"/>
                      </a:solidFill>
                    </a:lnR>
                    <a:lnT w="12240">
                      <a:solidFill>
                        <a:srgbClr val="000000"/>
                      </a:solidFill>
                    </a:lnT>
                    <a:lnB w="12240">
                      <a:solidFill>
                        <a:srgbClr val="000000"/>
                      </a:solidFill>
                    </a:lnB>
                    <a:solidFill>
                      <a:srgbClr val="cccccc"/>
                    </a:solidFill>
                  </a:tcPr>
                </a:tc>
                <a:tc>
                  <a:txBody>
                    <a:bodyPr lIns="68400" rIns="68400" tIns="0" bIns="0" anchor="t">
                      <a:noAutofit/>
                    </a:bodyPr>
                    <a:p>
                      <a:pPr>
                        <a:lnSpc>
                          <a:spcPct val="107000"/>
                        </a:lnSpc>
                      </a:pPr>
                      <a:r>
                        <a:rPr b="0" lang="en-US" sz="2400" spc="-1" strike="noStrike">
                          <a:solidFill>
                            <a:schemeClr val="dk1"/>
                          </a:solidFill>
                          <a:latin typeface="Calibri"/>
                        </a:rPr>
                        <a:t>66ns</a:t>
                      </a:r>
                      <a:endParaRPr b="0" lang="en-US" sz="2400" spc="-1" strike="noStrike">
                        <a:solidFill>
                          <a:srgbClr val="000000"/>
                        </a:solidFill>
                        <a:latin typeface="Arial"/>
                      </a:endParaRPr>
                    </a:p>
                  </a:txBody>
                  <a:tcPr anchor="t" marL="68400" marR="68400">
                    <a:lnL w="12240">
                      <a:solidFill>
                        <a:srgbClr val="000000"/>
                      </a:solidFill>
                    </a:lnL>
                    <a:lnR w="12240">
                      <a:solidFill>
                        <a:srgbClr val="000000"/>
                      </a:solidFill>
                    </a:lnR>
                    <a:lnT w="12240">
                      <a:solidFill>
                        <a:srgbClr val="000000"/>
                      </a:solidFill>
                    </a:lnT>
                    <a:lnB w="12240">
                      <a:solidFill>
                        <a:srgbClr val="000000"/>
                      </a:solidFill>
                    </a:lnB>
                    <a:solidFill>
                      <a:srgbClr val="cccccc"/>
                    </a:solidFill>
                  </a:tcPr>
                </a:tc>
                <a:tc>
                  <a:txBody>
                    <a:bodyPr lIns="68400" rIns="68400" tIns="0" bIns="0" anchor="t">
                      <a:noAutofit/>
                    </a:bodyPr>
                    <a:p>
                      <a:pPr>
                        <a:lnSpc>
                          <a:spcPct val="107000"/>
                        </a:lnSpc>
                      </a:pPr>
                      <a:r>
                        <a:rPr b="0" lang="en-US" sz="2400" spc="-1" strike="noStrike">
                          <a:solidFill>
                            <a:schemeClr val="dk1"/>
                          </a:solidFill>
                          <a:latin typeface="Calibri"/>
                        </a:rPr>
                        <a:t>350 cycles</a:t>
                      </a:r>
                      <a:endParaRPr b="0" lang="en-US" sz="2400" spc="-1" strike="noStrike">
                        <a:solidFill>
                          <a:srgbClr val="000000"/>
                        </a:solidFill>
                        <a:latin typeface="Arial"/>
                      </a:endParaRPr>
                    </a:p>
                  </a:txBody>
                  <a:tcPr anchor="t" marL="68400" marR="68400">
                    <a:lnL w="12240">
                      <a:solidFill>
                        <a:srgbClr val="000000"/>
                      </a:solidFill>
                    </a:lnL>
                    <a:lnR w="12240">
                      <a:solidFill>
                        <a:srgbClr val="000000"/>
                      </a:solidFill>
                    </a:lnR>
                    <a:lnT w="12240">
                      <a:solidFill>
                        <a:srgbClr val="000000"/>
                      </a:solidFill>
                    </a:lnT>
                    <a:lnB w="12240">
                      <a:solidFill>
                        <a:srgbClr val="000000"/>
                      </a:solidFill>
                    </a:lnB>
                    <a:solidFill>
                      <a:srgbClr val="cccccc"/>
                    </a:solidFill>
                  </a:tcPr>
                </a:tc>
              </a:tr>
            </a:tbl>
          </a:graphicData>
        </a:graphic>
      </p:graphicFrame>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PlaceHolder 1"/>
          <p:cNvSpPr>
            <a:spLocks noGrp="1"/>
          </p:cNvSpPr>
          <p:nvPr>
            <p:ph type="title"/>
          </p:nvPr>
        </p:nvSpPr>
        <p:spPr>
          <a:xfrm>
            <a:off x="838080" y="365040"/>
            <a:ext cx="10515240" cy="1325160"/>
          </a:xfrm>
          <a:prstGeom prst="rect">
            <a:avLst/>
          </a:prstGeom>
          <a:noFill/>
          <a:ln w="0">
            <a:noFill/>
          </a:ln>
        </p:spPr>
        <p:txBody>
          <a:bodyPr anchor="ctr">
            <a:noAutofit/>
          </a:bodyPr>
          <a:p>
            <a:pPr indent="0">
              <a:lnSpc>
                <a:spcPct val="90000"/>
              </a:lnSpc>
              <a:buNone/>
            </a:pPr>
            <a:r>
              <a:rPr b="0" lang="en-US" sz="4400" spc="-1" strike="noStrike">
                <a:solidFill>
                  <a:srgbClr val="000000"/>
                </a:solidFill>
                <a:latin typeface="Calibri Light"/>
              </a:rPr>
              <a:t>Cache </a:t>
            </a:r>
            <a:r>
              <a:rPr b="0" lang="en-US" sz="4400" spc="-1" strike="noStrike">
                <a:solidFill>
                  <a:srgbClr val="000000"/>
                </a:solidFill>
                <a:latin typeface="Calibri Light"/>
              </a:rPr>
              <a:t>Hits </a:t>
            </a:r>
            <a:r>
              <a:rPr b="0" lang="en-US" sz="4400" spc="-1" strike="noStrike">
                <a:solidFill>
                  <a:srgbClr val="000000"/>
                </a:solidFill>
                <a:latin typeface="Calibri Light"/>
              </a:rPr>
              <a:t>and </a:t>
            </a:r>
            <a:r>
              <a:rPr b="0" lang="en-US" sz="4400" spc="-1" strike="noStrike">
                <a:solidFill>
                  <a:srgbClr val="000000"/>
                </a:solidFill>
                <a:latin typeface="Calibri Light"/>
              </a:rPr>
              <a:t>Misses</a:t>
            </a:r>
            <a:endParaRPr b="0" lang="en-US" sz="4400" spc="-1" strike="noStrike">
              <a:solidFill>
                <a:srgbClr val="000000"/>
              </a:solidFill>
              <a:latin typeface="Calibri"/>
            </a:endParaRPr>
          </a:p>
        </p:txBody>
      </p:sp>
      <p:sp>
        <p:nvSpPr>
          <p:cNvPr id="109" name="PlaceHolder 2"/>
          <p:cNvSpPr>
            <a:spLocks noGrp="1"/>
          </p:cNvSpPr>
          <p:nvPr>
            <p:ph/>
          </p:nvPr>
        </p:nvSpPr>
        <p:spPr>
          <a:xfrm>
            <a:off x="838080" y="1371600"/>
            <a:ext cx="10515240" cy="5203440"/>
          </a:xfrm>
          <a:prstGeom prst="rect">
            <a:avLst/>
          </a:prstGeom>
          <a:noFill/>
          <a:ln w="0">
            <a:noFill/>
          </a:ln>
        </p:spPr>
        <p:txBody>
          <a:bodyPr anchor="t">
            <a:normAutofit/>
          </a:bodyPr>
          <a:p>
            <a:pPr indent="0">
              <a:lnSpc>
                <a:spcPct val="90000"/>
              </a:lnSpc>
              <a:spcBef>
                <a:spcPts val="1001"/>
              </a:spcBef>
              <a:buNone/>
              <a:tabLst>
                <a:tab algn="l" pos="0"/>
              </a:tabLst>
            </a:pPr>
            <a:r>
              <a:rPr b="0" lang="en-US" sz="2800" spc="-1" strike="noStrike">
                <a:solidFill>
                  <a:srgbClr val="000000"/>
                </a:solidFill>
                <a:latin typeface="Calibri"/>
              </a:rPr>
              <a:t>When a memory load is attempted, the hardware “looks in” L1 cache. If the address is not there, that is considered a miss. </a:t>
            </a: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The hardware will then look in L2. If L2 misses, the request goes to L3. If L3 misses, main memory must satisfy the request.</a:t>
            </a: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If a particular cache can satisfy the request, that is considered a cache hit. </a:t>
            </a: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When a block is read from lower in the cache hierarchy, the higher caches store it. </a:t>
            </a: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PlaceHolder 1"/>
          <p:cNvSpPr>
            <a:spLocks noGrp="1"/>
          </p:cNvSpPr>
          <p:nvPr>
            <p:ph type="title"/>
          </p:nvPr>
        </p:nvSpPr>
        <p:spPr>
          <a:xfrm>
            <a:off x="838080" y="365040"/>
            <a:ext cx="10515240" cy="1325160"/>
          </a:xfrm>
          <a:prstGeom prst="rect">
            <a:avLst/>
          </a:prstGeom>
          <a:noFill/>
          <a:ln w="0">
            <a:noFill/>
          </a:ln>
        </p:spPr>
        <p:txBody>
          <a:bodyPr anchor="ctr">
            <a:noAutofit/>
          </a:bodyPr>
          <a:p>
            <a:pPr indent="0">
              <a:lnSpc>
                <a:spcPct val="90000"/>
              </a:lnSpc>
              <a:buNone/>
            </a:pPr>
            <a:r>
              <a:rPr b="0" lang="en-US" sz="4400" spc="-1" strike="noStrike">
                <a:solidFill>
                  <a:srgbClr val="000000"/>
                </a:solidFill>
                <a:latin typeface="Calibri Light"/>
              </a:rPr>
              <a:t>How </a:t>
            </a:r>
            <a:r>
              <a:rPr b="0" lang="en-US" sz="4400" spc="-1" strike="noStrike">
                <a:solidFill>
                  <a:srgbClr val="000000"/>
                </a:solidFill>
                <a:latin typeface="Calibri Light"/>
              </a:rPr>
              <a:t>Do Hits </a:t>
            </a:r>
            <a:r>
              <a:rPr b="0" lang="en-US" sz="4400" spc="-1" strike="noStrike">
                <a:solidFill>
                  <a:srgbClr val="000000"/>
                </a:solidFill>
                <a:latin typeface="Calibri Light"/>
              </a:rPr>
              <a:t>and </a:t>
            </a:r>
            <a:r>
              <a:rPr b="0" lang="en-US" sz="4400" spc="-1" strike="noStrike">
                <a:solidFill>
                  <a:srgbClr val="000000"/>
                </a:solidFill>
                <a:latin typeface="Calibri Light"/>
              </a:rPr>
              <a:t>Misses </a:t>
            </a:r>
            <a:r>
              <a:rPr b="0" lang="en-US" sz="4400" spc="-1" strike="noStrike">
                <a:solidFill>
                  <a:srgbClr val="000000"/>
                </a:solidFill>
                <a:latin typeface="Calibri Light"/>
              </a:rPr>
              <a:t>Impact </a:t>
            </a:r>
            <a:r>
              <a:rPr b="0" lang="en-US" sz="4400" spc="-1" strike="noStrike">
                <a:solidFill>
                  <a:srgbClr val="000000"/>
                </a:solidFill>
                <a:latin typeface="Calibri Light"/>
              </a:rPr>
              <a:t>Run </a:t>
            </a:r>
            <a:r>
              <a:rPr b="0" lang="en-US" sz="4400" spc="-1" strike="noStrike">
                <a:solidFill>
                  <a:srgbClr val="000000"/>
                </a:solidFill>
                <a:latin typeface="Calibri Light"/>
              </a:rPr>
              <a:t>Time?</a:t>
            </a:r>
            <a:endParaRPr b="0" lang="en-US" sz="4400" spc="-1" strike="noStrike">
              <a:solidFill>
                <a:srgbClr val="000000"/>
              </a:solidFill>
              <a:latin typeface="Calibri"/>
            </a:endParaRPr>
          </a:p>
        </p:txBody>
      </p:sp>
      <p:sp>
        <p:nvSpPr>
          <p:cNvPr id="111" name="PlaceHolder 2"/>
          <p:cNvSpPr>
            <a:spLocks noGrp="1"/>
          </p:cNvSpPr>
          <p:nvPr>
            <p:ph/>
          </p:nvPr>
        </p:nvSpPr>
        <p:spPr>
          <a:xfrm>
            <a:off x="838080" y="1825560"/>
            <a:ext cx="10515240" cy="4350960"/>
          </a:xfrm>
          <a:prstGeom prst="rect">
            <a:avLst/>
          </a:prstGeom>
          <a:noFill/>
          <a:ln w="0">
            <a:noFill/>
          </a:ln>
        </p:spPr>
        <p:txBody>
          <a:bodyPr anchor="t">
            <a:noAutofit/>
          </a:bodyPr>
          <a:p>
            <a:pPr indent="0">
              <a:lnSpc>
                <a:spcPct val="90000"/>
              </a:lnSpc>
              <a:spcBef>
                <a:spcPts val="1001"/>
              </a:spcBef>
              <a:buNone/>
              <a:tabLst>
                <a:tab algn="l" pos="0"/>
              </a:tabLst>
            </a:pPr>
            <a:r>
              <a:rPr b="0" lang="en-US" sz="2800" spc="-1" strike="noStrike">
                <a:solidFill>
                  <a:srgbClr val="000000"/>
                </a:solidFill>
                <a:latin typeface="Calibri"/>
              </a:rPr>
              <a:t>The CPU (in a simplified model – more on this later) must wait for a memory load to complete before continuing. </a:t>
            </a: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How do we compute memory stall cycles?</a:t>
            </a:r>
            <a:endParaRPr b="0" lang="en-US" sz="28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PlaceHolder 1"/>
          <p:cNvSpPr>
            <a:spLocks noGrp="1"/>
          </p:cNvSpPr>
          <p:nvPr>
            <p:ph type="title"/>
          </p:nvPr>
        </p:nvSpPr>
        <p:spPr>
          <a:xfrm>
            <a:off x="838080" y="365040"/>
            <a:ext cx="10515240" cy="1325160"/>
          </a:xfrm>
          <a:prstGeom prst="rect">
            <a:avLst/>
          </a:prstGeom>
          <a:noFill/>
          <a:ln w="0">
            <a:noFill/>
          </a:ln>
        </p:spPr>
        <p:txBody>
          <a:bodyPr anchor="ctr">
            <a:noAutofit/>
          </a:bodyPr>
          <a:p>
            <a:pPr indent="0">
              <a:lnSpc>
                <a:spcPct val="90000"/>
              </a:lnSpc>
              <a:buNone/>
            </a:pPr>
            <a:r>
              <a:rPr b="0" lang="en-US" sz="4400" spc="-1" strike="noStrike">
                <a:solidFill>
                  <a:srgbClr val="000000"/>
                </a:solidFill>
                <a:latin typeface="Calibri Light"/>
              </a:rPr>
              <a:t>Misses </a:t>
            </a:r>
            <a:r>
              <a:rPr b="0" lang="en-US" sz="4400" spc="-1" strike="noStrike">
                <a:solidFill>
                  <a:srgbClr val="000000"/>
                </a:solidFill>
                <a:latin typeface="Calibri Light"/>
              </a:rPr>
              <a:t>in the </a:t>
            </a:r>
            <a:r>
              <a:rPr b="0" lang="en-US" sz="4400" spc="-1" strike="noStrike">
                <a:solidFill>
                  <a:srgbClr val="000000"/>
                </a:solidFill>
                <a:latin typeface="Calibri Light"/>
              </a:rPr>
              <a:t>tiered </a:t>
            </a:r>
            <a:r>
              <a:rPr b="0" lang="en-US" sz="4400" spc="-1" strike="noStrike">
                <a:solidFill>
                  <a:srgbClr val="000000"/>
                </a:solidFill>
                <a:latin typeface="Calibri Light"/>
              </a:rPr>
              <a:t>hierarc</a:t>
            </a:r>
            <a:r>
              <a:rPr b="0" lang="en-US" sz="4400" spc="-1" strike="noStrike">
                <a:solidFill>
                  <a:srgbClr val="000000"/>
                </a:solidFill>
                <a:latin typeface="Calibri Light"/>
              </a:rPr>
              <a:t>hy</a:t>
            </a:r>
            <a:endParaRPr b="0" lang="en-US" sz="4400" spc="-1" strike="noStrike">
              <a:solidFill>
                <a:srgbClr val="000000"/>
              </a:solidFill>
              <a:latin typeface="Calibri"/>
            </a:endParaRPr>
          </a:p>
        </p:txBody>
      </p:sp>
      <p:sp>
        <p:nvSpPr>
          <p:cNvPr id="113" name="PlaceHolder 2"/>
          <p:cNvSpPr>
            <a:spLocks noGrp="1"/>
          </p:cNvSpPr>
          <p:nvPr>
            <p:ph/>
          </p:nvPr>
        </p:nvSpPr>
        <p:spPr>
          <a:xfrm>
            <a:off x="838080" y="1825560"/>
            <a:ext cx="10515240" cy="4429800"/>
          </a:xfrm>
          <a:prstGeom prst="rect">
            <a:avLst/>
          </a:prstGeom>
          <a:noFill/>
          <a:ln w="0">
            <a:noFill/>
          </a:ln>
        </p:spPr>
        <p:txBody>
          <a:bodyPr anchor="t">
            <a:normAutofit/>
          </a:bodyPr>
          <a:p>
            <a:pPr indent="0">
              <a:lnSpc>
                <a:spcPct val="90000"/>
              </a:lnSpc>
              <a:spcBef>
                <a:spcPts val="1001"/>
              </a:spcBef>
              <a:buNone/>
              <a:tabLst>
                <a:tab algn="l" pos="0"/>
              </a:tabLst>
            </a:pPr>
            <a:r>
              <a:rPr b="0" lang="en-US" sz="2800" spc="-1" strike="noStrike">
                <a:solidFill>
                  <a:srgbClr val="000000"/>
                </a:solidFill>
                <a:latin typeface="Calibri"/>
              </a:rPr>
              <a:t>If all memory accesses must be satisfied, some percentage of memory accesses will be satisfied by L1, some by L2, some by L3 and some by main memory.</a:t>
            </a: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The memory system must  take the time to look in the cache whether the data is there or not. </a:t>
            </a: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If a value is not in any cache, for example, we still wait for L1, L2 and L3 to be checked. Why? Because we don’t know in advance where we might find any given value. </a:t>
            </a:r>
            <a:endParaRPr b="0" lang="en-US" sz="28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Calibri"/>
            </a:endParaRPr>
          </a:p>
        </p:txBody>
      </p:sp>
      <p:pic>
        <p:nvPicPr>
          <p:cNvPr id="115" name="" descr=""/>
          <p:cNvPicPr/>
          <p:nvPr/>
        </p:nvPicPr>
        <p:blipFill>
          <a:blip r:embed="rId1"/>
          <a:stretch/>
        </p:blipFill>
        <p:spPr>
          <a:xfrm>
            <a:off x="838080" y="1825560"/>
            <a:ext cx="10515240" cy="435096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Calibri"/>
            </a:endParaRPr>
          </a:p>
        </p:txBody>
      </p:sp>
      <p:pic>
        <p:nvPicPr>
          <p:cNvPr id="117" name="" descr=""/>
          <p:cNvPicPr/>
          <p:nvPr/>
        </p:nvPicPr>
        <p:blipFill>
          <a:blip r:embed="rId1"/>
          <a:stretch/>
        </p:blipFill>
        <p:spPr>
          <a:xfrm>
            <a:off x="838080" y="1825560"/>
            <a:ext cx="10515240" cy="4350960"/>
          </a:xfrm>
          <a:prstGeom prst="rect">
            <a:avLst/>
          </a:prstGeom>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PlaceHolder 1"/>
          <p:cNvSpPr>
            <a:spLocks noGrp="1"/>
          </p:cNvSpPr>
          <p:nvPr>
            <p:ph type="title"/>
          </p:nvPr>
        </p:nvSpPr>
        <p:spPr>
          <a:xfrm>
            <a:off x="838080" y="365040"/>
            <a:ext cx="10515240" cy="1325160"/>
          </a:xfrm>
          <a:prstGeom prst="rect">
            <a:avLst/>
          </a:prstGeom>
          <a:noFill/>
          <a:ln w="0">
            <a:noFill/>
          </a:ln>
        </p:spPr>
        <p:txBody>
          <a:bodyPr anchor="ctr">
            <a:noAutofit/>
          </a:bodyPr>
          <a:p>
            <a:pPr indent="0">
              <a:lnSpc>
                <a:spcPct val="90000"/>
              </a:lnSpc>
              <a:buNone/>
            </a:pPr>
            <a:r>
              <a:rPr b="0" lang="en-US" sz="4400" spc="-1" strike="noStrike">
                <a:solidFill>
                  <a:srgbClr val="000000"/>
                </a:solidFill>
                <a:latin typeface="Calibri Light"/>
              </a:rPr>
              <a:t>Exampl</a:t>
            </a:r>
            <a:r>
              <a:rPr b="0" lang="en-US" sz="4400" spc="-1" strike="noStrike">
                <a:solidFill>
                  <a:srgbClr val="000000"/>
                </a:solidFill>
                <a:latin typeface="Calibri Light"/>
              </a:rPr>
              <a:t>e:</a:t>
            </a:r>
            <a:endParaRPr b="0" lang="en-US" sz="4400" spc="-1" strike="noStrike">
              <a:solidFill>
                <a:srgbClr val="000000"/>
              </a:solidFill>
              <a:latin typeface="Calibri"/>
            </a:endParaRPr>
          </a:p>
        </p:txBody>
      </p:sp>
      <p:sp>
        <p:nvSpPr>
          <p:cNvPr id="119" name="PlaceHolder 2"/>
          <p:cNvSpPr>
            <a:spLocks noGrp="1"/>
          </p:cNvSpPr>
          <p:nvPr>
            <p:ph/>
          </p:nvPr>
        </p:nvSpPr>
        <p:spPr>
          <a:xfrm>
            <a:off x="838080" y="1825560"/>
            <a:ext cx="10515240" cy="4350960"/>
          </a:xfrm>
          <a:prstGeom prst="rect">
            <a:avLst/>
          </a:prstGeom>
          <a:noFill/>
          <a:ln w="0">
            <a:noFill/>
          </a:ln>
        </p:spPr>
        <p:txBody>
          <a:bodyPr anchor="t">
            <a:normAutofit fontScale="87000"/>
          </a:bodyPr>
          <a:p>
            <a:pPr indent="0">
              <a:lnSpc>
                <a:spcPct val="90000"/>
              </a:lnSpc>
              <a:spcBef>
                <a:spcPts val="1001"/>
              </a:spcBef>
              <a:buNone/>
              <a:tabLst>
                <a:tab algn="l" pos="0"/>
              </a:tabLst>
            </a:pPr>
            <a:r>
              <a:rPr b="0" lang="en-US" sz="2800" spc="-1" strike="noStrike">
                <a:solidFill>
                  <a:srgbClr val="000000"/>
                </a:solidFill>
                <a:latin typeface="Calibri"/>
              </a:rPr>
              <a:t>If we have a 3ghz processor and we need to run 1 billion instruction, with an average of 2 cycles per instruction, we have:</a:t>
            </a: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Execution cycles = 1,000,000,000 * 2 c/I </a:t>
            </a: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2,000,000,000 cycles</a:t>
            </a: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3 ghz = 3,000,000,000 cycles per second</a:t>
            </a: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time = 2,000,000,000 / 3,000,000,000</a:t>
            </a: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time = 2/3 of a second. </a:t>
            </a: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This assumes a perfect cache that always has data ready for us.</a:t>
            </a:r>
            <a:endParaRPr b="0" lang="en-US" sz="28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PlaceHolder 1"/>
          <p:cNvSpPr>
            <a:spLocks noGrp="1"/>
          </p:cNvSpPr>
          <p:nvPr>
            <p:ph type="title"/>
          </p:nvPr>
        </p:nvSpPr>
        <p:spPr>
          <a:xfrm>
            <a:off x="838080" y="365040"/>
            <a:ext cx="10515240" cy="1325160"/>
          </a:xfrm>
          <a:prstGeom prst="rect">
            <a:avLst/>
          </a:prstGeom>
          <a:noFill/>
          <a:ln w="0">
            <a:noFill/>
          </a:ln>
        </p:spPr>
        <p:txBody>
          <a:bodyPr anchor="ctr">
            <a:noAutofit/>
          </a:bodyPr>
          <a:p>
            <a:pPr indent="0">
              <a:lnSpc>
                <a:spcPct val="90000"/>
              </a:lnSpc>
              <a:buNone/>
            </a:pPr>
            <a:r>
              <a:rPr b="0" lang="en-US" sz="4400" spc="-1" strike="noStrike">
                <a:solidFill>
                  <a:srgbClr val="000000"/>
                </a:solidFill>
                <a:latin typeface="Calibri Light"/>
              </a:rPr>
              <a:t>Exampl</a:t>
            </a:r>
            <a:r>
              <a:rPr b="0" lang="en-US" sz="4400" spc="-1" strike="noStrike">
                <a:solidFill>
                  <a:srgbClr val="000000"/>
                </a:solidFill>
                <a:latin typeface="Calibri Light"/>
              </a:rPr>
              <a:t>e </a:t>
            </a:r>
            <a:r>
              <a:rPr b="0" lang="en-US" sz="4400" spc="-1" strike="noStrike">
                <a:solidFill>
                  <a:srgbClr val="000000"/>
                </a:solidFill>
                <a:latin typeface="Calibri Light"/>
              </a:rPr>
              <a:t>(contin</a:t>
            </a:r>
            <a:r>
              <a:rPr b="0" lang="en-US" sz="4400" spc="-1" strike="noStrike">
                <a:solidFill>
                  <a:srgbClr val="000000"/>
                </a:solidFill>
                <a:latin typeface="Calibri Light"/>
              </a:rPr>
              <a:t>ued)</a:t>
            </a:r>
            <a:endParaRPr b="0" lang="en-US" sz="4400" spc="-1" strike="noStrike">
              <a:solidFill>
                <a:srgbClr val="000000"/>
              </a:solidFill>
              <a:latin typeface="Calibri"/>
            </a:endParaRPr>
          </a:p>
        </p:txBody>
      </p:sp>
      <p:sp>
        <p:nvSpPr>
          <p:cNvPr id="121" name="PlaceHolder 2"/>
          <p:cNvSpPr>
            <a:spLocks noGrp="1"/>
          </p:cNvSpPr>
          <p:nvPr>
            <p:ph/>
          </p:nvPr>
        </p:nvSpPr>
        <p:spPr>
          <a:xfrm>
            <a:off x="838080" y="1825560"/>
            <a:ext cx="10515240" cy="4350960"/>
          </a:xfrm>
          <a:prstGeom prst="rect">
            <a:avLst/>
          </a:prstGeom>
          <a:noFill/>
          <a:ln w="0">
            <a:noFill/>
          </a:ln>
        </p:spPr>
        <p:txBody>
          <a:bodyPr anchor="t">
            <a:normAutofit fontScale="92000"/>
          </a:bodyPr>
          <a:p>
            <a:pPr indent="0">
              <a:lnSpc>
                <a:spcPct val="90000"/>
              </a:lnSpc>
              <a:spcBef>
                <a:spcPts val="1001"/>
              </a:spcBef>
              <a:buNone/>
              <a:tabLst>
                <a:tab algn="l" pos="0"/>
              </a:tabLst>
            </a:pPr>
            <a:r>
              <a:rPr b="0" lang="en-US" sz="2800" spc="-1" strike="noStrike">
                <a:solidFill>
                  <a:srgbClr val="000000"/>
                </a:solidFill>
                <a:latin typeface="Calibri"/>
              </a:rPr>
              <a:t>Let’s assume that each cache level handles 90% of memory accesses and that in that 1,000,000,000 instructions, there were 1,200,000,000 memory accesses (don’t forget that instructions need to be loaded). We will use the numbers from the Ryzen 2700X above for timing.</a:t>
            </a: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For L1:</a:t>
            </a: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1,200,000,000 * .90 = 1,080,000,000 hits</a:t>
            </a: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Each attempt costs 4 cycles.</a:t>
            </a: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4,800,000,000 cycles</a:t>
            </a: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Remaining: 120,000,000</a:t>
            </a: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PlaceHolder 1"/>
          <p:cNvSpPr>
            <a:spLocks noGrp="1"/>
          </p:cNvSpPr>
          <p:nvPr>
            <p:ph/>
          </p:nvPr>
        </p:nvSpPr>
        <p:spPr>
          <a:xfrm>
            <a:off x="655200" y="930960"/>
            <a:ext cx="10515240" cy="5777640"/>
          </a:xfrm>
          <a:prstGeom prst="rect">
            <a:avLst/>
          </a:prstGeom>
          <a:noFill/>
          <a:ln w="0">
            <a:noFill/>
          </a:ln>
        </p:spPr>
        <p:txBody>
          <a:bodyPr anchor="t">
            <a:normAutofit/>
          </a:bodyPr>
          <a:p>
            <a:pPr indent="0">
              <a:lnSpc>
                <a:spcPct val="90000"/>
              </a:lnSpc>
              <a:spcBef>
                <a:spcPts val="1001"/>
              </a:spcBef>
              <a:buNone/>
              <a:tabLst>
                <a:tab algn="l" pos="0"/>
              </a:tabLst>
            </a:pPr>
            <a:r>
              <a:rPr b="0" lang="en-US" sz="2800" spc="-1" strike="noStrike">
                <a:solidFill>
                  <a:srgbClr val="000000"/>
                </a:solidFill>
                <a:latin typeface="Calibri"/>
              </a:rPr>
              <a:t>For L2, there are 120,000,000 memory attempts. 90% of those is 108,000,000. A cache attempt costs 10.4 cycles.</a:t>
            </a: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L2 cost is 1,248,000,000 cycles</a:t>
            </a: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L3, there are 12,000,000 memory attempts. 90% of those is 10,800,000. A cache attempt costs 30 cycles. </a:t>
            </a: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L3 cost is 360,000,000 cycles</a:t>
            </a: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Main memory will have to service the last 1,200,000 memory attempts. Main memory costs 350 cycles.</a:t>
            </a: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Main memory cost is 420,000,000 cycles.</a:t>
            </a: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p:txBody>
      </p:sp>
      <p:sp>
        <p:nvSpPr>
          <p:cNvPr id="123" name="PlaceHolder 2"/>
          <p:cNvSpPr>
            <a:spLocks noGrp="1"/>
          </p:cNvSpPr>
          <p:nvPr>
            <p:ph type="title"/>
          </p:nvPr>
        </p:nvSpPr>
        <p:spPr>
          <a:xfrm>
            <a:off x="838080" y="149040"/>
            <a:ext cx="10515240" cy="706680"/>
          </a:xfrm>
          <a:prstGeom prst="rect">
            <a:avLst/>
          </a:prstGeom>
          <a:noFill/>
          <a:ln w="0">
            <a:noFill/>
          </a:ln>
        </p:spPr>
        <p:txBody>
          <a:bodyPr anchor="ctr">
            <a:normAutofit/>
          </a:bodyPr>
          <a:p>
            <a:pPr indent="0">
              <a:lnSpc>
                <a:spcPct val="90000"/>
              </a:lnSpc>
              <a:buNone/>
            </a:pPr>
            <a:r>
              <a:rPr b="0" lang="en-US" sz="4400" spc="-1" strike="noStrike">
                <a:solidFill>
                  <a:srgbClr val="000000"/>
                </a:solidFill>
                <a:latin typeface="Calibri Light"/>
              </a:rPr>
              <a:t>Exampl</a:t>
            </a:r>
            <a:r>
              <a:rPr b="0" lang="en-US" sz="4400" spc="-1" strike="noStrike">
                <a:solidFill>
                  <a:srgbClr val="000000"/>
                </a:solidFill>
                <a:latin typeface="Calibri Light"/>
              </a:rPr>
              <a:t>e </a:t>
            </a:r>
            <a:r>
              <a:rPr b="0" lang="en-US" sz="4400" spc="-1" strike="noStrike">
                <a:solidFill>
                  <a:srgbClr val="000000"/>
                </a:solidFill>
                <a:latin typeface="Calibri Light"/>
              </a:rPr>
              <a:t>(contin</a:t>
            </a:r>
            <a:r>
              <a:rPr b="0" lang="en-US" sz="4400" spc="-1" strike="noStrike">
                <a:solidFill>
                  <a:srgbClr val="000000"/>
                </a:solidFill>
                <a:latin typeface="Calibri Light"/>
              </a:rPr>
              <a:t>ued)</a:t>
            </a:r>
            <a:endParaRPr b="0" lang="en-US" sz="44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PlaceHolder 1"/>
          <p:cNvSpPr>
            <a:spLocks noGrp="1"/>
          </p:cNvSpPr>
          <p:nvPr>
            <p:ph type="title"/>
          </p:nvPr>
        </p:nvSpPr>
        <p:spPr>
          <a:xfrm>
            <a:off x="838080" y="41040"/>
            <a:ext cx="10515240" cy="1325160"/>
          </a:xfrm>
          <a:prstGeom prst="rect">
            <a:avLst/>
          </a:prstGeom>
          <a:noFill/>
          <a:ln w="0">
            <a:noFill/>
          </a:ln>
        </p:spPr>
        <p:txBody>
          <a:bodyPr anchor="ctr">
            <a:noAutofit/>
          </a:bodyPr>
          <a:p>
            <a:pPr indent="0">
              <a:lnSpc>
                <a:spcPct val="90000"/>
              </a:lnSpc>
              <a:buNone/>
            </a:pPr>
            <a:r>
              <a:rPr b="0" lang="en-US" sz="4400" spc="-1" strike="noStrike">
                <a:solidFill>
                  <a:srgbClr val="000000"/>
                </a:solidFill>
                <a:latin typeface="Calibri Light"/>
              </a:rPr>
              <a:t>Exampl</a:t>
            </a:r>
            <a:r>
              <a:rPr b="0" lang="en-US" sz="4400" spc="-1" strike="noStrike">
                <a:solidFill>
                  <a:srgbClr val="000000"/>
                </a:solidFill>
                <a:latin typeface="Calibri Light"/>
              </a:rPr>
              <a:t>e </a:t>
            </a:r>
            <a:r>
              <a:rPr b="0" lang="en-US" sz="4400" spc="-1" strike="noStrike">
                <a:solidFill>
                  <a:srgbClr val="000000"/>
                </a:solidFill>
                <a:latin typeface="Calibri Light"/>
              </a:rPr>
              <a:t>(conclu</a:t>
            </a:r>
            <a:r>
              <a:rPr b="0" lang="en-US" sz="4400" spc="-1" strike="noStrike">
                <a:solidFill>
                  <a:srgbClr val="000000"/>
                </a:solidFill>
                <a:latin typeface="Calibri Light"/>
              </a:rPr>
              <a:t>sion)</a:t>
            </a:r>
            <a:endParaRPr b="0" lang="en-US" sz="4400" spc="-1" strike="noStrike">
              <a:solidFill>
                <a:srgbClr val="000000"/>
              </a:solidFill>
              <a:latin typeface="Calibri"/>
            </a:endParaRPr>
          </a:p>
        </p:txBody>
      </p:sp>
      <p:sp>
        <p:nvSpPr>
          <p:cNvPr id="125" name="PlaceHolder 2"/>
          <p:cNvSpPr>
            <a:spLocks noGrp="1"/>
          </p:cNvSpPr>
          <p:nvPr>
            <p:ph/>
          </p:nvPr>
        </p:nvSpPr>
        <p:spPr>
          <a:xfrm>
            <a:off x="315720" y="1230120"/>
            <a:ext cx="11037600" cy="5436000"/>
          </a:xfrm>
          <a:prstGeom prst="rect">
            <a:avLst/>
          </a:prstGeom>
          <a:noFill/>
          <a:ln w="0">
            <a:noFill/>
          </a:ln>
        </p:spPr>
        <p:txBody>
          <a:bodyPr anchor="t">
            <a:noAutofit/>
          </a:bodyPr>
          <a:p>
            <a:pPr indent="0">
              <a:lnSpc>
                <a:spcPct val="90000"/>
              </a:lnSpc>
              <a:spcBef>
                <a:spcPts val="1001"/>
              </a:spcBef>
              <a:buNone/>
              <a:tabLst>
                <a:tab algn="l" pos="0"/>
              </a:tabLst>
            </a:pP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Memory Stall Cycles = </a:t>
            </a: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L1: 4,800,000,000 cycles</a:t>
            </a: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L2: 1,248,000,000 cycles</a:t>
            </a: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L3: 360,000,000 cycles</a:t>
            </a: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Main: 420,000,000 cycles</a:t>
            </a: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	</a:t>
            </a:r>
            <a:r>
              <a:rPr b="0" lang="en-US" sz="2800" spc="-1" strike="noStrike">
                <a:solidFill>
                  <a:srgbClr val="000000"/>
                </a:solidFill>
                <a:latin typeface="Calibri"/>
              </a:rPr>
              <a:t>Time = 2.943 seconds</a:t>
            </a:r>
            <a:endParaRPr b="0" lang="en-US" sz="28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PlaceHolder 1"/>
          <p:cNvSpPr>
            <a:spLocks noGrp="1"/>
          </p:cNvSpPr>
          <p:nvPr>
            <p:ph type="title"/>
          </p:nvPr>
        </p:nvSpPr>
        <p:spPr>
          <a:xfrm>
            <a:off x="838080" y="365040"/>
            <a:ext cx="10515240" cy="1325160"/>
          </a:xfrm>
          <a:prstGeom prst="rect">
            <a:avLst/>
          </a:prstGeom>
          <a:noFill/>
          <a:ln w="0">
            <a:noFill/>
          </a:ln>
        </p:spPr>
        <p:txBody>
          <a:bodyPr anchor="ctr">
            <a:noAutofit/>
          </a:bodyPr>
          <a:p>
            <a:pPr indent="0">
              <a:lnSpc>
                <a:spcPct val="90000"/>
              </a:lnSpc>
              <a:buNone/>
            </a:pPr>
            <a:r>
              <a:rPr b="0" lang="en-US" sz="4400" spc="-1" strike="noStrike">
                <a:solidFill>
                  <a:srgbClr val="000000"/>
                </a:solidFill>
                <a:latin typeface="Calibri Light"/>
              </a:rPr>
              <a:t>Stating </a:t>
            </a:r>
            <a:r>
              <a:rPr b="0" lang="en-US" sz="4400" spc="-1" strike="noStrike">
                <a:solidFill>
                  <a:srgbClr val="000000"/>
                </a:solidFill>
                <a:latin typeface="Calibri Light"/>
              </a:rPr>
              <a:t>the </a:t>
            </a:r>
            <a:r>
              <a:rPr b="0" lang="en-US" sz="4400" spc="-1" strike="noStrike">
                <a:solidFill>
                  <a:srgbClr val="000000"/>
                </a:solidFill>
                <a:latin typeface="Calibri Light"/>
              </a:rPr>
              <a:t>Obviou</a:t>
            </a:r>
            <a:r>
              <a:rPr b="0" lang="en-US" sz="4400" spc="-1" strike="noStrike">
                <a:solidFill>
                  <a:srgbClr val="000000"/>
                </a:solidFill>
                <a:latin typeface="Calibri Light"/>
              </a:rPr>
              <a:t>s…</a:t>
            </a:r>
            <a:endParaRPr b="0" lang="en-US" sz="4400" spc="-1" strike="noStrike">
              <a:solidFill>
                <a:srgbClr val="000000"/>
              </a:solidFill>
              <a:latin typeface="Calibri"/>
            </a:endParaRPr>
          </a:p>
        </p:txBody>
      </p:sp>
      <p:sp>
        <p:nvSpPr>
          <p:cNvPr id="127" name="PlaceHolder 2"/>
          <p:cNvSpPr>
            <a:spLocks noGrp="1"/>
          </p:cNvSpPr>
          <p:nvPr>
            <p:ph/>
          </p:nvPr>
        </p:nvSpPr>
        <p:spPr>
          <a:xfrm>
            <a:off x="838080" y="1825560"/>
            <a:ext cx="10515240" cy="4350960"/>
          </a:xfrm>
          <a:prstGeom prst="rect">
            <a:avLst/>
          </a:prstGeom>
          <a:noFill/>
          <a:ln w="0">
            <a:noFill/>
          </a:ln>
        </p:spPr>
        <p:txBody>
          <a:bodyPr anchor="t">
            <a:noAutofit/>
          </a:bodyPr>
          <a:p>
            <a:pPr indent="0">
              <a:lnSpc>
                <a:spcPct val="90000"/>
              </a:lnSpc>
              <a:spcBef>
                <a:spcPts val="1001"/>
              </a:spcBef>
              <a:buNone/>
              <a:tabLst>
                <a:tab algn="l" pos="0"/>
              </a:tabLst>
            </a:pPr>
            <a:r>
              <a:rPr b="0" lang="en-US" sz="2800" spc="-1" strike="noStrike">
                <a:solidFill>
                  <a:srgbClr val="000000"/>
                </a:solidFill>
                <a:latin typeface="Calibri"/>
              </a:rPr>
              <a:t>Memory accesses always hurt. Even with a 90% cache hit rate, they hurt a lot. Fortunately, 90% is considered AWFUL. Real rates are closer to 99%!</a:t>
            </a: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The only thing worse than a cache hit is a cache miss.</a:t>
            </a: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When possible, working from registers is a far better choice.</a:t>
            </a: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PlaceHolder 1"/>
          <p:cNvSpPr>
            <a:spLocks noGrp="1"/>
          </p:cNvSpPr>
          <p:nvPr>
            <p:ph type="title"/>
          </p:nvPr>
        </p:nvSpPr>
        <p:spPr>
          <a:xfrm>
            <a:off x="838080" y="365040"/>
            <a:ext cx="10515240" cy="1325160"/>
          </a:xfrm>
          <a:prstGeom prst="rect">
            <a:avLst/>
          </a:prstGeom>
          <a:noFill/>
          <a:ln w="0">
            <a:noFill/>
          </a:ln>
        </p:spPr>
        <p:txBody>
          <a:bodyPr anchor="ctr">
            <a:noAutofit/>
          </a:bodyPr>
          <a:p>
            <a:pPr indent="0">
              <a:lnSpc>
                <a:spcPct val="90000"/>
              </a:lnSpc>
              <a:buNone/>
            </a:pPr>
            <a:r>
              <a:rPr b="0" lang="en-US" sz="4400" spc="-1" strike="noStrike">
                <a:solidFill>
                  <a:srgbClr val="000000"/>
                </a:solidFill>
                <a:latin typeface="Calibri Light"/>
              </a:rPr>
              <a:t>Blocks</a:t>
            </a:r>
            <a:endParaRPr b="0" lang="en-US" sz="4400" spc="-1" strike="noStrike">
              <a:solidFill>
                <a:srgbClr val="000000"/>
              </a:solidFill>
              <a:latin typeface="Calibri"/>
            </a:endParaRPr>
          </a:p>
        </p:txBody>
      </p:sp>
      <p:sp>
        <p:nvSpPr>
          <p:cNvPr id="129" name="PlaceHolder 2"/>
          <p:cNvSpPr>
            <a:spLocks noGrp="1"/>
          </p:cNvSpPr>
          <p:nvPr>
            <p:ph/>
          </p:nvPr>
        </p:nvSpPr>
        <p:spPr>
          <a:xfrm>
            <a:off x="838080" y="1825560"/>
            <a:ext cx="10515240" cy="4350960"/>
          </a:xfrm>
          <a:prstGeom prst="rect">
            <a:avLst/>
          </a:prstGeom>
          <a:noFill/>
          <a:ln w="0">
            <a:noFill/>
          </a:ln>
        </p:spPr>
        <p:txBody>
          <a:bodyPr anchor="t">
            <a:normAutofit fontScale="95000"/>
          </a:bodyPr>
          <a:p>
            <a:pPr indent="0">
              <a:lnSpc>
                <a:spcPct val="90000"/>
              </a:lnSpc>
              <a:spcBef>
                <a:spcPts val="1001"/>
              </a:spcBef>
              <a:buNone/>
              <a:tabLst>
                <a:tab algn="l" pos="0"/>
              </a:tabLst>
            </a:pPr>
            <a:r>
              <a:rPr b="0" lang="en-US" sz="2800" spc="-1" strike="noStrike">
                <a:solidFill>
                  <a:srgbClr val="000000"/>
                </a:solidFill>
                <a:latin typeface="Calibri"/>
              </a:rPr>
              <a:t>Caches work on the concept of blocks – consecutive sections of cache. A block of cache holds consecutive memory. </a:t>
            </a: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Bigger blocks means we swap out more at a time and have lower temporal locality.</a:t>
            </a: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Smaller blocks means that we spend a lot of time/hardware managing the mapping between memory and the block and we don’t take advantage of spatial locality.</a:t>
            </a: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The right size is a tradeoff of hit rate vs size.</a:t>
            </a:r>
            <a:endParaRPr b="0" lang="en-US" sz="28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 name="PlaceHolder 1"/>
          <p:cNvSpPr>
            <a:spLocks noGrp="1"/>
          </p:cNvSpPr>
          <p:nvPr>
            <p:ph type="title"/>
          </p:nvPr>
        </p:nvSpPr>
        <p:spPr>
          <a:xfrm>
            <a:off x="838080" y="365040"/>
            <a:ext cx="10515240" cy="1325160"/>
          </a:xfrm>
          <a:prstGeom prst="rect">
            <a:avLst/>
          </a:prstGeom>
          <a:noFill/>
          <a:ln w="0">
            <a:noFill/>
          </a:ln>
        </p:spPr>
        <p:txBody>
          <a:bodyPr anchor="ctr">
            <a:noAutofit/>
          </a:bodyPr>
          <a:p>
            <a:pPr indent="0">
              <a:lnSpc>
                <a:spcPct val="90000"/>
              </a:lnSpc>
              <a:buNone/>
            </a:pPr>
            <a:r>
              <a:rPr b="0" lang="en-US" sz="4400" spc="-1" strike="noStrike">
                <a:solidFill>
                  <a:srgbClr val="000000"/>
                </a:solidFill>
                <a:latin typeface="Calibri Light"/>
              </a:rPr>
              <a:t>Improv</a:t>
            </a:r>
            <a:r>
              <a:rPr b="0" lang="en-US" sz="4400" spc="-1" strike="noStrike">
                <a:solidFill>
                  <a:srgbClr val="000000"/>
                </a:solidFill>
                <a:latin typeface="Calibri Light"/>
              </a:rPr>
              <a:t>e </a:t>
            </a:r>
            <a:r>
              <a:rPr b="0" lang="en-US" sz="4400" spc="-1" strike="noStrike">
                <a:solidFill>
                  <a:srgbClr val="000000"/>
                </a:solidFill>
                <a:latin typeface="Calibri Light"/>
              </a:rPr>
              <a:t>Perfor</a:t>
            </a:r>
            <a:r>
              <a:rPr b="0" lang="en-US" sz="4400" spc="-1" strike="noStrike">
                <a:solidFill>
                  <a:srgbClr val="000000"/>
                </a:solidFill>
                <a:latin typeface="Calibri Light"/>
              </a:rPr>
              <a:t>mance</a:t>
            </a:r>
            <a:endParaRPr b="0" lang="en-US" sz="4400" spc="-1" strike="noStrike">
              <a:solidFill>
                <a:srgbClr val="000000"/>
              </a:solidFill>
              <a:latin typeface="Calibri"/>
            </a:endParaRPr>
          </a:p>
        </p:txBody>
      </p:sp>
      <p:sp>
        <p:nvSpPr>
          <p:cNvPr id="131" name="PlaceHolder 2"/>
          <p:cNvSpPr>
            <a:spLocks noGrp="1"/>
          </p:cNvSpPr>
          <p:nvPr>
            <p:ph/>
          </p:nvPr>
        </p:nvSpPr>
        <p:spPr>
          <a:xfrm>
            <a:off x="838080" y="1825560"/>
            <a:ext cx="10515240" cy="4350960"/>
          </a:xfrm>
          <a:prstGeom prst="rect">
            <a:avLst/>
          </a:prstGeom>
          <a:noFill/>
          <a:ln w="0">
            <a:noFill/>
          </a:ln>
        </p:spPr>
        <p:txBody>
          <a:bodyPr anchor="t">
            <a:noAutofit/>
          </a:bodyPr>
          <a:p>
            <a:pPr indent="0">
              <a:lnSpc>
                <a:spcPct val="90000"/>
              </a:lnSpc>
              <a:spcBef>
                <a:spcPts val="1001"/>
              </a:spcBef>
              <a:buNone/>
              <a:tabLst>
                <a:tab algn="l" pos="0"/>
              </a:tabLst>
            </a:pPr>
            <a:r>
              <a:rPr b="0" lang="en-US" sz="2800" spc="-1" strike="noStrike">
                <a:solidFill>
                  <a:srgbClr val="000000"/>
                </a:solidFill>
                <a:latin typeface="Calibri"/>
              </a:rPr>
              <a:t>How can we improve our performance?</a:t>
            </a: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a:p>
            <a:pPr marL="514440" indent="-514440">
              <a:lnSpc>
                <a:spcPct val="90000"/>
              </a:lnSpc>
              <a:spcBef>
                <a:spcPts val="1001"/>
              </a:spcBef>
              <a:buClr>
                <a:srgbClr val="000000"/>
              </a:buClr>
              <a:buFont typeface="Arial"/>
              <a:buAutoNum type="arabicParenR"/>
              <a:tabLst>
                <a:tab algn="l" pos="0"/>
              </a:tabLst>
            </a:pPr>
            <a:r>
              <a:rPr b="0" lang="en-US" sz="2800" spc="-1" strike="noStrike">
                <a:solidFill>
                  <a:srgbClr val="000000"/>
                </a:solidFill>
                <a:latin typeface="Calibri"/>
              </a:rPr>
              <a:t>Improve our hit rate</a:t>
            </a:r>
            <a:endParaRPr b="0" lang="en-US" sz="2800" spc="-1" strike="noStrike">
              <a:solidFill>
                <a:srgbClr val="000000"/>
              </a:solidFill>
              <a:latin typeface="Calibri"/>
            </a:endParaRPr>
          </a:p>
          <a:p>
            <a:pPr marL="514440" indent="-514440">
              <a:lnSpc>
                <a:spcPct val="90000"/>
              </a:lnSpc>
              <a:spcBef>
                <a:spcPts val="1001"/>
              </a:spcBef>
              <a:buClr>
                <a:srgbClr val="000000"/>
              </a:buClr>
              <a:buFont typeface="Arial"/>
              <a:buAutoNum type="arabicParenR"/>
              <a:tabLst>
                <a:tab algn="l" pos="0"/>
              </a:tabLst>
            </a:pPr>
            <a:r>
              <a:rPr b="0" lang="en-US" sz="2800" spc="-1" strike="noStrike">
                <a:solidFill>
                  <a:srgbClr val="000000"/>
                </a:solidFill>
                <a:latin typeface="Calibri"/>
              </a:rPr>
              <a:t>Reduce our miss penalty (remember, hits = 100% - misses)</a:t>
            </a:r>
            <a:endParaRPr b="0" lang="en-US" sz="2800" spc="-1" strike="noStrike">
              <a:solidFill>
                <a:srgbClr val="000000"/>
              </a:solidFill>
              <a:latin typeface="Calibri"/>
            </a:endParaRPr>
          </a:p>
          <a:p>
            <a:pPr marL="514440" indent="-514440">
              <a:lnSpc>
                <a:spcPct val="90000"/>
              </a:lnSpc>
              <a:spcBef>
                <a:spcPts val="1001"/>
              </a:spcBef>
              <a:buClr>
                <a:srgbClr val="000000"/>
              </a:buClr>
              <a:buFont typeface="Arial"/>
              <a:buAutoNum type="arabicParenR"/>
              <a:tabLst>
                <a:tab algn="l" pos="0"/>
              </a:tabLst>
            </a:pPr>
            <a:r>
              <a:rPr b="0" lang="en-US" sz="2800" spc="-1" strike="noStrike">
                <a:solidFill>
                  <a:srgbClr val="000000"/>
                </a:solidFill>
                <a:latin typeface="Calibri"/>
              </a:rPr>
              <a:t>Reduce the time that cache hits take</a:t>
            </a: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 name="PlaceHolder 1"/>
          <p:cNvSpPr>
            <a:spLocks noGrp="1"/>
          </p:cNvSpPr>
          <p:nvPr>
            <p:ph type="title"/>
          </p:nvPr>
        </p:nvSpPr>
        <p:spPr>
          <a:xfrm>
            <a:off x="838080" y="365040"/>
            <a:ext cx="10515240" cy="1325160"/>
          </a:xfrm>
          <a:prstGeom prst="rect">
            <a:avLst/>
          </a:prstGeom>
          <a:noFill/>
          <a:ln w="0">
            <a:noFill/>
          </a:ln>
        </p:spPr>
        <p:txBody>
          <a:bodyPr anchor="ctr">
            <a:noAutofit/>
          </a:bodyPr>
          <a:p>
            <a:pPr indent="0">
              <a:lnSpc>
                <a:spcPct val="90000"/>
              </a:lnSpc>
              <a:buNone/>
            </a:pPr>
            <a:r>
              <a:rPr b="0" lang="en-US" sz="4400" spc="-1" strike="noStrike">
                <a:solidFill>
                  <a:srgbClr val="000000"/>
                </a:solidFill>
                <a:latin typeface="Calibri Light"/>
              </a:rPr>
              <a:t>How do misses happen?</a:t>
            </a:r>
            <a:endParaRPr b="0" lang="en-US" sz="4400" spc="-1" strike="noStrike">
              <a:solidFill>
                <a:srgbClr val="000000"/>
              </a:solidFill>
              <a:latin typeface="Calibri"/>
            </a:endParaRPr>
          </a:p>
        </p:txBody>
      </p:sp>
      <p:sp>
        <p:nvSpPr>
          <p:cNvPr id="133" name="PlaceHolder 2"/>
          <p:cNvSpPr>
            <a:spLocks noGrp="1"/>
          </p:cNvSpPr>
          <p:nvPr>
            <p:ph/>
          </p:nvPr>
        </p:nvSpPr>
        <p:spPr>
          <a:xfrm>
            <a:off x="838080" y="1825560"/>
            <a:ext cx="10515240" cy="4350960"/>
          </a:xfrm>
          <a:prstGeom prst="rect">
            <a:avLst/>
          </a:prstGeom>
          <a:noFill/>
          <a:ln w="0">
            <a:noFill/>
          </a:ln>
        </p:spPr>
        <p:txBody>
          <a:bodyPr anchor="t">
            <a:noAutofit/>
          </a:bodyPr>
          <a:p>
            <a:pPr indent="0">
              <a:lnSpc>
                <a:spcPct val="90000"/>
              </a:lnSpc>
              <a:spcBef>
                <a:spcPts val="1001"/>
              </a:spcBef>
              <a:buNone/>
              <a:tabLst>
                <a:tab algn="l" pos="0"/>
              </a:tabLst>
            </a:pPr>
            <a:r>
              <a:rPr b="0" lang="en-US" sz="2800" spc="-1" strike="noStrike">
                <a:solidFill>
                  <a:srgbClr val="000000"/>
                </a:solidFill>
                <a:latin typeface="Calibri"/>
              </a:rPr>
              <a:t>The 3 C’s:</a:t>
            </a: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Compulsory – the block was never in the cache. We can’t do anything about this, really.</a:t>
            </a: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Capacity – the block was in the cache at one point, but we discarded it for space reasons</a:t>
            </a: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Conflict – 2 blocks conflict - let’s look at this</a:t>
            </a:r>
            <a:endParaRPr b="0" lang="en-US" sz="28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PlaceHolder 1"/>
          <p:cNvSpPr>
            <a:spLocks noGrp="1"/>
          </p:cNvSpPr>
          <p:nvPr>
            <p:ph type="title"/>
          </p:nvPr>
        </p:nvSpPr>
        <p:spPr>
          <a:xfrm>
            <a:off x="838080" y="365040"/>
            <a:ext cx="10515240" cy="1325160"/>
          </a:xfrm>
          <a:prstGeom prst="rect">
            <a:avLst/>
          </a:prstGeom>
          <a:noFill/>
          <a:ln w="0">
            <a:noFill/>
          </a:ln>
        </p:spPr>
        <p:txBody>
          <a:bodyPr anchor="ctr">
            <a:noAutofit/>
          </a:bodyPr>
          <a:p>
            <a:pPr indent="0">
              <a:lnSpc>
                <a:spcPct val="90000"/>
              </a:lnSpc>
              <a:buNone/>
            </a:pPr>
            <a:r>
              <a:rPr b="0" lang="en-US" sz="4400" spc="-1" strike="noStrike">
                <a:solidFill>
                  <a:srgbClr val="000000"/>
                </a:solidFill>
                <a:latin typeface="Calibri Light"/>
              </a:rPr>
              <a:t>Where can a block be placed in the cache?</a:t>
            </a:r>
            <a:endParaRPr b="0" lang="en-US" sz="4400" spc="-1" strike="noStrike">
              <a:solidFill>
                <a:srgbClr val="000000"/>
              </a:solidFill>
              <a:latin typeface="Calibri"/>
            </a:endParaRPr>
          </a:p>
        </p:txBody>
      </p:sp>
      <p:sp>
        <p:nvSpPr>
          <p:cNvPr id="135" name="PlaceHolder 2"/>
          <p:cNvSpPr>
            <a:spLocks noGrp="1"/>
          </p:cNvSpPr>
          <p:nvPr>
            <p:ph/>
          </p:nvPr>
        </p:nvSpPr>
        <p:spPr>
          <a:xfrm>
            <a:off x="838080" y="1825560"/>
            <a:ext cx="10515240" cy="4350960"/>
          </a:xfrm>
          <a:prstGeom prst="rect">
            <a:avLst/>
          </a:prstGeom>
          <a:noFill/>
          <a:ln w="0">
            <a:noFill/>
          </a:ln>
        </p:spPr>
        <p:txBody>
          <a:bodyPr anchor="t">
            <a:noAutofit/>
          </a:bodyPr>
          <a:p>
            <a:pPr indent="0">
              <a:lnSpc>
                <a:spcPct val="90000"/>
              </a:lnSpc>
              <a:spcBef>
                <a:spcPts val="1001"/>
              </a:spcBef>
              <a:buNone/>
              <a:tabLst>
                <a:tab algn="l" pos="0"/>
              </a:tabLst>
            </a:pPr>
            <a:r>
              <a:rPr b="0" lang="en-US" sz="2800" spc="-1" strike="noStrike">
                <a:solidFill>
                  <a:srgbClr val="000000"/>
                </a:solidFill>
                <a:latin typeface="Calibri"/>
              </a:rPr>
              <a:t>So far, we have just considered the cache as a block of storage with some ideal mechanism – we put data in, we read data. Why is that a problem?</a:t>
            </a: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How do we find a block of data? If we know that we need address Q, how do we find it in the cache?</a:t>
            </a: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PlaceHolder 1"/>
          <p:cNvSpPr>
            <a:spLocks noGrp="1"/>
          </p:cNvSpPr>
          <p:nvPr>
            <p:ph type="title"/>
          </p:nvPr>
        </p:nvSpPr>
        <p:spPr>
          <a:xfrm>
            <a:off x="838080" y="365040"/>
            <a:ext cx="10515240" cy="1325160"/>
          </a:xfrm>
          <a:prstGeom prst="rect">
            <a:avLst/>
          </a:prstGeom>
          <a:noFill/>
          <a:ln w="0">
            <a:noFill/>
          </a:ln>
        </p:spPr>
        <p:txBody>
          <a:bodyPr anchor="ctr">
            <a:noAutofit/>
          </a:bodyPr>
          <a:p>
            <a:pPr indent="0">
              <a:lnSpc>
                <a:spcPct val="90000"/>
              </a:lnSpc>
              <a:buNone/>
            </a:pPr>
            <a:r>
              <a:rPr b="0" lang="en-US" sz="4400" spc="-1" strike="noStrike">
                <a:solidFill>
                  <a:srgbClr val="000000"/>
                </a:solidFill>
                <a:latin typeface="Calibri Light"/>
              </a:rPr>
              <a:t>Option 1: Fully Associative</a:t>
            </a:r>
            <a:endParaRPr b="0" lang="en-US" sz="4400" spc="-1" strike="noStrike">
              <a:solidFill>
                <a:srgbClr val="000000"/>
              </a:solidFill>
              <a:latin typeface="Calibri"/>
            </a:endParaRPr>
          </a:p>
        </p:txBody>
      </p:sp>
      <p:sp>
        <p:nvSpPr>
          <p:cNvPr id="137" name="PlaceHolder 2"/>
          <p:cNvSpPr>
            <a:spLocks noGrp="1"/>
          </p:cNvSpPr>
          <p:nvPr>
            <p:ph/>
          </p:nvPr>
        </p:nvSpPr>
        <p:spPr>
          <a:xfrm>
            <a:off x="838080" y="1825560"/>
            <a:ext cx="10515240" cy="4350960"/>
          </a:xfrm>
          <a:prstGeom prst="rect">
            <a:avLst/>
          </a:prstGeom>
          <a:noFill/>
          <a:ln w="0">
            <a:noFill/>
          </a:ln>
        </p:spPr>
        <p:txBody>
          <a:bodyPr anchor="t">
            <a:noAutofit/>
          </a:bodyPr>
          <a:p>
            <a:pPr indent="0">
              <a:lnSpc>
                <a:spcPct val="90000"/>
              </a:lnSpc>
              <a:spcBef>
                <a:spcPts val="1001"/>
              </a:spcBef>
              <a:buNone/>
              <a:tabLst>
                <a:tab algn="l" pos="0"/>
              </a:tabLst>
            </a:pPr>
            <a:r>
              <a:rPr b="0" lang="en-US" sz="2800" spc="-1" strike="noStrike">
                <a:solidFill>
                  <a:srgbClr val="000000"/>
                </a:solidFill>
                <a:latin typeface="Calibri"/>
              </a:rPr>
              <a:t>Any block of memory can be stored anywhere. The cache stores the base of the address and the data. </a:t>
            </a: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For example – on a 32 bit machine, let’s assume that a block of memory is considered 1k for a certain cache. 1k = 2</a:t>
            </a:r>
            <a:r>
              <a:rPr b="0" lang="en-US" sz="2800" spc="-1" strike="noStrike" baseline="30000">
                <a:solidFill>
                  <a:srgbClr val="000000"/>
                </a:solidFill>
                <a:latin typeface="Calibri"/>
              </a:rPr>
              <a:t>10</a:t>
            </a:r>
            <a:r>
              <a:rPr b="0" lang="en-US" sz="2800" spc="-1" strike="noStrike">
                <a:solidFill>
                  <a:srgbClr val="000000"/>
                </a:solidFill>
                <a:latin typeface="Calibri"/>
              </a:rPr>
              <a:t>. So there is a “tag” of 22 bits indicating which 1k block of the memory is stored in this cache. This is known as the block address.</a:t>
            </a: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How do we perform a memory access? We have to compare the 22 bits of the address to each of the tags in the cache. That is a LOT of gates AND time for signal propagation. That takes a LONG time.</a:t>
            </a: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PlaceHolder 1"/>
          <p:cNvSpPr>
            <a:spLocks noGrp="1"/>
          </p:cNvSpPr>
          <p:nvPr>
            <p:ph type="title"/>
          </p:nvPr>
        </p:nvSpPr>
        <p:spPr>
          <a:xfrm>
            <a:off x="838080" y="365040"/>
            <a:ext cx="10515240" cy="1325160"/>
          </a:xfrm>
          <a:prstGeom prst="rect">
            <a:avLst/>
          </a:prstGeom>
          <a:noFill/>
          <a:ln w="0">
            <a:noFill/>
          </a:ln>
        </p:spPr>
        <p:txBody>
          <a:bodyPr anchor="ctr">
            <a:noAutofit/>
          </a:bodyPr>
          <a:p>
            <a:pPr indent="0">
              <a:lnSpc>
                <a:spcPct val="90000"/>
              </a:lnSpc>
              <a:buNone/>
            </a:pPr>
            <a:r>
              <a:rPr b="0" lang="en-US" sz="4400" spc="-1" strike="noStrike">
                <a:solidFill>
                  <a:srgbClr val="000000"/>
                </a:solidFill>
                <a:latin typeface="Calibri Light"/>
              </a:rPr>
              <a:t>Option 2: Direct Mapped</a:t>
            </a:r>
            <a:endParaRPr b="0" lang="en-US" sz="4400" spc="-1" strike="noStrike">
              <a:solidFill>
                <a:srgbClr val="000000"/>
              </a:solidFill>
              <a:latin typeface="Calibri"/>
            </a:endParaRPr>
          </a:p>
        </p:txBody>
      </p:sp>
      <p:sp>
        <p:nvSpPr>
          <p:cNvPr id="139" name="PlaceHolder 2"/>
          <p:cNvSpPr>
            <a:spLocks noGrp="1"/>
          </p:cNvSpPr>
          <p:nvPr>
            <p:ph/>
          </p:nvPr>
        </p:nvSpPr>
        <p:spPr>
          <a:xfrm>
            <a:off x="838080" y="1825560"/>
            <a:ext cx="10515240" cy="4350960"/>
          </a:xfrm>
          <a:prstGeom prst="rect">
            <a:avLst/>
          </a:prstGeom>
          <a:noFill/>
          <a:ln w="0">
            <a:noFill/>
          </a:ln>
        </p:spPr>
        <p:txBody>
          <a:bodyPr anchor="t">
            <a:noAutofit/>
          </a:bodyPr>
          <a:p>
            <a:pPr indent="0">
              <a:lnSpc>
                <a:spcPct val="90000"/>
              </a:lnSpc>
              <a:spcBef>
                <a:spcPts val="1001"/>
              </a:spcBef>
              <a:buNone/>
              <a:tabLst>
                <a:tab algn="l" pos="0"/>
              </a:tabLst>
            </a:pPr>
            <a:r>
              <a:rPr b="0" lang="en-US" sz="2800" spc="-1" strike="noStrike">
                <a:solidFill>
                  <a:srgbClr val="000000"/>
                </a:solidFill>
                <a:latin typeface="Calibri"/>
              </a:rPr>
              <a:t>If searching every slot is slow, let’s not do that – let’s do the opposite:</a:t>
            </a: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Consider the block address from the previous example.</a:t>
            </a: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What if we took the block address MOD the number of blocks our cache will hold and that was the slot that we used? That would be super fast!</a:t>
            </a: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What’s the problem?</a:t>
            </a: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Hint – think back to Algorithms and Hash Tables</a:t>
            </a:r>
            <a:endParaRPr b="0" lang="en-US" sz="28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PlaceHolder 1"/>
          <p:cNvSpPr>
            <a:spLocks noGrp="1"/>
          </p:cNvSpPr>
          <p:nvPr>
            <p:ph type="title"/>
          </p:nvPr>
        </p:nvSpPr>
        <p:spPr>
          <a:xfrm>
            <a:off x="838080" y="365040"/>
            <a:ext cx="10515240" cy="1325160"/>
          </a:xfrm>
          <a:prstGeom prst="rect">
            <a:avLst/>
          </a:prstGeom>
          <a:noFill/>
          <a:ln w="0">
            <a:noFill/>
          </a:ln>
        </p:spPr>
        <p:txBody>
          <a:bodyPr anchor="ctr">
            <a:noAutofit/>
          </a:bodyPr>
          <a:p>
            <a:pPr indent="0">
              <a:lnSpc>
                <a:spcPct val="90000"/>
              </a:lnSpc>
              <a:buNone/>
            </a:pPr>
            <a:r>
              <a:rPr b="0" lang="en-US" sz="4400" spc="-1" strike="noStrike">
                <a:solidFill>
                  <a:srgbClr val="000000"/>
                </a:solidFill>
                <a:latin typeface="Calibri Light"/>
              </a:rPr>
              <a:t>Option 3: Set Associative</a:t>
            </a:r>
            <a:endParaRPr b="0" lang="en-US" sz="4400" spc="-1" strike="noStrike">
              <a:solidFill>
                <a:srgbClr val="000000"/>
              </a:solidFill>
              <a:latin typeface="Calibri"/>
            </a:endParaRPr>
          </a:p>
        </p:txBody>
      </p:sp>
      <p:sp>
        <p:nvSpPr>
          <p:cNvPr id="141" name="PlaceHolder 2"/>
          <p:cNvSpPr>
            <a:spLocks noGrp="1"/>
          </p:cNvSpPr>
          <p:nvPr>
            <p:ph/>
          </p:nvPr>
        </p:nvSpPr>
        <p:spPr>
          <a:xfrm>
            <a:off x="838080" y="1825560"/>
            <a:ext cx="10515240" cy="4350960"/>
          </a:xfrm>
          <a:prstGeom prst="rect">
            <a:avLst/>
          </a:prstGeom>
          <a:noFill/>
          <a:ln w="0">
            <a:noFill/>
          </a:ln>
        </p:spPr>
        <p:txBody>
          <a:bodyPr anchor="t">
            <a:noAutofit/>
          </a:bodyPr>
          <a:p>
            <a:pPr indent="0">
              <a:lnSpc>
                <a:spcPct val="90000"/>
              </a:lnSpc>
              <a:spcBef>
                <a:spcPts val="1001"/>
              </a:spcBef>
              <a:buNone/>
              <a:tabLst>
                <a:tab algn="l" pos="0"/>
              </a:tabLst>
            </a:pPr>
            <a:r>
              <a:rPr b="0" lang="en-US" sz="2800" spc="-1" strike="noStrike">
                <a:solidFill>
                  <a:srgbClr val="000000"/>
                </a:solidFill>
                <a:latin typeface="Calibri"/>
              </a:rPr>
              <a:t>This is a hybrid approach:</a:t>
            </a: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Split the cache into S sets that hold N blocks. </a:t>
            </a: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Find the set by: Block Address MOD S (much like direct mapped)</a:t>
            </a: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Then look for our particular block amongst the N blocks (like fully associative)</a:t>
            </a: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PlaceHolder 1"/>
          <p:cNvSpPr>
            <a:spLocks noGrp="1"/>
          </p:cNvSpPr>
          <p:nvPr>
            <p:ph type="title"/>
          </p:nvPr>
        </p:nvSpPr>
        <p:spPr>
          <a:xfrm>
            <a:off x="838080" y="365040"/>
            <a:ext cx="10515240" cy="1325160"/>
          </a:xfrm>
          <a:prstGeom prst="rect">
            <a:avLst/>
          </a:prstGeom>
          <a:noFill/>
          <a:ln w="0">
            <a:noFill/>
          </a:ln>
        </p:spPr>
        <p:txBody>
          <a:bodyPr anchor="ctr">
            <a:noAutofit/>
          </a:bodyPr>
          <a:p>
            <a:pPr indent="0">
              <a:lnSpc>
                <a:spcPct val="90000"/>
              </a:lnSpc>
              <a:buNone/>
            </a:pPr>
            <a:r>
              <a:rPr b="0" lang="en-US" sz="4400" spc="-1" strike="noStrike">
                <a:solidFill>
                  <a:srgbClr val="000000"/>
                </a:solidFill>
                <a:latin typeface="Calibri Light"/>
              </a:rPr>
              <a:t>Let’s look at our Ryzen 2700X example</a:t>
            </a:r>
            <a:endParaRPr b="0" lang="en-US" sz="4400" spc="-1" strike="noStrike">
              <a:solidFill>
                <a:srgbClr val="000000"/>
              </a:solidFill>
              <a:latin typeface="Calibri"/>
            </a:endParaRPr>
          </a:p>
        </p:txBody>
      </p:sp>
      <p:graphicFrame>
        <p:nvGraphicFramePr>
          <p:cNvPr id="143" name="Table 3"/>
          <p:cNvGraphicFramePr/>
          <p:nvPr/>
        </p:nvGraphicFramePr>
        <p:xfrm>
          <a:off x="838080" y="1825560"/>
          <a:ext cx="8804160" cy="2734560"/>
        </p:xfrm>
        <a:graphic>
          <a:graphicData uri="http://schemas.openxmlformats.org/drawingml/2006/table">
            <a:tbl>
              <a:tblPr/>
              <a:tblGrid>
                <a:gridCol w="2296080"/>
                <a:gridCol w="1395720"/>
                <a:gridCol w="5112000"/>
              </a:tblGrid>
              <a:tr h="482040">
                <a:tc>
                  <a:txBody>
                    <a:bodyPr lIns="68400" rIns="68400" tIns="0" bIns="0" anchor="t">
                      <a:noAutofit/>
                    </a:bodyPr>
                    <a:p>
                      <a:pPr>
                        <a:lnSpc>
                          <a:spcPct val="107000"/>
                        </a:lnSpc>
                      </a:pPr>
                      <a:r>
                        <a:rPr b="0" lang="en-US" sz="2400" spc="-1" strike="noStrike">
                          <a:solidFill>
                            <a:srgbClr val="f2f2f2"/>
                          </a:solidFill>
                          <a:latin typeface="Calibri"/>
                        </a:rPr>
                        <a:t>Memory Type</a:t>
                      </a:r>
                      <a:endParaRPr b="0" lang="en-US" sz="2400" spc="-1" strike="noStrike">
                        <a:solidFill>
                          <a:srgbClr val="000000"/>
                        </a:solidFill>
                        <a:latin typeface="Arial"/>
                      </a:endParaRPr>
                    </a:p>
                  </a:txBody>
                  <a:tcPr anchor="t" marL="68400" marR="68400">
                    <a:lnL w="12240">
                      <a:solidFill>
                        <a:srgbClr val="000000"/>
                      </a:solidFill>
                    </a:lnL>
                    <a:lnR w="12240">
                      <a:solidFill>
                        <a:srgbClr val="000000"/>
                      </a:solidFill>
                    </a:lnR>
                    <a:lnT w="12240">
                      <a:solidFill>
                        <a:srgbClr val="000000"/>
                      </a:solidFill>
                    </a:lnT>
                    <a:lnB w="12240">
                      <a:solidFill>
                        <a:srgbClr val="000000"/>
                      </a:solidFill>
                    </a:lnB>
                    <a:solidFill>
                      <a:schemeClr val="accent1">
                        <a:lumMod val="75000"/>
                      </a:schemeClr>
                    </a:solidFill>
                  </a:tcPr>
                </a:tc>
                <a:tc>
                  <a:txBody>
                    <a:bodyPr lIns="68400" rIns="68400" tIns="0" bIns="0" anchor="t">
                      <a:noAutofit/>
                    </a:bodyPr>
                    <a:p>
                      <a:pPr>
                        <a:lnSpc>
                          <a:spcPct val="107000"/>
                        </a:lnSpc>
                      </a:pPr>
                      <a:r>
                        <a:rPr b="0" lang="en-US" sz="2400" spc="-1" strike="noStrike">
                          <a:solidFill>
                            <a:srgbClr val="f2f2f2"/>
                          </a:solidFill>
                          <a:latin typeface="Calibri"/>
                        </a:rPr>
                        <a:t>Size</a:t>
                      </a:r>
                      <a:endParaRPr b="0" lang="en-US" sz="2400" spc="-1" strike="noStrike">
                        <a:solidFill>
                          <a:srgbClr val="000000"/>
                        </a:solidFill>
                        <a:latin typeface="Arial"/>
                      </a:endParaRPr>
                    </a:p>
                  </a:txBody>
                  <a:tcPr anchor="t" marL="68400" marR="68400">
                    <a:lnL w="12240">
                      <a:solidFill>
                        <a:srgbClr val="000000"/>
                      </a:solidFill>
                    </a:lnL>
                    <a:lnR w="12240">
                      <a:solidFill>
                        <a:srgbClr val="000000"/>
                      </a:solidFill>
                    </a:lnR>
                    <a:lnT w="12240">
                      <a:solidFill>
                        <a:srgbClr val="000000"/>
                      </a:solidFill>
                    </a:lnT>
                    <a:lnB w="12240">
                      <a:solidFill>
                        <a:srgbClr val="000000"/>
                      </a:solidFill>
                    </a:lnB>
                    <a:solidFill>
                      <a:schemeClr val="accent1">
                        <a:lumMod val="75000"/>
                      </a:schemeClr>
                    </a:solidFill>
                  </a:tcPr>
                </a:tc>
                <a:tc>
                  <a:txBody>
                    <a:bodyPr lIns="68400" rIns="68400" tIns="0" bIns="0" anchor="t">
                      <a:noAutofit/>
                    </a:bodyPr>
                    <a:p>
                      <a:pPr>
                        <a:lnSpc>
                          <a:spcPct val="107000"/>
                        </a:lnSpc>
                      </a:pPr>
                      <a:r>
                        <a:rPr b="0" lang="en-US" sz="2400" spc="-1" strike="noStrike">
                          <a:solidFill>
                            <a:srgbClr val="f2f2f2"/>
                          </a:solidFill>
                          <a:latin typeface="Calibri"/>
                        </a:rPr>
                        <a:t>Type</a:t>
                      </a:r>
                      <a:endParaRPr b="0" lang="en-US" sz="2400" spc="-1" strike="noStrike">
                        <a:solidFill>
                          <a:srgbClr val="000000"/>
                        </a:solidFill>
                        <a:latin typeface="Arial"/>
                      </a:endParaRPr>
                    </a:p>
                  </a:txBody>
                  <a:tcPr anchor="t" marL="68400" marR="68400">
                    <a:lnL w="12240">
                      <a:solidFill>
                        <a:srgbClr val="000000"/>
                      </a:solidFill>
                    </a:lnL>
                    <a:lnR w="12240">
                      <a:solidFill>
                        <a:srgbClr val="000000"/>
                      </a:solidFill>
                    </a:lnR>
                    <a:lnT w="12240">
                      <a:solidFill>
                        <a:srgbClr val="000000"/>
                      </a:solidFill>
                    </a:lnT>
                    <a:lnB w="12240">
                      <a:solidFill>
                        <a:srgbClr val="000000"/>
                      </a:solidFill>
                    </a:lnB>
                    <a:solidFill>
                      <a:schemeClr val="accent1">
                        <a:lumMod val="75000"/>
                      </a:schemeClr>
                    </a:solidFill>
                  </a:tcPr>
                </a:tc>
              </a:tr>
              <a:tr h="482040">
                <a:tc>
                  <a:txBody>
                    <a:bodyPr lIns="68400" rIns="68400" tIns="0" bIns="0" anchor="t">
                      <a:noAutofit/>
                    </a:bodyPr>
                    <a:p>
                      <a:pPr>
                        <a:lnSpc>
                          <a:spcPct val="107000"/>
                        </a:lnSpc>
                      </a:pPr>
                      <a:r>
                        <a:rPr b="0" lang="en-US" sz="2400" spc="-1" strike="noStrike">
                          <a:solidFill>
                            <a:schemeClr val="dk1"/>
                          </a:solidFill>
                          <a:latin typeface="Calibri"/>
                        </a:rPr>
                        <a:t>Registers</a:t>
                      </a:r>
                      <a:endParaRPr b="0" lang="en-US" sz="2400" spc="-1" strike="noStrike">
                        <a:solidFill>
                          <a:srgbClr val="000000"/>
                        </a:solidFill>
                        <a:latin typeface="Arial"/>
                      </a:endParaRPr>
                    </a:p>
                  </a:txBody>
                  <a:tcPr anchor="t" marL="68400" marR="68400">
                    <a:lnL w="12240">
                      <a:solidFill>
                        <a:srgbClr val="000000"/>
                      </a:solidFill>
                    </a:lnL>
                    <a:lnR w="12240">
                      <a:solidFill>
                        <a:srgbClr val="000000"/>
                      </a:solidFill>
                    </a:lnR>
                    <a:lnT w="12240">
                      <a:solidFill>
                        <a:srgbClr val="000000"/>
                      </a:solidFill>
                    </a:lnT>
                    <a:lnB w="12240">
                      <a:solidFill>
                        <a:srgbClr val="000000"/>
                      </a:solidFill>
                    </a:lnB>
                    <a:solidFill>
                      <a:srgbClr val="e7e7e7"/>
                    </a:solidFill>
                  </a:tcPr>
                </a:tc>
                <a:tc>
                  <a:txBody>
                    <a:bodyPr lIns="68400" rIns="68400" tIns="0" bIns="0" anchor="t">
                      <a:noAutofit/>
                    </a:bodyPr>
                    <a:p>
                      <a:pPr>
                        <a:lnSpc>
                          <a:spcPct val="107000"/>
                        </a:lnSpc>
                      </a:pPr>
                      <a:r>
                        <a:rPr b="0" lang="en-US" sz="2400" spc="-1" strike="noStrike">
                          <a:solidFill>
                            <a:schemeClr val="dk1"/>
                          </a:solidFill>
                          <a:latin typeface="Calibri"/>
                        </a:rPr>
                        <a:t>1KB</a:t>
                      </a:r>
                      <a:endParaRPr b="0" lang="en-US" sz="2400" spc="-1" strike="noStrike">
                        <a:solidFill>
                          <a:srgbClr val="000000"/>
                        </a:solidFill>
                        <a:latin typeface="Arial"/>
                      </a:endParaRPr>
                    </a:p>
                  </a:txBody>
                  <a:tcPr anchor="t" marL="68400" marR="68400">
                    <a:lnL w="12240">
                      <a:solidFill>
                        <a:srgbClr val="000000"/>
                      </a:solidFill>
                    </a:lnL>
                    <a:lnR w="12240">
                      <a:solidFill>
                        <a:srgbClr val="000000"/>
                      </a:solidFill>
                    </a:lnR>
                    <a:lnT w="12240">
                      <a:solidFill>
                        <a:srgbClr val="000000"/>
                      </a:solidFill>
                    </a:lnT>
                    <a:lnB w="12240">
                      <a:solidFill>
                        <a:srgbClr val="000000"/>
                      </a:solidFill>
                    </a:lnB>
                    <a:solidFill>
                      <a:srgbClr val="e7e7e7"/>
                    </a:solidFill>
                  </a:tcPr>
                </a:tc>
                <a:tc>
                  <a:txBody>
                    <a:bodyPr lIns="68400" rIns="68400" tIns="0" bIns="0" anchor="t">
                      <a:noAutofit/>
                    </a:bodyPr>
                    <a:p>
                      <a:pPr>
                        <a:lnSpc>
                          <a:spcPct val="107000"/>
                        </a:lnSpc>
                      </a:pPr>
                      <a:r>
                        <a:rPr b="0" lang="en-US" sz="2400" spc="-1" strike="noStrike">
                          <a:solidFill>
                            <a:schemeClr val="dk1"/>
                          </a:solidFill>
                          <a:latin typeface="Calibri"/>
                        </a:rPr>
                        <a:t>(8 X 16 register X 8 byte registers)</a:t>
                      </a:r>
                      <a:endParaRPr b="0" lang="en-US" sz="2400" spc="-1" strike="noStrike">
                        <a:solidFill>
                          <a:srgbClr val="000000"/>
                        </a:solidFill>
                        <a:latin typeface="Arial"/>
                      </a:endParaRPr>
                    </a:p>
                  </a:txBody>
                  <a:tcPr anchor="t" marL="68400" marR="68400">
                    <a:lnL w="12240">
                      <a:solidFill>
                        <a:srgbClr val="000000"/>
                      </a:solidFill>
                    </a:lnL>
                    <a:lnR w="12240">
                      <a:solidFill>
                        <a:srgbClr val="000000"/>
                      </a:solidFill>
                    </a:lnR>
                    <a:lnT w="12240">
                      <a:solidFill>
                        <a:srgbClr val="000000"/>
                      </a:solidFill>
                    </a:lnT>
                    <a:lnB w="12240">
                      <a:solidFill>
                        <a:srgbClr val="000000"/>
                      </a:solidFill>
                    </a:lnB>
                    <a:solidFill>
                      <a:srgbClr val="e7e7e7"/>
                    </a:solidFill>
                  </a:tcPr>
                </a:tc>
              </a:tr>
              <a:tr h="448560">
                <a:tc>
                  <a:txBody>
                    <a:bodyPr lIns="68400" rIns="68400" tIns="0" bIns="0" anchor="t">
                      <a:noAutofit/>
                    </a:bodyPr>
                    <a:p>
                      <a:pPr>
                        <a:lnSpc>
                          <a:spcPct val="107000"/>
                        </a:lnSpc>
                      </a:pPr>
                      <a:r>
                        <a:rPr b="0" lang="en-US" sz="2400" spc="-1" strike="noStrike">
                          <a:solidFill>
                            <a:schemeClr val="dk1"/>
                          </a:solidFill>
                          <a:latin typeface="Calibri"/>
                        </a:rPr>
                        <a:t>L1 Cache (I)</a:t>
                      </a:r>
                      <a:endParaRPr b="0" lang="en-US" sz="2400" spc="-1" strike="noStrike">
                        <a:solidFill>
                          <a:srgbClr val="000000"/>
                        </a:solidFill>
                        <a:latin typeface="Arial"/>
                      </a:endParaRPr>
                    </a:p>
                  </a:txBody>
                  <a:tcPr anchor="t" marL="68400" marR="68400">
                    <a:lnL w="12240">
                      <a:solidFill>
                        <a:srgbClr val="000000"/>
                      </a:solidFill>
                    </a:lnL>
                    <a:lnR w="12240">
                      <a:solidFill>
                        <a:srgbClr val="000000"/>
                      </a:solidFill>
                    </a:lnR>
                    <a:lnT w="12240">
                      <a:solidFill>
                        <a:srgbClr val="000000"/>
                      </a:solidFill>
                    </a:lnT>
                    <a:lnB w="12240">
                      <a:solidFill>
                        <a:srgbClr val="000000"/>
                      </a:solidFill>
                    </a:lnB>
                    <a:solidFill>
                      <a:srgbClr val="cccccc"/>
                    </a:solidFill>
                  </a:tcPr>
                </a:tc>
                <a:tc>
                  <a:txBody>
                    <a:bodyPr lIns="68400" rIns="68400" tIns="0" bIns="0" anchor="t">
                      <a:noAutofit/>
                    </a:bodyPr>
                    <a:p>
                      <a:pPr>
                        <a:lnSpc>
                          <a:spcPct val="107000"/>
                        </a:lnSpc>
                      </a:pPr>
                      <a:r>
                        <a:rPr b="0" lang="en-US" sz="2400" spc="-1" strike="noStrike">
                          <a:solidFill>
                            <a:schemeClr val="dk1"/>
                          </a:solidFill>
                          <a:latin typeface="Calibri"/>
                        </a:rPr>
                        <a:t>512KB</a:t>
                      </a:r>
                      <a:endParaRPr b="0" lang="en-US" sz="2400" spc="-1" strike="noStrike">
                        <a:solidFill>
                          <a:srgbClr val="000000"/>
                        </a:solidFill>
                        <a:latin typeface="Arial"/>
                      </a:endParaRPr>
                    </a:p>
                  </a:txBody>
                  <a:tcPr anchor="t" marL="68400" marR="68400">
                    <a:lnL w="12240">
                      <a:solidFill>
                        <a:srgbClr val="000000"/>
                      </a:solidFill>
                    </a:lnL>
                    <a:lnR w="12240">
                      <a:solidFill>
                        <a:srgbClr val="000000"/>
                      </a:solidFill>
                    </a:lnR>
                    <a:lnT w="12240">
                      <a:solidFill>
                        <a:srgbClr val="000000"/>
                      </a:solidFill>
                    </a:lnT>
                    <a:lnB w="12240">
                      <a:solidFill>
                        <a:srgbClr val="000000"/>
                      </a:solidFill>
                    </a:lnB>
                    <a:solidFill>
                      <a:srgbClr val="cccccc"/>
                    </a:solidFill>
                  </a:tcPr>
                </a:tc>
                <a:tc>
                  <a:txBody>
                    <a:bodyPr lIns="68400" rIns="68400" tIns="0" bIns="0" anchor="t">
                      <a:noAutofit/>
                    </a:bodyPr>
                    <a:p>
                      <a:pPr>
                        <a:lnSpc>
                          <a:spcPct val="107000"/>
                        </a:lnSpc>
                      </a:pPr>
                      <a:r>
                        <a:rPr b="0" lang="en-US" sz="2400" spc="-1" strike="noStrike">
                          <a:solidFill>
                            <a:schemeClr val="dk1"/>
                          </a:solidFill>
                          <a:latin typeface="Calibri"/>
                        </a:rPr>
                        <a:t>(8 X 64K, 4 way set assoc)</a:t>
                      </a:r>
                      <a:endParaRPr b="0" lang="en-US" sz="2400" spc="-1" strike="noStrike">
                        <a:solidFill>
                          <a:srgbClr val="000000"/>
                        </a:solidFill>
                        <a:latin typeface="Arial"/>
                      </a:endParaRPr>
                    </a:p>
                  </a:txBody>
                  <a:tcPr anchor="t" marL="68400" marR="68400">
                    <a:lnL w="12240">
                      <a:solidFill>
                        <a:srgbClr val="000000"/>
                      </a:solidFill>
                    </a:lnL>
                    <a:lnR w="12240">
                      <a:solidFill>
                        <a:srgbClr val="000000"/>
                      </a:solidFill>
                    </a:lnR>
                    <a:lnT w="12240">
                      <a:solidFill>
                        <a:srgbClr val="000000"/>
                      </a:solidFill>
                    </a:lnT>
                    <a:lnB w="12240">
                      <a:solidFill>
                        <a:srgbClr val="000000"/>
                      </a:solidFill>
                    </a:lnB>
                    <a:solidFill>
                      <a:srgbClr val="cccccc"/>
                    </a:solidFill>
                  </a:tcPr>
                </a:tc>
              </a:tr>
              <a:tr h="482040">
                <a:tc>
                  <a:txBody>
                    <a:bodyPr lIns="68400" rIns="68400" tIns="0" bIns="0" anchor="t">
                      <a:noAutofit/>
                    </a:bodyPr>
                    <a:p>
                      <a:pPr>
                        <a:lnSpc>
                          <a:spcPct val="107000"/>
                        </a:lnSpc>
                      </a:pPr>
                      <a:r>
                        <a:rPr b="0" lang="en-US" sz="2400" spc="-1" strike="noStrike">
                          <a:solidFill>
                            <a:schemeClr val="dk1"/>
                          </a:solidFill>
                          <a:latin typeface="Calibri"/>
                        </a:rPr>
                        <a:t>L1 Cache (D)</a:t>
                      </a:r>
                      <a:endParaRPr b="0" lang="en-US" sz="2400" spc="-1" strike="noStrike">
                        <a:solidFill>
                          <a:srgbClr val="000000"/>
                        </a:solidFill>
                        <a:latin typeface="Arial"/>
                      </a:endParaRPr>
                    </a:p>
                  </a:txBody>
                  <a:tcPr anchor="t" marL="68400" marR="68400">
                    <a:lnL w="12240">
                      <a:solidFill>
                        <a:srgbClr val="000000"/>
                      </a:solidFill>
                    </a:lnL>
                    <a:lnR w="12240">
                      <a:solidFill>
                        <a:srgbClr val="000000"/>
                      </a:solidFill>
                    </a:lnR>
                    <a:lnT w="12240">
                      <a:solidFill>
                        <a:srgbClr val="000000"/>
                      </a:solidFill>
                    </a:lnT>
                    <a:lnB w="12240">
                      <a:solidFill>
                        <a:srgbClr val="000000"/>
                      </a:solidFill>
                    </a:lnB>
                    <a:solidFill>
                      <a:srgbClr val="e7e7e7"/>
                    </a:solidFill>
                  </a:tcPr>
                </a:tc>
                <a:tc>
                  <a:txBody>
                    <a:bodyPr lIns="68400" rIns="68400" tIns="0" bIns="0" anchor="t">
                      <a:noAutofit/>
                    </a:bodyPr>
                    <a:p>
                      <a:pPr>
                        <a:lnSpc>
                          <a:spcPct val="107000"/>
                        </a:lnSpc>
                      </a:pPr>
                      <a:r>
                        <a:rPr b="0" lang="en-US" sz="2400" spc="-1" strike="noStrike">
                          <a:solidFill>
                            <a:schemeClr val="dk1"/>
                          </a:solidFill>
                          <a:latin typeface="Calibri"/>
                        </a:rPr>
                        <a:t>256KB</a:t>
                      </a:r>
                      <a:endParaRPr b="0" lang="en-US" sz="2400" spc="-1" strike="noStrike">
                        <a:solidFill>
                          <a:srgbClr val="000000"/>
                        </a:solidFill>
                        <a:latin typeface="Arial"/>
                      </a:endParaRPr>
                    </a:p>
                  </a:txBody>
                  <a:tcPr anchor="t" marL="68400" marR="68400">
                    <a:lnL w="12240">
                      <a:solidFill>
                        <a:srgbClr val="000000"/>
                      </a:solidFill>
                    </a:lnL>
                    <a:lnR w="12240">
                      <a:solidFill>
                        <a:srgbClr val="000000"/>
                      </a:solidFill>
                    </a:lnR>
                    <a:lnT w="12240">
                      <a:solidFill>
                        <a:srgbClr val="000000"/>
                      </a:solidFill>
                    </a:lnT>
                    <a:lnB w="12240">
                      <a:solidFill>
                        <a:srgbClr val="000000"/>
                      </a:solidFill>
                    </a:lnB>
                    <a:solidFill>
                      <a:srgbClr val="e7e7e7"/>
                    </a:solidFill>
                  </a:tcPr>
                </a:tc>
                <a:tc>
                  <a:txBody>
                    <a:bodyPr lIns="68400" rIns="68400" tIns="0" bIns="0" anchor="t">
                      <a:noAutofit/>
                    </a:bodyPr>
                    <a:p>
                      <a:pPr>
                        <a:lnSpc>
                          <a:spcPct val="107000"/>
                        </a:lnSpc>
                      </a:pPr>
                      <a:r>
                        <a:rPr b="0" lang="en-US" sz="2400" spc="-1" strike="noStrike">
                          <a:solidFill>
                            <a:schemeClr val="dk1"/>
                          </a:solidFill>
                          <a:latin typeface="Calibri"/>
                        </a:rPr>
                        <a:t>(8 X 32K, 8 way set assoc, write back)</a:t>
                      </a:r>
                      <a:endParaRPr b="0" lang="en-US" sz="2400" spc="-1" strike="noStrike">
                        <a:solidFill>
                          <a:srgbClr val="000000"/>
                        </a:solidFill>
                        <a:latin typeface="Arial"/>
                      </a:endParaRPr>
                    </a:p>
                  </a:txBody>
                  <a:tcPr anchor="t" marL="68400" marR="68400">
                    <a:lnL w="12240">
                      <a:solidFill>
                        <a:srgbClr val="000000"/>
                      </a:solidFill>
                    </a:lnL>
                    <a:lnR w="12240">
                      <a:solidFill>
                        <a:srgbClr val="000000"/>
                      </a:solidFill>
                    </a:lnR>
                    <a:lnT w="12240">
                      <a:solidFill>
                        <a:srgbClr val="000000"/>
                      </a:solidFill>
                    </a:lnT>
                    <a:lnB w="12240">
                      <a:solidFill>
                        <a:srgbClr val="000000"/>
                      </a:solidFill>
                    </a:lnB>
                    <a:solidFill>
                      <a:srgbClr val="e7e7e7"/>
                    </a:solidFill>
                  </a:tcPr>
                </a:tc>
              </a:tr>
              <a:tr h="398880">
                <a:tc>
                  <a:txBody>
                    <a:bodyPr lIns="68400" rIns="68400" tIns="0" bIns="0" anchor="t">
                      <a:noAutofit/>
                    </a:bodyPr>
                    <a:p>
                      <a:pPr>
                        <a:lnSpc>
                          <a:spcPct val="107000"/>
                        </a:lnSpc>
                      </a:pPr>
                      <a:r>
                        <a:rPr b="0" lang="en-US" sz="2400" spc="-1" strike="noStrike">
                          <a:solidFill>
                            <a:schemeClr val="dk1"/>
                          </a:solidFill>
                          <a:latin typeface="Calibri"/>
                        </a:rPr>
                        <a:t>L2 Cache </a:t>
                      </a:r>
                      <a:endParaRPr b="0" lang="en-US" sz="2400" spc="-1" strike="noStrike">
                        <a:solidFill>
                          <a:srgbClr val="000000"/>
                        </a:solidFill>
                        <a:latin typeface="Arial"/>
                      </a:endParaRPr>
                    </a:p>
                  </a:txBody>
                  <a:tcPr anchor="t" marL="68400" marR="68400">
                    <a:lnL w="12240">
                      <a:solidFill>
                        <a:srgbClr val="000000"/>
                      </a:solidFill>
                    </a:lnL>
                    <a:lnR w="12240">
                      <a:solidFill>
                        <a:srgbClr val="000000"/>
                      </a:solidFill>
                    </a:lnR>
                    <a:lnT w="12240">
                      <a:solidFill>
                        <a:srgbClr val="000000"/>
                      </a:solidFill>
                    </a:lnT>
                    <a:lnB w="12240">
                      <a:solidFill>
                        <a:srgbClr val="000000"/>
                      </a:solidFill>
                    </a:lnB>
                    <a:solidFill>
                      <a:srgbClr val="cccccc"/>
                    </a:solidFill>
                  </a:tcPr>
                </a:tc>
                <a:tc>
                  <a:txBody>
                    <a:bodyPr lIns="68400" rIns="68400" tIns="0" bIns="0" anchor="t">
                      <a:noAutofit/>
                    </a:bodyPr>
                    <a:p>
                      <a:pPr>
                        <a:lnSpc>
                          <a:spcPct val="107000"/>
                        </a:lnSpc>
                      </a:pPr>
                      <a:r>
                        <a:rPr b="0" lang="en-US" sz="2400" spc="-1" strike="noStrike">
                          <a:solidFill>
                            <a:schemeClr val="dk1"/>
                          </a:solidFill>
                          <a:latin typeface="Calibri"/>
                        </a:rPr>
                        <a:t>4MB</a:t>
                      </a:r>
                      <a:endParaRPr b="0" lang="en-US" sz="2400" spc="-1" strike="noStrike">
                        <a:solidFill>
                          <a:srgbClr val="000000"/>
                        </a:solidFill>
                        <a:latin typeface="Arial"/>
                      </a:endParaRPr>
                    </a:p>
                  </a:txBody>
                  <a:tcPr anchor="t" marL="68400" marR="68400">
                    <a:lnL w="12240">
                      <a:solidFill>
                        <a:srgbClr val="000000"/>
                      </a:solidFill>
                    </a:lnL>
                    <a:lnR w="12240">
                      <a:solidFill>
                        <a:srgbClr val="000000"/>
                      </a:solidFill>
                    </a:lnR>
                    <a:lnT w="12240">
                      <a:solidFill>
                        <a:srgbClr val="000000"/>
                      </a:solidFill>
                    </a:lnT>
                    <a:lnB w="12240">
                      <a:solidFill>
                        <a:srgbClr val="000000"/>
                      </a:solidFill>
                    </a:lnB>
                    <a:solidFill>
                      <a:srgbClr val="cccccc"/>
                    </a:solidFill>
                  </a:tcPr>
                </a:tc>
                <a:tc>
                  <a:txBody>
                    <a:bodyPr lIns="68400" rIns="68400" tIns="0" bIns="0" anchor="t">
                      <a:noAutofit/>
                    </a:bodyPr>
                    <a:p>
                      <a:pPr>
                        <a:lnSpc>
                          <a:spcPct val="107000"/>
                        </a:lnSpc>
                      </a:pPr>
                      <a:r>
                        <a:rPr b="0" lang="en-US" sz="2400" spc="-1" strike="noStrike">
                          <a:solidFill>
                            <a:schemeClr val="dk1"/>
                          </a:solidFill>
                          <a:latin typeface="Calibri"/>
                        </a:rPr>
                        <a:t>(8 X 512KB, 8 way set assoc, write back)</a:t>
                      </a:r>
                      <a:endParaRPr b="0" lang="en-US" sz="2400" spc="-1" strike="noStrike">
                        <a:solidFill>
                          <a:srgbClr val="000000"/>
                        </a:solidFill>
                        <a:latin typeface="Arial"/>
                      </a:endParaRPr>
                    </a:p>
                  </a:txBody>
                  <a:tcPr anchor="t" marL="68400" marR="68400">
                    <a:lnL w="12240">
                      <a:solidFill>
                        <a:srgbClr val="000000"/>
                      </a:solidFill>
                    </a:lnL>
                    <a:lnR w="12240">
                      <a:solidFill>
                        <a:srgbClr val="000000"/>
                      </a:solidFill>
                    </a:lnR>
                    <a:lnT w="12240">
                      <a:solidFill>
                        <a:srgbClr val="000000"/>
                      </a:solidFill>
                    </a:lnT>
                    <a:lnB w="12240">
                      <a:solidFill>
                        <a:srgbClr val="000000"/>
                      </a:solidFill>
                    </a:lnB>
                    <a:solidFill>
                      <a:srgbClr val="cccccc"/>
                    </a:solidFill>
                  </a:tcPr>
                </a:tc>
              </a:tr>
              <a:tr h="440280">
                <a:tc>
                  <a:txBody>
                    <a:bodyPr lIns="68400" rIns="68400" tIns="0" bIns="0" anchor="t">
                      <a:noAutofit/>
                    </a:bodyPr>
                    <a:p>
                      <a:pPr>
                        <a:lnSpc>
                          <a:spcPct val="107000"/>
                        </a:lnSpc>
                      </a:pPr>
                      <a:r>
                        <a:rPr b="0" lang="en-US" sz="2400" spc="-1" strike="noStrike">
                          <a:solidFill>
                            <a:schemeClr val="dk1"/>
                          </a:solidFill>
                          <a:latin typeface="Calibri"/>
                        </a:rPr>
                        <a:t>L3 Cache </a:t>
                      </a:r>
                      <a:endParaRPr b="0" lang="en-US" sz="2400" spc="-1" strike="noStrike">
                        <a:solidFill>
                          <a:srgbClr val="000000"/>
                        </a:solidFill>
                        <a:latin typeface="Arial"/>
                      </a:endParaRPr>
                    </a:p>
                  </a:txBody>
                  <a:tcPr anchor="t" marL="68400" marR="68400">
                    <a:lnL w="12240">
                      <a:solidFill>
                        <a:srgbClr val="000000"/>
                      </a:solidFill>
                    </a:lnL>
                    <a:lnR w="12240">
                      <a:solidFill>
                        <a:srgbClr val="000000"/>
                      </a:solidFill>
                    </a:lnR>
                    <a:lnT w="12240">
                      <a:solidFill>
                        <a:srgbClr val="000000"/>
                      </a:solidFill>
                    </a:lnT>
                    <a:lnB w="12240">
                      <a:solidFill>
                        <a:srgbClr val="000000"/>
                      </a:solidFill>
                    </a:lnB>
                    <a:solidFill>
                      <a:srgbClr val="e7e7e7"/>
                    </a:solidFill>
                  </a:tcPr>
                </a:tc>
                <a:tc>
                  <a:txBody>
                    <a:bodyPr lIns="68400" rIns="68400" tIns="0" bIns="0" anchor="t">
                      <a:noAutofit/>
                    </a:bodyPr>
                    <a:p>
                      <a:pPr>
                        <a:lnSpc>
                          <a:spcPct val="107000"/>
                        </a:lnSpc>
                      </a:pPr>
                      <a:r>
                        <a:rPr b="0" lang="en-US" sz="2400" spc="-1" strike="noStrike">
                          <a:solidFill>
                            <a:schemeClr val="dk1"/>
                          </a:solidFill>
                          <a:latin typeface="Calibri"/>
                        </a:rPr>
                        <a:t>16MB</a:t>
                      </a:r>
                      <a:endParaRPr b="0" lang="en-US" sz="2400" spc="-1" strike="noStrike">
                        <a:solidFill>
                          <a:srgbClr val="000000"/>
                        </a:solidFill>
                        <a:latin typeface="Arial"/>
                      </a:endParaRPr>
                    </a:p>
                  </a:txBody>
                  <a:tcPr anchor="t" marL="68400" marR="68400">
                    <a:lnL w="12240">
                      <a:solidFill>
                        <a:srgbClr val="000000"/>
                      </a:solidFill>
                    </a:lnL>
                    <a:lnR w="12240">
                      <a:solidFill>
                        <a:srgbClr val="000000"/>
                      </a:solidFill>
                    </a:lnR>
                    <a:lnT w="12240">
                      <a:solidFill>
                        <a:srgbClr val="000000"/>
                      </a:solidFill>
                    </a:lnT>
                    <a:lnB w="12240">
                      <a:solidFill>
                        <a:srgbClr val="000000"/>
                      </a:solidFill>
                    </a:lnB>
                    <a:solidFill>
                      <a:srgbClr val="e7e7e7"/>
                    </a:solidFill>
                  </a:tcPr>
                </a:tc>
                <a:tc>
                  <a:txBody>
                    <a:bodyPr lIns="68400" rIns="68400" tIns="0" bIns="0" anchor="t">
                      <a:noAutofit/>
                    </a:bodyPr>
                    <a:p>
                      <a:pPr>
                        <a:lnSpc>
                          <a:spcPct val="107000"/>
                        </a:lnSpc>
                      </a:pPr>
                      <a:r>
                        <a:rPr b="0" lang="en-US" sz="2400" spc="-1" strike="noStrike">
                          <a:solidFill>
                            <a:schemeClr val="dk1"/>
                          </a:solidFill>
                          <a:latin typeface="Calibri"/>
                        </a:rPr>
                        <a:t>(2 X 8MB, 16 way set assoc)</a:t>
                      </a:r>
                      <a:endParaRPr b="0" lang="en-US" sz="2400" spc="-1" strike="noStrike">
                        <a:solidFill>
                          <a:srgbClr val="000000"/>
                        </a:solidFill>
                        <a:latin typeface="Arial"/>
                      </a:endParaRPr>
                    </a:p>
                  </a:txBody>
                  <a:tcPr anchor="t" marL="68400" marR="68400">
                    <a:lnL w="12240">
                      <a:solidFill>
                        <a:srgbClr val="000000"/>
                      </a:solidFill>
                    </a:lnL>
                    <a:lnR w="12240">
                      <a:solidFill>
                        <a:srgbClr val="000000"/>
                      </a:solidFill>
                    </a:lnR>
                    <a:lnT w="12240">
                      <a:solidFill>
                        <a:srgbClr val="000000"/>
                      </a:solidFill>
                    </a:lnT>
                    <a:lnB w="12240">
                      <a:solidFill>
                        <a:srgbClr val="000000"/>
                      </a:solidFill>
                    </a:lnB>
                    <a:solidFill>
                      <a:srgbClr val="e7e7e7"/>
                    </a:solidFill>
                  </a:tcPr>
                </a:tc>
              </a:tr>
            </a:tbl>
          </a:graphicData>
        </a:graphic>
      </p:graphicFrame>
      <p:sp>
        <p:nvSpPr>
          <p:cNvPr id="144" name="TextBox 5"/>
          <p:cNvSpPr/>
          <p:nvPr/>
        </p:nvSpPr>
        <p:spPr>
          <a:xfrm>
            <a:off x="3260520" y="4750200"/>
            <a:ext cx="7336440" cy="8211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2400" spc="-1" strike="noStrike">
                <a:solidFill>
                  <a:srgbClr val="000000"/>
                </a:solidFill>
                <a:latin typeface="Calibri"/>
              </a:rPr>
              <a:t>If you know that this processor has 8 cores, divided into 2 </a:t>
            </a:r>
            <a:endParaRPr b="0" lang="en-US" sz="2400" spc="-1" strike="noStrike">
              <a:solidFill>
                <a:srgbClr val="000000"/>
              </a:solidFill>
              <a:latin typeface="Arial"/>
            </a:endParaRPr>
          </a:p>
          <a:p>
            <a:pPr>
              <a:lnSpc>
                <a:spcPct val="100000"/>
              </a:lnSpc>
            </a:pPr>
            <a:r>
              <a:rPr b="0" lang="en-US" sz="2400" spc="-1" strike="noStrike">
                <a:solidFill>
                  <a:srgbClr val="000000"/>
                </a:solidFill>
                <a:latin typeface="Calibri"/>
              </a:rPr>
              <a:t>blocks of 4, that explains a lot about the “Type” column</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 name="PlaceHolder 1"/>
          <p:cNvSpPr>
            <a:spLocks noGrp="1"/>
          </p:cNvSpPr>
          <p:nvPr>
            <p:ph type="title"/>
          </p:nvPr>
        </p:nvSpPr>
        <p:spPr>
          <a:xfrm>
            <a:off x="838080" y="365040"/>
            <a:ext cx="10515240" cy="1325160"/>
          </a:xfrm>
          <a:prstGeom prst="rect">
            <a:avLst/>
          </a:prstGeom>
          <a:noFill/>
          <a:ln w="0">
            <a:noFill/>
          </a:ln>
        </p:spPr>
        <p:txBody>
          <a:bodyPr anchor="ctr">
            <a:noAutofit/>
          </a:bodyPr>
          <a:p>
            <a:pPr indent="0">
              <a:lnSpc>
                <a:spcPct val="90000"/>
              </a:lnSpc>
              <a:buNone/>
            </a:pPr>
            <a:r>
              <a:rPr b="0" lang="en-US" sz="4400" spc="-1" strike="noStrike">
                <a:solidFill>
                  <a:srgbClr val="000000"/>
                </a:solidFill>
                <a:latin typeface="Calibri Light"/>
              </a:rPr>
              <a:t>Set Associativity Example</a:t>
            </a:r>
            <a:endParaRPr b="0" lang="en-US" sz="4400" spc="-1" strike="noStrike">
              <a:solidFill>
                <a:srgbClr val="000000"/>
              </a:solidFill>
              <a:latin typeface="Calibri"/>
            </a:endParaRPr>
          </a:p>
        </p:txBody>
      </p:sp>
      <p:sp>
        <p:nvSpPr>
          <p:cNvPr id="146" name="PlaceHolder 2"/>
          <p:cNvSpPr>
            <a:spLocks noGrp="1"/>
          </p:cNvSpPr>
          <p:nvPr>
            <p:ph/>
          </p:nvPr>
        </p:nvSpPr>
        <p:spPr>
          <a:xfrm>
            <a:off x="540360" y="1346760"/>
            <a:ext cx="10812960" cy="5344560"/>
          </a:xfrm>
          <a:prstGeom prst="rect">
            <a:avLst/>
          </a:prstGeom>
          <a:noFill/>
          <a:ln w="0">
            <a:noFill/>
          </a:ln>
        </p:spPr>
        <p:txBody>
          <a:bodyPr anchor="t">
            <a:normAutofit/>
          </a:bodyPr>
          <a:p>
            <a:pPr indent="0">
              <a:lnSpc>
                <a:spcPct val="90000"/>
              </a:lnSpc>
              <a:spcBef>
                <a:spcPts val="1001"/>
              </a:spcBef>
              <a:buNone/>
              <a:tabLst>
                <a:tab algn="l" pos="0"/>
              </a:tabLst>
            </a:pPr>
            <a:r>
              <a:rPr b="0" lang="en-US" sz="2800" spc="-1" strike="noStrike">
                <a:solidFill>
                  <a:srgbClr val="000000"/>
                </a:solidFill>
                <a:latin typeface="Calibri"/>
              </a:rPr>
              <a:t>For the L1 data cache, let’s assume 64 byte blocks.</a:t>
            </a: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In 32kb, we can fit 512 blocks</a:t>
            </a: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This is an 8 way associative cache. </a:t>
            </a: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There are 64 (2</a:t>
            </a:r>
            <a:r>
              <a:rPr b="0" lang="en-US" sz="2800" spc="-1" strike="noStrike" baseline="30000">
                <a:solidFill>
                  <a:srgbClr val="000000"/>
                </a:solidFill>
                <a:latin typeface="Calibri"/>
              </a:rPr>
              <a:t>6</a:t>
            </a:r>
            <a:r>
              <a:rPr b="0" lang="en-US" sz="2800" spc="-1" strike="noStrike">
                <a:solidFill>
                  <a:srgbClr val="000000"/>
                </a:solidFill>
                <a:latin typeface="Calibri"/>
              </a:rPr>
              <a:t>)sets of 8.</a:t>
            </a: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As this is a 64 bit architecture:</a:t>
            </a: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The lowest 6 bits determine where in the block we are.</a:t>
            </a: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That means that our set determination takes 58 bits of address -&gt; 16 bits of cache sets. If we had a full 2</a:t>
            </a:r>
            <a:r>
              <a:rPr b="0" lang="en-US" sz="2800" spc="-1" strike="noStrike" baseline="30000">
                <a:solidFill>
                  <a:srgbClr val="000000"/>
                </a:solidFill>
                <a:latin typeface="Calibri"/>
              </a:rPr>
              <a:t>64</a:t>
            </a:r>
            <a:r>
              <a:rPr b="0" lang="en-US" sz="2800" spc="-1" strike="noStrike">
                <a:solidFill>
                  <a:srgbClr val="000000"/>
                </a:solidFill>
                <a:latin typeface="Calibri"/>
              </a:rPr>
              <a:t> bytes of memory, 4 trillion blocks would be competing for those 8. With “only” 16GB, 262,144 blocks are competing for those 8 blocks in the set, assuming all of those blocks are data blocks.</a:t>
            </a: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PlaceHolder 1"/>
          <p:cNvSpPr>
            <a:spLocks noGrp="1"/>
          </p:cNvSpPr>
          <p:nvPr>
            <p:ph type="title"/>
          </p:nvPr>
        </p:nvSpPr>
        <p:spPr>
          <a:xfrm>
            <a:off x="838080" y="365040"/>
            <a:ext cx="10515240" cy="1325160"/>
          </a:xfrm>
          <a:prstGeom prst="rect">
            <a:avLst/>
          </a:prstGeom>
          <a:noFill/>
          <a:ln w="0">
            <a:noFill/>
          </a:ln>
        </p:spPr>
        <p:txBody>
          <a:bodyPr anchor="ctr">
            <a:noAutofit/>
          </a:bodyPr>
          <a:p>
            <a:pPr indent="0">
              <a:lnSpc>
                <a:spcPct val="90000"/>
              </a:lnSpc>
              <a:buNone/>
            </a:pPr>
            <a:r>
              <a:rPr b="0" lang="en-US" sz="4400" spc="-1" strike="noStrike">
                <a:solidFill>
                  <a:srgbClr val="000000"/>
                </a:solidFill>
                <a:latin typeface="Calibri Light"/>
              </a:rPr>
              <a:t>Why split the instruction and data caches?</a:t>
            </a:r>
            <a:endParaRPr b="0" lang="en-US" sz="4400" spc="-1" strike="noStrike">
              <a:solidFill>
                <a:srgbClr val="000000"/>
              </a:solidFill>
              <a:latin typeface="Calibri"/>
            </a:endParaRPr>
          </a:p>
        </p:txBody>
      </p:sp>
      <p:sp>
        <p:nvSpPr>
          <p:cNvPr id="148" name="PlaceHolder 2"/>
          <p:cNvSpPr>
            <a:spLocks noGrp="1"/>
          </p:cNvSpPr>
          <p:nvPr>
            <p:ph/>
          </p:nvPr>
        </p:nvSpPr>
        <p:spPr>
          <a:xfrm>
            <a:off x="838080" y="1825560"/>
            <a:ext cx="10515240" cy="4350960"/>
          </a:xfrm>
          <a:prstGeom prst="rect">
            <a:avLst/>
          </a:prstGeom>
          <a:noFill/>
          <a:ln w="0">
            <a:noFill/>
          </a:ln>
        </p:spPr>
        <p:txBody>
          <a:bodyPr anchor="t">
            <a:noAutofit/>
          </a:bodyPr>
          <a:p>
            <a:pPr marL="228600" indent="-228600">
              <a:lnSpc>
                <a:spcPct val="90000"/>
              </a:lnSpc>
              <a:spcBef>
                <a:spcPts val="1001"/>
              </a:spcBef>
              <a:buClr>
                <a:srgbClr val="000000"/>
              </a:buClr>
              <a:buFont typeface="Arial"/>
              <a:buChar char="•"/>
            </a:pPr>
            <a:r>
              <a:rPr b="0" lang="en-US" sz="2800" spc="-1" strike="noStrike">
                <a:solidFill>
                  <a:srgbClr val="000000"/>
                </a:solidFill>
                <a:latin typeface="Calibri"/>
              </a:rPr>
              <a:t>Instructions tend to be very consecutive. Data does not. </a:t>
            </a:r>
            <a:endParaRPr b="0" lang="en-US" sz="2800" spc="-1" strike="noStrike">
              <a:solidFill>
                <a:srgbClr val="000000"/>
              </a:solidFill>
              <a:latin typeface="Calibri"/>
            </a:endParaRPr>
          </a:p>
          <a:p>
            <a:pPr marL="228600" indent="-228600">
              <a:lnSpc>
                <a:spcPct val="90000"/>
              </a:lnSpc>
              <a:spcBef>
                <a:spcPts val="1001"/>
              </a:spcBef>
              <a:buClr>
                <a:srgbClr val="000000"/>
              </a:buClr>
              <a:buFont typeface="Arial"/>
              <a:buChar char="•"/>
            </a:pPr>
            <a:r>
              <a:rPr b="0" lang="en-US" sz="2800" spc="-1" strike="noStrike">
                <a:solidFill>
                  <a:srgbClr val="000000"/>
                </a:solidFill>
                <a:latin typeface="Calibri"/>
              </a:rPr>
              <a:t>Different usage makes different cache design make sense.</a:t>
            </a:r>
            <a:endParaRPr b="0" lang="en-US" sz="2800" spc="-1" strike="noStrike">
              <a:solidFill>
                <a:srgbClr val="000000"/>
              </a:solidFill>
              <a:latin typeface="Calibri"/>
            </a:endParaRPr>
          </a:p>
          <a:p>
            <a:pPr marL="228600" indent="-228600">
              <a:lnSpc>
                <a:spcPct val="90000"/>
              </a:lnSpc>
              <a:spcBef>
                <a:spcPts val="1001"/>
              </a:spcBef>
              <a:buClr>
                <a:srgbClr val="000000"/>
              </a:buClr>
              <a:buFont typeface="Arial"/>
              <a:buChar char="•"/>
            </a:pPr>
            <a:r>
              <a:rPr b="0" lang="en-US" sz="2800" spc="-1" strike="noStrike">
                <a:solidFill>
                  <a:srgbClr val="000000"/>
                </a:solidFill>
                <a:latin typeface="Calibri"/>
              </a:rPr>
              <a:t>Splitting them into two different “associativity” buckets is a good way to reduce collisions.</a:t>
            </a:r>
            <a:endParaRPr b="0" lang="en-US" sz="2800" spc="-1" strike="noStrike">
              <a:solidFill>
                <a:srgbClr val="000000"/>
              </a:solidFill>
              <a:latin typeface="Calibri"/>
            </a:endParaRPr>
          </a:p>
          <a:p>
            <a:pPr marL="228600" indent="-228600">
              <a:lnSpc>
                <a:spcPct val="90000"/>
              </a:lnSpc>
              <a:spcBef>
                <a:spcPts val="1001"/>
              </a:spcBef>
              <a:buClr>
                <a:srgbClr val="000000"/>
              </a:buClr>
              <a:buFont typeface="Arial"/>
              <a:buChar char="•"/>
            </a:pPr>
            <a:r>
              <a:rPr b="0" lang="en-US" sz="2800" spc="-1" strike="noStrike">
                <a:solidFill>
                  <a:srgbClr val="000000"/>
                </a:solidFill>
                <a:latin typeface="Calibri"/>
              </a:rPr>
              <a:t>There are two different sources – a cache bank can only respond to one request at a time. Two banks means that data and instructions don’t wait for each other.</a:t>
            </a:r>
            <a:endParaRPr b="0" lang="en-US" sz="2800" spc="-1" strike="noStrike">
              <a:solidFill>
                <a:srgbClr val="000000"/>
              </a:solidFill>
              <a:latin typeface="Calibri"/>
            </a:endParaRPr>
          </a:p>
          <a:p>
            <a:pPr marL="228600" indent="-228600">
              <a:lnSpc>
                <a:spcPct val="90000"/>
              </a:lnSpc>
              <a:spcBef>
                <a:spcPts val="1001"/>
              </a:spcBef>
              <a:buClr>
                <a:srgbClr val="000000"/>
              </a:buClr>
              <a:buFont typeface="Arial"/>
              <a:buChar char="•"/>
            </a:pPr>
            <a:r>
              <a:rPr b="0" lang="en-US" sz="2800" spc="-1" strike="noStrike">
                <a:solidFill>
                  <a:srgbClr val="000000"/>
                </a:solidFill>
                <a:latin typeface="Calibri"/>
              </a:rPr>
              <a:t>Instructions are needed at the start of the CPU’s process. Data is needed later.</a:t>
            </a:r>
            <a:endParaRPr b="0" lang="en-US" sz="28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 name="PlaceHolder 1"/>
          <p:cNvSpPr>
            <a:spLocks noGrp="1"/>
          </p:cNvSpPr>
          <p:nvPr>
            <p:ph type="title"/>
          </p:nvPr>
        </p:nvSpPr>
        <p:spPr>
          <a:xfrm>
            <a:off x="838080" y="365040"/>
            <a:ext cx="10515240" cy="1325160"/>
          </a:xfrm>
          <a:prstGeom prst="rect">
            <a:avLst/>
          </a:prstGeom>
          <a:noFill/>
          <a:ln w="0">
            <a:noFill/>
          </a:ln>
        </p:spPr>
        <p:txBody>
          <a:bodyPr anchor="ctr">
            <a:noAutofit/>
          </a:bodyPr>
          <a:p>
            <a:pPr indent="0">
              <a:lnSpc>
                <a:spcPct val="90000"/>
              </a:lnSpc>
              <a:buNone/>
            </a:pPr>
            <a:r>
              <a:rPr b="0" lang="en-US" sz="4400" spc="-1" strike="noStrike">
                <a:solidFill>
                  <a:srgbClr val="000000"/>
                </a:solidFill>
                <a:latin typeface="Calibri Light"/>
              </a:rPr>
              <a:t>Prefetching</a:t>
            </a:r>
            <a:endParaRPr b="0" lang="en-US" sz="4400" spc="-1" strike="noStrike">
              <a:solidFill>
                <a:srgbClr val="000000"/>
              </a:solidFill>
              <a:latin typeface="Calibri"/>
            </a:endParaRPr>
          </a:p>
        </p:txBody>
      </p:sp>
      <p:sp>
        <p:nvSpPr>
          <p:cNvPr id="150" name="PlaceHolder 2"/>
          <p:cNvSpPr>
            <a:spLocks noGrp="1"/>
          </p:cNvSpPr>
          <p:nvPr>
            <p:ph/>
          </p:nvPr>
        </p:nvSpPr>
        <p:spPr>
          <a:xfrm>
            <a:off x="838080" y="1825560"/>
            <a:ext cx="10515240" cy="4350960"/>
          </a:xfrm>
          <a:prstGeom prst="rect">
            <a:avLst/>
          </a:prstGeom>
          <a:noFill/>
          <a:ln w="0">
            <a:noFill/>
          </a:ln>
        </p:spPr>
        <p:txBody>
          <a:bodyPr anchor="t">
            <a:noAutofit/>
          </a:bodyPr>
          <a:p>
            <a:pPr indent="0">
              <a:lnSpc>
                <a:spcPct val="90000"/>
              </a:lnSpc>
              <a:spcBef>
                <a:spcPts val="1001"/>
              </a:spcBef>
              <a:buNone/>
              <a:tabLst>
                <a:tab algn="l" pos="0"/>
              </a:tabLst>
            </a:pPr>
            <a:r>
              <a:rPr b="0" lang="en-US" sz="2800" spc="-1" strike="noStrike">
                <a:solidFill>
                  <a:srgbClr val="000000"/>
                </a:solidFill>
                <a:latin typeface="Calibri"/>
              </a:rPr>
              <a:t>Instructions, in particular, have a very consistent pattern – the execution TENDS to start at the beginning and move toward the end.</a:t>
            </a: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If we know this, why not have the cache request the NEXT block of memory before this one is completely used?</a:t>
            </a: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Why might this backfire?</a:t>
            </a: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PlaceHolder 1"/>
          <p:cNvSpPr>
            <a:spLocks noGrp="1"/>
          </p:cNvSpPr>
          <p:nvPr>
            <p:ph type="title"/>
          </p:nvPr>
        </p:nvSpPr>
        <p:spPr>
          <a:xfrm>
            <a:off x="838080" y="365040"/>
            <a:ext cx="10515240" cy="1325160"/>
          </a:xfrm>
          <a:prstGeom prst="rect">
            <a:avLst/>
          </a:prstGeom>
          <a:noFill/>
          <a:ln w="0">
            <a:noFill/>
          </a:ln>
        </p:spPr>
        <p:txBody>
          <a:bodyPr anchor="ctr">
            <a:noAutofit/>
          </a:bodyPr>
          <a:p>
            <a:pPr indent="0">
              <a:lnSpc>
                <a:spcPct val="90000"/>
              </a:lnSpc>
              <a:buNone/>
            </a:pPr>
            <a:r>
              <a:rPr b="0" lang="en-US" sz="4400" spc="-1" strike="noStrike">
                <a:solidFill>
                  <a:srgbClr val="000000"/>
                </a:solidFill>
                <a:latin typeface="Calibri Light"/>
              </a:rPr>
              <a:t>Prefetching fails</a:t>
            </a:r>
            <a:endParaRPr b="0" lang="en-US" sz="4400" spc="-1" strike="noStrike">
              <a:solidFill>
                <a:srgbClr val="000000"/>
              </a:solidFill>
              <a:latin typeface="Calibri"/>
            </a:endParaRPr>
          </a:p>
        </p:txBody>
      </p:sp>
      <p:sp>
        <p:nvSpPr>
          <p:cNvPr id="152" name="PlaceHolder 2"/>
          <p:cNvSpPr>
            <a:spLocks noGrp="1"/>
          </p:cNvSpPr>
          <p:nvPr>
            <p:ph/>
          </p:nvPr>
        </p:nvSpPr>
        <p:spPr>
          <a:xfrm>
            <a:off x="838080" y="1825560"/>
            <a:ext cx="10515240" cy="4350960"/>
          </a:xfrm>
          <a:prstGeom prst="rect">
            <a:avLst/>
          </a:prstGeom>
          <a:noFill/>
          <a:ln w="0">
            <a:noFill/>
          </a:ln>
        </p:spPr>
        <p:txBody>
          <a:bodyPr anchor="t">
            <a:normAutofit/>
          </a:bodyPr>
          <a:p>
            <a:pPr indent="0">
              <a:lnSpc>
                <a:spcPct val="90000"/>
              </a:lnSpc>
              <a:spcBef>
                <a:spcPts val="1001"/>
              </a:spcBef>
              <a:buNone/>
              <a:tabLst>
                <a:tab algn="l" pos="0"/>
              </a:tabLst>
            </a:pPr>
            <a:r>
              <a:rPr b="0" lang="en-US" sz="2800" spc="-1" strike="noStrike">
                <a:solidFill>
                  <a:srgbClr val="000000"/>
                </a:solidFill>
                <a:latin typeface="Calibri"/>
              </a:rPr>
              <a:t>Small methods that jump around</a:t>
            </a: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Data that is not contiguous</a:t>
            </a: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Frequent switching between processes</a:t>
            </a: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In spite of these, prefetching is still a </a:t>
            </a:r>
            <a:r>
              <a:rPr b="1" lang="en-US" sz="2800" spc="-1" strike="noStrike">
                <a:solidFill>
                  <a:srgbClr val="000000"/>
                </a:solidFill>
                <a:latin typeface="Calibri"/>
              </a:rPr>
              <a:t>huge</a:t>
            </a:r>
            <a:r>
              <a:rPr b="0" lang="en-US" sz="2800" spc="-1" strike="noStrike">
                <a:solidFill>
                  <a:srgbClr val="000000"/>
                </a:solidFill>
                <a:latin typeface="Calibri"/>
              </a:rPr>
              <a:t> win.</a:t>
            </a:r>
            <a:endParaRPr b="0" lang="en-US" sz="2800" spc="-1" strike="noStrike">
              <a:solidFill>
                <a:srgbClr val="000000"/>
              </a:solidFill>
              <a:latin typeface="Calibri"/>
            </a:endParaRPr>
          </a:p>
        </p:txBody>
      </p:sp>
      <p:pic>
        <p:nvPicPr>
          <p:cNvPr id="153" name="Picture 2" descr="Image result for fail"/>
          <p:cNvPicPr/>
          <p:nvPr/>
        </p:nvPicPr>
        <p:blipFill>
          <a:blip r:embed="rId1"/>
          <a:stretch/>
        </p:blipFill>
        <p:spPr>
          <a:xfrm>
            <a:off x="8872200" y="0"/>
            <a:ext cx="3319560" cy="2356200"/>
          </a:xfrm>
          <a:prstGeom prst="rect">
            <a:avLst/>
          </a:prstGeom>
          <a:ln w="0">
            <a:noFill/>
          </a:ln>
        </p:spPr>
      </p:pic>
      <p:cxnSp>
        <p:nvCxnSpPr>
          <p:cNvPr id="154" name="Straight Connector 4"/>
          <p:cNvCxnSpPr/>
          <p:nvPr/>
        </p:nvCxnSpPr>
        <p:spPr>
          <a:xfrm>
            <a:off x="531720" y="4854600"/>
            <a:ext cx="11289240" cy="360"/>
          </a:xfrm>
          <a:prstGeom prst="straightConnector1">
            <a:avLst/>
          </a:prstGeom>
          <a:ln>
            <a:solidFill>
              <a:srgbClr val="4472c4"/>
            </a:solidFill>
          </a:ln>
        </p:spPr>
      </p:cxn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 name="PlaceHolder 1"/>
          <p:cNvSpPr>
            <a:spLocks noGrp="1"/>
          </p:cNvSpPr>
          <p:nvPr>
            <p:ph type="title"/>
          </p:nvPr>
        </p:nvSpPr>
        <p:spPr>
          <a:xfrm>
            <a:off x="838080" y="365040"/>
            <a:ext cx="10515240" cy="1325160"/>
          </a:xfrm>
          <a:prstGeom prst="rect">
            <a:avLst/>
          </a:prstGeom>
          <a:noFill/>
          <a:ln w="0">
            <a:noFill/>
          </a:ln>
        </p:spPr>
        <p:txBody>
          <a:bodyPr anchor="ctr">
            <a:noAutofit/>
          </a:bodyPr>
          <a:p>
            <a:pPr indent="0">
              <a:lnSpc>
                <a:spcPct val="90000"/>
              </a:lnSpc>
              <a:buNone/>
            </a:pPr>
            <a:r>
              <a:rPr b="0" lang="en-US" sz="4400" spc="-1" strike="noStrike">
                <a:solidFill>
                  <a:srgbClr val="000000"/>
                </a:solidFill>
                <a:latin typeface="Calibri Light"/>
              </a:rPr>
              <a:t>Replacement Strategies</a:t>
            </a:r>
            <a:endParaRPr b="0" lang="en-US" sz="4400" spc="-1" strike="noStrike">
              <a:solidFill>
                <a:srgbClr val="000000"/>
              </a:solidFill>
              <a:latin typeface="Calibri"/>
            </a:endParaRPr>
          </a:p>
        </p:txBody>
      </p:sp>
      <p:sp>
        <p:nvSpPr>
          <p:cNvPr id="156" name="PlaceHolder 2"/>
          <p:cNvSpPr>
            <a:spLocks noGrp="1"/>
          </p:cNvSpPr>
          <p:nvPr>
            <p:ph/>
          </p:nvPr>
        </p:nvSpPr>
        <p:spPr>
          <a:xfrm>
            <a:off x="838080" y="1825560"/>
            <a:ext cx="10515240" cy="4350960"/>
          </a:xfrm>
          <a:prstGeom prst="rect">
            <a:avLst/>
          </a:prstGeom>
          <a:noFill/>
          <a:ln w="0">
            <a:noFill/>
          </a:ln>
        </p:spPr>
        <p:txBody>
          <a:bodyPr anchor="t">
            <a:normAutofit fontScale="87000"/>
          </a:bodyPr>
          <a:p>
            <a:pPr indent="0">
              <a:lnSpc>
                <a:spcPct val="90000"/>
              </a:lnSpc>
              <a:spcBef>
                <a:spcPts val="1001"/>
              </a:spcBef>
              <a:buNone/>
              <a:tabLst>
                <a:tab algn="l" pos="0"/>
              </a:tabLst>
            </a:pPr>
            <a:r>
              <a:rPr b="0" lang="en-US" sz="2800" spc="-1" strike="noStrike">
                <a:solidFill>
                  <a:srgbClr val="000000"/>
                </a:solidFill>
                <a:latin typeface="Calibri"/>
              </a:rPr>
              <a:t>When a block is stored in the cache, if there is not an empty space, the controller has to make a decision about where to put the block.</a:t>
            </a: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For direct map, there are no options. </a:t>
            </a: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For 2 way, there are 2 options (0 or 1)</a:t>
            </a: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For 8 way, there are 8 options (0-7)</a:t>
            </a: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For fully associative, there are N options</a:t>
            </a: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How should it decide?</a:t>
            </a: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 name="PlaceHolder 1"/>
          <p:cNvSpPr>
            <a:spLocks noGrp="1"/>
          </p:cNvSpPr>
          <p:nvPr>
            <p:ph type="title"/>
          </p:nvPr>
        </p:nvSpPr>
        <p:spPr>
          <a:xfrm>
            <a:off x="838080" y="365040"/>
            <a:ext cx="10515240" cy="1325160"/>
          </a:xfrm>
          <a:prstGeom prst="rect">
            <a:avLst/>
          </a:prstGeom>
          <a:noFill/>
          <a:ln w="0">
            <a:noFill/>
          </a:ln>
        </p:spPr>
        <p:txBody>
          <a:bodyPr anchor="ctr">
            <a:noAutofit/>
          </a:bodyPr>
          <a:p>
            <a:pPr indent="0">
              <a:lnSpc>
                <a:spcPct val="90000"/>
              </a:lnSpc>
              <a:buNone/>
            </a:pPr>
            <a:r>
              <a:rPr b="0" lang="en-US" sz="4400" spc="-1" strike="noStrike">
                <a:solidFill>
                  <a:srgbClr val="000000"/>
                </a:solidFill>
                <a:latin typeface="Calibri Light"/>
              </a:rPr>
              <a:t>Replacement Strategy Options</a:t>
            </a:r>
            <a:endParaRPr b="0" lang="en-US" sz="4400" spc="-1" strike="noStrike">
              <a:solidFill>
                <a:srgbClr val="000000"/>
              </a:solidFill>
              <a:latin typeface="Calibri"/>
            </a:endParaRPr>
          </a:p>
        </p:txBody>
      </p:sp>
      <p:sp>
        <p:nvSpPr>
          <p:cNvPr id="158" name="PlaceHolder 2"/>
          <p:cNvSpPr>
            <a:spLocks noGrp="1"/>
          </p:cNvSpPr>
          <p:nvPr>
            <p:ph/>
          </p:nvPr>
        </p:nvSpPr>
        <p:spPr>
          <a:xfrm>
            <a:off x="838080" y="1825560"/>
            <a:ext cx="10515240" cy="4350960"/>
          </a:xfrm>
          <a:prstGeom prst="rect">
            <a:avLst/>
          </a:prstGeom>
          <a:noFill/>
          <a:ln w="0">
            <a:noFill/>
          </a:ln>
        </p:spPr>
        <p:txBody>
          <a:bodyPr anchor="t">
            <a:noAutofit/>
          </a:bodyPr>
          <a:p>
            <a:pPr indent="0">
              <a:lnSpc>
                <a:spcPct val="90000"/>
              </a:lnSpc>
              <a:spcBef>
                <a:spcPts val="1001"/>
              </a:spcBef>
              <a:buNone/>
              <a:tabLst>
                <a:tab algn="l" pos="0"/>
              </a:tabLst>
            </a:pPr>
            <a:r>
              <a:rPr b="0" lang="en-US" sz="2800" spc="-1" strike="noStrike">
                <a:solidFill>
                  <a:srgbClr val="000000"/>
                </a:solidFill>
                <a:latin typeface="Calibri"/>
              </a:rPr>
              <a:t>Random – surprisingly not a bad approach (why?)</a:t>
            </a: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Least Recently Used – track block usage, replace the block that hasn’t been touched in the longest time</a:t>
            </a: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First In-First Out – Approximates LRU</a:t>
            </a:r>
            <a:endParaRPr b="0" lang="en-US" sz="28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PlaceHolder 1"/>
          <p:cNvSpPr>
            <a:spLocks noGrp="1"/>
          </p:cNvSpPr>
          <p:nvPr>
            <p:ph type="title"/>
          </p:nvPr>
        </p:nvSpPr>
        <p:spPr>
          <a:xfrm>
            <a:off x="838080" y="365040"/>
            <a:ext cx="10515240" cy="1325160"/>
          </a:xfrm>
          <a:prstGeom prst="rect">
            <a:avLst/>
          </a:prstGeom>
          <a:noFill/>
          <a:ln w="0">
            <a:noFill/>
          </a:ln>
        </p:spPr>
        <p:txBody>
          <a:bodyPr anchor="ctr">
            <a:noAutofit/>
          </a:bodyPr>
          <a:p>
            <a:pPr indent="0">
              <a:lnSpc>
                <a:spcPct val="90000"/>
              </a:lnSpc>
              <a:buNone/>
            </a:pPr>
            <a:r>
              <a:rPr b="0" lang="en-US" sz="4400" spc="-1" strike="noStrike">
                <a:solidFill>
                  <a:srgbClr val="000000"/>
                </a:solidFill>
                <a:latin typeface="Calibri Light"/>
              </a:rPr>
              <a:t>What about writes?</a:t>
            </a:r>
            <a:endParaRPr b="0" lang="en-US" sz="4400" spc="-1" strike="noStrike">
              <a:solidFill>
                <a:srgbClr val="000000"/>
              </a:solidFill>
              <a:latin typeface="Calibri"/>
            </a:endParaRPr>
          </a:p>
        </p:txBody>
      </p:sp>
      <p:sp>
        <p:nvSpPr>
          <p:cNvPr id="160" name="PlaceHolder 2"/>
          <p:cNvSpPr>
            <a:spLocks noGrp="1"/>
          </p:cNvSpPr>
          <p:nvPr>
            <p:ph/>
          </p:nvPr>
        </p:nvSpPr>
        <p:spPr>
          <a:xfrm>
            <a:off x="838080" y="1825560"/>
            <a:ext cx="10515240" cy="4350960"/>
          </a:xfrm>
          <a:prstGeom prst="rect">
            <a:avLst/>
          </a:prstGeom>
          <a:noFill/>
          <a:ln w="0">
            <a:noFill/>
          </a:ln>
        </p:spPr>
        <p:txBody>
          <a:bodyPr anchor="t">
            <a:noAutofit/>
          </a:bodyPr>
          <a:p>
            <a:pPr indent="0">
              <a:lnSpc>
                <a:spcPct val="90000"/>
              </a:lnSpc>
              <a:spcBef>
                <a:spcPts val="1001"/>
              </a:spcBef>
              <a:buNone/>
              <a:tabLst>
                <a:tab algn="l" pos="0"/>
              </a:tabLst>
            </a:pPr>
            <a:r>
              <a:rPr b="0" lang="en-US" sz="2800" spc="-1" strike="noStrike">
                <a:solidFill>
                  <a:srgbClr val="000000"/>
                </a:solidFill>
                <a:latin typeface="Calibri"/>
              </a:rPr>
              <a:t>The CPU reads FAR more than it writes (think about instructions).</a:t>
            </a: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When it DOES write, it probably doesn’t rewrite an entire cache block, so the process is complex. </a:t>
            </a: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Two approaches:</a:t>
            </a:r>
            <a:endParaRPr b="0" lang="en-US" sz="2800" spc="-1" strike="noStrike">
              <a:solidFill>
                <a:srgbClr val="000000"/>
              </a:solidFill>
              <a:latin typeface="Calibri"/>
            </a:endParaRPr>
          </a:p>
          <a:p>
            <a:pPr marL="514440" indent="-514440">
              <a:lnSpc>
                <a:spcPct val="90000"/>
              </a:lnSpc>
              <a:spcBef>
                <a:spcPts val="1001"/>
              </a:spcBef>
              <a:buClr>
                <a:srgbClr val="000000"/>
              </a:buClr>
              <a:buFont typeface="Arial"/>
              <a:buAutoNum type="arabicParenR"/>
              <a:tabLst>
                <a:tab algn="l" pos="0"/>
              </a:tabLst>
            </a:pPr>
            <a:r>
              <a:rPr b="0" lang="en-US" sz="2800" spc="-1" strike="noStrike">
                <a:solidFill>
                  <a:srgbClr val="000000"/>
                </a:solidFill>
                <a:latin typeface="Calibri"/>
              </a:rPr>
              <a:t>Write through: Data is written to the cache (if the block is in there) AND to main memory</a:t>
            </a:r>
            <a:endParaRPr b="0" lang="en-US" sz="2800" spc="-1" strike="noStrike">
              <a:solidFill>
                <a:srgbClr val="000000"/>
              </a:solidFill>
              <a:latin typeface="Calibri"/>
            </a:endParaRPr>
          </a:p>
          <a:p>
            <a:pPr marL="514440" indent="-514440">
              <a:lnSpc>
                <a:spcPct val="90000"/>
              </a:lnSpc>
              <a:spcBef>
                <a:spcPts val="1001"/>
              </a:spcBef>
              <a:buClr>
                <a:srgbClr val="000000"/>
              </a:buClr>
              <a:buFont typeface="Arial"/>
              <a:buAutoNum type="arabicParenR"/>
              <a:tabLst>
                <a:tab algn="l" pos="0"/>
              </a:tabLst>
            </a:pPr>
            <a:r>
              <a:rPr b="0" lang="en-US" sz="2800" spc="-1" strike="noStrike">
                <a:solidFill>
                  <a:srgbClr val="000000"/>
                </a:solidFill>
                <a:latin typeface="Calibri"/>
              </a:rPr>
              <a:t>Write back: Data is written to the cache ONLY. When the block is flushed from the cache, the data is written to main memory.</a:t>
            </a:r>
            <a:endParaRPr b="0" lang="en-US" sz="28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 name="PlaceHolder 1"/>
          <p:cNvSpPr>
            <a:spLocks noGrp="1"/>
          </p:cNvSpPr>
          <p:nvPr>
            <p:ph type="title"/>
          </p:nvPr>
        </p:nvSpPr>
        <p:spPr>
          <a:xfrm>
            <a:off x="838080" y="365040"/>
            <a:ext cx="10515240" cy="1325160"/>
          </a:xfrm>
          <a:prstGeom prst="rect">
            <a:avLst/>
          </a:prstGeom>
          <a:noFill/>
          <a:ln w="0">
            <a:noFill/>
          </a:ln>
        </p:spPr>
        <p:txBody>
          <a:bodyPr anchor="ctr">
            <a:noAutofit/>
          </a:bodyPr>
          <a:p>
            <a:pPr indent="0">
              <a:lnSpc>
                <a:spcPct val="90000"/>
              </a:lnSpc>
              <a:buNone/>
            </a:pPr>
            <a:r>
              <a:rPr b="0" lang="en-US" sz="4400" spc="-1" strike="noStrike">
                <a:solidFill>
                  <a:srgbClr val="000000"/>
                </a:solidFill>
                <a:latin typeface="Calibri Light"/>
              </a:rPr>
              <a:t>Write-Through</a:t>
            </a:r>
            <a:endParaRPr b="0" lang="en-US" sz="4400" spc="-1" strike="noStrike">
              <a:solidFill>
                <a:srgbClr val="000000"/>
              </a:solidFill>
              <a:latin typeface="Calibri"/>
            </a:endParaRPr>
          </a:p>
        </p:txBody>
      </p:sp>
      <p:sp>
        <p:nvSpPr>
          <p:cNvPr id="162" name="PlaceHolder 2"/>
          <p:cNvSpPr>
            <a:spLocks noGrp="1"/>
          </p:cNvSpPr>
          <p:nvPr>
            <p:ph/>
          </p:nvPr>
        </p:nvSpPr>
        <p:spPr>
          <a:xfrm>
            <a:off x="838080" y="1422360"/>
            <a:ext cx="10515240" cy="2006280"/>
          </a:xfrm>
          <a:prstGeom prst="rect">
            <a:avLst/>
          </a:prstGeom>
          <a:noFill/>
          <a:ln w="0">
            <a:noFill/>
          </a:ln>
        </p:spPr>
        <p:txBody>
          <a:bodyPr anchor="t">
            <a:normAutofit/>
          </a:bodyPr>
          <a:p>
            <a:pPr indent="0">
              <a:lnSpc>
                <a:spcPct val="90000"/>
              </a:lnSpc>
              <a:spcBef>
                <a:spcPts val="1001"/>
              </a:spcBef>
              <a:buNone/>
              <a:tabLst>
                <a:tab algn="l" pos="0"/>
              </a:tabLst>
            </a:pPr>
            <a:r>
              <a:rPr b="0" lang="en-US" sz="2800" spc="-1" strike="noStrike">
                <a:solidFill>
                  <a:srgbClr val="000000"/>
                </a:solidFill>
                <a:latin typeface="Calibri"/>
              </a:rPr>
              <a:t>Pros:</a:t>
            </a: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	</a:t>
            </a:r>
            <a:r>
              <a:rPr b="0" lang="en-US" sz="2800" spc="-1" strike="noStrike">
                <a:solidFill>
                  <a:srgbClr val="000000"/>
                </a:solidFill>
                <a:latin typeface="Calibri"/>
              </a:rPr>
              <a:t>Easy to implement (no dirty indicator needed)</a:t>
            </a: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	</a:t>
            </a:r>
            <a:r>
              <a:rPr b="0" lang="en-US" sz="2800" spc="-1" strike="noStrike">
                <a:solidFill>
                  <a:srgbClr val="000000"/>
                </a:solidFill>
                <a:latin typeface="Calibri"/>
              </a:rPr>
              <a:t>The cache is always equal to memory, so replacement is cheaper</a:t>
            </a: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	</a:t>
            </a:r>
            <a:r>
              <a:rPr b="0" lang="en-US" sz="2800" spc="-1" strike="noStrike">
                <a:solidFill>
                  <a:srgbClr val="000000"/>
                </a:solidFill>
                <a:latin typeface="Calibri"/>
              </a:rPr>
              <a:t>All levels of cache that have data have the same version</a:t>
            </a: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p:txBody>
      </p:sp>
      <p:sp>
        <p:nvSpPr>
          <p:cNvPr id="163" name="Title 1"/>
          <p:cNvSpPr/>
          <p:nvPr/>
        </p:nvSpPr>
        <p:spPr>
          <a:xfrm>
            <a:off x="682920" y="3102840"/>
            <a:ext cx="10515240" cy="1325160"/>
          </a:xfrm>
          <a:prstGeom prst="rect">
            <a:avLst/>
          </a:prstGeom>
          <a:noFill/>
          <a:ln w="0">
            <a:noFill/>
          </a:ln>
        </p:spPr>
        <p:style>
          <a:lnRef idx="0"/>
          <a:fillRef idx="0"/>
          <a:effectRef idx="0"/>
          <a:fontRef idx="minor"/>
        </p:style>
        <p:txBody>
          <a:bodyPr anchor="ctr">
            <a:normAutofit/>
          </a:bodyPr>
          <a:p>
            <a:pPr>
              <a:lnSpc>
                <a:spcPct val="90000"/>
              </a:lnSpc>
            </a:pPr>
            <a:r>
              <a:rPr b="0" lang="en-US" sz="4400" spc="-1" strike="noStrike">
                <a:solidFill>
                  <a:srgbClr val="000000"/>
                </a:solidFill>
                <a:latin typeface="Calibri Light"/>
              </a:rPr>
              <a:t>Write-Back</a:t>
            </a:r>
            <a:endParaRPr b="0" lang="en-US" sz="4400" spc="-1" strike="noStrike">
              <a:solidFill>
                <a:srgbClr val="000000"/>
              </a:solidFill>
              <a:latin typeface="Arial"/>
            </a:endParaRPr>
          </a:p>
        </p:txBody>
      </p:sp>
      <p:sp>
        <p:nvSpPr>
          <p:cNvPr id="164" name="Content Placeholder 2"/>
          <p:cNvSpPr/>
          <p:nvPr/>
        </p:nvSpPr>
        <p:spPr>
          <a:xfrm>
            <a:off x="682920" y="4160160"/>
            <a:ext cx="10515240" cy="2006280"/>
          </a:xfrm>
          <a:prstGeom prst="rect">
            <a:avLst/>
          </a:prstGeom>
          <a:noFill/>
          <a:ln w="0">
            <a:noFill/>
          </a:ln>
        </p:spPr>
        <p:style>
          <a:lnRef idx="0"/>
          <a:fillRef idx="0"/>
          <a:effectRef idx="0"/>
          <a:fontRef idx="minor"/>
        </p:style>
        <p:txBody>
          <a:bodyPr anchor="t">
            <a:normAutofit fontScale="79000"/>
          </a:bodyPr>
          <a:p>
            <a:pPr>
              <a:lnSpc>
                <a:spcPct val="90000"/>
              </a:lnSpc>
              <a:spcBef>
                <a:spcPts val="1001"/>
              </a:spcBef>
              <a:tabLst>
                <a:tab algn="l" pos="0"/>
              </a:tabLst>
            </a:pPr>
            <a:r>
              <a:rPr b="0" lang="en-US" sz="2800" spc="-1" strike="noStrike">
                <a:solidFill>
                  <a:srgbClr val="000000"/>
                </a:solidFill>
                <a:latin typeface="Calibri"/>
              </a:rPr>
              <a:t>Pros:</a:t>
            </a:r>
            <a:endParaRPr b="0" lang="en-US" sz="2800" spc="-1" strike="noStrike">
              <a:solidFill>
                <a:srgbClr val="000000"/>
              </a:solidFill>
              <a:latin typeface="Arial"/>
            </a:endParaRPr>
          </a:p>
          <a:p>
            <a:pPr>
              <a:lnSpc>
                <a:spcPct val="90000"/>
              </a:lnSpc>
              <a:spcBef>
                <a:spcPts val="1001"/>
              </a:spcBef>
              <a:tabLst>
                <a:tab algn="l" pos="0"/>
              </a:tabLst>
            </a:pPr>
            <a:r>
              <a:rPr b="0" lang="en-US" sz="2800" spc="-1" strike="noStrike">
                <a:solidFill>
                  <a:srgbClr val="000000"/>
                </a:solidFill>
                <a:latin typeface="Calibri"/>
              </a:rPr>
              <a:t>	</a:t>
            </a:r>
            <a:r>
              <a:rPr b="0" lang="en-US" sz="2800" spc="-1" strike="noStrike">
                <a:solidFill>
                  <a:srgbClr val="000000"/>
                </a:solidFill>
                <a:latin typeface="Calibri"/>
              </a:rPr>
              <a:t>Writes happen at cache memory speed, not DRAM speed</a:t>
            </a:r>
            <a:endParaRPr b="0" lang="en-US" sz="2800" spc="-1" strike="noStrike">
              <a:solidFill>
                <a:srgbClr val="000000"/>
              </a:solidFill>
              <a:latin typeface="Arial"/>
            </a:endParaRPr>
          </a:p>
          <a:p>
            <a:pPr>
              <a:lnSpc>
                <a:spcPct val="90000"/>
              </a:lnSpc>
              <a:spcBef>
                <a:spcPts val="1001"/>
              </a:spcBef>
              <a:tabLst>
                <a:tab algn="l" pos="0"/>
              </a:tabLst>
            </a:pPr>
            <a:r>
              <a:rPr b="0" lang="en-US" sz="2800" spc="-1" strike="noStrike">
                <a:solidFill>
                  <a:srgbClr val="000000"/>
                </a:solidFill>
                <a:latin typeface="Calibri"/>
              </a:rPr>
              <a:t>	</a:t>
            </a:r>
            <a:r>
              <a:rPr b="0" lang="en-US" sz="2800" spc="-1" strike="noStrike">
                <a:solidFill>
                  <a:srgbClr val="000000"/>
                </a:solidFill>
                <a:latin typeface="Calibri"/>
              </a:rPr>
              <a:t>Multiple writes to a block are cheaper</a:t>
            </a:r>
            <a:endParaRPr b="0" lang="en-US" sz="2800" spc="-1" strike="noStrike">
              <a:solidFill>
                <a:srgbClr val="000000"/>
              </a:solidFill>
              <a:latin typeface="Arial"/>
            </a:endParaRPr>
          </a:p>
          <a:p>
            <a:pPr>
              <a:lnSpc>
                <a:spcPct val="90000"/>
              </a:lnSpc>
              <a:spcBef>
                <a:spcPts val="1001"/>
              </a:spcBef>
              <a:tabLst>
                <a:tab algn="l" pos="0"/>
              </a:tabLst>
            </a:pPr>
            <a:r>
              <a:rPr b="0" lang="en-US" sz="2800" spc="-1" strike="noStrike">
                <a:solidFill>
                  <a:srgbClr val="000000"/>
                </a:solidFill>
                <a:latin typeface="Calibri"/>
              </a:rPr>
              <a:t>	</a:t>
            </a:r>
            <a:r>
              <a:rPr b="0" lang="en-US" sz="2800" spc="-1" strike="noStrike">
                <a:solidFill>
                  <a:srgbClr val="000000"/>
                </a:solidFill>
                <a:latin typeface="Calibri"/>
              </a:rPr>
              <a:t>Saves power</a:t>
            </a:r>
            <a:endParaRPr b="0" lang="en-US" sz="2800" spc="-1" strike="noStrike">
              <a:solidFill>
                <a:srgbClr val="000000"/>
              </a:solidFill>
              <a:latin typeface="Arial"/>
            </a:endParaRPr>
          </a:p>
          <a:p>
            <a:pPr>
              <a:lnSpc>
                <a:spcPct val="90000"/>
              </a:lnSpc>
              <a:spcBef>
                <a:spcPts val="1001"/>
              </a:spcBef>
              <a:tabLst>
                <a:tab algn="l" pos="0"/>
              </a:tabLst>
            </a:pPr>
            <a:r>
              <a:rPr b="0" lang="en-US" sz="2800" spc="-1" strike="noStrike">
                <a:solidFill>
                  <a:srgbClr val="000000"/>
                </a:solidFill>
                <a:latin typeface="Calibri"/>
              </a:rPr>
              <a:t>	</a:t>
            </a:r>
            <a:r>
              <a:rPr b="0" lang="en-US" sz="2800" spc="-1" strike="noStrike">
                <a:solidFill>
                  <a:srgbClr val="000000"/>
                </a:solidFill>
                <a:latin typeface="Calibri"/>
              </a:rPr>
              <a:t>Less memory contention</a:t>
            </a:r>
            <a:endParaRPr b="0" lang="en-US" sz="2800" spc="-1" strike="noStrike">
              <a:solidFill>
                <a:srgbClr val="000000"/>
              </a:solidFill>
              <a:latin typeface="Arial"/>
            </a:endParaRPr>
          </a:p>
          <a:p>
            <a:pPr>
              <a:lnSpc>
                <a:spcPct val="90000"/>
              </a:lnSpc>
              <a:spcBef>
                <a:spcPts val="1001"/>
              </a:spcBef>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PlaceHolder 1"/>
          <p:cNvSpPr>
            <a:spLocks noGrp="1"/>
          </p:cNvSpPr>
          <p:nvPr>
            <p:ph type="title"/>
          </p:nvPr>
        </p:nvSpPr>
        <p:spPr>
          <a:xfrm>
            <a:off x="838080" y="365040"/>
            <a:ext cx="10515240" cy="1325160"/>
          </a:xfrm>
          <a:prstGeom prst="rect">
            <a:avLst/>
          </a:prstGeom>
          <a:noFill/>
          <a:ln w="0">
            <a:noFill/>
          </a:ln>
        </p:spPr>
        <p:txBody>
          <a:bodyPr anchor="ctr">
            <a:noAutofit/>
          </a:bodyPr>
          <a:p>
            <a:pPr indent="0">
              <a:lnSpc>
                <a:spcPct val="90000"/>
              </a:lnSpc>
              <a:buNone/>
            </a:pPr>
            <a:r>
              <a:rPr b="0" lang="en-US" sz="4400" spc="-1" strike="noStrike">
                <a:solidFill>
                  <a:srgbClr val="000000"/>
                </a:solidFill>
                <a:latin typeface="Calibri Light"/>
              </a:rPr>
              <a:t>Caching Roundup</a:t>
            </a:r>
            <a:endParaRPr b="0" lang="en-US" sz="4400" spc="-1" strike="noStrike">
              <a:solidFill>
                <a:srgbClr val="000000"/>
              </a:solidFill>
              <a:latin typeface="Calibri"/>
            </a:endParaRPr>
          </a:p>
        </p:txBody>
      </p:sp>
      <p:sp>
        <p:nvSpPr>
          <p:cNvPr id="166" name="PlaceHolder 2"/>
          <p:cNvSpPr>
            <a:spLocks noGrp="1"/>
          </p:cNvSpPr>
          <p:nvPr>
            <p:ph/>
          </p:nvPr>
        </p:nvSpPr>
        <p:spPr>
          <a:xfrm>
            <a:off x="838080" y="1321560"/>
            <a:ext cx="10515240" cy="4854960"/>
          </a:xfrm>
          <a:prstGeom prst="rect">
            <a:avLst/>
          </a:prstGeom>
          <a:noFill/>
          <a:ln w="0">
            <a:noFill/>
          </a:ln>
        </p:spPr>
        <p:txBody>
          <a:bodyPr anchor="t">
            <a:normAutofit fontScale="86000"/>
          </a:bodyPr>
          <a:p>
            <a:pPr indent="0">
              <a:lnSpc>
                <a:spcPct val="90000"/>
              </a:lnSpc>
              <a:spcBef>
                <a:spcPts val="1001"/>
              </a:spcBef>
              <a:buNone/>
              <a:tabLst>
                <a:tab algn="l" pos="0"/>
              </a:tabLst>
            </a:pPr>
            <a:r>
              <a:rPr b="0" lang="en-US" sz="2800" spc="-1" strike="noStrike">
                <a:solidFill>
                  <a:srgbClr val="000000"/>
                </a:solidFill>
                <a:latin typeface="Calibri"/>
              </a:rPr>
              <a:t>We want to get the largest caches that we can</a:t>
            </a: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Cache takes space on the chip, so we can’t have all we want</a:t>
            </a: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Off chip cache isn’t worth doing </a:t>
            </a: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There are different strategies for deciding where in the cache data goes</a:t>
            </a: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There are different cache replacement strategies</a:t>
            </a: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a:p>
            <a:pPr indent="0">
              <a:lnSpc>
                <a:spcPct val="90000"/>
              </a:lnSpc>
              <a:spcBef>
                <a:spcPts val="1001"/>
              </a:spcBef>
              <a:buNone/>
              <a:tabLst>
                <a:tab algn="l" pos="0"/>
              </a:tabLst>
            </a:pPr>
            <a:r>
              <a:rPr b="0" lang="en-US" sz="2800" spc="-1" strike="noStrike">
                <a:solidFill>
                  <a:srgbClr val="000000"/>
                </a:solidFill>
                <a:latin typeface="Calibri"/>
              </a:rPr>
              <a:t>There are different write strategies</a:t>
            </a: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a:p>
            <a:pPr indent="0">
              <a:lnSpc>
                <a:spcPct val="90000"/>
              </a:lnSpc>
              <a:spcBef>
                <a:spcPts val="1001"/>
              </a:spcBef>
              <a:buNone/>
              <a:tabLst>
                <a:tab algn="l" pos="0"/>
              </a:tabLst>
            </a:pPr>
            <a:endParaRPr b="0" lang="en-US" sz="28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7843</TotalTime>
  <Application>LibreOffice/7.4.7.2$Linux_X86_64 LibreOffice_project/40$Build-2</Application>
  <AppVersion>15.0000</AppVersion>
  <Words>2159</Words>
  <Paragraphs>283</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2018-07-16T21:00:23Z</dcterms:created>
  <dc:creator>Michael Phipps</dc:creator>
  <dc:description/>
  <dc:language>en-US</dc:language>
  <cp:lastModifiedBy/>
  <dcterms:modified xsi:type="dcterms:W3CDTF">2024-02-04T16:50:25Z</dcterms:modified>
  <cp:revision>36</cp:revision>
  <dc:subject/>
  <dc:title>Caches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32</vt:i4>
  </property>
</Properties>
</file>