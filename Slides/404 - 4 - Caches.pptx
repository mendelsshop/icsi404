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86" r:id="rId6"/>
    <p:sldId id="260" r:id="rId7"/>
    <p:sldId id="261" r:id="rId8"/>
    <p:sldId id="262" r:id="rId9"/>
    <p:sldId id="263" r:id="rId10"/>
    <p:sldId id="264" r:id="rId11"/>
    <p:sldId id="265" r:id="rId12"/>
    <p:sldId id="266" r:id="rId13"/>
    <p:sldId id="267" r:id="rId14"/>
    <p:sldId id="268" r:id="rId15"/>
    <p:sldId id="269" r:id="rId16"/>
    <p:sldId id="287" r:id="rId17"/>
    <p:sldId id="270" r:id="rId18"/>
    <p:sldId id="271" r:id="rId19"/>
    <p:sldId id="272" r:id="rId20"/>
    <p:sldId id="273" r:id="rId21"/>
    <p:sldId id="274" r:id="rId22"/>
    <p:sldId id="275" r:id="rId23"/>
    <p:sldId id="276" r:id="rId24"/>
    <p:sldId id="277" r:id="rId25"/>
    <p:sldId id="278" r:id="rId26"/>
    <p:sldId id="279" r:id="rId27"/>
    <p:sldId id="280" r:id="rId28"/>
    <p:sldId id="284" r:id="rId29"/>
    <p:sldId id="285" r:id="rId30"/>
    <p:sldId id="282" r:id="rId31"/>
    <p:sldId id="283" r:id="rId32"/>
    <p:sldId id="281"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3C1DFF5-50DF-4EBF-BFB0-DC5144FFD81B}" v="19" dt="2021-12-06T13:58:36.51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973" autoAdjust="0"/>
    <p:restoredTop sz="94660"/>
  </p:normalViewPr>
  <p:slideViewPr>
    <p:cSldViewPr snapToGrid="0">
      <p:cViewPr varScale="1">
        <p:scale>
          <a:sx n="66" d="100"/>
          <a:sy n="66" d="100"/>
        </p:scale>
        <p:origin x="72" y="6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5/10/relationships/revisionInfo" Target="revisionInfo.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hipps, Michael" userId="22b19e64-ae93-4d74-aed7-bbb364ca0772" providerId="ADAL" clId="{C3C1DFF5-50DF-4EBF-BFB0-DC5144FFD81B}"/>
    <pc:docChg chg="undo custSel modSld">
      <pc:chgData name="Phipps, Michael" userId="22b19e64-ae93-4d74-aed7-bbb364ca0772" providerId="ADAL" clId="{C3C1DFF5-50DF-4EBF-BFB0-DC5144FFD81B}" dt="2021-12-06T13:58:36.512" v="551" actId="20577"/>
      <pc:docMkLst>
        <pc:docMk/>
      </pc:docMkLst>
      <pc:sldChg chg="modSp mod">
        <pc:chgData name="Phipps, Michael" userId="22b19e64-ae93-4d74-aed7-bbb364ca0772" providerId="ADAL" clId="{C3C1DFF5-50DF-4EBF-BFB0-DC5144FFD81B}" dt="2021-12-06T13:58:17.341" v="539" actId="14100"/>
        <pc:sldMkLst>
          <pc:docMk/>
          <pc:sldMk cId="920745018" sldId="264"/>
        </pc:sldMkLst>
        <pc:spChg chg="mod">
          <ac:chgData name="Phipps, Michael" userId="22b19e64-ae93-4d74-aed7-bbb364ca0772" providerId="ADAL" clId="{C3C1DFF5-50DF-4EBF-BFB0-DC5144FFD81B}" dt="2021-12-06T13:58:17.341" v="539" actId="14100"/>
          <ac:spMkLst>
            <pc:docMk/>
            <pc:sldMk cId="920745018" sldId="264"/>
            <ac:spMk id="3" creationId="{1E996527-DF38-42B3-9F21-5AC02217B1BF}"/>
          </ac:spMkLst>
        </pc:spChg>
      </pc:sldChg>
      <pc:sldChg chg="modSp">
        <pc:chgData name="Phipps, Michael" userId="22b19e64-ae93-4d74-aed7-bbb364ca0772" providerId="ADAL" clId="{C3C1DFF5-50DF-4EBF-BFB0-DC5144FFD81B}" dt="2021-12-06T13:58:36.512" v="551" actId="20577"/>
        <pc:sldMkLst>
          <pc:docMk/>
          <pc:sldMk cId="910273759" sldId="268"/>
        </pc:sldMkLst>
        <pc:spChg chg="mod">
          <ac:chgData name="Phipps, Michael" userId="22b19e64-ae93-4d74-aed7-bbb364ca0772" providerId="ADAL" clId="{C3C1DFF5-50DF-4EBF-BFB0-DC5144FFD81B}" dt="2021-12-06T13:58:36.512" v="551" actId="20577"/>
          <ac:spMkLst>
            <pc:docMk/>
            <pc:sldMk cId="910273759" sldId="268"/>
            <ac:spMk id="3" creationId="{A956E76F-9188-44FD-9E91-0AC7F2E2D657}"/>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18-07-17T19:05:05.295"/>
    </inkml:context>
    <inkml:brush xml:id="br0">
      <inkml:brushProperty name="width" value="0.05" units="cm"/>
      <inkml:brushProperty name="height" value="0.05" units="cm"/>
      <inkml:brushProperty name="color" value="#E71224"/>
      <inkml:brushProperty name="ignorePressure" value="1"/>
    </inkml:brush>
  </inkml:definitions>
  <inkml:trace contextRef="#ctx0" brushRef="#br0">16050 464,'-2'-2,"1"0,-1 0,0 1,0-1,0 0,0 1,0-1,0 1,-1 0,1 0,0 0,-1 0,1 0,0 0,-1 1,0-1,-2-1,-118-38,0 5,-2 5,-2 5,-96-4,-519-11,656 37,-778-2,173 4,306-21,198 7,-172 10,74 23,-143 5,-977-19,722-6,108-21,37 0,221 17,-51-18,5-15,-209-20,-41 23,156 32,-156-4,-840-2,912 11,488 0,0 2,1 2,-1 2,1 3,-45 15,-38 10,-2-6,-46 1,180-30,-63 11,-12 2,-1-3,-24-3,-73-9,57 0,-8 6,113-2,0 1,0 0,0 1,0 1,1 0,-1 1,-40 13,-190 36,173-43,0 3,1 4,1 2,1 3,-9 8,62-23,0 0,1 1,0 0,0 1,1 0,0 1,1 1,1 0,0 1,1 0,0 0,-3 9,-14 30,2 1,2 0,2 5,0-4,2 1,1 1,3 0,3 2,-2 28,5 10,4 1,4 33,2-21,-1-7,4-1,4-1,13 54,60 164,-41-175,-6 2,-2 27,40 240,-56-329,-6-18,-4 1,-3 0,-3 25,0-20,3 1,9 52,14 65,-8 0,-9 14,-8 384,-4-266,3 676,1-986,0 1,1-1,0 0,1 0,1 0,0 0,0 0,1-1,1 0,-1 0,2 0,0-1,0 0,1 0,5 4,20 21,1-2,3-2,17 12,-26-21,30 20,1-3,2-3,1-2,2-4,1-2,1-2,1-4,41 7,119 20,220 17,-313-49,149 17,1-13,1-12,0-13,0-12,-1-12,62-24,-224 29,305-51,-287 56,1 6,8 6,1282 61,-1208-44,2-10,-1-9,68-18,36-14,304-33,1 37,-606 35,110 1,0-6,0-6,5-8,-125 17,225-41,103 0,-229 36,48-3,-1-7,-1-7,11-10,146-40,-225 58,1 4,41 1,-68 10,155-13,-177 10,-1-3,0-1,39-14,30-9,0 6,2 4,13 4,6-2,0-5,12-10,52-31,5-11,-17 6,45-5,-203 68,179-56,-171 50,-2-1,0-2,-1-2,19-13,-5-1,27-19,3 3,70-33,143-37,-118 51,-142 54,-2-1,0-2,0-1,-2-1,0-1,-2-1,0-2,-1-1,-1 0,12-19,7-14,-3-1,-3-2,-2-1,16-45,13-43,-8-2,-2-16,78-322,-47 168,8-6,83-322,-119 405,12-170,-38 103,-13 0,-14-1,-29-213,18 464,-12-44,11 62,1-1,2 0,2 1,2-10,3 35</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DEF5A9-FAA0-44C0-9580-4D842B14757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3DABABA-8AF5-4393-A042-D01713BB143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DC3584E-F034-450C-A916-13EF0662B133}"/>
              </a:ext>
            </a:extLst>
          </p:cNvPr>
          <p:cNvSpPr>
            <a:spLocks noGrp="1"/>
          </p:cNvSpPr>
          <p:nvPr>
            <p:ph type="dt" sz="half" idx="10"/>
          </p:nvPr>
        </p:nvSpPr>
        <p:spPr/>
        <p:txBody>
          <a:bodyPr/>
          <a:lstStyle/>
          <a:p>
            <a:fld id="{514C6943-367B-4BF1-9896-CA0FACD96F97}" type="datetimeFigureOut">
              <a:rPr lang="en-US" smtClean="0"/>
              <a:t>12/6/2021</a:t>
            </a:fld>
            <a:endParaRPr lang="en-US"/>
          </a:p>
        </p:txBody>
      </p:sp>
      <p:sp>
        <p:nvSpPr>
          <p:cNvPr id="5" name="Footer Placeholder 4">
            <a:extLst>
              <a:ext uri="{FF2B5EF4-FFF2-40B4-BE49-F238E27FC236}">
                <a16:creationId xmlns:a16="http://schemas.microsoft.com/office/drawing/2014/main" id="{2D89C228-171A-4FC6-A78E-CB3127B832F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74954D-9189-4C3E-B0A5-DBB5CED70A41}"/>
              </a:ext>
            </a:extLst>
          </p:cNvPr>
          <p:cNvSpPr>
            <a:spLocks noGrp="1"/>
          </p:cNvSpPr>
          <p:nvPr>
            <p:ph type="sldNum" sz="quarter" idx="12"/>
          </p:nvPr>
        </p:nvSpPr>
        <p:spPr/>
        <p:txBody>
          <a:bodyPr/>
          <a:lstStyle/>
          <a:p>
            <a:fld id="{81A7D106-C7AD-450B-BBF7-70D6F895F283}" type="slidenum">
              <a:rPr lang="en-US" smtClean="0"/>
              <a:t>‹#›</a:t>
            </a:fld>
            <a:endParaRPr lang="en-US"/>
          </a:p>
        </p:txBody>
      </p:sp>
    </p:spTree>
    <p:extLst>
      <p:ext uri="{BB962C8B-B14F-4D97-AF65-F5344CB8AC3E}">
        <p14:creationId xmlns:p14="http://schemas.microsoft.com/office/powerpoint/2010/main" val="16557014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E8E626-3894-431A-AD5D-DE6642415FD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36D64A3-9369-49F1-995D-C8210FACB7F3}"/>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963D98-889E-4C66-9AA4-EF96179B2101}"/>
              </a:ext>
            </a:extLst>
          </p:cNvPr>
          <p:cNvSpPr>
            <a:spLocks noGrp="1"/>
          </p:cNvSpPr>
          <p:nvPr>
            <p:ph type="dt" sz="half" idx="10"/>
          </p:nvPr>
        </p:nvSpPr>
        <p:spPr/>
        <p:txBody>
          <a:bodyPr/>
          <a:lstStyle/>
          <a:p>
            <a:fld id="{514C6943-367B-4BF1-9896-CA0FACD96F97}" type="datetimeFigureOut">
              <a:rPr lang="en-US" smtClean="0"/>
              <a:t>12/6/2021</a:t>
            </a:fld>
            <a:endParaRPr lang="en-US"/>
          </a:p>
        </p:txBody>
      </p:sp>
      <p:sp>
        <p:nvSpPr>
          <p:cNvPr id="5" name="Footer Placeholder 4">
            <a:extLst>
              <a:ext uri="{FF2B5EF4-FFF2-40B4-BE49-F238E27FC236}">
                <a16:creationId xmlns:a16="http://schemas.microsoft.com/office/drawing/2014/main" id="{53D5AD0C-B10B-40A2-8BF5-7405651344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5205B2A-1019-4FBC-B5EB-A2FF45B77CD3}"/>
              </a:ext>
            </a:extLst>
          </p:cNvPr>
          <p:cNvSpPr>
            <a:spLocks noGrp="1"/>
          </p:cNvSpPr>
          <p:nvPr>
            <p:ph type="sldNum" sz="quarter" idx="12"/>
          </p:nvPr>
        </p:nvSpPr>
        <p:spPr/>
        <p:txBody>
          <a:bodyPr/>
          <a:lstStyle/>
          <a:p>
            <a:fld id="{81A7D106-C7AD-450B-BBF7-70D6F895F283}" type="slidenum">
              <a:rPr lang="en-US" smtClean="0"/>
              <a:t>‹#›</a:t>
            </a:fld>
            <a:endParaRPr lang="en-US"/>
          </a:p>
        </p:txBody>
      </p:sp>
    </p:spTree>
    <p:extLst>
      <p:ext uri="{BB962C8B-B14F-4D97-AF65-F5344CB8AC3E}">
        <p14:creationId xmlns:p14="http://schemas.microsoft.com/office/powerpoint/2010/main" val="6084063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B7787D-02E0-48C7-989F-8CA25203AC3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DC1EB15-CA00-49C2-9FDB-2F2D16B4D2C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7BA0DB24-F5BA-4F88-B5D2-F08D35EBA22C}"/>
              </a:ext>
            </a:extLst>
          </p:cNvPr>
          <p:cNvSpPr>
            <a:spLocks noGrp="1"/>
          </p:cNvSpPr>
          <p:nvPr>
            <p:ph type="dt" sz="half" idx="10"/>
          </p:nvPr>
        </p:nvSpPr>
        <p:spPr/>
        <p:txBody>
          <a:bodyPr/>
          <a:lstStyle/>
          <a:p>
            <a:fld id="{514C6943-367B-4BF1-9896-CA0FACD96F97}" type="datetimeFigureOut">
              <a:rPr lang="en-US" smtClean="0"/>
              <a:t>12/6/2021</a:t>
            </a:fld>
            <a:endParaRPr lang="en-US"/>
          </a:p>
        </p:txBody>
      </p:sp>
      <p:sp>
        <p:nvSpPr>
          <p:cNvPr id="5" name="Footer Placeholder 4">
            <a:extLst>
              <a:ext uri="{FF2B5EF4-FFF2-40B4-BE49-F238E27FC236}">
                <a16:creationId xmlns:a16="http://schemas.microsoft.com/office/drawing/2014/main" id="{1D42B514-2D5B-4DAD-9B64-826985FE77E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3053C74-2232-454C-BA0F-126E3B9C4E45}"/>
              </a:ext>
            </a:extLst>
          </p:cNvPr>
          <p:cNvSpPr>
            <a:spLocks noGrp="1"/>
          </p:cNvSpPr>
          <p:nvPr>
            <p:ph type="sldNum" sz="quarter" idx="12"/>
          </p:nvPr>
        </p:nvSpPr>
        <p:spPr/>
        <p:txBody>
          <a:bodyPr/>
          <a:lstStyle/>
          <a:p>
            <a:fld id="{81A7D106-C7AD-450B-BBF7-70D6F895F283}" type="slidenum">
              <a:rPr lang="en-US" smtClean="0"/>
              <a:t>‹#›</a:t>
            </a:fld>
            <a:endParaRPr lang="en-US"/>
          </a:p>
        </p:txBody>
      </p:sp>
    </p:spTree>
    <p:extLst>
      <p:ext uri="{BB962C8B-B14F-4D97-AF65-F5344CB8AC3E}">
        <p14:creationId xmlns:p14="http://schemas.microsoft.com/office/powerpoint/2010/main" val="16127922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2E6818-3462-43A0-80A9-CC1F416368F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B9423B7-12AB-4C61-A0F4-A34C8F9269B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B20F5E1-12AE-4D1B-9EB4-3A3EDD8C0E7D}"/>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26BFE4B-E8C7-45BC-BBC3-4EDD7B1BE5AE}"/>
              </a:ext>
            </a:extLst>
          </p:cNvPr>
          <p:cNvSpPr>
            <a:spLocks noGrp="1"/>
          </p:cNvSpPr>
          <p:nvPr>
            <p:ph type="dt" sz="half" idx="10"/>
          </p:nvPr>
        </p:nvSpPr>
        <p:spPr/>
        <p:txBody>
          <a:bodyPr/>
          <a:lstStyle/>
          <a:p>
            <a:fld id="{514C6943-367B-4BF1-9896-CA0FACD96F97}" type="datetimeFigureOut">
              <a:rPr lang="en-US" smtClean="0"/>
              <a:t>12/6/2021</a:t>
            </a:fld>
            <a:endParaRPr lang="en-US"/>
          </a:p>
        </p:txBody>
      </p:sp>
      <p:sp>
        <p:nvSpPr>
          <p:cNvPr id="6" name="Footer Placeholder 5">
            <a:extLst>
              <a:ext uri="{FF2B5EF4-FFF2-40B4-BE49-F238E27FC236}">
                <a16:creationId xmlns:a16="http://schemas.microsoft.com/office/drawing/2014/main" id="{FB2895DB-D1AD-4CC9-BA8B-FF6BE084A75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D56721A-9304-4E54-BC4F-E4FAC97216B9}"/>
              </a:ext>
            </a:extLst>
          </p:cNvPr>
          <p:cNvSpPr>
            <a:spLocks noGrp="1"/>
          </p:cNvSpPr>
          <p:nvPr>
            <p:ph type="sldNum" sz="quarter" idx="12"/>
          </p:nvPr>
        </p:nvSpPr>
        <p:spPr/>
        <p:txBody>
          <a:bodyPr/>
          <a:lstStyle/>
          <a:p>
            <a:fld id="{81A7D106-C7AD-450B-BBF7-70D6F895F283}" type="slidenum">
              <a:rPr lang="en-US" smtClean="0"/>
              <a:t>‹#›</a:t>
            </a:fld>
            <a:endParaRPr lang="en-US"/>
          </a:p>
        </p:txBody>
      </p:sp>
    </p:spTree>
    <p:extLst>
      <p:ext uri="{BB962C8B-B14F-4D97-AF65-F5344CB8AC3E}">
        <p14:creationId xmlns:p14="http://schemas.microsoft.com/office/powerpoint/2010/main" val="25602027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A04740-AA8C-414D-86C3-8A9568EC395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BFBB907-EF9A-4B45-BBF1-00FBD158645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722CEAC7-BF21-4844-BEA3-DC43B7F392F2}"/>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F226FF8-8A0C-430E-8DB5-99981A458B7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D9896174-7FB1-48FB-BF88-9CF741274214}"/>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19FC75A-04B6-4054-A205-34B320EE060A}"/>
              </a:ext>
            </a:extLst>
          </p:cNvPr>
          <p:cNvSpPr>
            <a:spLocks noGrp="1"/>
          </p:cNvSpPr>
          <p:nvPr>
            <p:ph type="dt" sz="half" idx="10"/>
          </p:nvPr>
        </p:nvSpPr>
        <p:spPr/>
        <p:txBody>
          <a:bodyPr/>
          <a:lstStyle/>
          <a:p>
            <a:fld id="{514C6943-367B-4BF1-9896-CA0FACD96F97}" type="datetimeFigureOut">
              <a:rPr lang="en-US" smtClean="0"/>
              <a:t>12/6/2021</a:t>
            </a:fld>
            <a:endParaRPr lang="en-US"/>
          </a:p>
        </p:txBody>
      </p:sp>
      <p:sp>
        <p:nvSpPr>
          <p:cNvPr id="8" name="Footer Placeholder 7">
            <a:extLst>
              <a:ext uri="{FF2B5EF4-FFF2-40B4-BE49-F238E27FC236}">
                <a16:creationId xmlns:a16="http://schemas.microsoft.com/office/drawing/2014/main" id="{DC402613-171D-48D0-AAA5-09633F0426C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8A2D338-EACB-48D9-A0B4-8D477792D1D6}"/>
              </a:ext>
            </a:extLst>
          </p:cNvPr>
          <p:cNvSpPr>
            <a:spLocks noGrp="1"/>
          </p:cNvSpPr>
          <p:nvPr>
            <p:ph type="sldNum" sz="quarter" idx="12"/>
          </p:nvPr>
        </p:nvSpPr>
        <p:spPr/>
        <p:txBody>
          <a:bodyPr/>
          <a:lstStyle/>
          <a:p>
            <a:fld id="{81A7D106-C7AD-450B-BBF7-70D6F895F283}" type="slidenum">
              <a:rPr lang="en-US" smtClean="0"/>
              <a:t>‹#›</a:t>
            </a:fld>
            <a:endParaRPr lang="en-US"/>
          </a:p>
        </p:txBody>
      </p:sp>
    </p:spTree>
    <p:extLst>
      <p:ext uri="{BB962C8B-B14F-4D97-AF65-F5344CB8AC3E}">
        <p14:creationId xmlns:p14="http://schemas.microsoft.com/office/powerpoint/2010/main" val="13221585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7DE6D7-ADD6-47DF-9A25-19C30FD62B9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D142694-A124-4A4A-A295-48193996121A}"/>
              </a:ext>
            </a:extLst>
          </p:cNvPr>
          <p:cNvSpPr>
            <a:spLocks noGrp="1"/>
          </p:cNvSpPr>
          <p:nvPr>
            <p:ph type="dt" sz="half" idx="10"/>
          </p:nvPr>
        </p:nvSpPr>
        <p:spPr/>
        <p:txBody>
          <a:bodyPr/>
          <a:lstStyle/>
          <a:p>
            <a:fld id="{514C6943-367B-4BF1-9896-CA0FACD96F97}" type="datetimeFigureOut">
              <a:rPr lang="en-US" smtClean="0"/>
              <a:t>12/6/2021</a:t>
            </a:fld>
            <a:endParaRPr lang="en-US"/>
          </a:p>
        </p:txBody>
      </p:sp>
      <p:sp>
        <p:nvSpPr>
          <p:cNvPr id="4" name="Footer Placeholder 3">
            <a:extLst>
              <a:ext uri="{FF2B5EF4-FFF2-40B4-BE49-F238E27FC236}">
                <a16:creationId xmlns:a16="http://schemas.microsoft.com/office/drawing/2014/main" id="{F338C2F9-9053-42A7-8FE8-883C3848C39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A939681-CBFC-489B-A742-7AC6D1A6349A}"/>
              </a:ext>
            </a:extLst>
          </p:cNvPr>
          <p:cNvSpPr>
            <a:spLocks noGrp="1"/>
          </p:cNvSpPr>
          <p:nvPr>
            <p:ph type="sldNum" sz="quarter" idx="12"/>
          </p:nvPr>
        </p:nvSpPr>
        <p:spPr/>
        <p:txBody>
          <a:bodyPr/>
          <a:lstStyle/>
          <a:p>
            <a:fld id="{81A7D106-C7AD-450B-BBF7-70D6F895F283}" type="slidenum">
              <a:rPr lang="en-US" smtClean="0"/>
              <a:t>‹#›</a:t>
            </a:fld>
            <a:endParaRPr lang="en-US"/>
          </a:p>
        </p:txBody>
      </p:sp>
    </p:spTree>
    <p:extLst>
      <p:ext uri="{BB962C8B-B14F-4D97-AF65-F5344CB8AC3E}">
        <p14:creationId xmlns:p14="http://schemas.microsoft.com/office/powerpoint/2010/main" val="27250412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1B737BC-9D79-4F84-887A-09BA24CD3F2A}"/>
              </a:ext>
            </a:extLst>
          </p:cNvPr>
          <p:cNvSpPr>
            <a:spLocks noGrp="1"/>
          </p:cNvSpPr>
          <p:nvPr>
            <p:ph type="dt" sz="half" idx="10"/>
          </p:nvPr>
        </p:nvSpPr>
        <p:spPr/>
        <p:txBody>
          <a:bodyPr/>
          <a:lstStyle/>
          <a:p>
            <a:fld id="{514C6943-367B-4BF1-9896-CA0FACD96F97}" type="datetimeFigureOut">
              <a:rPr lang="en-US" smtClean="0"/>
              <a:t>12/6/2021</a:t>
            </a:fld>
            <a:endParaRPr lang="en-US"/>
          </a:p>
        </p:txBody>
      </p:sp>
      <p:sp>
        <p:nvSpPr>
          <p:cNvPr id="3" name="Footer Placeholder 2">
            <a:extLst>
              <a:ext uri="{FF2B5EF4-FFF2-40B4-BE49-F238E27FC236}">
                <a16:creationId xmlns:a16="http://schemas.microsoft.com/office/drawing/2014/main" id="{996AC270-C5B0-463C-91D0-0EF68C34002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ADA3012-5300-473D-82EE-BF35EBA9B9BC}"/>
              </a:ext>
            </a:extLst>
          </p:cNvPr>
          <p:cNvSpPr>
            <a:spLocks noGrp="1"/>
          </p:cNvSpPr>
          <p:nvPr>
            <p:ph type="sldNum" sz="quarter" idx="12"/>
          </p:nvPr>
        </p:nvSpPr>
        <p:spPr/>
        <p:txBody>
          <a:bodyPr/>
          <a:lstStyle/>
          <a:p>
            <a:fld id="{81A7D106-C7AD-450B-BBF7-70D6F895F283}" type="slidenum">
              <a:rPr lang="en-US" smtClean="0"/>
              <a:t>‹#›</a:t>
            </a:fld>
            <a:endParaRPr lang="en-US"/>
          </a:p>
        </p:txBody>
      </p:sp>
    </p:spTree>
    <p:extLst>
      <p:ext uri="{BB962C8B-B14F-4D97-AF65-F5344CB8AC3E}">
        <p14:creationId xmlns:p14="http://schemas.microsoft.com/office/powerpoint/2010/main" val="22644162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9E771E-5F18-4B7F-BE5F-6B37523A18A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1938763-4EE7-404F-ACA7-E887DCD3C67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E02C091-C950-4562-8581-50F48C3B6E4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3EAD5EC5-B097-404C-95B4-5C7ACC73C305}"/>
              </a:ext>
            </a:extLst>
          </p:cNvPr>
          <p:cNvSpPr>
            <a:spLocks noGrp="1"/>
          </p:cNvSpPr>
          <p:nvPr>
            <p:ph type="dt" sz="half" idx="10"/>
          </p:nvPr>
        </p:nvSpPr>
        <p:spPr/>
        <p:txBody>
          <a:bodyPr/>
          <a:lstStyle/>
          <a:p>
            <a:fld id="{514C6943-367B-4BF1-9896-CA0FACD96F97}" type="datetimeFigureOut">
              <a:rPr lang="en-US" smtClean="0"/>
              <a:t>12/6/2021</a:t>
            </a:fld>
            <a:endParaRPr lang="en-US"/>
          </a:p>
        </p:txBody>
      </p:sp>
      <p:sp>
        <p:nvSpPr>
          <p:cNvPr id="6" name="Footer Placeholder 5">
            <a:extLst>
              <a:ext uri="{FF2B5EF4-FFF2-40B4-BE49-F238E27FC236}">
                <a16:creationId xmlns:a16="http://schemas.microsoft.com/office/drawing/2014/main" id="{7AE59EFF-BDCD-410E-8110-86071E710BC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1B752DD-8694-492F-8B0C-0EA0185DF584}"/>
              </a:ext>
            </a:extLst>
          </p:cNvPr>
          <p:cNvSpPr>
            <a:spLocks noGrp="1"/>
          </p:cNvSpPr>
          <p:nvPr>
            <p:ph type="sldNum" sz="quarter" idx="12"/>
          </p:nvPr>
        </p:nvSpPr>
        <p:spPr/>
        <p:txBody>
          <a:bodyPr/>
          <a:lstStyle/>
          <a:p>
            <a:fld id="{81A7D106-C7AD-450B-BBF7-70D6F895F283}" type="slidenum">
              <a:rPr lang="en-US" smtClean="0"/>
              <a:t>‹#›</a:t>
            </a:fld>
            <a:endParaRPr lang="en-US"/>
          </a:p>
        </p:txBody>
      </p:sp>
    </p:spTree>
    <p:extLst>
      <p:ext uri="{BB962C8B-B14F-4D97-AF65-F5344CB8AC3E}">
        <p14:creationId xmlns:p14="http://schemas.microsoft.com/office/powerpoint/2010/main" val="31402635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FA3E37-F730-4C69-BDD0-F20E2EEF506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C6ABF93-55A2-400D-B7A7-27109E51B07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E507056-2B8E-4414-B289-BC9A4BDDFEE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D4A85DC5-3CFD-4176-B9EF-4473CC5AEB4B}"/>
              </a:ext>
            </a:extLst>
          </p:cNvPr>
          <p:cNvSpPr>
            <a:spLocks noGrp="1"/>
          </p:cNvSpPr>
          <p:nvPr>
            <p:ph type="dt" sz="half" idx="10"/>
          </p:nvPr>
        </p:nvSpPr>
        <p:spPr/>
        <p:txBody>
          <a:bodyPr/>
          <a:lstStyle/>
          <a:p>
            <a:fld id="{514C6943-367B-4BF1-9896-CA0FACD96F97}" type="datetimeFigureOut">
              <a:rPr lang="en-US" smtClean="0"/>
              <a:t>12/6/2021</a:t>
            </a:fld>
            <a:endParaRPr lang="en-US"/>
          </a:p>
        </p:txBody>
      </p:sp>
      <p:sp>
        <p:nvSpPr>
          <p:cNvPr id="6" name="Footer Placeholder 5">
            <a:extLst>
              <a:ext uri="{FF2B5EF4-FFF2-40B4-BE49-F238E27FC236}">
                <a16:creationId xmlns:a16="http://schemas.microsoft.com/office/drawing/2014/main" id="{F4A4D09C-99BC-4428-8136-CC1E7F473EA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C0B6397-1692-45A4-9CAB-E1416B8D1A9F}"/>
              </a:ext>
            </a:extLst>
          </p:cNvPr>
          <p:cNvSpPr>
            <a:spLocks noGrp="1"/>
          </p:cNvSpPr>
          <p:nvPr>
            <p:ph type="sldNum" sz="quarter" idx="12"/>
          </p:nvPr>
        </p:nvSpPr>
        <p:spPr/>
        <p:txBody>
          <a:bodyPr/>
          <a:lstStyle/>
          <a:p>
            <a:fld id="{81A7D106-C7AD-450B-BBF7-70D6F895F283}" type="slidenum">
              <a:rPr lang="en-US" smtClean="0"/>
              <a:t>‹#›</a:t>
            </a:fld>
            <a:endParaRPr lang="en-US"/>
          </a:p>
        </p:txBody>
      </p:sp>
    </p:spTree>
    <p:extLst>
      <p:ext uri="{BB962C8B-B14F-4D97-AF65-F5344CB8AC3E}">
        <p14:creationId xmlns:p14="http://schemas.microsoft.com/office/powerpoint/2010/main" val="27150754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15D438-F17E-44C4-B870-EEAD525C69A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73330D4-0185-4FF3-A147-FFA3C401DF84}"/>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B273412-E405-4C76-B179-6879245B6970}"/>
              </a:ext>
            </a:extLst>
          </p:cNvPr>
          <p:cNvSpPr>
            <a:spLocks noGrp="1"/>
          </p:cNvSpPr>
          <p:nvPr>
            <p:ph type="dt" sz="half" idx="10"/>
          </p:nvPr>
        </p:nvSpPr>
        <p:spPr/>
        <p:txBody>
          <a:bodyPr/>
          <a:lstStyle/>
          <a:p>
            <a:fld id="{514C6943-367B-4BF1-9896-CA0FACD96F97}" type="datetimeFigureOut">
              <a:rPr lang="en-US" smtClean="0"/>
              <a:t>12/6/2021</a:t>
            </a:fld>
            <a:endParaRPr lang="en-US"/>
          </a:p>
        </p:txBody>
      </p:sp>
      <p:sp>
        <p:nvSpPr>
          <p:cNvPr id="5" name="Footer Placeholder 4">
            <a:extLst>
              <a:ext uri="{FF2B5EF4-FFF2-40B4-BE49-F238E27FC236}">
                <a16:creationId xmlns:a16="http://schemas.microsoft.com/office/drawing/2014/main" id="{E455EC4D-23BE-44F6-AAE9-C8E3D958260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90D3583-6CB1-4A3D-A70E-67057631620C}"/>
              </a:ext>
            </a:extLst>
          </p:cNvPr>
          <p:cNvSpPr>
            <a:spLocks noGrp="1"/>
          </p:cNvSpPr>
          <p:nvPr>
            <p:ph type="sldNum" sz="quarter" idx="12"/>
          </p:nvPr>
        </p:nvSpPr>
        <p:spPr/>
        <p:txBody>
          <a:bodyPr/>
          <a:lstStyle/>
          <a:p>
            <a:fld id="{81A7D106-C7AD-450B-BBF7-70D6F895F283}" type="slidenum">
              <a:rPr lang="en-US" smtClean="0"/>
              <a:t>‹#›</a:t>
            </a:fld>
            <a:endParaRPr lang="en-US"/>
          </a:p>
        </p:txBody>
      </p:sp>
    </p:spTree>
    <p:extLst>
      <p:ext uri="{BB962C8B-B14F-4D97-AF65-F5344CB8AC3E}">
        <p14:creationId xmlns:p14="http://schemas.microsoft.com/office/powerpoint/2010/main" val="33446099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22CE786-DDCB-48D4-96AD-087720CDF88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D8ECC8B-9665-47A0-A070-1BA95361B683}"/>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1893FB-19EE-43CC-8D38-DD2E61A1D9E0}"/>
              </a:ext>
            </a:extLst>
          </p:cNvPr>
          <p:cNvSpPr>
            <a:spLocks noGrp="1"/>
          </p:cNvSpPr>
          <p:nvPr>
            <p:ph type="dt" sz="half" idx="10"/>
          </p:nvPr>
        </p:nvSpPr>
        <p:spPr/>
        <p:txBody>
          <a:bodyPr/>
          <a:lstStyle/>
          <a:p>
            <a:fld id="{514C6943-367B-4BF1-9896-CA0FACD96F97}" type="datetimeFigureOut">
              <a:rPr lang="en-US" smtClean="0"/>
              <a:t>12/6/2021</a:t>
            </a:fld>
            <a:endParaRPr lang="en-US"/>
          </a:p>
        </p:txBody>
      </p:sp>
      <p:sp>
        <p:nvSpPr>
          <p:cNvPr id="5" name="Footer Placeholder 4">
            <a:extLst>
              <a:ext uri="{FF2B5EF4-FFF2-40B4-BE49-F238E27FC236}">
                <a16:creationId xmlns:a16="http://schemas.microsoft.com/office/drawing/2014/main" id="{92AFC4AF-7F48-46B6-ADB0-0FD3A326F6F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ABDDB5B-2A5E-4724-81D9-A3F68BB94436}"/>
              </a:ext>
            </a:extLst>
          </p:cNvPr>
          <p:cNvSpPr>
            <a:spLocks noGrp="1"/>
          </p:cNvSpPr>
          <p:nvPr>
            <p:ph type="sldNum" sz="quarter" idx="12"/>
          </p:nvPr>
        </p:nvSpPr>
        <p:spPr/>
        <p:txBody>
          <a:bodyPr/>
          <a:lstStyle/>
          <a:p>
            <a:fld id="{81A7D106-C7AD-450B-BBF7-70D6F895F283}" type="slidenum">
              <a:rPr lang="en-US" smtClean="0"/>
              <a:t>‹#›</a:t>
            </a:fld>
            <a:endParaRPr lang="en-US"/>
          </a:p>
        </p:txBody>
      </p:sp>
    </p:spTree>
    <p:extLst>
      <p:ext uri="{BB962C8B-B14F-4D97-AF65-F5344CB8AC3E}">
        <p14:creationId xmlns:p14="http://schemas.microsoft.com/office/powerpoint/2010/main" val="2194741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14DD9D1-B994-4C4E-AD76-F71750997B7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1CD60B6-AB05-452A-A077-9C81AADF71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79F37D2-705B-4CFD-9DEF-0A63F727238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14C6943-367B-4BF1-9896-CA0FACD96F97}" type="datetimeFigureOut">
              <a:rPr lang="en-US" smtClean="0"/>
              <a:t>12/6/2021</a:t>
            </a:fld>
            <a:endParaRPr lang="en-US"/>
          </a:p>
        </p:txBody>
      </p:sp>
      <p:sp>
        <p:nvSpPr>
          <p:cNvPr id="5" name="Footer Placeholder 4">
            <a:extLst>
              <a:ext uri="{FF2B5EF4-FFF2-40B4-BE49-F238E27FC236}">
                <a16:creationId xmlns:a16="http://schemas.microsoft.com/office/drawing/2014/main" id="{7499BB93-8295-426B-86A1-83B02825FE6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308B9DBD-BE84-4C67-BB75-E6343E720D8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1A7D106-C7AD-450B-BBF7-70D6F895F283}" type="slidenum">
              <a:rPr lang="en-US" smtClean="0"/>
              <a:t>‹#›</a:t>
            </a:fld>
            <a:endParaRPr lang="en-US"/>
          </a:p>
        </p:txBody>
      </p:sp>
    </p:spTree>
    <p:extLst>
      <p:ext uri="{BB962C8B-B14F-4D97-AF65-F5344CB8AC3E}">
        <p14:creationId xmlns:p14="http://schemas.microsoft.com/office/powerpoint/2010/main" val="117113592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customXml" Target="../ink/ink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26FF1-F155-4556-98F4-8CDF4AD13FFB}"/>
              </a:ext>
            </a:extLst>
          </p:cNvPr>
          <p:cNvSpPr>
            <a:spLocks noGrp="1"/>
          </p:cNvSpPr>
          <p:nvPr>
            <p:ph type="ctrTitle"/>
          </p:nvPr>
        </p:nvSpPr>
        <p:spPr>
          <a:xfrm>
            <a:off x="0" y="2788919"/>
            <a:ext cx="12192000" cy="977075"/>
          </a:xfrm>
        </p:spPr>
        <p:txBody>
          <a:bodyPr/>
          <a:lstStyle/>
          <a:p>
            <a:r>
              <a:rPr lang="en-US" dirty="0"/>
              <a:t>Caches</a:t>
            </a:r>
          </a:p>
        </p:txBody>
      </p:sp>
    </p:spTree>
    <p:extLst>
      <p:ext uri="{BB962C8B-B14F-4D97-AF65-F5344CB8AC3E}">
        <p14:creationId xmlns:p14="http://schemas.microsoft.com/office/powerpoint/2010/main" val="26237601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descr="Image result for need for speed">
            <a:extLst>
              <a:ext uri="{FF2B5EF4-FFF2-40B4-BE49-F238E27FC236}">
                <a16:creationId xmlns:a16="http://schemas.microsoft.com/office/drawing/2014/main" id="{BB5DF118-90E3-47E8-9735-16AC3B44C03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3434"/>
          <a:stretch/>
        </p:blipFill>
        <p:spPr bwMode="auto">
          <a:xfrm>
            <a:off x="-1" y="10"/>
            <a:ext cx="12192000" cy="6857990"/>
          </a:xfrm>
          <a:prstGeom prst="rect">
            <a:avLst/>
          </a:prstGeom>
          <a:noFill/>
          <a:extLst>
            <a:ext uri="{909E8E84-426E-40DD-AFC4-6F175D3DCCD1}">
              <a14:hiddenFill xmlns:a14="http://schemas.microsoft.com/office/drawing/2010/main">
                <a:solidFill>
                  <a:srgbClr val="FFFFFF"/>
                </a:solidFill>
              </a14:hiddenFill>
            </a:ext>
          </a:extLst>
        </p:spPr>
      </p:pic>
      <p:sp>
        <p:nvSpPr>
          <p:cNvPr id="71" name="Freeform 5">
            <a:extLst>
              <a:ext uri="{FF2B5EF4-FFF2-40B4-BE49-F238E27FC236}">
                <a16:creationId xmlns:a16="http://schemas.microsoft.com/office/drawing/2014/main" id="{3CD9DF72-87A3-404E-A828-84CBF11A83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flipH="1">
            <a:off x="0" y="998175"/>
            <a:ext cx="6017172" cy="5859825"/>
          </a:xfrm>
          <a:custGeom>
            <a:avLst/>
            <a:gdLst>
              <a:gd name="T0" fmla="*/ 1333 w 1333"/>
              <a:gd name="T1" fmla="*/ 1031 h 1298"/>
              <a:gd name="T2" fmla="*/ 1333 w 1333"/>
              <a:gd name="T3" fmla="*/ 380 h 1298"/>
              <a:gd name="T4" fmla="*/ 706 w 1333"/>
              <a:gd name="T5" fmla="*/ 0 h 1298"/>
              <a:gd name="T6" fmla="*/ 0 w 1333"/>
              <a:gd name="T7" fmla="*/ 706 h 1298"/>
              <a:gd name="T8" fmla="*/ 323 w 1333"/>
              <a:gd name="T9" fmla="*/ 1298 h 1298"/>
              <a:gd name="T10" fmla="*/ 1090 w 1333"/>
              <a:gd name="T11" fmla="*/ 1298 h 1298"/>
              <a:gd name="T12" fmla="*/ 1333 w 1333"/>
              <a:gd name="T13" fmla="*/ 1031 h 1298"/>
            </a:gdLst>
            <a:ahLst/>
            <a:cxnLst>
              <a:cxn ang="0">
                <a:pos x="T0" y="T1"/>
              </a:cxn>
              <a:cxn ang="0">
                <a:pos x="T2" y="T3"/>
              </a:cxn>
              <a:cxn ang="0">
                <a:pos x="T4" y="T5"/>
              </a:cxn>
              <a:cxn ang="0">
                <a:pos x="T6" y="T7"/>
              </a:cxn>
              <a:cxn ang="0">
                <a:pos x="T8" y="T9"/>
              </a:cxn>
              <a:cxn ang="0">
                <a:pos x="T10" y="T11"/>
              </a:cxn>
              <a:cxn ang="0">
                <a:pos x="T12" y="T13"/>
              </a:cxn>
            </a:cxnLst>
            <a:rect l="0" t="0" r="r" b="b"/>
            <a:pathLst>
              <a:path w="1333" h="1298">
                <a:moveTo>
                  <a:pt x="1333" y="1031"/>
                </a:moveTo>
                <a:cubicBezTo>
                  <a:pt x="1333" y="380"/>
                  <a:pt x="1333" y="380"/>
                  <a:pt x="1333" y="380"/>
                </a:cubicBezTo>
                <a:cubicBezTo>
                  <a:pt x="1215" y="154"/>
                  <a:pt x="979" y="0"/>
                  <a:pt x="706" y="0"/>
                </a:cubicBezTo>
                <a:cubicBezTo>
                  <a:pt x="317" y="0"/>
                  <a:pt x="0" y="316"/>
                  <a:pt x="0" y="706"/>
                </a:cubicBezTo>
                <a:cubicBezTo>
                  <a:pt x="0" y="954"/>
                  <a:pt x="129" y="1172"/>
                  <a:pt x="323" y="1298"/>
                </a:cubicBezTo>
                <a:cubicBezTo>
                  <a:pt x="1090" y="1298"/>
                  <a:pt x="1090" y="1298"/>
                  <a:pt x="1090" y="1298"/>
                </a:cubicBezTo>
                <a:cubicBezTo>
                  <a:pt x="1193" y="1232"/>
                  <a:pt x="1276" y="1140"/>
                  <a:pt x="1333" y="1031"/>
                </a:cubicBezTo>
                <a:close/>
              </a:path>
            </a:pathLst>
          </a:custGeom>
          <a:solidFill>
            <a:schemeClr val="bg1">
              <a:alpha val="75000"/>
            </a:schemeClr>
          </a:solidFill>
          <a:ln w="50800" cap="sq" cmpd="dbl">
            <a:noFill/>
            <a:miter lim="800000"/>
          </a:ln>
          <a:effectLst/>
        </p:spPr>
        <p:txBody>
          <a:bodyPr vert="horz" lIns="91440" tIns="45720" rIns="91440" bIns="45720" rtlCol="0" anchor="t">
            <a:normAutofit/>
          </a:bodyPr>
          <a:lstStyle/>
          <a:p>
            <a:pPr algn="ctr">
              <a:spcAft>
                <a:spcPts val="1000"/>
              </a:spcAft>
              <a:buClr>
                <a:schemeClr val="tx1"/>
              </a:buClr>
              <a:buSzPct val="100000"/>
              <a:buFont typeface="Arial"/>
              <a:buNone/>
            </a:pPr>
            <a:endParaRPr lang="en-US" sz="1600" cap="all"/>
          </a:p>
        </p:txBody>
      </p:sp>
      <p:cxnSp>
        <p:nvCxnSpPr>
          <p:cNvPr id="73" name="Straight Connector 72">
            <a:extLst>
              <a:ext uri="{FF2B5EF4-FFF2-40B4-BE49-F238E27FC236}">
                <a16:creationId xmlns:a16="http://schemas.microsoft.com/office/drawing/2014/main" id="{20E3A342-4D61-4E3F-AF90-1AB42AEB96C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2287051" y="3337139"/>
            <a:ext cx="935420" cy="0"/>
          </a:xfrm>
          <a:prstGeom prst="line">
            <a:avLst/>
          </a:prstGeom>
          <a:ln w="25400" cap="sq">
            <a:solidFill>
              <a:schemeClr val="tx1">
                <a:lumMod val="85000"/>
                <a:lumOff val="15000"/>
              </a:schemeClr>
            </a:solidFill>
            <a:beve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247A45CB-CB22-4F59-8E1D-234AFE504607}"/>
              </a:ext>
            </a:extLst>
          </p:cNvPr>
          <p:cNvSpPr>
            <a:spLocks noGrp="1"/>
          </p:cNvSpPr>
          <p:nvPr>
            <p:ph idx="1"/>
          </p:nvPr>
        </p:nvSpPr>
        <p:spPr>
          <a:xfrm>
            <a:off x="525516" y="3417573"/>
            <a:ext cx="4593021" cy="2619839"/>
          </a:xfrm>
        </p:spPr>
        <p:txBody>
          <a:bodyPr anchor="ctr">
            <a:normAutofit/>
          </a:bodyPr>
          <a:lstStyle/>
          <a:p>
            <a:pPr marL="0" indent="0">
              <a:buNone/>
            </a:pPr>
            <a:r>
              <a:rPr lang="en-US" sz="1800"/>
              <a:t>DRAM is not fast enough to keep our processors filled with instructions and data. </a:t>
            </a:r>
          </a:p>
          <a:p>
            <a:pPr marL="0" indent="0">
              <a:buNone/>
            </a:pPr>
            <a:endParaRPr lang="en-US" sz="1800"/>
          </a:p>
          <a:p>
            <a:pPr marL="0" indent="0">
              <a:buNone/>
            </a:pPr>
            <a:r>
              <a:rPr lang="en-US" sz="1800"/>
              <a:t>SRAM is too expensive to run our computers on.</a:t>
            </a:r>
          </a:p>
          <a:p>
            <a:pPr marL="0" indent="0">
              <a:buNone/>
            </a:pPr>
            <a:endParaRPr lang="en-US" sz="1800"/>
          </a:p>
          <a:p>
            <a:pPr marL="0" indent="0">
              <a:buNone/>
            </a:pPr>
            <a:r>
              <a:rPr lang="en-US" sz="1800"/>
              <a:t>What do we do?</a:t>
            </a:r>
          </a:p>
        </p:txBody>
      </p:sp>
    </p:spTree>
    <p:extLst>
      <p:ext uri="{BB962C8B-B14F-4D97-AF65-F5344CB8AC3E}">
        <p14:creationId xmlns:p14="http://schemas.microsoft.com/office/powerpoint/2010/main" val="14491319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050" name="Picture 2" descr="Image result for lawyer study">
            <a:extLst>
              <a:ext uri="{FF2B5EF4-FFF2-40B4-BE49-F238E27FC236}">
                <a16:creationId xmlns:a16="http://schemas.microsoft.com/office/drawing/2014/main" id="{FA000C82-A73B-45E5-9B73-FFB229EA328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602" b="15128"/>
          <a:stretch/>
        </p:blipFill>
        <p:spPr bwMode="auto">
          <a:xfrm>
            <a:off x="20" y="10"/>
            <a:ext cx="12191980" cy="6857990"/>
          </a:xfrm>
          <a:prstGeom prst="rect">
            <a:avLst/>
          </a:prstGeom>
          <a:noFill/>
          <a:extLst>
            <a:ext uri="{909E8E84-426E-40DD-AFC4-6F175D3DCCD1}">
              <a14:hiddenFill xmlns:a14="http://schemas.microsoft.com/office/drawing/2010/main">
                <a:solidFill>
                  <a:srgbClr val="FFFFFF"/>
                </a:solidFill>
              </a14:hiddenFill>
            </a:ext>
          </a:extLst>
        </p:spPr>
      </p:pic>
      <p:sp>
        <p:nvSpPr>
          <p:cNvPr id="71" name="Freeform: Shape 70">
            <a:extLst>
              <a:ext uri="{FF2B5EF4-FFF2-40B4-BE49-F238E27FC236}">
                <a16:creationId xmlns:a16="http://schemas.microsoft.com/office/drawing/2014/main" id="{E862BE82-D00D-42C1-BF16-93AA37870C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008"/>
            <a:ext cx="5609220" cy="5840278"/>
          </a:xfrm>
          <a:custGeom>
            <a:avLst/>
            <a:gdLst>
              <a:gd name="connsiteX0" fmla="*/ 0 w 5609220"/>
              <a:gd name="connsiteY0" fmla="*/ 0 h 5840278"/>
              <a:gd name="connsiteX1" fmla="*/ 4637091 w 5609220"/>
              <a:gd name="connsiteY1" fmla="*/ 0 h 5840278"/>
              <a:gd name="connsiteX2" fmla="*/ 4822569 w 5609220"/>
              <a:gd name="connsiteY2" fmla="*/ 204077 h 5840278"/>
              <a:gd name="connsiteX3" fmla="*/ 5609220 w 5609220"/>
              <a:gd name="connsiteY3" fmla="*/ 2395363 h 5840278"/>
              <a:gd name="connsiteX4" fmla="*/ 2164305 w 5609220"/>
              <a:gd name="connsiteY4" fmla="*/ 5840278 h 5840278"/>
              <a:gd name="connsiteX5" fmla="*/ 238220 w 5609220"/>
              <a:gd name="connsiteY5" fmla="*/ 5251941 h 5840278"/>
              <a:gd name="connsiteX6" fmla="*/ 0 w 5609220"/>
              <a:gd name="connsiteY6" fmla="*/ 5073803 h 5840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609220" h="5840278">
                <a:moveTo>
                  <a:pt x="0" y="0"/>
                </a:moveTo>
                <a:lnTo>
                  <a:pt x="4637091" y="0"/>
                </a:lnTo>
                <a:lnTo>
                  <a:pt x="4822569" y="204077"/>
                </a:lnTo>
                <a:cubicBezTo>
                  <a:pt x="5314007" y="799562"/>
                  <a:pt x="5609220" y="1562987"/>
                  <a:pt x="5609220" y="2395363"/>
                </a:cubicBezTo>
                <a:cubicBezTo>
                  <a:pt x="5609220" y="4297937"/>
                  <a:pt x="4066879" y="5840278"/>
                  <a:pt x="2164305" y="5840278"/>
                </a:cubicBezTo>
                <a:cubicBezTo>
                  <a:pt x="1450840" y="5840278"/>
                  <a:pt x="788032" y="5623387"/>
                  <a:pt x="238220" y="5251941"/>
                </a:cubicBezTo>
                <a:lnTo>
                  <a:pt x="0" y="5073803"/>
                </a:lnTo>
                <a:close/>
              </a:path>
            </a:pathLst>
          </a:custGeom>
          <a:solidFill>
            <a:schemeClr val="bg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3" name="Freeform: Shape 72">
            <a:extLst>
              <a:ext uri="{FF2B5EF4-FFF2-40B4-BE49-F238E27FC236}">
                <a16:creationId xmlns:a16="http://schemas.microsoft.com/office/drawing/2014/main" id="{F6D92C2D-1D3D-4974-918C-06579FB354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33" y="-2"/>
            <a:ext cx="5441859" cy="5654940"/>
          </a:xfrm>
          <a:custGeom>
            <a:avLst/>
            <a:gdLst>
              <a:gd name="connsiteX0" fmla="*/ 0 w 5441859"/>
              <a:gd name="connsiteY0" fmla="*/ 0 h 5654940"/>
              <a:gd name="connsiteX1" fmla="*/ 4400492 w 5441859"/>
              <a:gd name="connsiteY1" fmla="*/ 0 h 5654940"/>
              <a:gd name="connsiteX2" fmla="*/ 4484767 w 5441859"/>
              <a:gd name="connsiteY2" fmla="*/ 76595 h 5654940"/>
              <a:gd name="connsiteX3" fmla="*/ 5441859 w 5441859"/>
              <a:gd name="connsiteY3" fmla="*/ 2387221 h 5654940"/>
              <a:gd name="connsiteX4" fmla="*/ 2174140 w 5441859"/>
              <a:gd name="connsiteY4" fmla="*/ 5654940 h 5654940"/>
              <a:gd name="connsiteX5" fmla="*/ 156693 w 5441859"/>
              <a:gd name="connsiteY5" fmla="*/ 4957981 h 5654940"/>
              <a:gd name="connsiteX6" fmla="*/ 0 w 5441859"/>
              <a:gd name="connsiteY6" fmla="*/ 4820612 h 565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441859" h="5654940">
                <a:moveTo>
                  <a:pt x="0" y="0"/>
                </a:moveTo>
                <a:lnTo>
                  <a:pt x="4400492" y="0"/>
                </a:lnTo>
                <a:lnTo>
                  <a:pt x="4484767" y="76595"/>
                </a:lnTo>
                <a:cubicBezTo>
                  <a:pt x="5076108" y="667936"/>
                  <a:pt x="5441859" y="1484866"/>
                  <a:pt x="5441859" y="2387221"/>
                </a:cubicBezTo>
                <a:cubicBezTo>
                  <a:pt x="5441859" y="4191932"/>
                  <a:pt x="3978851" y="5654940"/>
                  <a:pt x="2174140" y="5654940"/>
                </a:cubicBezTo>
                <a:cubicBezTo>
                  <a:pt x="1412778" y="5654940"/>
                  <a:pt x="712231" y="5394557"/>
                  <a:pt x="156693" y="4957981"/>
                </a:cubicBezTo>
                <a:lnTo>
                  <a:pt x="0" y="4820612"/>
                </a:lnTo>
                <a:close/>
              </a:path>
            </a:pathLst>
          </a:cu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7F42A8EF-EE85-4589-8688-442990363AF5}"/>
              </a:ext>
            </a:extLst>
          </p:cNvPr>
          <p:cNvSpPr>
            <a:spLocks noGrp="1"/>
          </p:cNvSpPr>
          <p:nvPr>
            <p:ph idx="1"/>
          </p:nvPr>
        </p:nvSpPr>
        <p:spPr>
          <a:xfrm>
            <a:off x="-77119" y="0"/>
            <a:ext cx="5439526" cy="5067759"/>
          </a:xfrm>
        </p:spPr>
        <p:txBody>
          <a:bodyPr anchor="t">
            <a:noAutofit/>
          </a:bodyPr>
          <a:lstStyle/>
          <a:p>
            <a:pPr marL="0" indent="0">
              <a:buNone/>
            </a:pPr>
            <a:r>
              <a:rPr lang="en-US" dirty="0"/>
              <a:t>Consider this image. </a:t>
            </a:r>
          </a:p>
          <a:p>
            <a:pPr marL="0" indent="0">
              <a:buNone/>
            </a:pPr>
            <a:r>
              <a:rPr lang="en-US" dirty="0"/>
              <a:t>There are 3 classes of books in this image.</a:t>
            </a:r>
          </a:p>
          <a:p>
            <a:pPr marL="0" indent="0">
              <a:buNone/>
            </a:pPr>
            <a:endParaRPr lang="en-US" dirty="0"/>
          </a:p>
          <a:p>
            <a:pPr marL="0" indent="0">
              <a:buNone/>
            </a:pPr>
            <a:r>
              <a:rPr lang="en-US" dirty="0"/>
              <a:t>The book he is reading</a:t>
            </a:r>
          </a:p>
          <a:p>
            <a:pPr marL="0" indent="0">
              <a:buNone/>
            </a:pPr>
            <a:endParaRPr lang="en-US" dirty="0"/>
          </a:p>
          <a:p>
            <a:pPr marL="0" indent="0">
              <a:buNone/>
            </a:pPr>
            <a:r>
              <a:rPr lang="en-US" dirty="0"/>
              <a:t>The stack of books next to him.</a:t>
            </a:r>
          </a:p>
          <a:p>
            <a:pPr marL="0" indent="0">
              <a:buNone/>
            </a:pPr>
            <a:endParaRPr lang="en-US" dirty="0"/>
          </a:p>
          <a:p>
            <a:pPr marL="0" indent="0">
              <a:buNone/>
            </a:pPr>
            <a:r>
              <a:rPr lang="en-US" dirty="0"/>
              <a:t>The shelves in the </a:t>
            </a:r>
          </a:p>
          <a:p>
            <a:pPr marL="0" indent="0">
              <a:buNone/>
            </a:pPr>
            <a:r>
              <a:rPr lang="en-US" dirty="0"/>
              <a:t>back of the room</a:t>
            </a:r>
          </a:p>
        </p:txBody>
      </p:sp>
    </p:spTree>
    <p:extLst>
      <p:ext uri="{BB962C8B-B14F-4D97-AF65-F5344CB8AC3E}">
        <p14:creationId xmlns:p14="http://schemas.microsoft.com/office/powerpoint/2010/main" val="33553427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994018-5F83-4653-9881-AD5B94C890D7}"/>
              </a:ext>
            </a:extLst>
          </p:cNvPr>
          <p:cNvSpPr>
            <a:spLocks noGrp="1"/>
          </p:cNvSpPr>
          <p:nvPr>
            <p:ph type="title"/>
          </p:nvPr>
        </p:nvSpPr>
        <p:spPr/>
        <p:txBody>
          <a:bodyPr/>
          <a:lstStyle/>
          <a:p>
            <a:r>
              <a:rPr lang="en-US" dirty="0"/>
              <a:t>Access Time and Size</a:t>
            </a:r>
          </a:p>
        </p:txBody>
      </p:sp>
      <p:sp>
        <p:nvSpPr>
          <p:cNvPr id="3" name="Content Placeholder 2">
            <a:extLst>
              <a:ext uri="{FF2B5EF4-FFF2-40B4-BE49-F238E27FC236}">
                <a16:creationId xmlns:a16="http://schemas.microsoft.com/office/drawing/2014/main" id="{F0E3C204-BEC2-4E0E-A9A9-BA7A7A8764B3}"/>
              </a:ext>
            </a:extLst>
          </p:cNvPr>
          <p:cNvSpPr>
            <a:spLocks noGrp="1"/>
          </p:cNvSpPr>
          <p:nvPr>
            <p:ph idx="1"/>
          </p:nvPr>
        </p:nvSpPr>
        <p:spPr/>
        <p:txBody>
          <a:bodyPr/>
          <a:lstStyle/>
          <a:p>
            <a:pPr marL="0" indent="0">
              <a:buNone/>
            </a:pPr>
            <a:r>
              <a:rPr lang="en-US" dirty="0"/>
              <a:t>In that image, how long would it take the man to get to a page:</a:t>
            </a:r>
          </a:p>
          <a:p>
            <a:pPr marL="0" indent="0">
              <a:buNone/>
            </a:pPr>
            <a:endParaRPr lang="en-US" dirty="0"/>
          </a:p>
          <a:p>
            <a:pPr marL="514350" indent="-514350">
              <a:buAutoNum type="arabicParenR"/>
            </a:pPr>
            <a:r>
              <a:rPr lang="en-US" dirty="0"/>
              <a:t>In the book he is reading?</a:t>
            </a:r>
          </a:p>
          <a:p>
            <a:pPr marL="514350" indent="-514350">
              <a:buAutoNum type="arabicParenR"/>
            </a:pPr>
            <a:r>
              <a:rPr lang="en-US" dirty="0"/>
              <a:t>In the stack next to him?</a:t>
            </a:r>
          </a:p>
          <a:p>
            <a:pPr marL="514350" indent="-514350">
              <a:buAutoNum type="arabicParenR"/>
            </a:pPr>
            <a:r>
              <a:rPr lang="en-US" dirty="0"/>
              <a:t>In a particular book on the shelves?</a:t>
            </a:r>
          </a:p>
          <a:p>
            <a:pPr marL="514350" indent="-514350">
              <a:buAutoNum type="arabicParenR"/>
            </a:pPr>
            <a:endParaRPr lang="en-US" dirty="0"/>
          </a:p>
          <a:p>
            <a:pPr marL="0" indent="0">
              <a:buNone/>
            </a:pPr>
            <a:r>
              <a:rPr lang="en-US" dirty="0"/>
              <a:t>How many books (approximately) are in each of the above categories? </a:t>
            </a:r>
          </a:p>
          <a:p>
            <a:pPr marL="0" indent="0">
              <a:buNone/>
            </a:pPr>
            <a:r>
              <a:rPr lang="en-US" dirty="0"/>
              <a:t>Is this setup optimal?</a:t>
            </a:r>
          </a:p>
        </p:txBody>
      </p:sp>
    </p:spTree>
    <p:extLst>
      <p:ext uri="{BB962C8B-B14F-4D97-AF65-F5344CB8AC3E}">
        <p14:creationId xmlns:p14="http://schemas.microsoft.com/office/powerpoint/2010/main" val="35664355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8632AF-B1CB-4CA4-9176-68342BA893EE}"/>
              </a:ext>
            </a:extLst>
          </p:cNvPr>
          <p:cNvSpPr>
            <a:spLocks noGrp="1"/>
          </p:cNvSpPr>
          <p:nvPr>
            <p:ph type="title"/>
          </p:nvPr>
        </p:nvSpPr>
        <p:spPr/>
        <p:txBody>
          <a:bodyPr/>
          <a:lstStyle/>
          <a:p>
            <a:r>
              <a:rPr lang="en-US" dirty="0"/>
              <a:t>Locality</a:t>
            </a:r>
          </a:p>
        </p:txBody>
      </p:sp>
      <p:sp>
        <p:nvSpPr>
          <p:cNvPr id="3" name="Content Placeholder 2">
            <a:extLst>
              <a:ext uri="{FF2B5EF4-FFF2-40B4-BE49-F238E27FC236}">
                <a16:creationId xmlns:a16="http://schemas.microsoft.com/office/drawing/2014/main" id="{9237402D-D2D4-4187-908B-A850EEA6FC58}"/>
              </a:ext>
            </a:extLst>
          </p:cNvPr>
          <p:cNvSpPr>
            <a:spLocks noGrp="1"/>
          </p:cNvSpPr>
          <p:nvPr>
            <p:ph idx="1"/>
          </p:nvPr>
        </p:nvSpPr>
        <p:spPr/>
        <p:txBody>
          <a:bodyPr/>
          <a:lstStyle/>
          <a:p>
            <a:pPr marL="0" indent="0">
              <a:buNone/>
            </a:pPr>
            <a:r>
              <a:rPr lang="en-US" dirty="0"/>
              <a:t>This setup works for him because he likely has one or both types of locality in his usage pattern:</a:t>
            </a:r>
          </a:p>
          <a:p>
            <a:pPr marL="0" indent="0">
              <a:buNone/>
            </a:pPr>
            <a:endParaRPr lang="en-US" dirty="0"/>
          </a:p>
          <a:p>
            <a:pPr marL="514350" indent="-514350">
              <a:buAutoNum type="arabicParenR"/>
            </a:pPr>
            <a:r>
              <a:rPr lang="en-US" dirty="0"/>
              <a:t>Spatial locality – if he reads a page in one book, the most likely page that he will read is the next page</a:t>
            </a:r>
          </a:p>
          <a:p>
            <a:pPr marL="514350" indent="-514350">
              <a:buAutoNum type="arabicParenR"/>
            </a:pPr>
            <a:r>
              <a:rPr lang="en-US" dirty="0"/>
              <a:t>Temporal locality - If he referenced something in one book, it is likely that he will reference it again </a:t>
            </a:r>
          </a:p>
        </p:txBody>
      </p:sp>
    </p:spTree>
    <p:extLst>
      <p:ext uri="{BB962C8B-B14F-4D97-AF65-F5344CB8AC3E}">
        <p14:creationId xmlns:p14="http://schemas.microsoft.com/office/powerpoint/2010/main" val="8979180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AFE913-430A-4BF9-B0BD-6FDD526A56D1}"/>
              </a:ext>
            </a:extLst>
          </p:cNvPr>
          <p:cNvSpPr>
            <a:spLocks noGrp="1"/>
          </p:cNvSpPr>
          <p:nvPr>
            <p:ph type="title"/>
          </p:nvPr>
        </p:nvSpPr>
        <p:spPr/>
        <p:txBody>
          <a:bodyPr/>
          <a:lstStyle/>
          <a:p>
            <a:r>
              <a:rPr lang="en-US" dirty="0"/>
              <a:t>Memory Hierarchy</a:t>
            </a:r>
          </a:p>
        </p:txBody>
      </p:sp>
      <p:sp>
        <p:nvSpPr>
          <p:cNvPr id="3" name="Content Placeholder 2">
            <a:extLst>
              <a:ext uri="{FF2B5EF4-FFF2-40B4-BE49-F238E27FC236}">
                <a16:creationId xmlns:a16="http://schemas.microsoft.com/office/drawing/2014/main" id="{A73FDA8C-294E-40BD-A7F1-D4FAD2B15078}"/>
              </a:ext>
            </a:extLst>
          </p:cNvPr>
          <p:cNvSpPr>
            <a:spLocks noGrp="1"/>
          </p:cNvSpPr>
          <p:nvPr>
            <p:ph idx="1"/>
          </p:nvPr>
        </p:nvSpPr>
        <p:spPr>
          <a:xfrm>
            <a:off x="838200" y="1825625"/>
            <a:ext cx="10515600" cy="568440"/>
          </a:xfrm>
        </p:spPr>
        <p:txBody>
          <a:bodyPr/>
          <a:lstStyle/>
          <a:p>
            <a:pPr marL="0" indent="0">
              <a:buNone/>
            </a:pPr>
            <a:r>
              <a:rPr lang="en-US" dirty="0"/>
              <a:t>Computers have varying levels of caches/memory. </a:t>
            </a:r>
          </a:p>
          <a:p>
            <a:pPr marL="0" indent="0">
              <a:buNone/>
            </a:pPr>
            <a:endParaRPr lang="en-US" dirty="0"/>
          </a:p>
        </p:txBody>
      </p:sp>
      <p:sp>
        <p:nvSpPr>
          <p:cNvPr id="6" name="TextBox 5">
            <a:extLst>
              <a:ext uri="{FF2B5EF4-FFF2-40B4-BE49-F238E27FC236}">
                <a16:creationId xmlns:a16="http://schemas.microsoft.com/office/drawing/2014/main" id="{04B2F27F-BF58-4E87-A0D9-70BB73A0663A}"/>
              </a:ext>
            </a:extLst>
          </p:cNvPr>
          <p:cNvSpPr txBox="1"/>
          <p:nvPr/>
        </p:nvSpPr>
        <p:spPr>
          <a:xfrm>
            <a:off x="487679" y="5111263"/>
            <a:ext cx="2069869" cy="1200329"/>
          </a:xfrm>
          <a:prstGeom prst="rect">
            <a:avLst/>
          </a:prstGeom>
          <a:noFill/>
        </p:spPr>
        <p:txBody>
          <a:bodyPr wrap="square" rtlCol="0">
            <a:spAutoFit/>
          </a:bodyPr>
          <a:lstStyle/>
          <a:p>
            <a:r>
              <a:rPr lang="en-US" dirty="0"/>
              <a:t>Close to the CPU</a:t>
            </a:r>
          </a:p>
          <a:p>
            <a:r>
              <a:rPr lang="en-US" dirty="0"/>
              <a:t>Fast(</a:t>
            </a:r>
            <a:r>
              <a:rPr lang="en-US" dirty="0" err="1"/>
              <a:t>est</a:t>
            </a:r>
            <a:r>
              <a:rPr lang="en-US" dirty="0"/>
              <a:t>)</a:t>
            </a:r>
          </a:p>
          <a:p>
            <a:r>
              <a:rPr lang="en-US" dirty="0"/>
              <a:t>Smallest</a:t>
            </a:r>
          </a:p>
          <a:p>
            <a:r>
              <a:rPr lang="en-US" dirty="0"/>
              <a:t>Most Expensive ($)</a:t>
            </a:r>
          </a:p>
        </p:txBody>
      </p:sp>
      <p:sp>
        <p:nvSpPr>
          <p:cNvPr id="7" name="TextBox 6">
            <a:extLst>
              <a:ext uri="{FF2B5EF4-FFF2-40B4-BE49-F238E27FC236}">
                <a16:creationId xmlns:a16="http://schemas.microsoft.com/office/drawing/2014/main" id="{4916EA43-E4D3-40AF-8610-42708C3EECB4}"/>
              </a:ext>
            </a:extLst>
          </p:cNvPr>
          <p:cNvSpPr txBox="1"/>
          <p:nvPr/>
        </p:nvSpPr>
        <p:spPr>
          <a:xfrm>
            <a:off x="9429404" y="5111264"/>
            <a:ext cx="2274917" cy="1200329"/>
          </a:xfrm>
          <a:prstGeom prst="rect">
            <a:avLst/>
          </a:prstGeom>
          <a:noFill/>
        </p:spPr>
        <p:txBody>
          <a:bodyPr wrap="square" rtlCol="0">
            <a:spAutoFit/>
          </a:bodyPr>
          <a:lstStyle/>
          <a:p>
            <a:r>
              <a:rPr lang="en-US" dirty="0"/>
              <a:t>Farthest from the CPU</a:t>
            </a:r>
          </a:p>
          <a:p>
            <a:r>
              <a:rPr lang="en-US" dirty="0"/>
              <a:t>Slow(</a:t>
            </a:r>
            <a:r>
              <a:rPr lang="en-US" dirty="0" err="1"/>
              <a:t>est</a:t>
            </a:r>
            <a:r>
              <a:rPr lang="en-US" dirty="0"/>
              <a:t>)</a:t>
            </a:r>
          </a:p>
          <a:p>
            <a:r>
              <a:rPr lang="en-US" dirty="0"/>
              <a:t>Largest</a:t>
            </a:r>
          </a:p>
          <a:p>
            <a:r>
              <a:rPr lang="en-US" dirty="0"/>
              <a:t>Least Expensive ($)</a:t>
            </a:r>
          </a:p>
        </p:txBody>
      </p:sp>
      <p:pic>
        <p:nvPicPr>
          <p:cNvPr id="19" name="Picture 18">
            <a:extLst>
              <a:ext uri="{FF2B5EF4-FFF2-40B4-BE49-F238E27FC236}">
                <a16:creationId xmlns:a16="http://schemas.microsoft.com/office/drawing/2014/main" id="{21A92C80-5062-4171-849A-9BF74FC9440B}"/>
              </a:ext>
            </a:extLst>
          </p:cNvPr>
          <p:cNvPicPr>
            <a:picLocks noChangeAspect="1"/>
          </p:cNvPicPr>
          <p:nvPr/>
        </p:nvPicPr>
        <p:blipFill>
          <a:blip r:embed="rId2"/>
          <a:stretch>
            <a:fillRect/>
          </a:stretch>
        </p:blipFill>
        <p:spPr>
          <a:xfrm>
            <a:off x="405071" y="4063513"/>
            <a:ext cx="11565255" cy="1047750"/>
          </a:xfrm>
          <a:prstGeom prst="rect">
            <a:avLst/>
          </a:prstGeom>
        </p:spPr>
      </p:pic>
      <p:sp>
        <p:nvSpPr>
          <p:cNvPr id="20" name="TextBox 19">
            <a:extLst>
              <a:ext uri="{FF2B5EF4-FFF2-40B4-BE49-F238E27FC236}">
                <a16:creationId xmlns:a16="http://schemas.microsoft.com/office/drawing/2014/main" id="{9B2507EB-3A0B-4B9B-8717-13F278DF76AF}"/>
              </a:ext>
            </a:extLst>
          </p:cNvPr>
          <p:cNvSpPr txBox="1"/>
          <p:nvPr/>
        </p:nvSpPr>
        <p:spPr>
          <a:xfrm>
            <a:off x="590204" y="3854474"/>
            <a:ext cx="1025987" cy="369332"/>
          </a:xfrm>
          <a:prstGeom prst="rect">
            <a:avLst/>
          </a:prstGeom>
          <a:noFill/>
        </p:spPr>
        <p:txBody>
          <a:bodyPr wrap="none" rtlCol="0">
            <a:spAutoFit/>
          </a:bodyPr>
          <a:lstStyle/>
          <a:p>
            <a:r>
              <a:rPr lang="en-US" dirty="0"/>
              <a:t>Registers</a:t>
            </a:r>
          </a:p>
        </p:txBody>
      </p:sp>
      <p:sp>
        <p:nvSpPr>
          <p:cNvPr id="21" name="TextBox 20">
            <a:extLst>
              <a:ext uri="{FF2B5EF4-FFF2-40B4-BE49-F238E27FC236}">
                <a16:creationId xmlns:a16="http://schemas.microsoft.com/office/drawing/2014/main" id="{12F47B95-79AF-49D6-9BAB-7315BCD9C2B0}"/>
              </a:ext>
            </a:extLst>
          </p:cNvPr>
          <p:cNvSpPr txBox="1"/>
          <p:nvPr/>
        </p:nvSpPr>
        <p:spPr>
          <a:xfrm>
            <a:off x="2985821" y="3854474"/>
            <a:ext cx="399468" cy="369332"/>
          </a:xfrm>
          <a:prstGeom prst="rect">
            <a:avLst/>
          </a:prstGeom>
          <a:noFill/>
        </p:spPr>
        <p:txBody>
          <a:bodyPr wrap="none" rtlCol="0">
            <a:spAutoFit/>
          </a:bodyPr>
          <a:lstStyle/>
          <a:p>
            <a:r>
              <a:rPr lang="en-US" dirty="0"/>
              <a:t>L1</a:t>
            </a:r>
          </a:p>
        </p:txBody>
      </p:sp>
      <p:sp>
        <p:nvSpPr>
          <p:cNvPr id="22" name="TextBox 21">
            <a:extLst>
              <a:ext uri="{FF2B5EF4-FFF2-40B4-BE49-F238E27FC236}">
                <a16:creationId xmlns:a16="http://schemas.microsoft.com/office/drawing/2014/main" id="{7F0F073E-BB3F-43E4-8856-EE662C65D97C}"/>
              </a:ext>
            </a:extLst>
          </p:cNvPr>
          <p:cNvSpPr txBox="1"/>
          <p:nvPr/>
        </p:nvSpPr>
        <p:spPr>
          <a:xfrm>
            <a:off x="4754919" y="3854474"/>
            <a:ext cx="399468" cy="369332"/>
          </a:xfrm>
          <a:prstGeom prst="rect">
            <a:avLst/>
          </a:prstGeom>
          <a:noFill/>
        </p:spPr>
        <p:txBody>
          <a:bodyPr wrap="none" rtlCol="0">
            <a:spAutoFit/>
          </a:bodyPr>
          <a:lstStyle/>
          <a:p>
            <a:r>
              <a:rPr lang="en-US" dirty="0"/>
              <a:t>L2</a:t>
            </a:r>
          </a:p>
        </p:txBody>
      </p:sp>
      <p:sp>
        <p:nvSpPr>
          <p:cNvPr id="23" name="TextBox 22">
            <a:extLst>
              <a:ext uri="{FF2B5EF4-FFF2-40B4-BE49-F238E27FC236}">
                <a16:creationId xmlns:a16="http://schemas.microsoft.com/office/drawing/2014/main" id="{BA8410C4-6A6E-4FBE-8724-65A5CE25A798}"/>
              </a:ext>
            </a:extLst>
          </p:cNvPr>
          <p:cNvSpPr txBox="1"/>
          <p:nvPr/>
        </p:nvSpPr>
        <p:spPr>
          <a:xfrm>
            <a:off x="6524017" y="3854474"/>
            <a:ext cx="399468" cy="369332"/>
          </a:xfrm>
          <a:prstGeom prst="rect">
            <a:avLst/>
          </a:prstGeom>
          <a:noFill/>
        </p:spPr>
        <p:txBody>
          <a:bodyPr wrap="none" rtlCol="0">
            <a:spAutoFit/>
          </a:bodyPr>
          <a:lstStyle/>
          <a:p>
            <a:r>
              <a:rPr lang="en-US" dirty="0"/>
              <a:t>L3</a:t>
            </a:r>
          </a:p>
        </p:txBody>
      </p:sp>
      <p:sp>
        <p:nvSpPr>
          <p:cNvPr id="24" name="TextBox 23">
            <a:extLst>
              <a:ext uri="{FF2B5EF4-FFF2-40B4-BE49-F238E27FC236}">
                <a16:creationId xmlns:a16="http://schemas.microsoft.com/office/drawing/2014/main" id="{B857245C-54CA-46A6-ABBE-462E31DB10E6}"/>
              </a:ext>
            </a:extLst>
          </p:cNvPr>
          <p:cNvSpPr txBox="1"/>
          <p:nvPr/>
        </p:nvSpPr>
        <p:spPr>
          <a:xfrm>
            <a:off x="8293115" y="3854474"/>
            <a:ext cx="988925" cy="369332"/>
          </a:xfrm>
          <a:prstGeom prst="rect">
            <a:avLst/>
          </a:prstGeom>
          <a:noFill/>
        </p:spPr>
        <p:txBody>
          <a:bodyPr wrap="none" rtlCol="0">
            <a:spAutoFit/>
          </a:bodyPr>
          <a:lstStyle/>
          <a:p>
            <a:r>
              <a:rPr lang="en-US" dirty="0"/>
              <a:t>Memory</a:t>
            </a:r>
          </a:p>
        </p:txBody>
      </p:sp>
      <p:sp>
        <p:nvSpPr>
          <p:cNvPr id="25" name="TextBox 24">
            <a:extLst>
              <a:ext uri="{FF2B5EF4-FFF2-40B4-BE49-F238E27FC236}">
                <a16:creationId xmlns:a16="http://schemas.microsoft.com/office/drawing/2014/main" id="{698419F8-AA38-43BB-87FF-5B1836C559B7}"/>
              </a:ext>
            </a:extLst>
          </p:cNvPr>
          <p:cNvSpPr txBox="1"/>
          <p:nvPr/>
        </p:nvSpPr>
        <p:spPr>
          <a:xfrm>
            <a:off x="10651668" y="3854474"/>
            <a:ext cx="915635" cy="369332"/>
          </a:xfrm>
          <a:prstGeom prst="rect">
            <a:avLst/>
          </a:prstGeom>
          <a:noFill/>
        </p:spPr>
        <p:txBody>
          <a:bodyPr wrap="none" rtlCol="0">
            <a:spAutoFit/>
          </a:bodyPr>
          <a:lstStyle/>
          <a:p>
            <a:r>
              <a:rPr lang="en-US" dirty="0"/>
              <a:t>SSD/HD</a:t>
            </a:r>
          </a:p>
        </p:txBody>
      </p:sp>
    </p:spTree>
    <p:extLst>
      <p:ext uri="{BB962C8B-B14F-4D97-AF65-F5344CB8AC3E}">
        <p14:creationId xmlns:p14="http://schemas.microsoft.com/office/powerpoint/2010/main" val="8322176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2AF8DD-1123-4870-B288-908390CA8569}"/>
              </a:ext>
            </a:extLst>
          </p:cNvPr>
          <p:cNvSpPr>
            <a:spLocks noGrp="1"/>
          </p:cNvSpPr>
          <p:nvPr>
            <p:ph type="title"/>
          </p:nvPr>
        </p:nvSpPr>
        <p:spPr>
          <a:xfrm>
            <a:off x="505690" y="1129897"/>
            <a:ext cx="10515600" cy="565900"/>
          </a:xfrm>
        </p:spPr>
        <p:txBody>
          <a:bodyPr>
            <a:normAutofit fontScale="90000"/>
          </a:bodyPr>
          <a:lstStyle/>
          <a:p>
            <a:pPr algn="ctr"/>
            <a:r>
              <a:rPr lang="en-US" dirty="0"/>
              <a:t>Example: Ryzen 7 2700X</a:t>
            </a:r>
          </a:p>
        </p:txBody>
      </p:sp>
      <p:graphicFrame>
        <p:nvGraphicFramePr>
          <p:cNvPr id="5" name="Table 4">
            <a:extLst>
              <a:ext uri="{FF2B5EF4-FFF2-40B4-BE49-F238E27FC236}">
                <a16:creationId xmlns:a16="http://schemas.microsoft.com/office/drawing/2014/main" id="{B7263EF3-91B5-4F9D-AAB0-65B4F254B786}"/>
              </a:ext>
            </a:extLst>
          </p:cNvPr>
          <p:cNvGraphicFramePr>
            <a:graphicFrameLocks noGrp="1"/>
          </p:cNvGraphicFramePr>
          <p:nvPr>
            <p:extLst>
              <p:ext uri="{D42A27DB-BD31-4B8C-83A1-F6EECF244321}">
                <p14:modId xmlns:p14="http://schemas.microsoft.com/office/powerpoint/2010/main" val="2656460629"/>
              </p:ext>
            </p:extLst>
          </p:nvPr>
        </p:nvGraphicFramePr>
        <p:xfrm>
          <a:off x="355367" y="1903615"/>
          <a:ext cx="11481265" cy="3175460"/>
        </p:xfrm>
        <a:graphic>
          <a:graphicData uri="http://schemas.openxmlformats.org/drawingml/2006/table">
            <a:tbl>
              <a:tblPr bandRow="1">
                <a:tableStyleId>{D7AC3CCA-C797-4891-BE02-D94E43425B78}</a:tableStyleId>
              </a:tblPr>
              <a:tblGrid>
                <a:gridCol w="2296253">
                  <a:extLst>
                    <a:ext uri="{9D8B030D-6E8A-4147-A177-3AD203B41FA5}">
                      <a16:colId xmlns:a16="http://schemas.microsoft.com/office/drawing/2014/main" val="3242671118"/>
                    </a:ext>
                  </a:extLst>
                </a:gridCol>
                <a:gridCol w="1395985">
                  <a:extLst>
                    <a:ext uri="{9D8B030D-6E8A-4147-A177-3AD203B41FA5}">
                      <a16:colId xmlns:a16="http://schemas.microsoft.com/office/drawing/2014/main" val="1718421374"/>
                    </a:ext>
                  </a:extLst>
                </a:gridCol>
                <a:gridCol w="5112327">
                  <a:extLst>
                    <a:ext uri="{9D8B030D-6E8A-4147-A177-3AD203B41FA5}">
                      <a16:colId xmlns:a16="http://schemas.microsoft.com/office/drawing/2014/main" val="3881383316"/>
                    </a:ext>
                  </a:extLst>
                </a:gridCol>
                <a:gridCol w="1122218">
                  <a:extLst>
                    <a:ext uri="{9D8B030D-6E8A-4147-A177-3AD203B41FA5}">
                      <a16:colId xmlns:a16="http://schemas.microsoft.com/office/drawing/2014/main" val="3564963187"/>
                    </a:ext>
                  </a:extLst>
                </a:gridCol>
                <a:gridCol w="1554482">
                  <a:extLst>
                    <a:ext uri="{9D8B030D-6E8A-4147-A177-3AD203B41FA5}">
                      <a16:colId xmlns:a16="http://schemas.microsoft.com/office/drawing/2014/main" val="1091857977"/>
                    </a:ext>
                  </a:extLst>
                </a:gridCol>
              </a:tblGrid>
              <a:tr h="482138">
                <a:tc>
                  <a:txBody>
                    <a:bodyPr/>
                    <a:lstStyle/>
                    <a:p>
                      <a:pPr marL="0" marR="0">
                        <a:lnSpc>
                          <a:spcPct val="107000"/>
                        </a:lnSpc>
                        <a:spcBef>
                          <a:spcPts val="0"/>
                        </a:spcBef>
                        <a:spcAft>
                          <a:spcPts val="0"/>
                        </a:spcAft>
                      </a:pPr>
                      <a:r>
                        <a:rPr lang="en-US" sz="2400" dirty="0">
                          <a:solidFill>
                            <a:schemeClr val="bg1">
                              <a:lumMod val="95000"/>
                            </a:schemeClr>
                          </a:solidFill>
                          <a:effectLst/>
                        </a:rPr>
                        <a:t>Memory Type</a:t>
                      </a:r>
                      <a:endParaRPr lang="en-US" sz="24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solidFill>
                      <a:schemeClr val="accent1">
                        <a:lumMod val="75000"/>
                      </a:schemeClr>
                    </a:solidFill>
                  </a:tcPr>
                </a:tc>
                <a:tc>
                  <a:txBody>
                    <a:bodyPr/>
                    <a:lstStyle/>
                    <a:p>
                      <a:pPr marL="0" marR="0">
                        <a:lnSpc>
                          <a:spcPct val="107000"/>
                        </a:lnSpc>
                        <a:spcBef>
                          <a:spcPts val="0"/>
                        </a:spcBef>
                        <a:spcAft>
                          <a:spcPts val="0"/>
                        </a:spcAft>
                      </a:pPr>
                      <a:r>
                        <a:rPr lang="en-US" sz="2400" dirty="0">
                          <a:solidFill>
                            <a:schemeClr val="bg1">
                              <a:lumMod val="95000"/>
                            </a:schemeClr>
                          </a:solidFill>
                          <a:effectLst/>
                        </a:rPr>
                        <a:t>Size</a:t>
                      </a:r>
                      <a:endParaRPr lang="en-US" sz="24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solidFill>
                      <a:schemeClr val="accent1">
                        <a:lumMod val="75000"/>
                      </a:schemeClr>
                    </a:solidFill>
                  </a:tcPr>
                </a:tc>
                <a:tc>
                  <a:txBody>
                    <a:bodyPr/>
                    <a:lstStyle/>
                    <a:p>
                      <a:pPr marL="0" marR="0">
                        <a:lnSpc>
                          <a:spcPct val="107000"/>
                        </a:lnSpc>
                        <a:spcBef>
                          <a:spcPts val="0"/>
                        </a:spcBef>
                        <a:spcAft>
                          <a:spcPts val="0"/>
                        </a:spcAft>
                      </a:pPr>
                      <a:r>
                        <a:rPr lang="en-US" sz="2400" dirty="0">
                          <a:solidFill>
                            <a:schemeClr val="bg1">
                              <a:lumMod val="95000"/>
                            </a:schemeClr>
                          </a:solidFill>
                          <a:effectLst/>
                        </a:rPr>
                        <a:t>Type</a:t>
                      </a:r>
                      <a:endParaRPr lang="en-US" sz="24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solidFill>
                      <a:schemeClr val="accent1">
                        <a:lumMod val="75000"/>
                      </a:schemeClr>
                    </a:solidFill>
                  </a:tcPr>
                </a:tc>
                <a:tc>
                  <a:txBody>
                    <a:bodyPr/>
                    <a:lstStyle/>
                    <a:p>
                      <a:pPr marL="0" marR="0">
                        <a:lnSpc>
                          <a:spcPct val="107000"/>
                        </a:lnSpc>
                        <a:spcBef>
                          <a:spcPts val="0"/>
                        </a:spcBef>
                        <a:spcAft>
                          <a:spcPts val="0"/>
                        </a:spcAft>
                      </a:pPr>
                      <a:r>
                        <a:rPr lang="en-US" sz="2400" dirty="0">
                          <a:solidFill>
                            <a:schemeClr val="bg1">
                              <a:lumMod val="95000"/>
                            </a:schemeClr>
                          </a:solidFill>
                          <a:effectLst/>
                        </a:rPr>
                        <a:t>Latency</a:t>
                      </a:r>
                      <a:endParaRPr lang="en-US" sz="24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solidFill>
                      <a:schemeClr val="accent1">
                        <a:lumMod val="75000"/>
                      </a:schemeClr>
                    </a:solidFill>
                  </a:tcPr>
                </a:tc>
                <a:tc>
                  <a:txBody>
                    <a:bodyPr/>
                    <a:lstStyle/>
                    <a:p>
                      <a:pPr marL="0" marR="0">
                        <a:lnSpc>
                          <a:spcPct val="107000"/>
                        </a:lnSpc>
                        <a:spcBef>
                          <a:spcPts val="0"/>
                        </a:spcBef>
                        <a:spcAft>
                          <a:spcPts val="0"/>
                        </a:spcAft>
                      </a:pPr>
                      <a:r>
                        <a:rPr lang="en-US" sz="2400" dirty="0">
                          <a:solidFill>
                            <a:schemeClr val="bg1">
                              <a:lumMod val="95000"/>
                            </a:schemeClr>
                          </a:solidFill>
                          <a:effectLst/>
                        </a:rPr>
                        <a:t>Cycles</a:t>
                      </a:r>
                      <a:endParaRPr lang="en-US" sz="24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solidFill>
                      <a:schemeClr val="accent1">
                        <a:lumMod val="75000"/>
                      </a:schemeClr>
                    </a:solidFill>
                  </a:tcPr>
                </a:tc>
                <a:extLst>
                  <a:ext uri="{0D108BD9-81ED-4DB2-BD59-A6C34878D82A}">
                    <a16:rowId xmlns:a16="http://schemas.microsoft.com/office/drawing/2014/main" val="3526317821"/>
                  </a:ext>
                </a:extLst>
              </a:tr>
              <a:tr h="482138">
                <a:tc>
                  <a:txBody>
                    <a:bodyPr/>
                    <a:lstStyle/>
                    <a:p>
                      <a:pPr marL="0" marR="0">
                        <a:lnSpc>
                          <a:spcPct val="107000"/>
                        </a:lnSpc>
                        <a:spcBef>
                          <a:spcPts val="0"/>
                        </a:spcBef>
                        <a:spcAft>
                          <a:spcPts val="0"/>
                        </a:spcAft>
                      </a:pPr>
                      <a:r>
                        <a:rPr lang="en-US" sz="2400" dirty="0">
                          <a:effectLst/>
                        </a:rPr>
                        <a:t>Registers</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400" dirty="0">
                          <a:effectLst/>
                        </a:rPr>
                        <a:t>1KB</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400" dirty="0">
                          <a:effectLst/>
                        </a:rPr>
                        <a:t>(8 X 16 register X 8 byte registers)</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400" dirty="0">
                          <a:effectLst/>
                          <a:latin typeface="Calibri" panose="020F0502020204030204" pitchFamily="34" charset="0"/>
                          <a:ea typeface="Calibri" panose="020F0502020204030204" pitchFamily="34" charset="0"/>
                          <a:cs typeface="Times New Roman" panose="02020603050405020304" pitchFamily="18" charset="0"/>
                        </a:rPr>
                        <a:t>~0</a:t>
                      </a:r>
                    </a:p>
                  </a:txBody>
                  <a:tcPr marL="68580" marR="68580" marT="0" marB="0"/>
                </a:tc>
                <a:tc>
                  <a:txBody>
                    <a:bodyPr/>
                    <a:lstStyle/>
                    <a:p>
                      <a:pPr marL="0" marR="0">
                        <a:lnSpc>
                          <a:spcPct val="107000"/>
                        </a:lnSpc>
                        <a:spcBef>
                          <a:spcPts val="0"/>
                        </a:spcBef>
                        <a:spcAft>
                          <a:spcPts val="0"/>
                        </a:spcAft>
                      </a:pPr>
                      <a:r>
                        <a:rPr lang="en-US" sz="2400" dirty="0">
                          <a:effectLst/>
                          <a:latin typeface="Calibri" panose="020F0502020204030204" pitchFamily="34" charset="0"/>
                          <a:ea typeface="Calibri" panose="020F0502020204030204" pitchFamily="34" charset="0"/>
                          <a:cs typeface="Times New Roman" panose="02020603050405020304" pitchFamily="18" charset="0"/>
                        </a:rPr>
                        <a:t>~0</a:t>
                      </a:r>
                    </a:p>
                  </a:txBody>
                  <a:tcPr marL="68580" marR="68580" marT="0" marB="0"/>
                </a:tc>
                <a:extLst>
                  <a:ext uri="{0D108BD9-81ED-4DB2-BD59-A6C34878D82A}">
                    <a16:rowId xmlns:a16="http://schemas.microsoft.com/office/drawing/2014/main" val="431708791"/>
                  </a:ext>
                </a:extLst>
              </a:tr>
              <a:tr h="448887">
                <a:tc>
                  <a:txBody>
                    <a:bodyPr/>
                    <a:lstStyle/>
                    <a:p>
                      <a:pPr marL="0" marR="0">
                        <a:lnSpc>
                          <a:spcPct val="107000"/>
                        </a:lnSpc>
                        <a:spcBef>
                          <a:spcPts val="0"/>
                        </a:spcBef>
                        <a:spcAft>
                          <a:spcPts val="0"/>
                        </a:spcAft>
                      </a:pPr>
                      <a:r>
                        <a:rPr lang="en-US" sz="2400">
                          <a:effectLst/>
                        </a:rPr>
                        <a:t>L1 Cache (I)</a:t>
                      </a:r>
                      <a:endParaRPr lang="en-US" sz="2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400" dirty="0">
                          <a:effectLst/>
                        </a:rPr>
                        <a:t>512KB</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400" dirty="0">
                          <a:effectLst/>
                        </a:rPr>
                        <a:t>(8 X 64K, 4 way set </a:t>
                      </a:r>
                      <a:r>
                        <a:rPr lang="en-US" sz="2400" dirty="0" err="1">
                          <a:effectLst/>
                        </a:rPr>
                        <a:t>assoc</a:t>
                      </a:r>
                      <a:r>
                        <a:rPr lang="en-US" sz="2400" dirty="0">
                          <a:effectLst/>
                        </a:rPr>
                        <a:t>)</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400" dirty="0">
                          <a:effectLst/>
                        </a:rPr>
                        <a:t>.95ns</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400" dirty="0">
                          <a:effectLst/>
                        </a:rPr>
                        <a:t>~4 cycles</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44718158"/>
                  </a:ext>
                </a:extLst>
              </a:tr>
              <a:tr h="482138">
                <a:tc>
                  <a:txBody>
                    <a:bodyPr/>
                    <a:lstStyle/>
                    <a:p>
                      <a:pPr marL="0" marR="0">
                        <a:lnSpc>
                          <a:spcPct val="107000"/>
                        </a:lnSpc>
                        <a:spcBef>
                          <a:spcPts val="0"/>
                        </a:spcBef>
                        <a:spcAft>
                          <a:spcPts val="0"/>
                        </a:spcAft>
                      </a:pPr>
                      <a:r>
                        <a:rPr lang="en-US" sz="2400">
                          <a:effectLst/>
                        </a:rPr>
                        <a:t>L1 Cache (D)</a:t>
                      </a:r>
                      <a:endParaRPr lang="en-US" sz="2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400" dirty="0">
                          <a:effectLst/>
                        </a:rPr>
                        <a:t>256KB</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400" dirty="0">
                          <a:effectLst/>
                        </a:rPr>
                        <a:t>(8 X 32K, 8 way set </a:t>
                      </a:r>
                      <a:r>
                        <a:rPr lang="en-US" sz="2400" dirty="0" err="1">
                          <a:effectLst/>
                        </a:rPr>
                        <a:t>assoc</a:t>
                      </a:r>
                      <a:r>
                        <a:rPr lang="en-US" sz="2400" dirty="0">
                          <a:effectLst/>
                        </a:rPr>
                        <a:t>, write back)</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400" dirty="0">
                          <a:effectLst/>
                        </a:rPr>
                        <a:t>.95ns</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400" dirty="0">
                          <a:effectLst/>
                        </a:rPr>
                        <a:t>~4 cycles</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987681377"/>
                  </a:ext>
                </a:extLst>
              </a:tr>
              <a:tr h="399011">
                <a:tc>
                  <a:txBody>
                    <a:bodyPr/>
                    <a:lstStyle/>
                    <a:p>
                      <a:pPr marL="0" marR="0">
                        <a:lnSpc>
                          <a:spcPct val="107000"/>
                        </a:lnSpc>
                        <a:spcBef>
                          <a:spcPts val="0"/>
                        </a:spcBef>
                        <a:spcAft>
                          <a:spcPts val="0"/>
                        </a:spcAft>
                      </a:pPr>
                      <a:r>
                        <a:rPr lang="en-US" sz="2400">
                          <a:effectLst/>
                        </a:rPr>
                        <a:t>L2 Cache </a:t>
                      </a:r>
                      <a:endParaRPr lang="en-US" sz="2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400">
                          <a:effectLst/>
                        </a:rPr>
                        <a:t>4MB</a:t>
                      </a:r>
                      <a:endParaRPr lang="en-US" sz="2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400" dirty="0">
                          <a:effectLst/>
                        </a:rPr>
                        <a:t>(8 X 512KB, 8 way set </a:t>
                      </a:r>
                      <a:r>
                        <a:rPr lang="en-US" sz="2400" dirty="0" err="1">
                          <a:effectLst/>
                        </a:rPr>
                        <a:t>assoc</a:t>
                      </a:r>
                      <a:r>
                        <a:rPr lang="en-US" sz="2400" dirty="0">
                          <a:effectLst/>
                        </a:rPr>
                        <a:t>, write back)</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400" dirty="0">
                          <a:effectLst/>
                        </a:rPr>
                        <a:t>3ns</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400" dirty="0">
                          <a:effectLst/>
                        </a:rPr>
                        <a:t>10.4 cycles</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179546262"/>
                  </a:ext>
                </a:extLst>
              </a:tr>
              <a:tr h="440574">
                <a:tc>
                  <a:txBody>
                    <a:bodyPr/>
                    <a:lstStyle/>
                    <a:p>
                      <a:pPr marL="0" marR="0">
                        <a:lnSpc>
                          <a:spcPct val="107000"/>
                        </a:lnSpc>
                        <a:spcBef>
                          <a:spcPts val="0"/>
                        </a:spcBef>
                        <a:spcAft>
                          <a:spcPts val="0"/>
                        </a:spcAft>
                      </a:pPr>
                      <a:r>
                        <a:rPr lang="en-US" sz="2400">
                          <a:effectLst/>
                        </a:rPr>
                        <a:t>L3 Cache </a:t>
                      </a:r>
                      <a:endParaRPr lang="en-US" sz="2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400">
                          <a:effectLst/>
                        </a:rPr>
                        <a:t>16MB</a:t>
                      </a:r>
                      <a:endParaRPr lang="en-US" sz="2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400" dirty="0">
                          <a:effectLst/>
                        </a:rPr>
                        <a:t>(2 X 8MB, 16 way set </a:t>
                      </a:r>
                      <a:r>
                        <a:rPr lang="en-US" sz="2400" dirty="0" err="1">
                          <a:effectLst/>
                        </a:rPr>
                        <a:t>assoc</a:t>
                      </a:r>
                      <a:r>
                        <a:rPr lang="en-US" sz="2400" dirty="0">
                          <a:effectLst/>
                        </a:rPr>
                        <a:t>)</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400" dirty="0">
                          <a:effectLst/>
                        </a:rPr>
                        <a:t>8.1ns</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400" dirty="0">
                          <a:effectLst/>
                        </a:rPr>
                        <a:t>30 cycles</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579793845"/>
                  </a:ext>
                </a:extLst>
              </a:tr>
              <a:tr h="440574">
                <a:tc>
                  <a:txBody>
                    <a:bodyPr/>
                    <a:lstStyle/>
                    <a:p>
                      <a:pPr marL="0" marR="0">
                        <a:lnSpc>
                          <a:spcPct val="107000"/>
                        </a:lnSpc>
                        <a:spcBef>
                          <a:spcPts val="0"/>
                        </a:spcBef>
                        <a:spcAft>
                          <a:spcPts val="0"/>
                        </a:spcAft>
                      </a:pPr>
                      <a:r>
                        <a:rPr lang="en-US" sz="2400" dirty="0">
                          <a:effectLst/>
                        </a:rPr>
                        <a:t>Main Memory</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400" dirty="0">
                          <a:effectLst/>
                        </a:rPr>
                        <a:t>? GB</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400" dirty="0">
                          <a:effectLst/>
                        </a:rPr>
                        <a:t>66ns</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400" dirty="0">
                          <a:effectLst/>
                        </a:rPr>
                        <a:t>350 cycles</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51097682"/>
                  </a:ext>
                </a:extLst>
              </a:tr>
            </a:tbl>
          </a:graphicData>
        </a:graphic>
      </p:graphicFrame>
    </p:spTree>
    <p:extLst>
      <p:ext uri="{BB962C8B-B14F-4D97-AF65-F5344CB8AC3E}">
        <p14:creationId xmlns:p14="http://schemas.microsoft.com/office/powerpoint/2010/main" val="27564658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974E4-FC6B-43AD-9560-851B6D8336B0}"/>
              </a:ext>
            </a:extLst>
          </p:cNvPr>
          <p:cNvSpPr>
            <a:spLocks noGrp="1"/>
          </p:cNvSpPr>
          <p:nvPr>
            <p:ph type="title"/>
          </p:nvPr>
        </p:nvSpPr>
        <p:spPr/>
        <p:txBody>
          <a:bodyPr/>
          <a:lstStyle/>
          <a:p>
            <a:r>
              <a:rPr lang="en-US" dirty="0"/>
              <a:t>Cache Hits and Misses</a:t>
            </a:r>
          </a:p>
        </p:txBody>
      </p:sp>
      <p:sp>
        <p:nvSpPr>
          <p:cNvPr id="3" name="Content Placeholder 2">
            <a:extLst>
              <a:ext uri="{FF2B5EF4-FFF2-40B4-BE49-F238E27FC236}">
                <a16:creationId xmlns:a16="http://schemas.microsoft.com/office/drawing/2014/main" id="{5A4DB8B3-642C-4CD4-AAE0-7EA2FBE94C3C}"/>
              </a:ext>
            </a:extLst>
          </p:cNvPr>
          <p:cNvSpPr>
            <a:spLocks noGrp="1"/>
          </p:cNvSpPr>
          <p:nvPr>
            <p:ph idx="1"/>
          </p:nvPr>
        </p:nvSpPr>
        <p:spPr>
          <a:xfrm>
            <a:off x="838200" y="1371600"/>
            <a:ext cx="10515600" cy="5203767"/>
          </a:xfrm>
        </p:spPr>
        <p:txBody>
          <a:bodyPr>
            <a:normAutofit/>
          </a:bodyPr>
          <a:lstStyle/>
          <a:p>
            <a:pPr marL="0" indent="0">
              <a:buNone/>
            </a:pPr>
            <a:r>
              <a:rPr lang="en-US" dirty="0"/>
              <a:t>When a memory load is attempted, the hardware “looks in” L1 cache. If the address is not there, that is considered a miss. </a:t>
            </a:r>
          </a:p>
          <a:p>
            <a:pPr marL="0" indent="0">
              <a:buNone/>
            </a:pPr>
            <a:endParaRPr lang="en-US" dirty="0"/>
          </a:p>
          <a:p>
            <a:pPr marL="0" indent="0">
              <a:buNone/>
            </a:pPr>
            <a:r>
              <a:rPr lang="en-US" dirty="0"/>
              <a:t>The hardware will then look in L2. If L2 misses, the request goes to L3. If L3 misses, main memory must satisfy the request.</a:t>
            </a:r>
          </a:p>
          <a:p>
            <a:pPr marL="0" indent="0">
              <a:buNone/>
            </a:pPr>
            <a:endParaRPr lang="en-US" dirty="0"/>
          </a:p>
          <a:p>
            <a:pPr marL="0" indent="0">
              <a:buNone/>
            </a:pPr>
            <a:r>
              <a:rPr lang="en-US" dirty="0"/>
              <a:t>If a particular cache can satisfy the request, that is considered a cache hit. </a:t>
            </a:r>
          </a:p>
          <a:p>
            <a:pPr marL="0" indent="0">
              <a:buNone/>
            </a:pPr>
            <a:endParaRPr lang="en-US" dirty="0"/>
          </a:p>
          <a:p>
            <a:pPr marL="0" indent="0">
              <a:buNone/>
            </a:pPr>
            <a:r>
              <a:rPr lang="en-US" dirty="0"/>
              <a:t>When a block is read from lower in the cache hierarchy, the higher caches store it. </a:t>
            </a:r>
          </a:p>
          <a:p>
            <a:pPr marL="0" indent="0">
              <a:buNone/>
            </a:pPr>
            <a:endParaRPr lang="en-US" dirty="0"/>
          </a:p>
        </p:txBody>
      </p:sp>
    </p:spTree>
    <p:extLst>
      <p:ext uri="{BB962C8B-B14F-4D97-AF65-F5344CB8AC3E}">
        <p14:creationId xmlns:p14="http://schemas.microsoft.com/office/powerpoint/2010/main" val="30376593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76C48C-EC0A-46D7-993B-3332649372A6}"/>
              </a:ext>
            </a:extLst>
          </p:cNvPr>
          <p:cNvSpPr>
            <a:spLocks noGrp="1"/>
          </p:cNvSpPr>
          <p:nvPr>
            <p:ph type="title"/>
          </p:nvPr>
        </p:nvSpPr>
        <p:spPr/>
        <p:txBody>
          <a:bodyPr/>
          <a:lstStyle/>
          <a:p>
            <a:r>
              <a:rPr lang="en-US" dirty="0"/>
              <a:t>How Do Hits and Misses Impact Run Time?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38D3869-A1A2-49F1-AC65-2A51F62B4D0B}"/>
                  </a:ext>
                </a:extLst>
              </p:cNvPr>
              <p:cNvSpPr>
                <a:spLocks noGrp="1"/>
              </p:cNvSpPr>
              <p:nvPr>
                <p:ph idx="1"/>
              </p:nvPr>
            </p:nvSpPr>
            <p:spPr/>
            <p:txBody>
              <a:bodyPr/>
              <a:lstStyle/>
              <a:p>
                <a:pPr marL="0" indent="0">
                  <a:buNone/>
                </a:pPr>
                <a:r>
                  <a:rPr lang="en-US" dirty="0"/>
                  <a:t>The CPU (in a simplified model – more on this later) must wait for a memory load to complete before continuing. </a:t>
                </a:r>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𝐸𝑥𝑒𝑐𝑢𝑡𝑖𝑜𝑛</m:t>
                      </m:r>
                      <m:r>
                        <a:rPr lang="en-US" b="0" i="1" smtClean="0">
                          <a:latin typeface="Cambria Math" panose="02040503050406030204" pitchFamily="18" charset="0"/>
                        </a:rPr>
                        <m:t> </m:t>
                      </m:r>
                      <m:r>
                        <a:rPr lang="en-US" b="0" i="1" smtClean="0">
                          <a:latin typeface="Cambria Math" panose="02040503050406030204" pitchFamily="18" charset="0"/>
                        </a:rPr>
                        <m:t>𝑇𝑖𝑚𝑒</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𝐼𝑛𝑠𝑡𝑟𝑢𝑐𝑡𝑖𝑜𝑛</m:t>
                          </m:r>
                          <m:r>
                            <a:rPr lang="en-US" b="0" i="1" smtClean="0">
                              <a:latin typeface="Cambria Math" panose="02040503050406030204" pitchFamily="18" charset="0"/>
                            </a:rPr>
                            <m:t> </m:t>
                          </m:r>
                          <m:r>
                            <a:rPr lang="en-US" b="0" i="1" smtClean="0">
                              <a:latin typeface="Cambria Math" panose="02040503050406030204" pitchFamily="18" charset="0"/>
                            </a:rPr>
                            <m:t>𝐶𝑦𝑐𝑙𝑒𝑠</m:t>
                          </m:r>
                          <m:r>
                            <a:rPr lang="en-US" b="0" i="1" smtClean="0">
                              <a:latin typeface="Cambria Math" panose="02040503050406030204" pitchFamily="18" charset="0"/>
                            </a:rPr>
                            <m:t>+</m:t>
                          </m:r>
                          <m:r>
                            <a:rPr lang="en-US" b="0" i="1" smtClean="0">
                              <a:latin typeface="Cambria Math" panose="02040503050406030204" pitchFamily="18" charset="0"/>
                            </a:rPr>
                            <m:t>𝑀𝑒𝑚𝑜𝑟𝑦</m:t>
                          </m:r>
                          <m:r>
                            <a:rPr lang="en-US" b="0" i="1" smtClean="0">
                              <a:latin typeface="Cambria Math" panose="02040503050406030204" pitchFamily="18" charset="0"/>
                            </a:rPr>
                            <m:t> </m:t>
                          </m:r>
                          <m:r>
                            <a:rPr lang="en-US" b="0" i="1" smtClean="0">
                              <a:latin typeface="Cambria Math" panose="02040503050406030204" pitchFamily="18" charset="0"/>
                            </a:rPr>
                            <m:t>𝑆𝑡𝑎𝑙𝑙</m:t>
                          </m:r>
                          <m:r>
                            <a:rPr lang="en-US" b="0" i="1" smtClean="0">
                              <a:latin typeface="Cambria Math" panose="02040503050406030204" pitchFamily="18" charset="0"/>
                            </a:rPr>
                            <m:t> </m:t>
                          </m:r>
                          <m:r>
                            <a:rPr lang="en-US" b="0" i="1" smtClean="0">
                              <a:latin typeface="Cambria Math" panose="02040503050406030204" pitchFamily="18" charset="0"/>
                            </a:rPr>
                            <m:t>𝐶𝑦𝑐𝑙𝑒𝑠</m:t>
                          </m:r>
                        </m:num>
                        <m:den>
                          <m:r>
                            <a:rPr lang="en-US" b="0" i="1" smtClean="0">
                              <a:latin typeface="Cambria Math" panose="02040503050406030204" pitchFamily="18" charset="0"/>
                            </a:rPr>
                            <m:t>𝐶𝑦𝑐𝑙𝑒𝑠</m:t>
                          </m:r>
                          <m:r>
                            <a:rPr lang="en-US" b="0" i="1" smtClean="0">
                              <a:latin typeface="Cambria Math" panose="02040503050406030204" pitchFamily="18" charset="0"/>
                            </a:rPr>
                            <m:t> </m:t>
                          </m:r>
                          <m:r>
                            <a:rPr lang="en-US" b="0" i="1" smtClean="0">
                              <a:latin typeface="Cambria Math" panose="02040503050406030204" pitchFamily="18" charset="0"/>
                            </a:rPr>
                            <m:t>𝑃𝑒𝑟</m:t>
                          </m:r>
                          <m:r>
                            <a:rPr lang="en-US" b="0" i="1" smtClean="0">
                              <a:latin typeface="Cambria Math" panose="02040503050406030204" pitchFamily="18" charset="0"/>
                            </a:rPr>
                            <m:t> </m:t>
                          </m:r>
                          <m:r>
                            <a:rPr lang="en-US" b="0" i="1" smtClean="0">
                              <a:latin typeface="Cambria Math" panose="02040503050406030204" pitchFamily="18" charset="0"/>
                            </a:rPr>
                            <m:t>𝑆𝑒𝑐𝑜𝑛𝑑</m:t>
                          </m:r>
                        </m:den>
                      </m:f>
                    </m:oMath>
                  </m:oMathPara>
                </a14:m>
                <a:endParaRPr lang="en-US" dirty="0"/>
              </a:p>
              <a:p>
                <a:pPr marL="0" indent="0">
                  <a:buNone/>
                </a:pPr>
                <a:endParaRPr lang="en-US" dirty="0"/>
              </a:p>
              <a:p>
                <a:pPr marL="0" indent="0">
                  <a:buNone/>
                </a:pPr>
                <a:endParaRPr lang="en-US" dirty="0"/>
              </a:p>
              <a:p>
                <a:pPr marL="0" indent="0">
                  <a:buNone/>
                </a:pPr>
                <a:r>
                  <a:rPr lang="en-US" dirty="0"/>
                  <a:t>How do we compute memory stall cycles?</a:t>
                </a:r>
              </a:p>
            </p:txBody>
          </p:sp>
        </mc:Choice>
        <mc:Fallback xmlns="">
          <p:sp>
            <p:nvSpPr>
              <p:cNvPr id="3" name="Content Placeholder 2">
                <a:extLst>
                  <a:ext uri="{FF2B5EF4-FFF2-40B4-BE49-F238E27FC236}">
                    <a16:creationId xmlns:a16="http://schemas.microsoft.com/office/drawing/2014/main" id="{938D3869-A1A2-49F1-AC65-2A51F62B4D0B}"/>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US">
                    <a:noFill/>
                  </a:rPr>
                  <a:t> </a:t>
                </a:r>
              </a:p>
            </p:txBody>
          </p:sp>
        </mc:Fallback>
      </mc:AlternateContent>
    </p:spTree>
    <p:extLst>
      <p:ext uri="{BB962C8B-B14F-4D97-AF65-F5344CB8AC3E}">
        <p14:creationId xmlns:p14="http://schemas.microsoft.com/office/powerpoint/2010/main" val="37617603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F34492-4D9D-4F97-9C16-1BB3783B8E65}"/>
              </a:ext>
            </a:extLst>
          </p:cNvPr>
          <p:cNvSpPr>
            <a:spLocks noGrp="1"/>
          </p:cNvSpPr>
          <p:nvPr>
            <p:ph type="title"/>
          </p:nvPr>
        </p:nvSpPr>
        <p:spPr/>
        <p:txBody>
          <a:bodyPr/>
          <a:lstStyle/>
          <a:p>
            <a:r>
              <a:rPr lang="en-US" dirty="0"/>
              <a:t>Misses in the tiered hierarchy</a:t>
            </a:r>
          </a:p>
        </p:txBody>
      </p:sp>
      <p:sp>
        <p:nvSpPr>
          <p:cNvPr id="3" name="Content Placeholder 2">
            <a:extLst>
              <a:ext uri="{FF2B5EF4-FFF2-40B4-BE49-F238E27FC236}">
                <a16:creationId xmlns:a16="http://schemas.microsoft.com/office/drawing/2014/main" id="{1E996527-DF38-42B3-9F21-5AC02217B1BF}"/>
              </a:ext>
            </a:extLst>
          </p:cNvPr>
          <p:cNvSpPr>
            <a:spLocks noGrp="1"/>
          </p:cNvSpPr>
          <p:nvPr>
            <p:ph idx="1"/>
          </p:nvPr>
        </p:nvSpPr>
        <p:spPr>
          <a:xfrm>
            <a:off x="838200" y="1825625"/>
            <a:ext cx="10515600" cy="4430032"/>
          </a:xfrm>
        </p:spPr>
        <p:txBody>
          <a:bodyPr>
            <a:normAutofit lnSpcReduction="10000"/>
          </a:bodyPr>
          <a:lstStyle/>
          <a:p>
            <a:pPr marL="0" indent="0">
              <a:buNone/>
            </a:pPr>
            <a:r>
              <a:rPr lang="en-US" dirty="0"/>
              <a:t>If all memory accesses must be satisfied, some percentage of memory accesses will be satisfied by L1, some by L2, some by L3 and some by main memory.</a:t>
            </a:r>
          </a:p>
          <a:p>
            <a:pPr marL="0" indent="0">
              <a:buNone/>
            </a:pPr>
            <a:endParaRPr lang="en-US" dirty="0"/>
          </a:p>
          <a:p>
            <a:pPr marL="0" indent="0">
              <a:buNone/>
            </a:pPr>
            <a:r>
              <a:rPr lang="en-US" dirty="0"/>
              <a:t>The memory system must  take the time to look in the cache whether the data is there or not. </a:t>
            </a:r>
          </a:p>
          <a:p>
            <a:pPr marL="0" indent="0">
              <a:buNone/>
            </a:pPr>
            <a:endParaRPr lang="en-US" dirty="0"/>
          </a:p>
          <a:p>
            <a:pPr marL="0" indent="0">
              <a:buNone/>
            </a:pPr>
            <a:r>
              <a:rPr lang="en-US" dirty="0"/>
              <a:t>If a value is not in any cache, for example, we still wait for L1, L2 and L3 to be checked. Why? Because we don’t know in advance where we might find any given value. </a:t>
            </a:r>
          </a:p>
        </p:txBody>
      </p:sp>
    </p:spTree>
    <p:extLst>
      <p:ext uri="{BB962C8B-B14F-4D97-AF65-F5344CB8AC3E}">
        <p14:creationId xmlns:p14="http://schemas.microsoft.com/office/powerpoint/2010/main" val="9207450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B58F99-035D-4092-B6F2-BA45AF130958}"/>
              </a:ext>
            </a:extLst>
          </p:cNvPr>
          <p:cNvSpPr>
            <a:spLocks noGrp="1"/>
          </p:cNvSpPr>
          <p:nvPr>
            <p:ph type="title"/>
          </p:nvPr>
        </p:nvSpPr>
        <p:spPr/>
        <p:txBody>
          <a:bodyPr/>
          <a:lstStyle/>
          <a:p>
            <a:r>
              <a:rPr lang="en-US" dirty="0"/>
              <a:t>Example:</a:t>
            </a:r>
          </a:p>
        </p:txBody>
      </p:sp>
      <p:sp>
        <p:nvSpPr>
          <p:cNvPr id="3" name="Content Placeholder 2">
            <a:extLst>
              <a:ext uri="{FF2B5EF4-FFF2-40B4-BE49-F238E27FC236}">
                <a16:creationId xmlns:a16="http://schemas.microsoft.com/office/drawing/2014/main" id="{3DB77DAD-9020-4F74-808F-DF50E1A701D3}"/>
              </a:ext>
            </a:extLst>
          </p:cNvPr>
          <p:cNvSpPr>
            <a:spLocks noGrp="1"/>
          </p:cNvSpPr>
          <p:nvPr>
            <p:ph idx="1"/>
          </p:nvPr>
        </p:nvSpPr>
        <p:spPr/>
        <p:txBody>
          <a:bodyPr>
            <a:normAutofit fontScale="92500" lnSpcReduction="10000"/>
          </a:bodyPr>
          <a:lstStyle/>
          <a:p>
            <a:pPr marL="0" indent="0">
              <a:buNone/>
            </a:pPr>
            <a:r>
              <a:rPr lang="en-US" dirty="0"/>
              <a:t>If we have a 3ghz processor and we need to run 1 billion instruction, with an average of 2 cycles per instruction, we have:</a:t>
            </a:r>
          </a:p>
          <a:p>
            <a:pPr marL="0" indent="0">
              <a:buNone/>
            </a:pPr>
            <a:endParaRPr lang="en-US" dirty="0"/>
          </a:p>
          <a:p>
            <a:pPr marL="0" indent="0">
              <a:buNone/>
            </a:pPr>
            <a:r>
              <a:rPr lang="en-US" dirty="0"/>
              <a:t>Execution cycles = 1,000,000,000 * 2 c/I </a:t>
            </a:r>
          </a:p>
          <a:p>
            <a:pPr marL="0" indent="0">
              <a:buNone/>
            </a:pPr>
            <a:r>
              <a:rPr lang="en-US" dirty="0"/>
              <a:t>2,000,000,000 cycles</a:t>
            </a:r>
          </a:p>
          <a:p>
            <a:pPr marL="0" indent="0">
              <a:buNone/>
            </a:pPr>
            <a:r>
              <a:rPr lang="en-US" dirty="0"/>
              <a:t>3 </a:t>
            </a:r>
            <a:r>
              <a:rPr lang="en-US" dirty="0" err="1"/>
              <a:t>ghz</a:t>
            </a:r>
            <a:r>
              <a:rPr lang="en-US" dirty="0"/>
              <a:t> = 3,000,000,000 cycles per second</a:t>
            </a:r>
          </a:p>
          <a:p>
            <a:pPr marL="0" indent="0">
              <a:buNone/>
            </a:pPr>
            <a:r>
              <a:rPr lang="en-US" dirty="0"/>
              <a:t>time = 2,000,000,000 / 3,000,000,000</a:t>
            </a:r>
          </a:p>
          <a:p>
            <a:pPr marL="0" indent="0">
              <a:buNone/>
            </a:pPr>
            <a:r>
              <a:rPr lang="en-US" dirty="0"/>
              <a:t>time = 2/3 of a second. </a:t>
            </a:r>
          </a:p>
          <a:p>
            <a:pPr marL="0" indent="0">
              <a:buNone/>
            </a:pPr>
            <a:endParaRPr lang="en-US" dirty="0"/>
          </a:p>
          <a:p>
            <a:pPr marL="0" indent="0">
              <a:buNone/>
            </a:pPr>
            <a:r>
              <a:rPr lang="en-US" dirty="0"/>
              <a:t>This assumes a perfect cache that always has data ready for us.</a:t>
            </a:r>
          </a:p>
        </p:txBody>
      </p:sp>
    </p:spTree>
    <p:extLst>
      <p:ext uri="{BB962C8B-B14F-4D97-AF65-F5344CB8AC3E}">
        <p14:creationId xmlns:p14="http://schemas.microsoft.com/office/powerpoint/2010/main" val="23262263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335DE-84B5-492B-B438-5A302A1A5C10}"/>
              </a:ext>
            </a:extLst>
          </p:cNvPr>
          <p:cNvSpPr>
            <a:spLocks noGrp="1"/>
          </p:cNvSpPr>
          <p:nvPr>
            <p:ph type="title"/>
          </p:nvPr>
        </p:nvSpPr>
        <p:spPr/>
        <p:txBody>
          <a:bodyPr/>
          <a:lstStyle/>
          <a:p>
            <a:r>
              <a:rPr lang="en-US" dirty="0"/>
              <a:t>Example (continued)</a:t>
            </a:r>
          </a:p>
        </p:txBody>
      </p:sp>
      <p:sp>
        <p:nvSpPr>
          <p:cNvPr id="3" name="Content Placeholder 2">
            <a:extLst>
              <a:ext uri="{FF2B5EF4-FFF2-40B4-BE49-F238E27FC236}">
                <a16:creationId xmlns:a16="http://schemas.microsoft.com/office/drawing/2014/main" id="{691384CE-3694-4E61-B274-554CEC8E23C4}"/>
              </a:ext>
            </a:extLst>
          </p:cNvPr>
          <p:cNvSpPr>
            <a:spLocks noGrp="1"/>
          </p:cNvSpPr>
          <p:nvPr>
            <p:ph idx="1"/>
          </p:nvPr>
        </p:nvSpPr>
        <p:spPr/>
        <p:txBody>
          <a:bodyPr>
            <a:normAutofit lnSpcReduction="10000"/>
          </a:bodyPr>
          <a:lstStyle/>
          <a:p>
            <a:pPr marL="0" indent="0">
              <a:buNone/>
            </a:pPr>
            <a:r>
              <a:rPr lang="en-US" dirty="0"/>
              <a:t>Let’s assume that each cache level handles 90% of memory accesses and that in that 1,000,000,000 instructions, there were 1,200,000,000 memory accesses (don’t forget that instructions need to be loaded). We will use the numbers from the Ryzen 2700X above for timing.</a:t>
            </a:r>
          </a:p>
          <a:p>
            <a:pPr marL="0" indent="0">
              <a:buNone/>
            </a:pPr>
            <a:endParaRPr lang="en-US" dirty="0"/>
          </a:p>
          <a:p>
            <a:pPr marL="0" indent="0">
              <a:buNone/>
            </a:pPr>
            <a:r>
              <a:rPr lang="en-US" dirty="0"/>
              <a:t>For L1:</a:t>
            </a:r>
          </a:p>
          <a:p>
            <a:pPr marL="0" indent="0">
              <a:buNone/>
            </a:pPr>
            <a:r>
              <a:rPr lang="en-US" dirty="0"/>
              <a:t>1,200,000,000 * .90 = 1,080,000,000 hits</a:t>
            </a:r>
          </a:p>
          <a:p>
            <a:pPr marL="0" indent="0">
              <a:buNone/>
            </a:pPr>
            <a:r>
              <a:rPr lang="en-US" dirty="0"/>
              <a:t>Each attempt costs 4 cycles.</a:t>
            </a:r>
          </a:p>
          <a:p>
            <a:pPr marL="0" indent="0">
              <a:buNone/>
            </a:pPr>
            <a:r>
              <a:rPr lang="en-US" dirty="0"/>
              <a:t>4,800,000,000 cycles</a:t>
            </a:r>
          </a:p>
          <a:p>
            <a:pPr marL="0" indent="0">
              <a:buNone/>
            </a:pPr>
            <a:r>
              <a:rPr lang="en-US" dirty="0"/>
              <a:t>Remaining: 120,000,000</a:t>
            </a:r>
          </a:p>
          <a:p>
            <a:pPr marL="0" indent="0">
              <a:buNone/>
            </a:pPr>
            <a:endParaRPr lang="en-US" dirty="0"/>
          </a:p>
          <a:p>
            <a:pPr marL="0" indent="0">
              <a:buNone/>
            </a:pPr>
            <a:endParaRPr lang="en-US" dirty="0"/>
          </a:p>
        </p:txBody>
      </p:sp>
    </p:spTree>
    <p:extLst>
      <p:ext uri="{BB962C8B-B14F-4D97-AF65-F5344CB8AC3E}">
        <p14:creationId xmlns:p14="http://schemas.microsoft.com/office/powerpoint/2010/main" val="12900249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C202F93-3270-4084-9D5E-C2887C740FB7}"/>
              </a:ext>
            </a:extLst>
          </p:cNvPr>
          <p:cNvSpPr>
            <a:spLocks noGrp="1"/>
          </p:cNvSpPr>
          <p:nvPr>
            <p:ph idx="1"/>
          </p:nvPr>
        </p:nvSpPr>
        <p:spPr>
          <a:xfrm>
            <a:off x="655320" y="931025"/>
            <a:ext cx="10515600" cy="5777951"/>
          </a:xfrm>
        </p:spPr>
        <p:txBody>
          <a:bodyPr>
            <a:normAutofit/>
          </a:bodyPr>
          <a:lstStyle/>
          <a:p>
            <a:pPr marL="0" indent="0">
              <a:buNone/>
            </a:pPr>
            <a:r>
              <a:rPr lang="en-US" dirty="0"/>
              <a:t>For L2, there are 120,000,000 memory attempts. 90% of those is 108,000,000. A cache attempt costs 10.4 cycles.</a:t>
            </a:r>
          </a:p>
          <a:p>
            <a:pPr marL="0" indent="0">
              <a:buNone/>
            </a:pPr>
            <a:r>
              <a:rPr lang="en-US" dirty="0"/>
              <a:t>L2 cost is 1,248,000,000 cycles</a:t>
            </a:r>
          </a:p>
          <a:p>
            <a:pPr marL="0" indent="0">
              <a:buNone/>
            </a:pPr>
            <a:endParaRPr lang="en-US" dirty="0"/>
          </a:p>
          <a:p>
            <a:pPr marL="0" indent="0">
              <a:buNone/>
            </a:pPr>
            <a:r>
              <a:rPr lang="en-US" dirty="0"/>
              <a:t>L3, there are 12,000,000 memory attempts. 90% of those is 10,800,000. A cache attempt costs 30 cycles. </a:t>
            </a:r>
          </a:p>
          <a:p>
            <a:pPr marL="0" indent="0">
              <a:buNone/>
            </a:pPr>
            <a:r>
              <a:rPr lang="en-US" dirty="0"/>
              <a:t>L3 cost is 360,000,000 cycles</a:t>
            </a:r>
          </a:p>
          <a:p>
            <a:pPr marL="0" indent="0">
              <a:buNone/>
            </a:pPr>
            <a:endParaRPr lang="en-US" dirty="0"/>
          </a:p>
          <a:p>
            <a:pPr marL="0" indent="0">
              <a:buNone/>
            </a:pPr>
            <a:r>
              <a:rPr lang="en-US" dirty="0"/>
              <a:t>Main memory will have to service the last 1,200,000 memory attempts. Main memory costs 350 cycles.</a:t>
            </a:r>
          </a:p>
          <a:p>
            <a:pPr marL="0" indent="0">
              <a:buNone/>
            </a:pPr>
            <a:r>
              <a:rPr lang="en-US" dirty="0"/>
              <a:t>Main memory cost is 420,000,000 cycles.</a:t>
            </a:r>
          </a:p>
          <a:p>
            <a:endParaRPr lang="en-US" dirty="0"/>
          </a:p>
        </p:txBody>
      </p:sp>
      <p:sp>
        <p:nvSpPr>
          <p:cNvPr id="4" name="Title 1">
            <a:extLst>
              <a:ext uri="{FF2B5EF4-FFF2-40B4-BE49-F238E27FC236}">
                <a16:creationId xmlns:a16="http://schemas.microsoft.com/office/drawing/2014/main" id="{DE48CD29-4530-4AF5-8D3D-32FF4772BAB3}"/>
              </a:ext>
            </a:extLst>
          </p:cNvPr>
          <p:cNvSpPr>
            <a:spLocks noGrp="1"/>
          </p:cNvSpPr>
          <p:nvPr>
            <p:ph type="title"/>
          </p:nvPr>
        </p:nvSpPr>
        <p:spPr>
          <a:xfrm>
            <a:off x="838200" y="149024"/>
            <a:ext cx="10515600" cy="707216"/>
          </a:xfrm>
        </p:spPr>
        <p:txBody>
          <a:bodyPr>
            <a:normAutofit/>
          </a:bodyPr>
          <a:lstStyle/>
          <a:p>
            <a:r>
              <a:rPr lang="en-US" dirty="0"/>
              <a:t>Example (continued)</a:t>
            </a:r>
          </a:p>
        </p:txBody>
      </p:sp>
    </p:spTree>
    <p:extLst>
      <p:ext uri="{BB962C8B-B14F-4D97-AF65-F5344CB8AC3E}">
        <p14:creationId xmlns:p14="http://schemas.microsoft.com/office/powerpoint/2010/main" val="13504333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F899E3-3F32-4147-95B8-599481E6BA32}"/>
              </a:ext>
            </a:extLst>
          </p:cNvPr>
          <p:cNvSpPr>
            <a:spLocks noGrp="1"/>
          </p:cNvSpPr>
          <p:nvPr>
            <p:ph type="title"/>
          </p:nvPr>
        </p:nvSpPr>
        <p:spPr>
          <a:xfrm>
            <a:off x="838200" y="40928"/>
            <a:ext cx="10515600" cy="1325563"/>
          </a:xfrm>
        </p:spPr>
        <p:txBody>
          <a:bodyPr/>
          <a:lstStyle/>
          <a:p>
            <a:r>
              <a:rPr lang="en-US" dirty="0"/>
              <a:t>Example (conclusion)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A956E76F-9188-44FD-9E91-0AC7F2E2D657}"/>
                  </a:ext>
                </a:extLst>
              </p:cNvPr>
              <p:cNvSpPr>
                <a:spLocks noGrp="1"/>
              </p:cNvSpPr>
              <p:nvPr>
                <p:ph idx="1"/>
              </p:nvPr>
            </p:nvSpPr>
            <p:spPr>
              <a:xfrm>
                <a:off x="315884" y="1230284"/>
                <a:ext cx="11037916" cy="5436523"/>
              </a:xfrm>
            </p:spPr>
            <p:txBody>
              <a:bodyPr/>
              <a:lstStyle/>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𝐸𝑥𝑒𝑐𝑢𝑡𝑖𝑜𝑛</m:t>
                      </m:r>
                      <m:r>
                        <a:rPr lang="en-US" b="0" i="1" smtClean="0">
                          <a:latin typeface="Cambria Math" panose="02040503050406030204" pitchFamily="18" charset="0"/>
                        </a:rPr>
                        <m:t> </m:t>
                      </m:r>
                      <m:r>
                        <a:rPr lang="en-US" b="0" i="1" smtClean="0">
                          <a:latin typeface="Cambria Math" panose="02040503050406030204" pitchFamily="18" charset="0"/>
                        </a:rPr>
                        <m:t>𝑇𝑖𝑚𝑒</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𝐼𝑛𝑠𝑡𝑟𝑢𝑐𝑡𝑖𝑜𝑛</m:t>
                          </m:r>
                          <m:r>
                            <a:rPr lang="en-US" b="0" i="1" smtClean="0">
                              <a:latin typeface="Cambria Math" panose="02040503050406030204" pitchFamily="18" charset="0"/>
                            </a:rPr>
                            <m:t> </m:t>
                          </m:r>
                          <m:r>
                            <a:rPr lang="en-US" b="0" i="1" smtClean="0">
                              <a:latin typeface="Cambria Math" panose="02040503050406030204" pitchFamily="18" charset="0"/>
                            </a:rPr>
                            <m:t>𝐶𝑦𝑐𝑙𝑒𝑠</m:t>
                          </m:r>
                          <m:r>
                            <a:rPr lang="en-US" b="0" i="1" smtClean="0">
                              <a:latin typeface="Cambria Math" panose="02040503050406030204" pitchFamily="18" charset="0"/>
                            </a:rPr>
                            <m:t>+</m:t>
                          </m:r>
                          <m:r>
                            <a:rPr lang="en-US" b="0" i="1" smtClean="0">
                              <a:latin typeface="Cambria Math" panose="02040503050406030204" pitchFamily="18" charset="0"/>
                            </a:rPr>
                            <m:t>𝑀𝑒𝑚𝑜𝑟𝑦</m:t>
                          </m:r>
                          <m:r>
                            <a:rPr lang="en-US" b="0" i="1" smtClean="0">
                              <a:latin typeface="Cambria Math" panose="02040503050406030204" pitchFamily="18" charset="0"/>
                            </a:rPr>
                            <m:t> </m:t>
                          </m:r>
                          <m:r>
                            <a:rPr lang="en-US" b="0" i="1" smtClean="0">
                              <a:latin typeface="Cambria Math" panose="02040503050406030204" pitchFamily="18" charset="0"/>
                            </a:rPr>
                            <m:t>𝑆𝑡𝑎𝑙𝑙</m:t>
                          </m:r>
                          <m:r>
                            <a:rPr lang="en-US" b="0" i="1" smtClean="0">
                              <a:latin typeface="Cambria Math" panose="02040503050406030204" pitchFamily="18" charset="0"/>
                            </a:rPr>
                            <m:t> </m:t>
                          </m:r>
                          <m:r>
                            <a:rPr lang="en-US" b="0" i="1" smtClean="0">
                              <a:latin typeface="Cambria Math" panose="02040503050406030204" pitchFamily="18" charset="0"/>
                            </a:rPr>
                            <m:t>𝐶𝑦𝑐𝑙𝑒𝑠</m:t>
                          </m:r>
                        </m:num>
                        <m:den>
                          <m:r>
                            <a:rPr lang="en-US" b="0" i="1" smtClean="0">
                              <a:latin typeface="Cambria Math" panose="02040503050406030204" pitchFamily="18" charset="0"/>
                            </a:rPr>
                            <m:t>𝐶𝑦𝑐𝑙𝑒𝑠</m:t>
                          </m:r>
                          <m:r>
                            <a:rPr lang="en-US" b="0" i="1" smtClean="0">
                              <a:latin typeface="Cambria Math" panose="02040503050406030204" pitchFamily="18" charset="0"/>
                            </a:rPr>
                            <m:t> </m:t>
                          </m:r>
                          <m:r>
                            <a:rPr lang="en-US" b="0" i="1" smtClean="0">
                              <a:latin typeface="Cambria Math" panose="02040503050406030204" pitchFamily="18" charset="0"/>
                            </a:rPr>
                            <m:t>𝑃𝑒𝑟</m:t>
                          </m:r>
                          <m:r>
                            <a:rPr lang="en-US" b="0" i="1" smtClean="0">
                              <a:latin typeface="Cambria Math" panose="02040503050406030204" pitchFamily="18" charset="0"/>
                            </a:rPr>
                            <m:t> </m:t>
                          </m:r>
                          <m:r>
                            <a:rPr lang="en-US" b="0" i="1" smtClean="0">
                              <a:latin typeface="Cambria Math" panose="02040503050406030204" pitchFamily="18" charset="0"/>
                            </a:rPr>
                            <m:t>𝑆𝑒𝑐𝑜𝑛𝑑</m:t>
                          </m:r>
                        </m:den>
                      </m:f>
                    </m:oMath>
                  </m:oMathPara>
                </a14:m>
                <a:endParaRPr lang="en-US" dirty="0"/>
              </a:p>
              <a:p>
                <a:pPr marL="0" indent="0">
                  <a:buNone/>
                </a:pPr>
                <a:r>
                  <a:rPr lang="en-US" dirty="0"/>
                  <a:t>Memory Stall Cycles = </a:t>
                </a:r>
                <a14:m>
                  <m:oMath xmlns:m="http://schemas.openxmlformats.org/officeDocument/2006/math">
                    <m:nary>
                      <m:naryPr>
                        <m:chr m:val="∑"/>
                        <m:supHide m:val="on"/>
                        <m:ctrlPr>
                          <a:rPr lang="en-US" i="1" smtClean="0">
                            <a:latin typeface="Cambria Math" panose="02040503050406030204" pitchFamily="18" charset="0"/>
                          </a:rPr>
                        </m:ctrlPr>
                      </m:naryPr>
                      <m:sub>
                        <m:r>
                          <m:rPr>
                            <m:brk m:alnAt="7"/>
                          </m:rPr>
                          <a:rPr lang="en-US" b="0" i="1" smtClean="0">
                            <a:latin typeface="Cambria Math" panose="02040503050406030204" pitchFamily="18" charset="0"/>
                          </a:rPr>
                          <m:t>𝐿</m:t>
                        </m:r>
                        <m:r>
                          <a:rPr lang="en-US" b="0" i="1" smtClean="0">
                            <a:latin typeface="Cambria Math" panose="02040503050406030204" pitchFamily="18" charset="0"/>
                          </a:rPr>
                          <m:t>𝑒𝑣𝑒𝑙</m:t>
                        </m:r>
                      </m:sub>
                      <m:sup/>
                      <m:e>
                        <m:r>
                          <a:rPr lang="en-US" b="0" i="1" smtClean="0">
                            <a:latin typeface="Cambria Math" panose="02040503050406030204" pitchFamily="18" charset="0"/>
                          </a:rPr>
                          <m:t>𝑆𝑒𝑎𝑟𝑐h</m:t>
                        </m:r>
                        <m:r>
                          <a:rPr lang="en-US" b="0" i="1" smtClean="0">
                            <a:latin typeface="Cambria Math" panose="02040503050406030204" pitchFamily="18" charset="0"/>
                          </a:rPr>
                          <m:t> </m:t>
                        </m:r>
                        <m:r>
                          <a:rPr lang="en-US" b="0" i="1" smtClean="0">
                            <a:latin typeface="Cambria Math" panose="02040503050406030204" pitchFamily="18" charset="0"/>
                          </a:rPr>
                          <m:t>𝑇𝑖𝑚𝑒𝑠</m:t>
                        </m:r>
                      </m:e>
                    </m:nary>
                  </m:oMath>
                </a14:m>
                <a:endParaRPr lang="en-US" dirty="0"/>
              </a:p>
              <a:p>
                <a:pPr marL="0" indent="0">
                  <a:buNone/>
                </a:pPr>
                <a:r>
                  <a:rPr lang="en-US" dirty="0"/>
                  <a:t>L1: 4,800,000,000 cycles</a:t>
                </a:r>
              </a:p>
              <a:p>
                <a:pPr marL="0" indent="0">
                  <a:buNone/>
                </a:pPr>
                <a:r>
                  <a:rPr lang="en-US" dirty="0"/>
                  <a:t>L2: 1,248,000,000 cycles</a:t>
                </a:r>
              </a:p>
              <a:p>
                <a:pPr marL="0" indent="0">
                  <a:buNone/>
                </a:pPr>
                <a:r>
                  <a:rPr lang="en-US" dirty="0"/>
                  <a:t>L3: 360,000,000 cycles</a:t>
                </a:r>
              </a:p>
              <a:p>
                <a:pPr marL="0" indent="0">
                  <a:buNone/>
                </a:pPr>
                <a:r>
                  <a:rPr lang="en-US" dirty="0"/>
                  <a:t>Main: 420,000,000 cycles</a:t>
                </a:r>
              </a:p>
              <a:p>
                <a:pPr marL="0" indent="0">
                  <a:buNone/>
                </a:pPr>
                <a14:m>
                  <m:oMathPara xmlns:m="http://schemas.openxmlformats.org/officeDocument/2006/math">
                    <m:oMathParaPr>
                      <m:jc m:val="centerGroup"/>
                    </m:oMathParaPr>
                    <m:oMath xmlns:m="http://schemas.openxmlformats.org/officeDocument/2006/math">
                      <m:r>
                        <a:rPr lang="en-US">
                          <a:latin typeface="Cambria Math" panose="02040503050406030204" pitchFamily="18" charset="0"/>
                        </a:rPr>
                        <m:t>𝐸𝑥𝑒𝑐𝑢𝑡𝑖𝑜𝑛</m:t>
                      </m:r>
                      <m:r>
                        <a:rPr lang="en-US">
                          <a:latin typeface="Cambria Math" panose="02040503050406030204" pitchFamily="18" charset="0"/>
                        </a:rPr>
                        <m:t> </m:t>
                      </m:r>
                      <m:r>
                        <a:rPr lang="en-US">
                          <a:latin typeface="Cambria Math" panose="02040503050406030204" pitchFamily="18" charset="0"/>
                        </a:rPr>
                        <m:t>𝑇𝑖𝑚𝑒</m:t>
                      </m:r>
                      <m:r>
                        <a:rPr lang="en-US">
                          <a:latin typeface="Cambria Math" panose="02040503050406030204" pitchFamily="18" charset="0"/>
                        </a:rPr>
                        <m:t>=</m:t>
                      </m:r>
                      <m:f>
                        <m:fPr>
                          <m:ctrlPr>
                            <a:rPr lang="en-US" i="1">
                              <a:latin typeface="Cambria Math" panose="02040503050406030204" pitchFamily="18" charset="0"/>
                            </a:rPr>
                          </m:ctrlPr>
                        </m:fPr>
                        <m:num>
                          <m:r>
                            <a:rPr lang="en-US">
                              <a:latin typeface="Cambria Math" panose="02040503050406030204" pitchFamily="18" charset="0"/>
                            </a:rPr>
                            <m:t>2,000,000,000+6,828,000,000</m:t>
                          </m:r>
                        </m:num>
                        <m:den>
                          <m:r>
                            <a:rPr lang="en-US">
                              <a:latin typeface="Cambria Math" panose="02040503050406030204" pitchFamily="18" charset="0"/>
                            </a:rPr>
                            <m:t>3,000,000,000</m:t>
                          </m:r>
                        </m:den>
                      </m:f>
                    </m:oMath>
                  </m:oMathPara>
                </a14:m>
                <a:endParaRPr lang="en-US" dirty="0"/>
              </a:p>
              <a:p>
                <a:pPr marL="0" indent="0">
                  <a:buNone/>
                </a:pPr>
                <a:r>
                  <a:rPr lang="en-US" dirty="0"/>
                  <a:t>	Time = 2.943 seconds</a:t>
                </a:r>
              </a:p>
            </p:txBody>
          </p:sp>
        </mc:Choice>
        <mc:Fallback>
          <p:sp>
            <p:nvSpPr>
              <p:cNvPr id="3" name="Content Placeholder 2">
                <a:extLst>
                  <a:ext uri="{FF2B5EF4-FFF2-40B4-BE49-F238E27FC236}">
                    <a16:creationId xmlns:a16="http://schemas.microsoft.com/office/drawing/2014/main" id="{A956E76F-9188-44FD-9E91-0AC7F2E2D657}"/>
                  </a:ext>
                </a:extLst>
              </p:cNvPr>
              <p:cNvSpPr>
                <a:spLocks noGrp="1" noRot="1" noChangeAspect="1" noMove="1" noResize="1" noEditPoints="1" noAdjustHandles="1" noChangeArrowheads="1" noChangeShapeType="1" noTextEdit="1"/>
              </p:cNvSpPr>
              <p:nvPr>
                <p:ph idx="1"/>
              </p:nvPr>
            </p:nvSpPr>
            <p:spPr>
              <a:xfrm>
                <a:off x="315884" y="1230284"/>
                <a:ext cx="11037916" cy="5436523"/>
              </a:xfrm>
              <a:blipFill>
                <a:blip r:embed="rId2"/>
                <a:stretch>
                  <a:fillRect l="-1160"/>
                </a:stretch>
              </a:blipFill>
            </p:spPr>
            <p:txBody>
              <a:bodyPr/>
              <a:lstStyle/>
              <a:p>
                <a:r>
                  <a:rPr lang="en-US">
                    <a:noFill/>
                  </a:rPr>
                  <a:t> </a:t>
                </a:r>
              </a:p>
            </p:txBody>
          </p:sp>
        </mc:Fallback>
      </mc:AlternateContent>
    </p:spTree>
    <p:extLst>
      <p:ext uri="{BB962C8B-B14F-4D97-AF65-F5344CB8AC3E}">
        <p14:creationId xmlns:p14="http://schemas.microsoft.com/office/powerpoint/2010/main" val="9102737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61722F-DE1D-49ED-8C17-D162F4615586}"/>
              </a:ext>
            </a:extLst>
          </p:cNvPr>
          <p:cNvSpPr>
            <a:spLocks noGrp="1"/>
          </p:cNvSpPr>
          <p:nvPr>
            <p:ph type="title"/>
          </p:nvPr>
        </p:nvSpPr>
        <p:spPr/>
        <p:txBody>
          <a:bodyPr/>
          <a:lstStyle/>
          <a:p>
            <a:r>
              <a:rPr lang="en-US" dirty="0"/>
              <a:t>Stating the Obvious…</a:t>
            </a:r>
          </a:p>
        </p:txBody>
      </p:sp>
      <p:sp>
        <p:nvSpPr>
          <p:cNvPr id="3" name="Content Placeholder 2">
            <a:extLst>
              <a:ext uri="{FF2B5EF4-FFF2-40B4-BE49-F238E27FC236}">
                <a16:creationId xmlns:a16="http://schemas.microsoft.com/office/drawing/2014/main" id="{D40D80CD-6DAD-4CF2-9393-0B6F38D717FA}"/>
              </a:ext>
            </a:extLst>
          </p:cNvPr>
          <p:cNvSpPr>
            <a:spLocks noGrp="1"/>
          </p:cNvSpPr>
          <p:nvPr>
            <p:ph idx="1"/>
          </p:nvPr>
        </p:nvSpPr>
        <p:spPr/>
        <p:txBody>
          <a:bodyPr/>
          <a:lstStyle/>
          <a:p>
            <a:pPr marL="0" indent="0">
              <a:buNone/>
            </a:pPr>
            <a:r>
              <a:rPr lang="en-US" dirty="0"/>
              <a:t>Memory accesses always hurt. Even with a 90% cache hit rate, they hurt a lot. Fortunately, 90% is considered AWFUL. Real rates are closer to 99%!</a:t>
            </a:r>
          </a:p>
          <a:p>
            <a:pPr marL="0" indent="0">
              <a:buNone/>
            </a:pPr>
            <a:endParaRPr lang="en-US" dirty="0"/>
          </a:p>
          <a:p>
            <a:pPr marL="0" indent="0">
              <a:buNone/>
            </a:pPr>
            <a:r>
              <a:rPr lang="en-US" dirty="0"/>
              <a:t>The only thing worse than a cache hit is a cache miss.</a:t>
            </a:r>
          </a:p>
          <a:p>
            <a:pPr marL="0" indent="0">
              <a:buNone/>
            </a:pPr>
            <a:endParaRPr lang="en-US" dirty="0"/>
          </a:p>
          <a:p>
            <a:pPr marL="0" indent="0">
              <a:buNone/>
            </a:pPr>
            <a:r>
              <a:rPr lang="en-US" dirty="0"/>
              <a:t>When possible, working from registers is a far better choice.</a:t>
            </a:r>
          </a:p>
          <a:p>
            <a:pPr marL="0" indent="0">
              <a:buNone/>
            </a:pPr>
            <a:endParaRPr lang="en-US" dirty="0"/>
          </a:p>
          <a:p>
            <a:pPr marL="0" indent="0">
              <a:buNone/>
            </a:pPr>
            <a:endParaRPr lang="en-US" dirty="0"/>
          </a:p>
        </p:txBody>
      </p:sp>
    </p:spTree>
    <p:extLst>
      <p:ext uri="{BB962C8B-B14F-4D97-AF65-F5344CB8AC3E}">
        <p14:creationId xmlns:p14="http://schemas.microsoft.com/office/powerpoint/2010/main" val="13635163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04DB55-3A31-463A-8486-26335EE409FF}"/>
              </a:ext>
            </a:extLst>
          </p:cNvPr>
          <p:cNvSpPr>
            <a:spLocks noGrp="1"/>
          </p:cNvSpPr>
          <p:nvPr>
            <p:ph type="title"/>
          </p:nvPr>
        </p:nvSpPr>
        <p:spPr/>
        <p:txBody>
          <a:bodyPr/>
          <a:lstStyle/>
          <a:p>
            <a:r>
              <a:rPr lang="en-US" dirty="0"/>
              <a:t>Blocks</a:t>
            </a:r>
          </a:p>
        </p:txBody>
      </p:sp>
      <p:sp>
        <p:nvSpPr>
          <p:cNvPr id="3" name="Content Placeholder 2">
            <a:extLst>
              <a:ext uri="{FF2B5EF4-FFF2-40B4-BE49-F238E27FC236}">
                <a16:creationId xmlns:a16="http://schemas.microsoft.com/office/drawing/2014/main" id="{2F7148F5-3DCD-43FC-A914-19120DC3D988}"/>
              </a:ext>
            </a:extLst>
          </p:cNvPr>
          <p:cNvSpPr>
            <a:spLocks noGrp="1"/>
          </p:cNvSpPr>
          <p:nvPr>
            <p:ph idx="1"/>
          </p:nvPr>
        </p:nvSpPr>
        <p:spPr/>
        <p:txBody>
          <a:bodyPr>
            <a:normAutofit lnSpcReduction="10000"/>
          </a:bodyPr>
          <a:lstStyle/>
          <a:p>
            <a:pPr marL="0" indent="0">
              <a:buNone/>
            </a:pPr>
            <a:r>
              <a:rPr lang="en-US" dirty="0"/>
              <a:t>Caches work on the concept of blocks – consecutive sections of cache. A block of cache holds consecutive memory. </a:t>
            </a:r>
          </a:p>
          <a:p>
            <a:pPr marL="0" indent="0">
              <a:buNone/>
            </a:pPr>
            <a:endParaRPr lang="en-US" dirty="0"/>
          </a:p>
          <a:p>
            <a:pPr marL="0" indent="0">
              <a:buNone/>
            </a:pPr>
            <a:r>
              <a:rPr lang="en-US" dirty="0"/>
              <a:t>Bigger blocks means we swap out more at a time and have lower temporal locality.</a:t>
            </a:r>
          </a:p>
          <a:p>
            <a:pPr marL="0" indent="0">
              <a:buNone/>
            </a:pPr>
            <a:r>
              <a:rPr lang="en-US" dirty="0"/>
              <a:t>Smaller blocks means that we spend a lot of time/hardware managing the mapping between memory and the block and we don’t take advantage of spatial locality.</a:t>
            </a:r>
          </a:p>
          <a:p>
            <a:pPr marL="0" indent="0">
              <a:buNone/>
            </a:pPr>
            <a:endParaRPr lang="en-US" dirty="0"/>
          </a:p>
          <a:p>
            <a:pPr marL="0" indent="0">
              <a:buNone/>
            </a:pPr>
            <a:r>
              <a:rPr lang="en-US" dirty="0"/>
              <a:t>The right size is a tradeoff of hit rate vs size.</a:t>
            </a:r>
          </a:p>
        </p:txBody>
      </p:sp>
    </p:spTree>
    <p:extLst>
      <p:ext uri="{BB962C8B-B14F-4D97-AF65-F5344CB8AC3E}">
        <p14:creationId xmlns:p14="http://schemas.microsoft.com/office/powerpoint/2010/main" val="2574644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237BC9-6259-4ECC-9DBB-A6C98E52C44D}"/>
              </a:ext>
            </a:extLst>
          </p:cNvPr>
          <p:cNvSpPr>
            <a:spLocks noGrp="1"/>
          </p:cNvSpPr>
          <p:nvPr>
            <p:ph type="title"/>
          </p:nvPr>
        </p:nvSpPr>
        <p:spPr/>
        <p:txBody>
          <a:bodyPr/>
          <a:lstStyle/>
          <a:p>
            <a:r>
              <a:rPr lang="en-US" dirty="0"/>
              <a:t>Improve Performance</a:t>
            </a:r>
          </a:p>
        </p:txBody>
      </p:sp>
      <p:sp>
        <p:nvSpPr>
          <p:cNvPr id="3" name="Content Placeholder 2">
            <a:extLst>
              <a:ext uri="{FF2B5EF4-FFF2-40B4-BE49-F238E27FC236}">
                <a16:creationId xmlns:a16="http://schemas.microsoft.com/office/drawing/2014/main" id="{B477DCC9-8734-4D56-8B96-CD1F7D174C29}"/>
              </a:ext>
            </a:extLst>
          </p:cNvPr>
          <p:cNvSpPr>
            <a:spLocks noGrp="1"/>
          </p:cNvSpPr>
          <p:nvPr>
            <p:ph idx="1"/>
          </p:nvPr>
        </p:nvSpPr>
        <p:spPr/>
        <p:txBody>
          <a:bodyPr/>
          <a:lstStyle/>
          <a:p>
            <a:pPr marL="0" indent="0">
              <a:buNone/>
            </a:pPr>
            <a:r>
              <a:rPr lang="en-US" dirty="0"/>
              <a:t>How can we improve our performance?</a:t>
            </a:r>
          </a:p>
          <a:p>
            <a:pPr marL="0" indent="0">
              <a:buNone/>
            </a:pPr>
            <a:endParaRPr lang="en-US" dirty="0"/>
          </a:p>
          <a:p>
            <a:pPr marL="514350" indent="-514350">
              <a:buAutoNum type="arabicParenR"/>
            </a:pPr>
            <a:r>
              <a:rPr lang="en-US" dirty="0"/>
              <a:t>Improve our hit rate</a:t>
            </a:r>
          </a:p>
          <a:p>
            <a:pPr marL="514350" indent="-514350">
              <a:buAutoNum type="arabicParenR"/>
            </a:pPr>
            <a:r>
              <a:rPr lang="en-US" dirty="0"/>
              <a:t>Reduce our miss penalty (remember, hits = 100% - misses)</a:t>
            </a:r>
          </a:p>
          <a:p>
            <a:pPr marL="514350" indent="-514350">
              <a:buAutoNum type="arabicParenR"/>
            </a:pPr>
            <a:r>
              <a:rPr lang="en-US" dirty="0"/>
              <a:t>Reduce the time that cache hits take</a:t>
            </a:r>
          </a:p>
          <a:p>
            <a:pPr marL="0" indent="0">
              <a:buNone/>
            </a:pPr>
            <a:endParaRPr lang="en-US" dirty="0"/>
          </a:p>
          <a:p>
            <a:pPr marL="0" indent="0">
              <a:buNone/>
            </a:pPr>
            <a:endParaRPr lang="en-US" dirty="0"/>
          </a:p>
        </p:txBody>
      </p:sp>
    </p:spTree>
    <p:extLst>
      <p:ext uri="{BB962C8B-B14F-4D97-AF65-F5344CB8AC3E}">
        <p14:creationId xmlns:p14="http://schemas.microsoft.com/office/powerpoint/2010/main" val="27759806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C65C50-6780-4CAD-A310-AE9CD8B8B1AB}"/>
              </a:ext>
            </a:extLst>
          </p:cNvPr>
          <p:cNvSpPr>
            <a:spLocks noGrp="1"/>
          </p:cNvSpPr>
          <p:nvPr>
            <p:ph type="title"/>
          </p:nvPr>
        </p:nvSpPr>
        <p:spPr/>
        <p:txBody>
          <a:bodyPr/>
          <a:lstStyle/>
          <a:p>
            <a:r>
              <a:rPr lang="en-US" dirty="0"/>
              <a:t>How do misses happen?</a:t>
            </a:r>
          </a:p>
        </p:txBody>
      </p:sp>
      <p:sp>
        <p:nvSpPr>
          <p:cNvPr id="3" name="Content Placeholder 2">
            <a:extLst>
              <a:ext uri="{FF2B5EF4-FFF2-40B4-BE49-F238E27FC236}">
                <a16:creationId xmlns:a16="http://schemas.microsoft.com/office/drawing/2014/main" id="{4A19AA2D-3C9E-47D0-91BD-CC196570CD52}"/>
              </a:ext>
            </a:extLst>
          </p:cNvPr>
          <p:cNvSpPr>
            <a:spLocks noGrp="1"/>
          </p:cNvSpPr>
          <p:nvPr>
            <p:ph idx="1"/>
          </p:nvPr>
        </p:nvSpPr>
        <p:spPr/>
        <p:txBody>
          <a:bodyPr/>
          <a:lstStyle/>
          <a:p>
            <a:pPr marL="0" indent="0">
              <a:buNone/>
            </a:pPr>
            <a:r>
              <a:rPr lang="en-US" dirty="0"/>
              <a:t>The 3 C’s:</a:t>
            </a:r>
          </a:p>
          <a:p>
            <a:pPr marL="0" indent="0">
              <a:buNone/>
            </a:pPr>
            <a:endParaRPr lang="en-US" dirty="0"/>
          </a:p>
          <a:p>
            <a:pPr marL="0" indent="0">
              <a:buNone/>
            </a:pPr>
            <a:r>
              <a:rPr lang="en-US" dirty="0"/>
              <a:t>Compulsory – the block was never in the cache. We can’t do anything about this, really.</a:t>
            </a:r>
          </a:p>
          <a:p>
            <a:pPr marL="0" indent="0">
              <a:buNone/>
            </a:pPr>
            <a:endParaRPr lang="en-US" dirty="0"/>
          </a:p>
          <a:p>
            <a:pPr marL="0" indent="0">
              <a:buNone/>
            </a:pPr>
            <a:r>
              <a:rPr lang="en-US" dirty="0"/>
              <a:t>Capacity – the block was in the cache at one point, but we discarded it for space reasons</a:t>
            </a:r>
          </a:p>
          <a:p>
            <a:pPr marL="0" indent="0">
              <a:buNone/>
            </a:pPr>
            <a:endParaRPr lang="en-US" dirty="0"/>
          </a:p>
          <a:p>
            <a:pPr marL="0" indent="0">
              <a:buNone/>
            </a:pPr>
            <a:r>
              <a:rPr lang="en-US" dirty="0"/>
              <a:t>Conflict – 2 blocks conflict - let’s look at this</a:t>
            </a:r>
          </a:p>
        </p:txBody>
      </p:sp>
    </p:spTree>
    <p:extLst>
      <p:ext uri="{BB962C8B-B14F-4D97-AF65-F5344CB8AC3E}">
        <p14:creationId xmlns:p14="http://schemas.microsoft.com/office/powerpoint/2010/main" val="163606111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5FEB90-E6D6-444A-ABEC-7C459223D45E}"/>
              </a:ext>
            </a:extLst>
          </p:cNvPr>
          <p:cNvSpPr>
            <a:spLocks noGrp="1"/>
          </p:cNvSpPr>
          <p:nvPr>
            <p:ph type="title"/>
          </p:nvPr>
        </p:nvSpPr>
        <p:spPr/>
        <p:txBody>
          <a:bodyPr/>
          <a:lstStyle/>
          <a:p>
            <a:r>
              <a:rPr lang="en-US" dirty="0"/>
              <a:t>Where can a block be placed in the cache?</a:t>
            </a:r>
          </a:p>
        </p:txBody>
      </p:sp>
      <p:sp>
        <p:nvSpPr>
          <p:cNvPr id="3" name="Content Placeholder 2">
            <a:extLst>
              <a:ext uri="{FF2B5EF4-FFF2-40B4-BE49-F238E27FC236}">
                <a16:creationId xmlns:a16="http://schemas.microsoft.com/office/drawing/2014/main" id="{A83CEC50-8D67-45B3-913B-AC1D0E843722}"/>
              </a:ext>
            </a:extLst>
          </p:cNvPr>
          <p:cNvSpPr>
            <a:spLocks noGrp="1"/>
          </p:cNvSpPr>
          <p:nvPr>
            <p:ph idx="1"/>
          </p:nvPr>
        </p:nvSpPr>
        <p:spPr/>
        <p:txBody>
          <a:bodyPr/>
          <a:lstStyle/>
          <a:p>
            <a:pPr marL="0" indent="0">
              <a:buNone/>
            </a:pPr>
            <a:r>
              <a:rPr lang="en-US" dirty="0"/>
              <a:t>So far, we have just considered the cache as a block of storage with some ideal mechanism – we put data in, we read data. Why is that a problem?</a:t>
            </a:r>
          </a:p>
          <a:p>
            <a:pPr marL="0" indent="0">
              <a:buNone/>
            </a:pPr>
            <a:endParaRPr lang="en-US" dirty="0"/>
          </a:p>
          <a:p>
            <a:pPr marL="0" indent="0">
              <a:buNone/>
            </a:pPr>
            <a:r>
              <a:rPr lang="en-US" dirty="0"/>
              <a:t>How do we find a block of data? If we know that we need address Q, how do we find it in the cache?</a:t>
            </a:r>
          </a:p>
          <a:p>
            <a:pPr marL="0" indent="0">
              <a:buNone/>
            </a:pPr>
            <a:endParaRPr lang="en-US" dirty="0"/>
          </a:p>
          <a:p>
            <a:pPr marL="0" indent="0">
              <a:buNone/>
            </a:pPr>
            <a:endParaRPr lang="en-US" dirty="0"/>
          </a:p>
        </p:txBody>
      </p:sp>
    </p:spTree>
    <p:extLst>
      <p:ext uri="{BB962C8B-B14F-4D97-AF65-F5344CB8AC3E}">
        <p14:creationId xmlns:p14="http://schemas.microsoft.com/office/powerpoint/2010/main" val="8774115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66225B-373B-4A83-8016-ADE1A845A5FC}"/>
              </a:ext>
            </a:extLst>
          </p:cNvPr>
          <p:cNvSpPr>
            <a:spLocks noGrp="1"/>
          </p:cNvSpPr>
          <p:nvPr>
            <p:ph type="title"/>
          </p:nvPr>
        </p:nvSpPr>
        <p:spPr/>
        <p:txBody>
          <a:bodyPr/>
          <a:lstStyle/>
          <a:p>
            <a:r>
              <a:rPr lang="en-US" dirty="0"/>
              <a:t>Option 1: Fully Associative</a:t>
            </a:r>
          </a:p>
        </p:txBody>
      </p:sp>
      <p:sp>
        <p:nvSpPr>
          <p:cNvPr id="3" name="Content Placeholder 2">
            <a:extLst>
              <a:ext uri="{FF2B5EF4-FFF2-40B4-BE49-F238E27FC236}">
                <a16:creationId xmlns:a16="http://schemas.microsoft.com/office/drawing/2014/main" id="{77DB8C86-B502-4CE1-874B-41D6936F276E}"/>
              </a:ext>
            </a:extLst>
          </p:cNvPr>
          <p:cNvSpPr>
            <a:spLocks noGrp="1"/>
          </p:cNvSpPr>
          <p:nvPr>
            <p:ph idx="1"/>
          </p:nvPr>
        </p:nvSpPr>
        <p:spPr/>
        <p:txBody>
          <a:bodyPr/>
          <a:lstStyle/>
          <a:p>
            <a:pPr marL="0" indent="0">
              <a:buNone/>
            </a:pPr>
            <a:r>
              <a:rPr lang="en-US" dirty="0"/>
              <a:t>Any block of memory can be stored anywhere. The cache stores the base of the address and the data. </a:t>
            </a:r>
          </a:p>
          <a:p>
            <a:pPr marL="0" indent="0">
              <a:buNone/>
            </a:pPr>
            <a:r>
              <a:rPr lang="en-US" dirty="0"/>
              <a:t>For example – on a 32 bit machine, let’s assume that a block of memory is considered 1k for a certain cache. 1k = 2</a:t>
            </a:r>
            <a:r>
              <a:rPr lang="en-US" baseline="30000" dirty="0"/>
              <a:t>10</a:t>
            </a:r>
            <a:r>
              <a:rPr lang="en-US" dirty="0"/>
              <a:t>. So there is a “tag” of 22 bits indicating which 1k block of the memory is stored in this cache. This is known as the block address.</a:t>
            </a:r>
          </a:p>
          <a:p>
            <a:pPr marL="0" indent="0">
              <a:buNone/>
            </a:pPr>
            <a:endParaRPr lang="en-US" dirty="0"/>
          </a:p>
          <a:p>
            <a:pPr marL="0" indent="0">
              <a:buNone/>
            </a:pPr>
            <a:r>
              <a:rPr lang="en-US" dirty="0"/>
              <a:t>How do we perform a memory access? We have to compare the 22 bits of the address to each of the tags in the cache. That is a LOT of gates AND time for signal propagation. That takes a LONG time.</a:t>
            </a:r>
          </a:p>
          <a:p>
            <a:pPr marL="0" indent="0">
              <a:buNone/>
            </a:pPr>
            <a:endParaRPr lang="en-US" dirty="0"/>
          </a:p>
          <a:p>
            <a:pPr marL="0" indent="0">
              <a:buNone/>
            </a:pPr>
            <a:endParaRPr lang="en-US" dirty="0"/>
          </a:p>
        </p:txBody>
      </p:sp>
    </p:spTree>
    <p:extLst>
      <p:ext uri="{BB962C8B-B14F-4D97-AF65-F5344CB8AC3E}">
        <p14:creationId xmlns:p14="http://schemas.microsoft.com/office/powerpoint/2010/main" val="196697650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B054E0-59FD-4BCB-BC31-91DB40F361A3}"/>
              </a:ext>
            </a:extLst>
          </p:cNvPr>
          <p:cNvSpPr>
            <a:spLocks noGrp="1"/>
          </p:cNvSpPr>
          <p:nvPr>
            <p:ph type="title"/>
          </p:nvPr>
        </p:nvSpPr>
        <p:spPr/>
        <p:txBody>
          <a:bodyPr/>
          <a:lstStyle/>
          <a:p>
            <a:r>
              <a:rPr lang="en-US" dirty="0"/>
              <a:t>Option 2: Direct Mapped</a:t>
            </a:r>
          </a:p>
        </p:txBody>
      </p:sp>
      <p:sp>
        <p:nvSpPr>
          <p:cNvPr id="3" name="Content Placeholder 2">
            <a:extLst>
              <a:ext uri="{FF2B5EF4-FFF2-40B4-BE49-F238E27FC236}">
                <a16:creationId xmlns:a16="http://schemas.microsoft.com/office/drawing/2014/main" id="{2895C1B5-BFD9-4391-98A6-90937493CFC8}"/>
              </a:ext>
            </a:extLst>
          </p:cNvPr>
          <p:cNvSpPr>
            <a:spLocks noGrp="1"/>
          </p:cNvSpPr>
          <p:nvPr>
            <p:ph idx="1"/>
          </p:nvPr>
        </p:nvSpPr>
        <p:spPr/>
        <p:txBody>
          <a:bodyPr/>
          <a:lstStyle/>
          <a:p>
            <a:pPr marL="0" indent="0">
              <a:buNone/>
            </a:pPr>
            <a:r>
              <a:rPr lang="en-US" dirty="0"/>
              <a:t>If searching every slot is slow, let’s not do that – let’s do the opposite:</a:t>
            </a:r>
          </a:p>
          <a:p>
            <a:pPr marL="0" indent="0">
              <a:buNone/>
            </a:pPr>
            <a:r>
              <a:rPr lang="en-US" dirty="0"/>
              <a:t>Consider the block address from the previous example.</a:t>
            </a:r>
          </a:p>
          <a:p>
            <a:pPr marL="0" indent="0">
              <a:buNone/>
            </a:pPr>
            <a:r>
              <a:rPr lang="en-US" dirty="0"/>
              <a:t>What if we took the block address MOD the number of blocks our cache will hold and that was the slot that we used? That would be super fast!</a:t>
            </a:r>
          </a:p>
          <a:p>
            <a:pPr marL="0" indent="0">
              <a:buNone/>
            </a:pPr>
            <a:endParaRPr lang="en-US" dirty="0"/>
          </a:p>
          <a:p>
            <a:pPr marL="0" indent="0">
              <a:buNone/>
            </a:pPr>
            <a:r>
              <a:rPr lang="en-US" dirty="0"/>
              <a:t>What’s the problem?</a:t>
            </a:r>
          </a:p>
          <a:p>
            <a:pPr marL="0" indent="0">
              <a:buNone/>
            </a:pPr>
            <a:endParaRPr lang="en-US" dirty="0"/>
          </a:p>
          <a:p>
            <a:pPr marL="0" indent="0">
              <a:buNone/>
            </a:pPr>
            <a:r>
              <a:rPr lang="en-US" dirty="0"/>
              <a:t>Hint – think back to Algorithms and Hash Tables</a:t>
            </a:r>
          </a:p>
        </p:txBody>
      </p:sp>
    </p:spTree>
    <p:extLst>
      <p:ext uri="{BB962C8B-B14F-4D97-AF65-F5344CB8AC3E}">
        <p14:creationId xmlns:p14="http://schemas.microsoft.com/office/powerpoint/2010/main" val="38829746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66D78D-EDDC-48BC-8A39-6F7E83730D34}"/>
              </a:ext>
            </a:extLst>
          </p:cNvPr>
          <p:cNvSpPr>
            <a:spLocks noGrp="1"/>
          </p:cNvSpPr>
          <p:nvPr>
            <p:ph type="title"/>
          </p:nvPr>
        </p:nvSpPr>
        <p:spPr/>
        <p:txBody>
          <a:bodyPr/>
          <a:lstStyle/>
          <a:p>
            <a:r>
              <a:rPr lang="en-US" dirty="0"/>
              <a:t>Option 3: Set Associative</a:t>
            </a:r>
          </a:p>
        </p:txBody>
      </p:sp>
      <p:sp>
        <p:nvSpPr>
          <p:cNvPr id="3" name="Content Placeholder 2">
            <a:extLst>
              <a:ext uri="{FF2B5EF4-FFF2-40B4-BE49-F238E27FC236}">
                <a16:creationId xmlns:a16="http://schemas.microsoft.com/office/drawing/2014/main" id="{EFC4639D-39DC-4038-A681-1B772E948EFA}"/>
              </a:ext>
            </a:extLst>
          </p:cNvPr>
          <p:cNvSpPr>
            <a:spLocks noGrp="1"/>
          </p:cNvSpPr>
          <p:nvPr>
            <p:ph idx="1"/>
          </p:nvPr>
        </p:nvSpPr>
        <p:spPr/>
        <p:txBody>
          <a:bodyPr/>
          <a:lstStyle/>
          <a:p>
            <a:pPr marL="0" indent="0">
              <a:buNone/>
            </a:pPr>
            <a:r>
              <a:rPr lang="en-US" dirty="0"/>
              <a:t>This is a hybrid approach:</a:t>
            </a:r>
          </a:p>
          <a:p>
            <a:pPr marL="0" indent="0">
              <a:buNone/>
            </a:pPr>
            <a:r>
              <a:rPr lang="en-US" dirty="0"/>
              <a:t>Split the cache into S sets that hold N blocks. </a:t>
            </a:r>
          </a:p>
          <a:p>
            <a:pPr marL="0" indent="0">
              <a:buNone/>
            </a:pPr>
            <a:r>
              <a:rPr lang="en-US" dirty="0"/>
              <a:t>Find the set by: Block Address MOD S (much like direct mapped)</a:t>
            </a:r>
          </a:p>
          <a:p>
            <a:pPr marL="0" indent="0">
              <a:buNone/>
            </a:pPr>
            <a:r>
              <a:rPr lang="en-US" dirty="0"/>
              <a:t>Then look for our particular block amongst the N blocks (like fully associative)</a:t>
            </a:r>
          </a:p>
          <a:p>
            <a:pPr marL="0" indent="0">
              <a:buNone/>
            </a:pPr>
            <a:endParaRPr lang="en-US" dirty="0"/>
          </a:p>
          <a:p>
            <a:pPr marL="0" indent="0">
              <a:buNone/>
            </a:pPr>
            <a:endParaRPr lang="en-US" dirty="0"/>
          </a:p>
          <a:p>
            <a:pPr marL="0" indent="0">
              <a:buNone/>
            </a:pPr>
            <a:endParaRPr lang="en-US" dirty="0"/>
          </a:p>
        </p:txBody>
      </p:sp>
    </p:spTree>
    <p:extLst>
      <p:ext uri="{BB962C8B-B14F-4D97-AF65-F5344CB8AC3E}">
        <p14:creationId xmlns:p14="http://schemas.microsoft.com/office/powerpoint/2010/main" val="34395257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B0722D-748F-4B4D-9C2D-166AD8D57637}"/>
              </a:ext>
            </a:extLst>
          </p:cNvPr>
          <p:cNvSpPr>
            <a:spLocks noGrp="1"/>
          </p:cNvSpPr>
          <p:nvPr>
            <p:ph type="title"/>
          </p:nvPr>
        </p:nvSpPr>
        <p:spPr/>
        <p:txBody>
          <a:bodyPr/>
          <a:lstStyle/>
          <a:p>
            <a:r>
              <a:rPr lang="en-US" dirty="0"/>
              <a:t>Let’s look at our Ryzen 2700X example</a:t>
            </a:r>
          </a:p>
        </p:txBody>
      </p:sp>
      <p:graphicFrame>
        <p:nvGraphicFramePr>
          <p:cNvPr id="4" name="Table 3">
            <a:extLst>
              <a:ext uri="{FF2B5EF4-FFF2-40B4-BE49-F238E27FC236}">
                <a16:creationId xmlns:a16="http://schemas.microsoft.com/office/drawing/2014/main" id="{BE410EB4-D961-45CD-8B14-3D114E9ED415}"/>
              </a:ext>
            </a:extLst>
          </p:cNvPr>
          <p:cNvGraphicFramePr>
            <a:graphicFrameLocks noGrp="1"/>
          </p:cNvGraphicFramePr>
          <p:nvPr/>
        </p:nvGraphicFramePr>
        <p:xfrm>
          <a:off x="838200" y="1825625"/>
          <a:ext cx="8804565" cy="2734886"/>
        </p:xfrm>
        <a:graphic>
          <a:graphicData uri="http://schemas.openxmlformats.org/drawingml/2006/table">
            <a:tbl>
              <a:tblPr bandRow="1">
                <a:tableStyleId>{D7AC3CCA-C797-4891-BE02-D94E43425B78}</a:tableStyleId>
              </a:tblPr>
              <a:tblGrid>
                <a:gridCol w="2296253">
                  <a:extLst>
                    <a:ext uri="{9D8B030D-6E8A-4147-A177-3AD203B41FA5}">
                      <a16:colId xmlns:a16="http://schemas.microsoft.com/office/drawing/2014/main" val="2814042277"/>
                    </a:ext>
                  </a:extLst>
                </a:gridCol>
                <a:gridCol w="1395985">
                  <a:extLst>
                    <a:ext uri="{9D8B030D-6E8A-4147-A177-3AD203B41FA5}">
                      <a16:colId xmlns:a16="http://schemas.microsoft.com/office/drawing/2014/main" val="3733923248"/>
                    </a:ext>
                  </a:extLst>
                </a:gridCol>
                <a:gridCol w="5112327">
                  <a:extLst>
                    <a:ext uri="{9D8B030D-6E8A-4147-A177-3AD203B41FA5}">
                      <a16:colId xmlns:a16="http://schemas.microsoft.com/office/drawing/2014/main" val="3968323043"/>
                    </a:ext>
                  </a:extLst>
                </a:gridCol>
              </a:tblGrid>
              <a:tr h="482138">
                <a:tc>
                  <a:txBody>
                    <a:bodyPr/>
                    <a:lstStyle/>
                    <a:p>
                      <a:pPr marL="0" marR="0">
                        <a:lnSpc>
                          <a:spcPct val="107000"/>
                        </a:lnSpc>
                        <a:spcBef>
                          <a:spcPts val="0"/>
                        </a:spcBef>
                        <a:spcAft>
                          <a:spcPts val="0"/>
                        </a:spcAft>
                      </a:pPr>
                      <a:r>
                        <a:rPr lang="en-US" sz="2400" dirty="0">
                          <a:solidFill>
                            <a:schemeClr val="bg1">
                              <a:lumMod val="95000"/>
                            </a:schemeClr>
                          </a:solidFill>
                          <a:effectLst/>
                        </a:rPr>
                        <a:t>Memory Type</a:t>
                      </a:r>
                      <a:endParaRPr lang="en-US" sz="24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solidFill>
                      <a:schemeClr val="accent1">
                        <a:lumMod val="75000"/>
                      </a:schemeClr>
                    </a:solidFill>
                  </a:tcPr>
                </a:tc>
                <a:tc>
                  <a:txBody>
                    <a:bodyPr/>
                    <a:lstStyle/>
                    <a:p>
                      <a:pPr marL="0" marR="0">
                        <a:lnSpc>
                          <a:spcPct val="107000"/>
                        </a:lnSpc>
                        <a:spcBef>
                          <a:spcPts val="0"/>
                        </a:spcBef>
                        <a:spcAft>
                          <a:spcPts val="0"/>
                        </a:spcAft>
                      </a:pPr>
                      <a:r>
                        <a:rPr lang="en-US" sz="2400" dirty="0">
                          <a:solidFill>
                            <a:schemeClr val="bg1">
                              <a:lumMod val="95000"/>
                            </a:schemeClr>
                          </a:solidFill>
                          <a:effectLst/>
                        </a:rPr>
                        <a:t>Size</a:t>
                      </a:r>
                      <a:endParaRPr lang="en-US" sz="24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solidFill>
                      <a:schemeClr val="accent1">
                        <a:lumMod val="75000"/>
                      </a:schemeClr>
                    </a:solidFill>
                  </a:tcPr>
                </a:tc>
                <a:tc>
                  <a:txBody>
                    <a:bodyPr/>
                    <a:lstStyle/>
                    <a:p>
                      <a:pPr marL="0" marR="0">
                        <a:lnSpc>
                          <a:spcPct val="107000"/>
                        </a:lnSpc>
                        <a:spcBef>
                          <a:spcPts val="0"/>
                        </a:spcBef>
                        <a:spcAft>
                          <a:spcPts val="0"/>
                        </a:spcAft>
                      </a:pPr>
                      <a:r>
                        <a:rPr lang="en-US" sz="2400" dirty="0">
                          <a:solidFill>
                            <a:schemeClr val="bg1">
                              <a:lumMod val="95000"/>
                            </a:schemeClr>
                          </a:solidFill>
                          <a:effectLst/>
                        </a:rPr>
                        <a:t>Type</a:t>
                      </a:r>
                      <a:endParaRPr lang="en-US" sz="2400" dirty="0">
                        <a:solidFill>
                          <a:schemeClr val="bg1">
                            <a:lumMod val="95000"/>
                          </a:schemeClr>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solidFill>
                      <a:schemeClr val="accent1">
                        <a:lumMod val="75000"/>
                      </a:schemeClr>
                    </a:solidFill>
                  </a:tcPr>
                </a:tc>
                <a:extLst>
                  <a:ext uri="{0D108BD9-81ED-4DB2-BD59-A6C34878D82A}">
                    <a16:rowId xmlns:a16="http://schemas.microsoft.com/office/drawing/2014/main" val="571473672"/>
                  </a:ext>
                </a:extLst>
              </a:tr>
              <a:tr h="482138">
                <a:tc>
                  <a:txBody>
                    <a:bodyPr/>
                    <a:lstStyle/>
                    <a:p>
                      <a:pPr marL="0" marR="0">
                        <a:lnSpc>
                          <a:spcPct val="107000"/>
                        </a:lnSpc>
                        <a:spcBef>
                          <a:spcPts val="0"/>
                        </a:spcBef>
                        <a:spcAft>
                          <a:spcPts val="0"/>
                        </a:spcAft>
                      </a:pPr>
                      <a:r>
                        <a:rPr lang="en-US" sz="2400" dirty="0">
                          <a:effectLst/>
                        </a:rPr>
                        <a:t>Registers</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400" dirty="0">
                          <a:effectLst/>
                        </a:rPr>
                        <a:t>1KB</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400" dirty="0">
                          <a:effectLst/>
                        </a:rPr>
                        <a:t>(8 X 16 register X 8 byte registers)</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635898191"/>
                  </a:ext>
                </a:extLst>
              </a:tr>
              <a:tr h="448887">
                <a:tc>
                  <a:txBody>
                    <a:bodyPr/>
                    <a:lstStyle/>
                    <a:p>
                      <a:pPr marL="0" marR="0">
                        <a:lnSpc>
                          <a:spcPct val="107000"/>
                        </a:lnSpc>
                        <a:spcBef>
                          <a:spcPts val="0"/>
                        </a:spcBef>
                        <a:spcAft>
                          <a:spcPts val="0"/>
                        </a:spcAft>
                      </a:pPr>
                      <a:r>
                        <a:rPr lang="en-US" sz="2400">
                          <a:effectLst/>
                        </a:rPr>
                        <a:t>L1 Cache (I)</a:t>
                      </a:r>
                      <a:endParaRPr lang="en-US" sz="2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400" dirty="0">
                          <a:effectLst/>
                        </a:rPr>
                        <a:t>512KB</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400" dirty="0">
                          <a:effectLst/>
                        </a:rPr>
                        <a:t>(8 X 64K, 4 way set </a:t>
                      </a:r>
                      <a:r>
                        <a:rPr lang="en-US" sz="2400" dirty="0" err="1">
                          <a:effectLst/>
                        </a:rPr>
                        <a:t>assoc</a:t>
                      </a:r>
                      <a:r>
                        <a:rPr lang="en-US" sz="2400" dirty="0">
                          <a:effectLst/>
                        </a:rPr>
                        <a:t>)</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763717230"/>
                  </a:ext>
                </a:extLst>
              </a:tr>
              <a:tr h="482138">
                <a:tc>
                  <a:txBody>
                    <a:bodyPr/>
                    <a:lstStyle/>
                    <a:p>
                      <a:pPr marL="0" marR="0">
                        <a:lnSpc>
                          <a:spcPct val="107000"/>
                        </a:lnSpc>
                        <a:spcBef>
                          <a:spcPts val="0"/>
                        </a:spcBef>
                        <a:spcAft>
                          <a:spcPts val="0"/>
                        </a:spcAft>
                      </a:pPr>
                      <a:r>
                        <a:rPr lang="en-US" sz="2400">
                          <a:effectLst/>
                        </a:rPr>
                        <a:t>L1 Cache (D)</a:t>
                      </a:r>
                      <a:endParaRPr lang="en-US" sz="2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400" dirty="0">
                          <a:effectLst/>
                        </a:rPr>
                        <a:t>256KB</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400" dirty="0">
                          <a:effectLst/>
                        </a:rPr>
                        <a:t>(8 X 32K, 8 way set </a:t>
                      </a:r>
                      <a:r>
                        <a:rPr lang="en-US" sz="2400" dirty="0" err="1">
                          <a:effectLst/>
                        </a:rPr>
                        <a:t>assoc</a:t>
                      </a:r>
                      <a:r>
                        <a:rPr lang="en-US" sz="2400" dirty="0">
                          <a:effectLst/>
                        </a:rPr>
                        <a:t>, write back)</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718056879"/>
                  </a:ext>
                </a:extLst>
              </a:tr>
              <a:tr h="399011">
                <a:tc>
                  <a:txBody>
                    <a:bodyPr/>
                    <a:lstStyle/>
                    <a:p>
                      <a:pPr marL="0" marR="0">
                        <a:lnSpc>
                          <a:spcPct val="107000"/>
                        </a:lnSpc>
                        <a:spcBef>
                          <a:spcPts val="0"/>
                        </a:spcBef>
                        <a:spcAft>
                          <a:spcPts val="0"/>
                        </a:spcAft>
                      </a:pPr>
                      <a:r>
                        <a:rPr lang="en-US" sz="2400">
                          <a:effectLst/>
                        </a:rPr>
                        <a:t>L2 Cache </a:t>
                      </a:r>
                      <a:endParaRPr lang="en-US" sz="2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400">
                          <a:effectLst/>
                        </a:rPr>
                        <a:t>4MB</a:t>
                      </a:r>
                      <a:endParaRPr lang="en-US" sz="2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400" dirty="0">
                          <a:effectLst/>
                        </a:rPr>
                        <a:t>(8 X 512KB, 8 way set </a:t>
                      </a:r>
                      <a:r>
                        <a:rPr lang="en-US" sz="2400" dirty="0" err="1">
                          <a:effectLst/>
                        </a:rPr>
                        <a:t>assoc</a:t>
                      </a:r>
                      <a:r>
                        <a:rPr lang="en-US" sz="2400" dirty="0">
                          <a:effectLst/>
                        </a:rPr>
                        <a:t>, write back)</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74388069"/>
                  </a:ext>
                </a:extLst>
              </a:tr>
              <a:tr h="440574">
                <a:tc>
                  <a:txBody>
                    <a:bodyPr/>
                    <a:lstStyle/>
                    <a:p>
                      <a:pPr marL="0" marR="0">
                        <a:lnSpc>
                          <a:spcPct val="107000"/>
                        </a:lnSpc>
                        <a:spcBef>
                          <a:spcPts val="0"/>
                        </a:spcBef>
                        <a:spcAft>
                          <a:spcPts val="0"/>
                        </a:spcAft>
                      </a:pPr>
                      <a:r>
                        <a:rPr lang="en-US" sz="2400">
                          <a:effectLst/>
                        </a:rPr>
                        <a:t>L3 Cache </a:t>
                      </a:r>
                      <a:endParaRPr lang="en-US" sz="2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400">
                          <a:effectLst/>
                        </a:rPr>
                        <a:t>16MB</a:t>
                      </a:r>
                      <a:endParaRPr lang="en-US" sz="2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2400" dirty="0">
                          <a:effectLst/>
                        </a:rPr>
                        <a:t>(2 X 8MB, 16 way set </a:t>
                      </a:r>
                      <a:r>
                        <a:rPr lang="en-US" sz="2400" dirty="0" err="1">
                          <a:effectLst/>
                        </a:rPr>
                        <a:t>assoc</a:t>
                      </a:r>
                      <a:r>
                        <a:rPr lang="en-US" sz="2400" dirty="0">
                          <a:effectLst/>
                        </a:rPr>
                        <a:t>)</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291738683"/>
                  </a:ext>
                </a:extLst>
              </a:tr>
            </a:tbl>
          </a:graphicData>
        </a:graphic>
      </p:graphicFrame>
      <mc:AlternateContent xmlns:mc="http://schemas.openxmlformats.org/markup-compatibility/2006" xmlns:p14="http://schemas.microsoft.com/office/powerpoint/2010/main">
        <mc:Choice Requires="p14">
          <p:contentPart p14:bwMode="auto" r:id="rId2">
            <p14:nvContentPartPr>
              <p14:cNvPr id="5" name="Ink 4">
                <a:extLst>
                  <a:ext uri="{FF2B5EF4-FFF2-40B4-BE49-F238E27FC236}">
                    <a16:creationId xmlns:a16="http://schemas.microsoft.com/office/drawing/2014/main" id="{E11D7214-9166-4572-BD16-003D376AF1C2}"/>
                  </a:ext>
                </a:extLst>
              </p14:cNvPr>
              <p14:cNvContentPartPr/>
              <p14:nvPr/>
            </p14:nvContentPartPr>
            <p14:xfrm>
              <a:off x="4371611" y="2127207"/>
              <a:ext cx="5940360" cy="2602080"/>
            </p14:xfrm>
          </p:contentPart>
        </mc:Choice>
        <mc:Fallback xmlns="">
          <p:pic>
            <p:nvPicPr>
              <p:cNvPr id="5" name="Ink 4">
                <a:extLst>
                  <a:ext uri="{FF2B5EF4-FFF2-40B4-BE49-F238E27FC236}">
                    <a16:creationId xmlns:a16="http://schemas.microsoft.com/office/drawing/2014/main" id="{E11D7214-9166-4572-BD16-003D376AF1C2}"/>
                  </a:ext>
                </a:extLst>
              </p:cNvPr>
              <p:cNvPicPr/>
              <p:nvPr/>
            </p:nvPicPr>
            <p:blipFill>
              <a:blip r:embed="rId3"/>
              <a:stretch>
                <a:fillRect/>
              </a:stretch>
            </p:blipFill>
            <p:spPr>
              <a:xfrm>
                <a:off x="4362611" y="2118567"/>
                <a:ext cx="5958000" cy="2619720"/>
              </a:xfrm>
              <a:prstGeom prst="rect">
                <a:avLst/>
              </a:prstGeom>
            </p:spPr>
          </p:pic>
        </mc:Fallback>
      </mc:AlternateContent>
      <p:sp>
        <p:nvSpPr>
          <p:cNvPr id="6" name="TextBox 5">
            <a:extLst>
              <a:ext uri="{FF2B5EF4-FFF2-40B4-BE49-F238E27FC236}">
                <a16:creationId xmlns:a16="http://schemas.microsoft.com/office/drawing/2014/main" id="{0072CDC9-FAA4-43D0-9C7B-87A09429C4F7}"/>
              </a:ext>
            </a:extLst>
          </p:cNvPr>
          <p:cNvSpPr txBox="1"/>
          <p:nvPr/>
        </p:nvSpPr>
        <p:spPr>
          <a:xfrm>
            <a:off x="3225504" y="4750307"/>
            <a:ext cx="7406708" cy="830997"/>
          </a:xfrm>
          <a:prstGeom prst="rect">
            <a:avLst/>
          </a:prstGeom>
          <a:noFill/>
        </p:spPr>
        <p:txBody>
          <a:bodyPr wrap="none" rtlCol="0">
            <a:spAutoFit/>
          </a:bodyPr>
          <a:lstStyle/>
          <a:p>
            <a:r>
              <a:rPr lang="en-US" sz="2400" dirty="0"/>
              <a:t>If you know that this processor has 8 cores, divided into 2 </a:t>
            </a:r>
          </a:p>
          <a:p>
            <a:r>
              <a:rPr lang="en-US" sz="2400" dirty="0"/>
              <a:t>blocks of 4, that explains a lot about the “Type” column</a:t>
            </a:r>
          </a:p>
        </p:txBody>
      </p:sp>
    </p:spTree>
    <p:extLst>
      <p:ext uri="{BB962C8B-B14F-4D97-AF65-F5344CB8AC3E}">
        <p14:creationId xmlns:p14="http://schemas.microsoft.com/office/powerpoint/2010/main" val="40350408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CB7E64-F444-4F72-BEF2-B9AFC523FC4B}"/>
              </a:ext>
            </a:extLst>
          </p:cNvPr>
          <p:cNvSpPr>
            <a:spLocks noGrp="1"/>
          </p:cNvSpPr>
          <p:nvPr>
            <p:ph type="title"/>
          </p:nvPr>
        </p:nvSpPr>
        <p:spPr/>
        <p:txBody>
          <a:bodyPr/>
          <a:lstStyle/>
          <a:p>
            <a:r>
              <a:rPr lang="en-US" dirty="0"/>
              <a:t>Set Associativity Example</a:t>
            </a:r>
          </a:p>
        </p:txBody>
      </p:sp>
      <p:sp>
        <p:nvSpPr>
          <p:cNvPr id="3" name="Content Placeholder 2">
            <a:extLst>
              <a:ext uri="{FF2B5EF4-FFF2-40B4-BE49-F238E27FC236}">
                <a16:creationId xmlns:a16="http://schemas.microsoft.com/office/drawing/2014/main" id="{A36AA4FA-F052-41BF-B636-308DD4966E59}"/>
              </a:ext>
            </a:extLst>
          </p:cNvPr>
          <p:cNvSpPr>
            <a:spLocks noGrp="1"/>
          </p:cNvSpPr>
          <p:nvPr>
            <p:ph idx="1"/>
          </p:nvPr>
        </p:nvSpPr>
        <p:spPr>
          <a:xfrm>
            <a:off x="540327" y="1346662"/>
            <a:ext cx="10813473" cy="5345083"/>
          </a:xfrm>
        </p:spPr>
        <p:txBody>
          <a:bodyPr>
            <a:normAutofit/>
          </a:bodyPr>
          <a:lstStyle/>
          <a:p>
            <a:pPr marL="0" indent="0">
              <a:buNone/>
            </a:pPr>
            <a:r>
              <a:rPr lang="en-US" dirty="0"/>
              <a:t>For the L1 data cache, let’s assume 64 byte blocks.</a:t>
            </a:r>
          </a:p>
          <a:p>
            <a:pPr marL="0" indent="0">
              <a:buNone/>
            </a:pPr>
            <a:r>
              <a:rPr lang="en-US" dirty="0"/>
              <a:t>In 32kb, we can fit 512 blocks</a:t>
            </a:r>
          </a:p>
          <a:p>
            <a:pPr marL="0" indent="0">
              <a:buNone/>
            </a:pPr>
            <a:r>
              <a:rPr lang="en-US" dirty="0"/>
              <a:t>This is an 8 way associative cache. </a:t>
            </a:r>
          </a:p>
          <a:p>
            <a:pPr marL="0" indent="0">
              <a:buNone/>
            </a:pPr>
            <a:r>
              <a:rPr lang="en-US" dirty="0"/>
              <a:t>There </a:t>
            </a:r>
            <a:r>
              <a:rPr lang="en-US"/>
              <a:t>are 64 (2</a:t>
            </a:r>
            <a:r>
              <a:rPr lang="en-US" baseline="30000"/>
              <a:t>6</a:t>
            </a:r>
            <a:r>
              <a:rPr lang="en-US" dirty="0"/>
              <a:t>)sets of 8.</a:t>
            </a:r>
          </a:p>
          <a:p>
            <a:pPr marL="0" indent="0">
              <a:buNone/>
            </a:pPr>
            <a:r>
              <a:rPr lang="en-US" dirty="0"/>
              <a:t>As this is a 64 bit architecture:</a:t>
            </a:r>
          </a:p>
          <a:p>
            <a:pPr marL="0" indent="0">
              <a:buNone/>
            </a:pPr>
            <a:r>
              <a:rPr lang="en-US" dirty="0"/>
              <a:t>The lowest 6 bits determine where in the block we are.</a:t>
            </a:r>
          </a:p>
          <a:p>
            <a:pPr marL="0" indent="0">
              <a:buNone/>
            </a:pPr>
            <a:r>
              <a:rPr lang="en-US" dirty="0"/>
              <a:t>That means that our set determination takes 58 bits of address -&gt; 16 bits of cache sets. If we had a full 2</a:t>
            </a:r>
            <a:r>
              <a:rPr lang="en-US" baseline="30000" dirty="0"/>
              <a:t>64</a:t>
            </a:r>
            <a:r>
              <a:rPr lang="en-US" dirty="0"/>
              <a:t> bytes of memory, 4 trillion blocks would be competing for those 8. With “only” 16GB, 262,144 blocks are competing for those 8 blocks in the set, assuming all of those blocks are data blocks.</a:t>
            </a:r>
          </a:p>
          <a:p>
            <a:pPr marL="0" indent="0">
              <a:buNone/>
            </a:pPr>
            <a:endParaRPr lang="en-US" dirty="0"/>
          </a:p>
        </p:txBody>
      </p:sp>
    </p:spTree>
    <p:extLst>
      <p:ext uri="{BB962C8B-B14F-4D97-AF65-F5344CB8AC3E}">
        <p14:creationId xmlns:p14="http://schemas.microsoft.com/office/powerpoint/2010/main" val="12243761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64CFE6-DF57-402D-908E-962C5A6EB4BC}"/>
              </a:ext>
            </a:extLst>
          </p:cNvPr>
          <p:cNvSpPr>
            <a:spLocks noGrp="1"/>
          </p:cNvSpPr>
          <p:nvPr>
            <p:ph type="title"/>
          </p:nvPr>
        </p:nvSpPr>
        <p:spPr/>
        <p:txBody>
          <a:bodyPr/>
          <a:lstStyle/>
          <a:p>
            <a:r>
              <a:rPr lang="en-US" dirty="0"/>
              <a:t>Why split the instruction and data caches?</a:t>
            </a:r>
          </a:p>
        </p:txBody>
      </p:sp>
      <p:sp>
        <p:nvSpPr>
          <p:cNvPr id="3" name="Content Placeholder 2">
            <a:extLst>
              <a:ext uri="{FF2B5EF4-FFF2-40B4-BE49-F238E27FC236}">
                <a16:creationId xmlns:a16="http://schemas.microsoft.com/office/drawing/2014/main" id="{BE3A7711-8035-4FD6-996C-563AE185BECF}"/>
              </a:ext>
            </a:extLst>
          </p:cNvPr>
          <p:cNvSpPr>
            <a:spLocks noGrp="1"/>
          </p:cNvSpPr>
          <p:nvPr>
            <p:ph idx="1"/>
          </p:nvPr>
        </p:nvSpPr>
        <p:spPr/>
        <p:txBody>
          <a:bodyPr/>
          <a:lstStyle/>
          <a:p>
            <a:r>
              <a:rPr lang="en-US" dirty="0"/>
              <a:t>Instructions tend to be very consecutive. Data does not. </a:t>
            </a:r>
          </a:p>
          <a:p>
            <a:r>
              <a:rPr lang="en-US" dirty="0"/>
              <a:t>Different usage makes different cache design make sense.</a:t>
            </a:r>
          </a:p>
          <a:p>
            <a:r>
              <a:rPr lang="en-US" dirty="0"/>
              <a:t>Splitting them into two different “associativity” buckets is a good way to reduce collisions.</a:t>
            </a:r>
          </a:p>
          <a:p>
            <a:r>
              <a:rPr lang="en-US" dirty="0"/>
              <a:t>There are two different sources – a cache bank can only respond to one request at a time. Two banks means that data and instructions don’t wait for each other.</a:t>
            </a:r>
          </a:p>
          <a:p>
            <a:r>
              <a:rPr lang="en-US" dirty="0"/>
              <a:t>Instructions are needed at the start of the CPU’s process. Data is needed later.</a:t>
            </a:r>
          </a:p>
        </p:txBody>
      </p:sp>
    </p:spTree>
    <p:extLst>
      <p:ext uri="{BB962C8B-B14F-4D97-AF65-F5344CB8AC3E}">
        <p14:creationId xmlns:p14="http://schemas.microsoft.com/office/powerpoint/2010/main" val="305779346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ECFEB2-1669-4E95-B127-425342A54E0B}"/>
              </a:ext>
            </a:extLst>
          </p:cNvPr>
          <p:cNvSpPr>
            <a:spLocks noGrp="1"/>
          </p:cNvSpPr>
          <p:nvPr>
            <p:ph type="title"/>
          </p:nvPr>
        </p:nvSpPr>
        <p:spPr/>
        <p:txBody>
          <a:bodyPr/>
          <a:lstStyle/>
          <a:p>
            <a:r>
              <a:rPr lang="en-US" dirty="0"/>
              <a:t>Prefetching</a:t>
            </a:r>
          </a:p>
        </p:txBody>
      </p:sp>
      <p:sp>
        <p:nvSpPr>
          <p:cNvPr id="3" name="Content Placeholder 2">
            <a:extLst>
              <a:ext uri="{FF2B5EF4-FFF2-40B4-BE49-F238E27FC236}">
                <a16:creationId xmlns:a16="http://schemas.microsoft.com/office/drawing/2014/main" id="{357A814B-E3C7-4C89-822D-6BDD29298553}"/>
              </a:ext>
            </a:extLst>
          </p:cNvPr>
          <p:cNvSpPr>
            <a:spLocks noGrp="1"/>
          </p:cNvSpPr>
          <p:nvPr>
            <p:ph idx="1"/>
          </p:nvPr>
        </p:nvSpPr>
        <p:spPr/>
        <p:txBody>
          <a:bodyPr/>
          <a:lstStyle/>
          <a:p>
            <a:pPr marL="0" indent="0">
              <a:buNone/>
            </a:pPr>
            <a:r>
              <a:rPr lang="en-US" dirty="0"/>
              <a:t>Instructions, in particular, have a very consistent pattern – the execution TENDS to start at the beginning and move toward the end.</a:t>
            </a:r>
          </a:p>
          <a:p>
            <a:pPr marL="0" indent="0">
              <a:buNone/>
            </a:pPr>
            <a:endParaRPr lang="en-US" dirty="0"/>
          </a:p>
          <a:p>
            <a:pPr marL="0" indent="0">
              <a:buNone/>
            </a:pPr>
            <a:r>
              <a:rPr lang="en-US" dirty="0"/>
              <a:t>If we know this, why not have the cache request the NEXT block of memory before this one is completely used?</a:t>
            </a:r>
          </a:p>
          <a:p>
            <a:pPr marL="0" indent="0">
              <a:buNone/>
            </a:pPr>
            <a:endParaRPr lang="en-US" dirty="0"/>
          </a:p>
          <a:p>
            <a:pPr marL="0" indent="0">
              <a:buNone/>
            </a:pPr>
            <a:r>
              <a:rPr lang="en-US" dirty="0"/>
              <a:t>Why might this backfire?</a:t>
            </a:r>
          </a:p>
          <a:p>
            <a:pPr marL="0" indent="0">
              <a:buNone/>
            </a:pPr>
            <a:endParaRPr lang="en-US" dirty="0"/>
          </a:p>
        </p:txBody>
      </p:sp>
    </p:spTree>
    <p:extLst>
      <p:ext uri="{BB962C8B-B14F-4D97-AF65-F5344CB8AC3E}">
        <p14:creationId xmlns:p14="http://schemas.microsoft.com/office/powerpoint/2010/main" val="374219898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8F7E30-AA88-4EE9-8461-04F90400D16F}"/>
              </a:ext>
            </a:extLst>
          </p:cNvPr>
          <p:cNvSpPr>
            <a:spLocks noGrp="1"/>
          </p:cNvSpPr>
          <p:nvPr>
            <p:ph type="title"/>
          </p:nvPr>
        </p:nvSpPr>
        <p:spPr>
          <a:xfrm>
            <a:off x="838200" y="365125"/>
            <a:ext cx="10515600" cy="1325563"/>
          </a:xfrm>
        </p:spPr>
        <p:txBody>
          <a:bodyPr/>
          <a:lstStyle/>
          <a:p>
            <a:r>
              <a:rPr lang="en-US" dirty="0"/>
              <a:t>Prefetching fails</a:t>
            </a:r>
          </a:p>
        </p:txBody>
      </p:sp>
      <p:sp>
        <p:nvSpPr>
          <p:cNvPr id="3" name="Content Placeholder 2">
            <a:extLst>
              <a:ext uri="{FF2B5EF4-FFF2-40B4-BE49-F238E27FC236}">
                <a16:creationId xmlns:a16="http://schemas.microsoft.com/office/drawing/2014/main" id="{C9570A46-FC0B-45B2-8C41-54E76AEDE1A3}"/>
              </a:ext>
            </a:extLst>
          </p:cNvPr>
          <p:cNvSpPr>
            <a:spLocks noGrp="1"/>
          </p:cNvSpPr>
          <p:nvPr>
            <p:ph idx="1"/>
          </p:nvPr>
        </p:nvSpPr>
        <p:spPr/>
        <p:txBody>
          <a:bodyPr>
            <a:normAutofit/>
          </a:bodyPr>
          <a:lstStyle/>
          <a:p>
            <a:pPr marL="0" indent="0">
              <a:buNone/>
            </a:pPr>
            <a:r>
              <a:rPr lang="en-US" dirty="0"/>
              <a:t>Small methods that jump around</a:t>
            </a:r>
          </a:p>
          <a:p>
            <a:pPr marL="0" indent="0">
              <a:buNone/>
            </a:pPr>
            <a:endParaRPr lang="en-US" dirty="0"/>
          </a:p>
          <a:p>
            <a:pPr marL="0" indent="0">
              <a:buNone/>
            </a:pPr>
            <a:r>
              <a:rPr lang="en-US" dirty="0"/>
              <a:t>Data that is not contiguous</a:t>
            </a:r>
          </a:p>
          <a:p>
            <a:pPr marL="0" indent="0">
              <a:buNone/>
            </a:pPr>
            <a:endParaRPr lang="en-US" dirty="0"/>
          </a:p>
          <a:p>
            <a:pPr marL="0" indent="0">
              <a:buNone/>
            </a:pPr>
            <a:r>
              <a:rPr lang="en-US" dirty="0"/>
              <a:t>Frequent switching between processes</a:t>
            </a:r>
          </a:p>
          <a:p>
            <a:pPr marL="0" indent="0">
              <a:buNone/>
            </a:pPr>
            <a:endParaRPr lang="en-US" dirty="0"/>
          </a:p>
          <a:p>
            <a:pPr marL="0" indent="0">
              <a:buNone/>
            </a:pPr>
            <a:endParaRPr lang="en-US" dirty="0"/>
          </a:p>
          <a:p>
            <a:pPr marL="0" indent="0">
              <a:buNone/>
            </a:pPr>
            <a:r>
              <a:rPr lang="en-US" dirty="0"/>
              <a:t>In spite of these, prefetching is still a </a:t>
            </a:r>
            <a:r>
              <a:rPr lang="en-US" b="1" dirty="0"/>
              <a:t>huge</a:t>
            </a:r>
            <a:r>
              <a:rPr lang="en-US" dirty="0"/>
              <a:t> win.</a:t>
            </a:r>
          </a:p>
        </p:txBody>
      </p:sp>
      <p:pic>
        <p:nvPicPr>
          <p:cNvPr id="4098" name="Picture 2" descr="Image result for fail">
            <a:extLst>
              <a:ext uri="{FF2B5EF4-FFF2-40B4-BE49-F238E27FC236}">
                <a16:creationId xmlns:a16="http://schemas.microsoft.com/office/drawing/2014/main" id="{34289FF2-92D7-44F8-BCD8-2041CC3F580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872105" y="0"/>
            <a:ext cx="3319895" cy="2356458"/>
          </a:xfrm>
          <a:prstGeom prst="rect">
            <a:avLst/>
          </a:prstGeom>
          <a:noFill/>
          <a:extLst>
            <a:ext uri="{909E8E84-426E-40DD-AFC4-6F175D3DCCD1}">
              <a14:hiddenFill xmlns:a14="http://schemas.microsoft.com/office/drawing/2010/main">
                <a:solidFill>
                  <a:srgbClr val="FFFFFF"/>
                </a:solidFill>
              </a14:hiddenFill>
            </a:ext>
          </a:extLst>
        </p:spPr>
      </p:pic>
      <p:cxnSp>
        <p:nvCxnSpPr>
          <p:cNvPr id="5" name="Straight Connector 4">
            <a:extLst>
              <a:ext uri="{FF2B5EF4-FFF2-40B4-BE49-F238E27FC236}">
                <a16:creationId xmlns:a16="http://schemas.microsoft.com/office/drawing/2014/main" id="{31921122-0E9F-4C7D-8E0F-0378687AA398}"/>
              </a:ext>
            </a:extLst>
          </p:cNvPr>
          <p:cNvCxnSpPr/>
          <p:nvPr/>
        </p:nvCxnSpPr>
        <p:spPr>
          <a:xfrm>
            <a:off x="532015" y="4854633"/>
            <a:ext cx="11288683"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827994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15563A-A1FD-4EA8-98DD-C6C960293B7B}"/>
              </a:ext>
            </a:extLst>
          </p:cNvPr>
          <p:cNvSpPr>
            <a:spLocks noGrp="1"/>
          </p:cNvSpPr>
          <p:nvPr>
            <p:ph type="title"/>
          </p:nvPr>
        </p:nvSpPr>
        <p:spPr/>
        <p:txBody>
          <a:bodyPr/>
          <a:lstStyle/>
          <a:p>
            <a:r>
              <a:rPr lang="en-US" dirty="0"/>
              <a:t>Replacement Strategies</a:t>
            </a:r>
          </a:p>
        </p:txBody>
      </p:sp>
      <p:sp>
        <p:nvSpPr>
          <p:cNvPr id="3" name="Content Placeholder 2">
            <a:extLst>
              <a:ext uri="{FF2B5EF4-FFF2-40B4-BE49-F238E27FC236}">
                <a16:creationId xmlns:a16="http://schemas.microsoft.com/office/drawing/2014/main" id="{4B8432B6-B2FE-4F20-B056-F35BA7D1EAA6}"/>
              </a:ext>
            </a:extLst>
          </p:cNvPr>
          <p:cNvSpPr>
            <a:spLocks noGrp="1"/>
          </p:cNvSpPr>
          <p:nvPr>
            <p:ph idx="1"/>
          </p:nvPr>
        </p:nvSpPr>
        <p:spPr/>
        <p:txBody>
          <a:bodyPr>
            <a:normAutofit fontScale="92500" lnSpcReduction="10000"/>
          </a:bodyPr>
          <a:lstStyle/>
          <a:p>
            <a:pPr marL="0" indent="0">
              <a:buNone/>
            </a:pPr>
            <a:r>
              <a:rPr lang="en-US" dirty="0"/>
              <a:t>When a block is stored in the cache, if there is not an empty space, the controller has to make a decision about where to put the block.</a:t>
            </a:r>
          </a:p>
          <a:p>
            <a:pPr marL="0" indent="0">
              <a:buNone/>
            </a:pPr>
            <a:endParaRPr lang="en-US" dirty="0"/>
          </a:p>
          <a:p>
            <a:pPr marL="0" indent="0">
              <a:buNone/>
            </a:pPr>
            <a:r>
              <a:rPr lang="en-US" dirty="0"/>
              <a:t>For direct map, there are no options. </a:t>
            </a:r>
          </a:p>
          <a:p>
            <a:pPr marL="0" indent="0">
              <a:buNone/>
            </a:pPr>
            <a:endParaRPr lang="en-US" dirty="0"/>
          </a:p>
          <a:p>
            <a:pPr marL="0" indent="0">
              <a:buNone/>
            </a:pPr>
            <a:r>
              <a:rPr lang="en-US" dirty="0"/>
              <a:t>For 2 way, there are 2 options (0 or 1)</a:t>
            </a:r>
          </a:p>
          <a:p>
            <a:pPr marL="0" indent="0">
              <a:buNone/>
            </a:pPr>
            <a:r>
              <a:rPr lang="en-US" dirty="0"/>
              <a:t>For 8 way, there are 8 options (0-7)</a:t>
            </a:r>
          </a:p>
          <a:p>
            <a:pPr marL="0" indent="0">
              <a:buNone/>
            </a:pPr>
            <a:r>
              <a:rPr lang="en-US" dirty="0"/>
              <a:t>For fully associative, there are N options</a:t>
            </a:r>
          </a:p>
          <a:p>
            <a:pPr marL="0" indent="0">
              <a:buNone/>
            </a:pPr>
            <a:endParaRPr lang="en-US" dirty="0"/>
          </a:p>
          <a:p>
            <a:pPr marL="0" indent="0">
              <a:buNone/>
            </a:pPr>
            <a:r>
              <a:rPr lang="en-US" dirty="0"/>
              <a:t>How should it decide?</a:t>
            </a:r>
          </a:p>
          <a:p>
            <a:pPr marL="0" indent="0">
              <a:buNone/>
            </a:pPr>
            <a:endParaRPr lang="en-US" dirty="0"/>
          </a:p>
          <a:p>
            <a:pPr marL="0" indent="0">
              <a:buNone/>
            </a:pPr>
            <a:endParaRPr lang="en-US" dirty="0"/>
          </a:p>
        </p:txBody>
      </p:sp>
    </p:spTree>
    <p:extLst>
      <p:ext uri="{BB962C8B-B14F-4D97-AF65-F5344CB8AC3E}">
        <p14:creationId xmlns:p14="http://schemas.microsoft.com/office/powerpoint/2010/main" val="230014391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A5C874-1149-47EC-B938-AB24236D5900}"/>
              </a:ext>
            </a:extLst>
          </p:cNvPr>
          <p:cNvSpPr>
            <a:spLocks noGrp="1"/>
          </p:cNvSpPr>
          <p:nvPr>
            <p:ph type="title"/>
          </p:nvPr>
        </p:nvSpPr>
        <p:spPr/>
        <p:txBody>
          <a:bodyPr/>
          <a:lstStyle/>
          <a:p>
            <a:r>
              <a:rPr lang="en-US" dirty="0"/>
              <a:t>Replacement Strategy Options</a:t>
            </a:r>
          </a:p>
        </p:txBody>
      </p:sp>
      <p:sp>
        <p:nvSpPr>
          <p:cNvPr id="3" name="Content Placeholder 2">
            <a:extLst>
              <a:ext uri="{FF2B5EF4-FFF2-40B4-BE49-F238E27FC236}">
                <a16:creationId xmlns:a16="http://schemas.microsoft.com/office/drawing/2014/main" id="{B75852BE-88E1-4402-BF76-53CAACAAF5A9}"/>
              </a:ext>
            </a:extLst>
          </p:cNvPr>
          <p:cNvSpPr>
            <a:spLocks noGrp="1"/>
          </p:cNvSpPr>
          <p:nvPr>
            <p:ph idx="1"/>
          </p:nvPr>
        </p:nvSpPr>
        <p:spPr/>
        <p:txBody>
          <a:bodyPr/>
          <a:lstStyle/>
          <a:p>
            <a:pPr marL="0" indent="0">
              <a:buNone/>
            </a:pPr>
            <a:r>
              <a:rPr lang="en-US" dirty="0"/>
              <a:t>Random – surprisingly not a bad approach (why?)</a:t>
            </a:r>
          </a:p>
          <a:p>
            <a:pPr marL="0" indent="0">
              <a:buNone/>
            </a:pPr>
            <a:endParaRPr lang="en-US" dirty="0"/>
          </a:p>
          <a:p>
            <a:pPr marL="0" indent="0">
              <a:buNone/>
            </a:pPr>
            <a:r>
              <a:rPr lang="en-US" dirty="0"/>
              <a:t>Least Recently Used – track block usage, replace the block that hasn’t been touched in the longest time</a:t>
            </a:r>
          </a:p>
          <a:p>
            <a:pPr marL="0" indent="0">
              <a:buNone/>
            </a:pPr>
            <a:endParaRPr lang="en-US" dirty="0"/>
          </a:p>
          <a:p>
            <a:pPr marL="0" indent="0">
              <a:buNone/>
            </a:pPr>
            <a:r>
              <a:rPr lang="en-US" dirty="0"/>
              <a:t>First In-First Out – Approximates LRU</a:t>
            </a:r>
          </a:p>
        </p:txBody>
      </p:sp>
    </p:spTree>
    <p:extLst>
      <p:ext uri="{BB962C8B-B14F-4D97-AF65-F5344CB8AC3E}">
        <p14:creationId xmlns:p14="http://schemas.microsoft.com/office/powerpoint/2010/main" val="33308186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9F56F8-24CD-4DA6-BA40-298B3886D32C}"/>
              </a:ext>
            </a:extLst>
          </p:cNvPr>
          <p:cNvSpPr>
            <a:spLocks noGrp="1"/>
          </p:cNvSpPr>
          <p:nvPr>
            <p:ph type="title"/>
          </p:nvPr>
        </p:nvSpPr>
        <p:spPr/>
        <p:txBody>
          <a:bodyPr/>
          <a:lstStyle/>
          <a:p>
            <a:r>
              <a:rPr lang="en-US" dirty="0"/>
              <a:t>What about writes?</a:t>
            </a:r>
          </a:p>
        </p:txBody>
      </p:sp>
      <p:sp>
        <p:nvSpPr>
          <p:cNvPr id="3" name="Content Placeholder 2">
            <a:extLst>
              <a:ext uri="{FF2B5EF4-FFF2-40B4-BE49-F238E27FC236}">
                <a16:creationId xmlns:a16="http://schemas.microsoft.com/office/drawing/2014/main" id="{8361903A-D79C-4D17-B462-108AB4B3504B}"/>
              </a:ext>
            </a:extLst>
          </p:cNvPr>
          <p:cNvSpPr>
            <a:spLocks noGrp="1"/>
          </p:cNvSpPr>
          <p:nvPr>
            <p:ph idx="1"/>
          </p:nvPr>
        </p:nvSpPr>
        <p:spPr/>
        <p:txBody>
          <a:bodyPr/>
          <a:lstStyle/>
          <a:p>
            <a:pPr marL="0" indent="0">
              <a:buNone/>
            </a:pPr>
            <a:r>
              <a:rPr lang="en-US" dirty="0"/>
              <a:t>The CPU reads FAR more than it writes (think about instructions).</a:t>
            </a:r>
          </a:p>
          <a:p>
            <a:pPr marL="0" indent="0">
              <a:buNone/>
            </a:pPr>
            <a:r>
              <a:rPr lang="en-US" dirty="0"/>
              <a:t>When it DOES write, it probably doesn’t rewrite an entire cache block, so the process is complex. </a:t>
            </a:r>
          </a:p>
          <a:p>
            <a:pPr marL="0" indent="0">
              <a:buNone/>
            </a:pPr>
            <a:r>
              <a:rPr lang="en-US" dirty="0"/>
              <a:t>Two approaches:</a:t>
            </a:r>
          </a:p>
          <a:p>
            <a:pPr marL="514350" indent="-514350">
              <a:buAutoNum type="arabicParenR"/>
            </a:pPr>
            <a:r>
              <a:rPr lang="en-US" dirty="0"/>
              <a:t>Write through: Data is written to the cache (if the block is in there) AND to main memory</a:t>
            </a:r>
          </a:p>
          <a:p>
            <a:pPr marL="514350" indent="-514350">
              <a:buAutoNum type="arabicParenR"/>
            </a:pPr>
            <a:r>
              <a:rPr lang="en-US" dirty="0"/>
              <a:t>Write back: Data is written to the cache ONLY. When the block is flushed from the cache, the data is written to main memory.</a:t>
            </a:r>
          </a:p>
        </p:txBody>
      </p:sp>
    </p:spTree>
    <p:extLst>
      <p:ext uri="{BB962C8B-B14F-4D97-AF65-F5344CB8AC3E}">
        <p14:creationId xmlns:p14="http://schemas.microsoft.com/office/powerpoint/2010/main" val="106160980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84D433-248F-4E09-8DDC-E04C0AE903DD}"/>
              </a:ext>
            </a:extLst>
          </p:cNvPr>
          <p:cNvSpPr>
            <a:spLocks noGrp="1"/>
          </p:cNvSpPr>
          <p:nvPr>
            <p:ph type="title"/>
          </p:nvPr>
        </p:nvSpPr>
        <p:spPr/>
        <p:txBody>
          <a:bodyPr/>
          <a:lstStyle/>
          <a:p>
            <a:r>
              <a:rPr lang="en-US" dirty="0"/>
              <a:t>Write-Through</a:t>
            </a:r>
          </a:p>
        </p:txBody>
      </p:sp>
      <p:sp>
        <p:nvSpPr>
          <p:cNvPr id="3" name="Content Placeholder 2">
            <a:extLst>
              <a:ext uri="{FF2B5EF4-FFF2-40B4-BE49-F238E27FC236}">
                <a16:creationId xmlns:a16="http://schemas.microsoft.com/office/drawing/2014/main" id="{F2B72476-A78F-47B8-87C9-1763F2B1BB6A}"/>
              </a:ext>
            </a:extLst>
          </p:cNvPr>
          <p:cNvSpPr>
            <a:spLocks noGrp="1"/>
          </p:cNvSpPr>
          <p:nvPr>
            <p:ph idx="1"/>
          </p:nvPr>
        </p:nvSpPr>
        <p:spPr>
          <a:xfrm>
            <a:off x="838200" y="1422458"/>
            <a:ext cx="10515600" cy="2006542"/>
          </a:xfrm>
        </p:spPr>
        <p:txBody>
          <a:bodyPr>
            <a:normAutofit lnSpcReduction="10000"/>
          </a:bodyPr>
          <a:lstStyle/>
          <a:p>
            <a:pPr marL="0" indent="0">
              <a:buNone/>
            </a:pPr>
            <a:r>
              <a:rPr lang="en-US" dirty="0"/>
              <a:t>Pros:</a:t>
            </a:r>
          </a:p>
          <a:p>
            <a:pPr marL="0" indent="0">
              <a:buNone/>
            </a:pPr>
            <a:r>
              <a:rPr lang="en-US" dirty="0"/>
              <a:t>	Easy to implement (no dirty indicator needed)</a:t>
            </a:r>
          </a:p>
          <a:p>
            <a:pPr marL="0" indent="0">
              <a:buNone/>
            </a:pPr>
            <a:r>
              <a:rPr lang="en-US" dirty="0"/>
              <a:t>	The cache is always equal to memory, so replacement is cheaper</a:t>
            </a:r>
          </a:p>
          <a:p>
            <a:pPr marL="0" indent="0">
              <a:buNone/>
            </a:pPr>
            <a:r>
              <a:rPr lang="en-US" dirty="0"/>
              <a:t>	All levels of cache that have data have the same version</a:t>
            </a:r>
          </a:p>
          <a:p>
            <a:pPr marL="0" indent="0">
              <a:buNone/>
            </a:pPr>
            <a:endParaRPr lang="en-US" dirty="0"/>
          </a:p>
        </p:txBody>
      </p:sp>
      <p:sp>
        <p:nvSpPr>
          <p:cNvPr id="4" name="Title 1">
            <a:extLst>
              <a:ext uri="{FF2B5EF4-FFF2-40B4-BE49-F238E27FC236}">
                <a16:creationId xmlns:a16="http://schemas.microsoft.com/office/drawing/2014/main" id="{97BD56BE-12F6-40F9-8B2E-775F11439B40}"/>
              </a:ext>
            </a:extLst>
          </p:cNvPr>
          <p:cNvSpPr txBox="1">
            <a:spLocks/>
          </p:cNvSpPr>
          <p:nvPr/>
        </p:nvSpPr>
        <p:spPr>
          <a:xfrm>
            <a:off x="683029" y="3102783"/>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Write-Back</a:t>
            </a:r>
          </a:p>
        </p:txBody>
      </p:sp>
      <p:sp>
        <p:nvSpPr>
          <p:cNvPr id="5" name="Content Placeholder 2">
            <a:extLst>
              <a:ext uri="{FF2B5EF4-FFF2-40B4-BE49-F238E27FC236}">
                <a16:creationId xmlns:a16="http://schemas.microsoft.com/office/drawing/2014/main" id="{7ABEE837-CAB8-4743-8332-E698EBD10816}"/>
              </a:ext>
            </a:extLst>
          </p:cNvPr>
          <p:cNvSpPr txBox="1">
            <a:spLocks/>
          </p:cNvSpPr>
          <p:nvPr/>
        </p:nvSpPr>
        <p:spPr>
          <a:xfrm>
            <a:off x="683029" y="4160116"/>
            <a:ext cx="10515600" cy="2006542"/>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Pros:</a:t>
            </a:r>
          </a:p>
          <a:p>
            <a:pPr marL="0" indent="0">
              <a:buFont typeface="Arial" panose="020B0604020202020204" pitchFamily="34" charset="0"/>
              <a:buNone/>
            </a:pPr>
            <a:r>
              <a:rPr lang="en-US" dirty="0"/>
              <a:t>	Writes happen at cache memory speed, not DRAM speed</a:t>
            </a:r>
          </a:p>
          <a:p>
            <a:pPr marL="0" indent="0">
              <a:buFont typeface="Arial" panose="020B0604020202020204" pitchFamily="34" charset="0"/>
              <a:buNone/>
            </a:pPr>
            <a:r>
              <a:rPr lang="en-US" dirty="0"/>
              <a:t>	Multiple writes to a block are cheaper</a:t>
            </a:r>
          </a:p>
          <a:p>
            <a:pPr marL="0" indent="0">
              <a:buFont typeface="Arial" panose="020B0604020202020204" pitchFamily="34" charset="0"/>
              <a:buNone/>
            </a:pPr>
            <a:r>
              <a:rPr lang="en-US" dirty="0"/>
              <a:t>	Saves power</a:t>
            </a:r>
          </a:p>
          <a:p>
            <a:pPr marL="0" indent="0">
              <a:buFont typeface="Arial" panose="020B0604020202020204" pitchFamily="34" charset="0"/>
              <a:buNone/>
            </a:pPr>
            <a:r>
              <a:rPr lang="en-US" dirty="0"/>
              <a:t>	Less memory contention</a:t>
            </a:r>
          </a:p>
          <a:p>
            <a:pPr marL="0" indent="0">
              <a:buFont typeface="Arial" panose="020B0604020202020204" pitchFamily="34" charset="0"/>
              <a:buNone/>
            </a:pPr>
            <a:endParaRPr lang="en-US" dirty="0"/>
          </a:p>
        </p:txBody>
      </p:sp>
    </p:spTree>
    <p:extLst>
      <p:ext uri="{BB962C8B-B14F-4D97-AF65-F5344CB8AC3E}">
        <p14:creationId xmlns:p14="http://schemas.microsoft.com/office/powerpoint/2010/main" val="129667514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C51A3C-8DC8-49B6-9A81-CCB5B83D46CB}"/>
              </a:ext>
            </a:extLst>
          </p:cNvPr>
          <p:cNvSpPr>
            <a:spLocks noGrp="1"/>
          </p:cNvSpPr>
          <p:nvPr>
            <p:ph type="title"/>
          </p:nvPr>
        </p:nvSpPr>
        <p:spPr/>
        <p:txBody>
          <a:bodyPr/>
          <a:lstStyle/>
          <a:p>
            <a:r>
              <a:rPr lang="en-US" dirty="0"/>
              <a:t>Caching Roundup</a:t>
            </a:r>
          </a:p>
        </p:txBody>
      </p:sp>
      <p:sp>
        <p:nvSpPr>
          <p:cNvPr id="3" name="Content Placeholder 2">
            <a:extLst>
              <a:ext uri="{FF2B5EF4-FFF2-40B4-BE49-F238E27FC236}">
                <a16:creationId xmlns:a16="http://schemas.microsoft.com/office/drawing/2014/main" id="{4D22EE9F-B47D-4966-BC49-D9B622B5E5E0}"/>
              </a:ext>
            </a:extLst>
          </p:cNvPr>
          <p:cNvSpPr>
            <a:spLocks noGrp="1"/>
          </p:cNvSpPr>
          <p:nvPr>
            <p:ph idx="1"/>
          </p:nvPr>
        </p:nvSpPr>
        <p:spPr>
          <a:xfrm>
            <a:off x="838200" y="1321724"/>
            <a:ext cx="10515600" cy="4855239"/>
          </a:xfrm>
        </p:spPr>
        <p:txBody>
          <a:bodyPr>
            <a:normAutofit fontScale="92500" lnSpcReduction="10000"/>
          </a:bodyPr>
          <a:lstStyle/>
          <a:p>
            <a:pPr marL="0" indent="0">
              <a:buNone/>
            </a:pPr>
            <a:r>
              <a:rPr lang="en-US" dirty="0"/>
              <a:t>We want to get the largest caches that we can</a:t>
            </a:r>
          </a:p>
          <a:p>
            <a:pPr marL="0" indent="0">
              <a:buNone/>
            </a:pPr>
            <a:endParaRPr lang="en-US" dirty="0"/>
          </a:p>
          <a:p>
            <a:pPr marL="0" indent="0">
              <a:buNone/>
            </a:pPr>
            <a:r>
              <a:rPr lang="en-US" dirty="0"/>
              <a:t>Cache takes space on the chip, so we can’t have all we want</a:t>
            </a:r>
          </a:p>
          <a:p>
            <a:pPr marL="0" indent="0">
              <a:buNone/>
            </a:pPr>
            <a:endParaRPr lang="en-US" dirty="0"/>
          </a:p>
          <a:p>
            <a:pPr marL="0" indent="0">
              <a:buNone/>
            </a:pPr>
            <a:r>
              <a:rPr lang="en-US" dirty="0"/>
              <a:t>Off chip cache isn’t worth doing </a:t>
            </a:r>
          </a:p>
          <a:p>
            <a:pPr marL="0" indent="0">
              <a:buNone/>
            </a:pPr>
            <a:endParaRPr lang="en-US" dirty="0"/>
          </a:p>
          <a:p>
            <a:pPr marL="0" indent="0">
              <a:buNone/>
            </a:pPr>
            <a:r>
              <a:rPr lang="en-US" dirty="0"/>
              <a:t>There are different strategies for deciding where in the cache data goes</a:t>
            </a:r>
          </a:p>
          <a:p>
            <a:pPr marL="0" indent="0">
              <a:buNone/>
            </a:pPr>
            <a:endParaRPr lang="en-US" dirty="0"/>
          </a:p>
          <a:p>
            <a:pPr marL="0" indent="0">
              <a:buNone/>
            </a:pPr>
            <a:r>
              <a:rPr lang="en-US" dirty="0"/>
              <a:t>There are different cache replacement strategies</a:t>
            </a:r>
          </a:p>
          <a:p>
            <a:pPr marL="0" indent="0">
              <a:buNone/>
            </a:pPr>
            <a:endParaRPr lang="en-US" dirty="0"/>
          </a:p>
          <a:p>
            <a:pPr marL="0" indent="0">
              <a:buNone/>
            </a:pPr>
            <a:r>
              <a:rPr lang="en-US" dirty="0"/>
              <a:t>There are different write strategies</a:t>
            </a:r>
          </a:p>
          <a:p>
            <a:pPr marL="0" indent="0">
              <a:buNone/>
            </a:pPr>
            <a:endParaRPr lang="en-US" dirty="0"/>
          </a:p>
          <a:p>
            <a:pPr marL="0" indent="0">
              <a:buNone/>
            </a:pPr>
            <a:endParaRPr lang="en-US" dirty="0"/>
          </a:p>
          <a:p>
            <a:pPr marL="0" indent="0">
              <a:buNone/>
            </a:pPr>
            <a:endParaRPr lang="en-US" dirty="0"/>
          </a:p>
        </p:txBody>
      </p:sp>
    </p:spTree>
    <p:extLst>
      <p:ext uri="{BB962C8B-B14F-4D97-AF65-F5344CB8AC3E}">
        <p14:creationId xmlns:p14="http://schemas.microsoft.com/office/powerpoint/2010/main" val="223110943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4756</TotalTime>
  <Words>2159</Words>
  <Application>Microsoft Office PowerPoint</Application>
  <PresentationFormat>Widescreen</PresentationFormat>
  <Paragraphs>283</Paragraphs>
  <Slides>32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32</vt:i4>
      </vt:variant>
    </vt:vector>
  </HeadingPairs>
  <TitlesOfParts>
    <vt:vector size="37" baseType="lpstr">
      <vt:lpstr>Arial</vt:lpstr>
      <vt:lpstr>Calibri</vt:lpstr>
      <vt:lpstr>Calibri Light</vt:lpstr>
      <vt:lpstr>Cambria Math</vt:lpstr>
      <vt:lpstr>Office Theme</vt:lpstr>
      <vt:lpstr>Caches</vt:lpstr>
      <vt:lpstr>PowerPoint Presentation</vt:lpstr>
      <vt:lpstr>PowerPoint Presentation</vt:lpstr>
      <vt:lpstr>Access Time and Size</vt:lpstr>
      <vt:lpstr>Locality</vt:lpstr>
      <vt:lpstr>Memory Hierarchy</vt:lpstr>
      <vt:lpstr>Example: Ryzen 7 2700X</vt:lpstr>
      <vt:lpstr>Cache Hits and Misses</vt:lpstr>
      <vt:lpstr>How Do Hits and Misses Impact Run Time?</vt:lpstr>
      <vt:lpstr>Misses in the tiered hierarchy</vt:lpstr>
      <vt:lpstr>Example:</vt:lpstr>
      <vt:lpstr>Example (continued)</vt:lpstr>
      <vt:lpstr>Example (continued)</vt:lpstr>
      <vt:lpstr>Example (conclusion)</vt:lpstr>
      <vt:lpstr>Stating the Obvious…</vt:lpstr>
      <vt:lpstr>Blocks</vt:lpstr>
      <vt:lpstr>Improve Performance</vt:lpstr>
      <vt:lpstr>How do misses happen?</vt:lpstr>
      <vt:lpstr>Where can a block be placed in the cache?</vt:lpstr>
      <vt:lpstr>Option 1: Fully Associative</vt:lpstr>
      <vt:lpstr>Option 2: Direct Mapped</vt:lpstr>
      <vt:lpstr>Option 3: Set Associative</vt:lpstr>
      <vt:lpstr>Let’s look at our Ryzen 2700X example</vt:lpstr>
      <vt:lpstr>Set Associativity Example</vt:lpstr>
      <vt:lpstr>Why split the instruction and data caches?</vt:lpstr>
      <vt:lpstr>Prefetching</vt:lpstr>
      <vt:lpstr>Prefetching fails</vt:lpstr>
      <vt:lpstr>Replacement Strategies</vt:lpstr>
      <vt:lpstr>Replacement Strategy Options</vt:lpstr>
      <vt:lpstr>What about writes?</vt:lpstr>
      <vt:lpstr>Write-Through</vt:lpstr>
      <vt:lpstr>Caching Roundup</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Caches</dc:title>
  <dc:creator>Michael Phipps</dc:creator>
  <cp:lastModifiedBy>Phipps, Michael</cp:lastModifiedBy>
  <cp:revision>35</cp:revision>
  <dcterms:created xsi:type="dcterms:W3CDTF">2018-07-16T21:00:23Z</dcterms:created>
  <dcterms:modified xsi:type="dcterms:W3CDTF">2021-12-06T13:58:43Z</dcterms:modified>
</cp:coreProperties>
</file>