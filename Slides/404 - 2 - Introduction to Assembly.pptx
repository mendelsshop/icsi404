
<file path=[Content_Types].xml><?xml version="1.0" encoding="utf-8"?>
<Types xmlns="http://schemas.openxmlformats.org/package/2006/content-types">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82" r:id="rId5"/>
    <p:sldId id="283" r:id="rId6"/>
    <p:sldId id="284" r:id="rId7"/>
    <p:sldId id="285" r:id="rId8"/>
    <p:sldId id="286"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ipps, Michael" initials="PM" lastIdx="1" clrIdx="0">
    <p:extLst>
      <p:ext uri="{19B8F6BF-5375-455C-9EA6-DF929625EA0E}">
        <p15:presenceInfo xmlns:p15="http://schemas.microsoft.com/office/powerpoint/2012/main" userId="S-1-5-21-375655340-1700474455-5522801-14751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B9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8" autoAdjust="0"/>
    <p:restoredTop sz="94660"/>
  </p:normalViewPr>
  <p:slideViewPr>
    <p:cSldViewPr snapToGrid="0">
      <p:cViewPr varScale="1">
        <p:scale>
          <a:sx n="60" d="100"/>
          <a:sy n="60" d="100"/>
        </p:scale>
        <p:origin x="60" y="12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9-08-07T16:26:37.085" idx="1">
    <p:pos x="10" y="10"/>
    <p:text/>
    <p:extLst>
      <p:ext uri="{C676402C-5697-4E1C-873F-D02D1690AC5C}">
        <p15:threadingInfo xmlns:p15="http://schemas.microsoft.com/office/powerpoint/2012/main" timeZoneBias="24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9E4C49B-16DF-4206-9E58-30AE07D6D5E3}" type="datetimeFigureOut">
              <a:rPr lang="en-US" smtClean="0"/>
              <a:t>8/26/2020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F01174-761D-4586-AAC6-A38423C6B82A}" type="slidenum">
              <a:rPr lang="en-US" smtClean="0"/>
              <a:t>‹#›</a:t>
            </a:fld>
            <a:endParaRPr lang="en-US"/>
          </a:p>
        </p:txBody>
      </p:sp>
    </p:spTree>
    <p:extLst>
      <p:ext uri="{BB962C8B-B14F-4D97-AF65-F5344CB8AC3E}">
        <p14:creationId xmlns:p14="http://schemas.microsoft.com/office/powerpoint/2010/main" val="2599583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4C49B-16DF-4206-9E58-30AE07D6D5E3}" type="datetimeFigureOut">
              <a:rPr lang="en-US" smtClean="0"/>
              <a:t>8/26/2020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F01174-761D-4586-AAC6-A38423C6B82A}" type="slidenum">
              <a:rPr lang="en-US" smtClean="0"/>
              <a:t>‹#›</a:t>
            </a:fld>
            <a:endParaRPr lang="en-US"/>
          </a:p>
        </p:txBody>
      </p:sp>
    </p:spTree>
    <p:extLst>
      <p:ext uri="{BB962C8B-B14F-4D97-AF65-F5344CB8AC3E}">
        <p14:creationId xmlns:p14="http://schemas.microsoft.com/office/powerpoint/2010/main" val="2741627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9E4C49B-16DF-4206-9E58-30AE07D6D5E3}" type="datetimeFigureOut">
              <a:rPr lang="en-US" smtClean="0"/>
              <a:t>8/26/2020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F01174-761D-4586-AAC6-A38423C6B82A}" type="slidenum">
              <a:rPr lang="en-US" smtClean="0"/>
              <a:t>‹#›</a:t>
            </a:fld>
            <a:endParaRPr lang="en-US"/>
          </a:p>
        </p:txBody>
      </p:sp>
    </p:spTree>
    <p:extLst>
      <p:ext uri="{BB962C8B-B14F-4D97-AF65-F5344CB8AC3E}">
        <p14:creationId xmlns:p14="http://schemas.microsoft.com/office/powerpoint/2010/main" val="620003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9E4C49B-16DF-4206-9E58-30AE07D6D5E3}" type="datetimeFigureOut">
              <a:rPr lang="en-US" smtClean="0"/>
              <a:t>8/26/2020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F01174-761D-4586-AAC6-A38423C6B82A}" type="slidenum">
              <a:rPr lang="en-US" smtClean="0"/>
              <a:t>‹#›</a:t>
            </a:fld>
            <a:endParaRPr lang="en-US"/>
          </a:p>
        </p:txBody>
      </p:sp>
    </p:spTree>
    <p:extLst>
      <p:ext uri="{BB962C8B-B14F-4D97-AF65-F5344CB8AC3E}">
        <p14:creationId xmlns:p14="http://schemas.microsoft.com/office/powerpoint/2010/main" val="347454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9E4C49B-16DF-4206-9E58-30AE07D6D5E3}" type="datetimeFigureOut">
              <a:rPr lang="en-US" smtClean="0"/>
              <a:t>8/26/2020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BF01174-761D-4586-AAC6-A38423C6B82A}" type="slidenum">
              <a:rPr lang="en-US" smtClean="0"/>
              <a:t>‹#›</a:t>
            </a:fld>
            <a:endParaRPr lang="en-US"/>
          </a:p>
        </p:txBody>
      </p:sp>
    </p:spTree>
    <p:extLst>
      <p:ext uri="{BB962C8B-B14F-4D97-AF65-F5344CB8AC3E}">
        <p14:creationId xmlns:p14="http://schemas.microsoft.com/office/powerpoint/2010/main" val="1188414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9E4C49B-16DF-4206-9E58-30AE07D6D5E3}" type="datetimeFigureOut">
              <a:rPr lang="en-US" smtClean="0"/>
              <a:t>8/26/2020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BF01174-761D-4586-AAC6-A38423C6B82A}" type="slidenum">
              <a:rPr lang="en-US" smtClean="0"/>
              <a:t>‹#›</a:t>
            </a:fld>
            <a:endParaRPr lang="en-US"/>
          </a:p>
        </p:txBody>
      </p:sp>
    </p:spTree>
    <p:extLst>
      <p:ext uri="{BB962C8B-B14F-4D97-AF65-F5344CB8AC3E}">
        <p14:creationId xmlns:p14="http://schemas.microsoft.com/office/powerpoint/2010/main" val="864376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E4C49B-16DF-4206-9E58-30AE07D6D5E3}" type="datetimeFigureOut">
              <a:rPr lang="en-US" smtClean="0"/>
              <a:t>8/26/2020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BF01174-761D-4586-AAC6-A38423C6B82A}" type="slidenum">
              <a:rPr lang="en-US" smtClean="0"/>
              <a:t>‹#›</a:t>
            </a:fld>
            <a:endParaRPr lang="en-US"/>
          </a:p>
        </p:txBody>
      </p:sp>
    </p:spTree>
    <p:extLst>
      <p:ext uri="{BB962C8B-B14F-4D97-AF65-F5344CB8AC3E}">
        <p14:creationId xmlns:p14="http://schemas.microsoft.com/office/powerpoint/2010/main" val="2687334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9E4C49B-16DF-4206-9E58-30AE07D6D5E3}" type="datetimeFigureOut">
              <a:rPr lang="en-US" smtClean="0"/>
              <a:t>8/26/2020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F01174-761D-4586-AAC6-A38423C6B82A}" type="slidenum">
              <a:rPr lang="en-US" smtClean="0"/>
              <a:t>‹#›</a:t>
            </a:fld>
            <a:endParaRPr lang="en-US"/>
          </a:p>
        </p:txBody>
      </p:sp>
    </p:spTree>
    <p:extLst>
      <p:ext uri="{BB962C8B-B14F-4D97-AF65-F5344CB8AC3E}">
        <p14:creationId xmlns:p14="http://schemas.microsoft.com/office/powerpoint/2010/main" val="1022136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9E4C49B-16DF-4206-9E58-30AE07D6D5E3}" type="datetimeFigureOut">
              <a:rPr lang="en-US" smtClean="0"/>
              <a:t>8/26/2020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F01174-761D-4586-AAC6-A38423C6B82A}" type="slidenum">
              <a:rPr lang="en-US" smtClean="0"/>
              <a:t>‹#›</a:t>
            </a:fld>
            <a:endParaRPr lang="en-US"/>
          </a:p>
        </p:txBody>
      </p:sp>
    </p:spTree>
    <p:extLst>
      <p:ext uri="{BB962C8B-B14F-4D97-AF65-F5344CB8AC3E}">
        <p14:creationId xmlns:p14="http://schemas.microsoft.com/office/powerpoint/2010/main" val="41353848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4C49B-16DF-4206-9E58-30AE07D6D5E3}" type="datetimeFigureOut">
              <a:rPr lang="en-US" smtClean="0"/>
              <a:t>8/26/2020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F01174-761D-4586-AAC6-A38423C6B82A}" type="slidenum">
              <a:rPr lang="en-US" smtClean="0"/>
              <a:t>‹#›</a:t>
            </a:fld>
            <a:endParaRPr lang="en-US"/>
          </a:p>
        </p:txBody>
      </p:sp>
    </p:spTree>
    <p:extLst>
      <p:ext uri="{BB962C8B-B14F-4D97-AF65-F5344CB8AC3E}">
        <p14:creationId xmlns:p14="http://schemas.microsoft.com/office/powerpoint/2010/main" val="13487297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4C49B-16DF-4206-9E58-30AE07D6D5E3}" type="datetimeFigureOut">
              <a:rPr lang="en-US" smtClean="0"/>
              <a:t>8/26/2020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F01174-761D-4586-AAC6-A38423C6B82A}" type="slidenum">
              <a:rPr lang="en-US" smtClean="0"/>
              <a:t>‹#›</a:t>
            </a:fld>
            <a:endParaRPr lang="en-US"/>
          </a:p>
        </p:txBody>
      </p:sp>
    </p:spTree>
    <p:extLst>
      <p:ext uri="{BB962C8B-B14F-4D97-AF65-F5344CB8AC3E}">
        <p14:creationId xmlns:p14="http://schemas.microsoft.com/office/powerpoint/2010/main" val="29179391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E4C49B-16DF-4206-9E58-30AE07D6D5E3}" type="datetimeFigureOut">
              <a:rPr lang="en-US" smtClean="0"/>
              <a:t>8/26/2020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F01174-761D-4586-AAC6-A38423C6B82A}" type="slidenum">
              <a:rPr lang="en-US" smtClean="0"/>
              <a:t>‹#›</a:t>
            </a:fld>
            <a:endParaRPr lang="en-US"/>
          </a:p>
        </p:txBody>
      </p:sp>
    </p:spTree>
    <p:extLst>
      <p:ext uri="{BB962C8B-B14F-4D97-AF65-F5344CB8AC3E}">
        <p14:creationId xmlns:p14="http://schemas.microsoft.com/office/powerpoint/2010/main" val="1612550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image" Target="../media/image1.tmp"/><Relationship Id="rId1" Type="http://schemas.openxmlformats.org/officeDocument/2006/relationships/slideLayout" Target="../slideLayouts/slideLayout2.xml"/><Relationship Id="rId4" Type="http://schemas.openxmlformats.org/officeDocument/2006/relationships/comments" Target="../comments/comment1.xml"/></Relationships>
</file>

<file path=ppt/slides/_rels/slide28.xml.rels><?xml version="1.0" encoding="UTF-8" standalone="yes"?>
<Relationships xmlns="http://schemas.openxmlformats.org/package/2006/relationships"><Relationship Id="rId3" Type="http://schemas.openxmlformats.org/officeDocument/2006/relationships/image" Target="../media/image4.tmp"/><Relationship Id="rId2" Type="http://schemas.openxmlformats.org/officeDocument/2006/relationships/image" Target="../media/image3.tmp"/><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Introduction to Assembly</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9119452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Languages</a:t>
            </a:r>
            <a:endParaRPr lang="en-US" dirty="0"/>
          </a:p>
        </p:txBody>
      </p:sp>
      <p:sp>
        <p:nvSpPr>
          <p:cNvPr id="3" name="Content Placeholder 2"/>
          <p:cNvSpPr>
            <a:spLocks noGrp="1"/>
          </p:cNvSpPr>
          <p:nvPr>
            <p:ph idx="1"/>
          </p:nvPr>
        </p:nvSpPr>
        <p:spPr/>
        <p:txBody>
          <a:bodyPr/>
          <a:lstStyle/>
          <a:p>
            <a:pPr marL="0" indent="0">
              <a:buNone/>
            </a:pPr>
            <a:r>
              <a:rPr lang="en-US" dirty="0" smtClean="0"/>
              <a:t>As you know, a programming language is a human readable language that is translated to machine language (a series of numbers).</a:t>
            </a:r>
          </a:p>
          <a:p>
            <a:pPr marL="0" indent="0">
              <a:buNone/>
            </a:pPr>
            <a:endParaRPr lang="en-US" dirty="0"/>
          </a:p>
          <a:p>
            <a:pPr marL="0" indent="0">
              <a:buNone/>
            </a:pPr>
            <a:r>
              <a:rPr lang="en-US" dirty="0" smtClean="0"/>
              <a:t>Some languages are very human readable:</a:t>
            </a:r>
          </a:p>
          <a:p>
            <a:pPr marL="0" indent="0">
              <a:buNone/>
            </a:pPr>
            <a:r>
              <a:rPr lang="en-US" dirty="0" smtClean="0"/>
              <a:t>SELECT TOP 10 students FROM </a:t>
            </a:r>
            <a:r>
              <a:rPr lang="en-US" dirty="0" err="1" smtClean="0"/>
              <a:t>ualbany.students</a:t>
            </a:r>
            <a:r>
              <a:rPr lang="en-US" dirty="0" smtClean="0"/>
              <a:t> ORDER BY </a:t>
            </a:r>
            <a:r>
              <a:rPr lang="en-US" dirty="0" err="1" smtClean="0"/>
              <a:t>gpa</a:t>
            </a:r>
            <a:endParaRPr lang="en-US" dirty="0" smtClean="0"/>
          </a:p>
          <a:p>
            <a:pPr marL="0" indent="0">
              <a:buNone/>
            </a:pPr>
            <a:endParaRPr lang="en-US" dirty="0"/>
          </a:p>
          <a:p>
            <a:pPr marL="0" indent="0">
              <a:buNone/>
            </a:pPr>
            <a:r>
              <a:rPr lang="en-US" dirty="0" smtClean="0"/>
              <a:t/>
            </a:r>
            <a:br>
              <a:rPr lang="en-US" dirty="0" smtClean="0"/>
            </a:br>
            <a:endParaRPr lang="en-US" dirty="0"/>
          </a:p>
        </p:txBody>
      </p:sp>
    </p:spTree>
    <p:extLst>
      <p:ext uri="{BB962C8B-B14F-4D97-AF65-F5344CB8AC3E}">
        <p14:creationId xmlns:p14="http://schemas.microsoft.com/office/powerpoint/2010/main" val="54472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5" name="Text Placeholder 4"/>
          <p:cNvSpPr>
            <a:spLocks noGrp="1"/>
          </p:cNvSpPr>
          <p:nvPr>
            <p:ph type="body" idx="1"/>
          </p:nvPr>
        </p:nvSpPr>
        <p:spPr/>
        <p:txBody>
          <a:bodyPr/>
          <a:lstStyle/>
          <a:p>
            <a:r>
              <a:rPr lang="en-US" dirty="0" smtClean="0"/>
              <a:t>High Level Languages</a:t>
            </a:r>
            <a:endParaRPr lang="en-US" dirty="0"/>
          </a:p>
        </p:txBody>
      </p:sp>
      <p:sp>
        <p:nvSpPr>
          <p:cNvPr id="6" name="Content Placeholder 5"/>
          <p:cNvSpPr>
            <a:spLocks noGrp="1"/>
          </p:cNvSpPr>
          <p:nvPr>
            <p:ph sz="half" idx="2"/>
          </p:nvPr>
        </p:nvSpPr>
        <p:spPr/>
        <p:txBody>
          <a:bodyPr/>
          <a:lstStyle/>
          <a:p>
            <a:pPr marL="0" indent="0">
              <a:buNone/>
            </a:pPr>
            <a:r>
              <a:rPr lang="en-US" dirty="0" smtClean="0"/>
              <a:t>Very Human Readable</a:t>
            </a:r>
          </a:p>
          <a:p>
            <a:pPr marL="0" indent="0">
              <a:buNone/>
            </a:pPr>
            <a:r>
              <a:rPr lang="en-US" dirty="0" smtClean="0"/>
              <a:t>Can do a lot in one line</a:t>
            </a:r>
          </a:p>
          <a:p>
            <a:pPr marL="0" indent="0">
              <a:buNone/>
            </a:pPr>
            <a:r>
              <a:rPr lang="en-US" dirty="0" smtClean="0"/>
              <a:t>Very quick to write and debug</a:t>
            </a:r>
          </a:p>
          <a:p>
            <a:pPr marL="0" indent="0">
              <a:buNone/>
            </a:pPr>
            <a:r>
              <a:rPr lang="en-US" dirty="0" smtClean="0"/>
              <a:t>Program can be shorter</a:t>
            </a:r>
          </a:p>
          <a:p>
            <a:pPr marL="0" indent="0">
              <a:buNone/>
            </a:pPr>
            <a:r>
              <a:rPr lang="en-US" dirty="0" smtClean="0"/>
              <a:t>Great for enterprise software</a:t>
            </a:r>
            <a:endParaRPr lang="en-US" dirty="0"/>
          </a:p>
        </p:txBody>
      </p:sp>
      <p:sp>
        <p:nvSpPr>
          <p:cNvPr id="7" name="Text Placeholder 6"/>
          <p:cNvSpPr>
            <a:spLocks noGrp="1"/>
          </p:cNvSpPr>
          <p:nvPr>
            <p:ph type="body" sz="quarter" idx="3"/>
          </p:nvPr>
        </p:nvSpPr>
        <p:spPr/>
        <p:txBody>
          <a:bodyPr/>
          <a:lstStyle/>
          <a:p>
            <a:r>
              <a:rPr lang="en-US" dirty="0" smtClean="0"/>
              <a:t>Assembly Language</a:t>
            </a:r>
            <a:endParaRPr lang="en-US" dirty="0"/>
          </a:p>
        </p:txBody>
      </p:sp>
      <p:sp>
        <p:nvSpPr>
          <p:cNvPr id="8" name="Content Placeholder 7"/>
          <p:cNvSpPr>
            <a:spLocks noGrp="1"/>
          </p:cNvSpPr>
          <p:nvPr>
            <p:ph sz="quarter" idx="4"/>
          </p:nvPr>
        </p:nvSpPr>
        <p:spPr/>
        <p:txBody>
          <a:bodyPr/>
          <a:lstStyle/>
          <a:p>
            <a:pPr marL="0" indent="0">
              <a:buNone/>
            </a:pPr>
            <a:r>
              <a:rPr lang="en-US" dirty="0" smtClean="0"/>
              <a:t>Requires little change for CPU</a:t>
            </a:r>
          </a:p>
          <a:p>
            <a:pPr marL="0" indent="0">
              <a:buNone/>
            </a:pPr>
            <a:r>
              <a:rPr lang="en-US" dirty="0" smtClean="0"/>
              <a:t>Great deal of control</a:t>
            </a:r>
          </a:p>
          <a:p>
            <a:pPr marL="0" indent="0">
              <a:buNone/>
            </a:pPr>
            <a:r>
              <a:rPr lang="en-US" dirty="0" smtClean="0"/>
              <a:t>Very fast to execute</a:t>
            </a:r>
          </a:p>
          <a:p>
            <a:pPr marL="0" indent="0">
              <a:buNone/>
            </a:pPr>
            <a:r>
              <a:rPr lang="en-US" dirty="0" smtClean="0"/>
              <a:t>Requires little runtime support</a:t>
            </a:r>
          </a:p>
          <a:p>
            <a:pPr marL="0" indent="0">
              <a:buNone/>
            </a:pPr>
            <a:r>
              <a:rPr lang="en-US" dirty="0" smtClean="0"/>
              <a:t>Great for embedded/tiny systems</a:t>
            </a:r>
            <a:endParaRPr lang="en-US" dirty="0"/>
          </a:p>
        </p:txBody>
      </p:sp>
    </p:spTree>
    <p:extLst>
      <p:ext uri="{BB962C8B-B14F-4D97-AF65-F5344CB8AC3E}">
        <p14:creationId xmlns:p14="http://schemas.microsoft.com/office/powerpoint/2010/main" val="20970803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838200" y="365126"/>
            <a:ext cx="10515600" cy="910782"/>
          </a:xfrm>
        </p:spPr>
        <p:txBody>
          <a:bodyPr/>
          <a:lstStyle/>
          <a:p>
            <a:r>
              <a:rPr lang="en-US" dirty="0" smtClean="0"/>
              <a:t>Refresher</a:t>
            </a:r>
            <a:endParaRPr lang="en-US" dirty="0"/>
          </a:p>
        </p:txBody>
      </p:sp>
      <p:sp>
        <p:nvSpPr>
          <p:cNvPr id="8" name="Rectangle 7"/>
          <p:cNvSpPr/>
          <p:nvPr/>
        </p:nvSpPr>
        <p:spPr>
          <a:xfrm>
            <a:off x="678710" y="1488564"/>
            <a:ext cx="2456121" cy="8187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err="1" smtClean="0"/>
              <a:t>MyProgram.c</a:t>
            </a:r>
            <a:endParaRPr lang="en-US" sz="2800" dirty="0"/>
          </a:p>
        </p:txBody>
      </p:sp>
      <p:sp>
        <p:nvSpPr>
          <p:cNvPr id="9" name="Oval 8"/>
          <p:cNvSpPr/>
          <p:nvPr/>
        </p:nvSpPr>
        <p:spPr>
          <a:xfrm>
            <a:off x="3891515" y="1153638"/>
            <a:ext cx="2264734" cy="1488558"/>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smtClean="0">
                <a:solidFill>
                  <a:srgbClr val="002060"/>
                </a:solidFill>
              </a:rPr>
              <a:t>C Compiler/ Linker</a:t>
            </a:r>
            <a:endParaRPr lang="en-US" sz="2800" dirty="0">
              <a:solidFill>
                <a:srgbClr val="002060"/>
              </a:solidFill>
            </a:endParaRPr>
          </a:p>
        </p:txBody>
      </p:sp>
      <p:cxnSp>
        <p:nvCxnSpPr>
          <p:cNvPr id="11" name="Straight Arrow Connector 10"/>
          <p:cNvCxnSpPr>
            <a:stCxn id="8" idx="3"/>
            <a:endCxn id="9" idx="2"/>
          </p:cNvCxnSpPr>
          <p:nvPr/>
        </p:nvCxnSpPr>
        <p:spPr>
          <a:xfrm flipV="1">
            <a:off x="3134831" y="1897917"/>
            <a:ext cx="756684"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7178747" y="1488563"/>
            <a:ext cx="2456121" cy="8187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err="1" smtClean="0"/>
              <a:t>MyProgram</a:t>
            </a:r>
            <a:endParaRPr lang="en-US" sz="2800" dirty="0"/>
          </a:p>
        </p:txBody>
      </p:sp>
      <p:cxnSp>
        <p:nvCxnSpPr>
          <p:cNvPr id="15" name="Straight Arrow Connector 14"/>
          <p:cNvCxnSpPr>
            <a:stCxn id="9" idx="6"/>
            <a:endCxn id="14" idx="1"/>
          </p:cNvCxnSpPr>
          <p:nvPr/>
        </p:nvCxnSpPr>
        <p:spPr>
          <a:xfrm>
            <a:off x="6156249" y="1897917"/>
            <a:ext cx="102249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23" idx="3"/>
            <a:endCxn id="14" idx="2"/>
          </p:cNvCxnSpPr>
          <p:nvPr/>
        </p:nvCxnSpPr>
        <p:spPr>
          <a:xfrm flipV="1">
            <a:off x="7293935" y="2307270"/>
            <a:ext cx="1112873" cy="1360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Cloud 22"/>
          <p:cNvSpPr/>
          <p:nvPr/>
        </p:nvSpPr>
        <p:spPr>
          <a:xfrm>
            <a:off x="5497033" y="3572539"/>
            <a:ext cx="3593804" cy="1669312"/>
          </a:xfrm>
          <a:prstGeom prst="clou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in Machine Language</a:t>
            </a:r>
            <a:endParaRPr lang="en-US" sz="2800" dirty="0">
              <a:solidFill>
                <a:schemeClr val="tx1"/>
              </a:solidFill>
            </a:endParaRPr>
          </a:p>
        </p:txBody>
      </p:sp>
    </p:spTree>
    <p:extLst>
      <p:ext uri="{BB962C8B-B14F-4D97-AF65-F5344CB8AC3E}">
        <p14:creationId xmlns:p14="http://schemas.microsoft.com/office/powerpoint/2010/main" val="23918726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Machine Language and Assembly are </a:t>
            </a:r>
            <a:br>
              <a:rPr lang="en-US" dirty="0" smtClean="0"/>
            </a:br>
            <a:r>
              <a:rPr lang="en-US" dirty="0" smtClean="0"/>
              <a:t>Almost the Same!</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dirty="0" smtClean="0"/>
              <a:t>Assembly language is a human readable translation of machine language</a:t>
            </a:r>
          </a:p>
          <a:p>
            <a:pPr marL="0" indent="0">
              <a:buNone/>
            </a:pPr>
            <a:r>
              <a:rPr lang="en-US" dirty="0"/>
              <a:t>A</a:t>
            </a:r>
            <a:r>
              <a:rPr lang="en-US" dirty="0" smtClean="0"/>
              <a:t>ssembly language </a:t>
            </a:r>
            <a:r>
              <a:rPr lang="en-US" b="1" dirty="0" smtClean="0"/>
              <a:t>directly</a:t>
            </a:r>
            <a:r>
              <a:rPr lang="en-US" dirty="0" smtClean="0"/>
              <a:t> translates, 1-1 with machine language</a:t>
            </a:r>
          </a:p>
          <a:p>
            <a:pPr marL="0" indent="0">
              <a:buNone/>
            </a:pPr>
            <a:endParaRPr lang="en-US" dirty="0"/>
          </a:p>
          <a:p>
            <a:pPr marL="0" indent="0">
              <a:buNone/>
            </a:pPr>
            <a:r>
              <a:rPr lang="en-US" dirty="0" smtClean="0"/>
              <a:t>If they are the same, why have both?</a:t>
            </a:r>
          </a:p>
          <a:p>
            <a:pPr marL="0" indent="0">
              <a:buNone/>
            </a:pPr>
            <a:r>
              <a:rPr lang="en-US" dirty="0" smtClean="0"/>
              <a:t>add r1 r2 r3   </a:t>
            </a:r>
            <a:r>
              <a:rPr lang="en-US" dirty="0" smtClean="0">
                <a:sym typeface="Wingdings" panose="05000000000000000000" pitchFamily="2" charset="2"/>
              </a:rPr>
              <a:t> this is human readable</a:t>
            </a:r>
          </a:p>
          <a:p>
            <a:pPr marL="0" indent="0">
              <a:buNone/>
            </a:pPr>
            <a:r>
              <a:rPr lang="en-US" dirty="0" smtClean="0">
                <a:sym typeface="Wingdings" panose="05000000000000000000" pitchFamily="2" charset="2"/>
              </a:rPr>
              <a:t>11 23                this is CPU readable</a:t>
            </a:r>
          </a:p>
          <a:p>
            <a:pPr marL="0" indent="0">
              <a:buNone/>
            </a:pPr>
            <a:endParaRPr lang="en-US" dirty="0">
              <a:sym typeface="Wingdings" panose="05000000000000000000" pitchFamily="2" charset="2"/>
            </a:endParaRPr>
          </a:p>
          <a:p>
            <a:pPr marL="0" indent="0">
              <a:buNone/>
            </a:pPr>
            <a:r>
              <a:rPr lang="en-US" dirty="0" smtClean="0">
                <a:sym typeface="Wingdings" panose="05000000000000000000" pitchFamily="2" charset="2"/>
              </a:rPr>
              <a:t>For some CPU, those two are direct equivalents.</a:t>
            </a:r>
            <a:endParaRPr lang="en-US" dirty="0"/>
          </a:p>
          <a:p>
            <a:pPr marL="0" indent="0">
              <a:buNone/>
            </a:pPr>
            <a:endParaRPr lang="en-US" dirty="0"/>
          </a:p>
        </p:txBody>
      </p:sp>
    </p:spTree>
    <p:extLst>
      <p:ext uri="{BB962C8B-B14F-4D97-AF65-F5344CB8AC3E}">
        <p14:creationId xmlns:p14="http://schemas.microsoft.com/office/powerpoint/2010/main" val="35808945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does this relate to this class?</a:t>
            </a:r>
            <a:endParaRPr lang="en-US" dirty="0"/>
          </a:p>
        </p:txBody>
      </p:sp>
      <p:sp>
        <p:nvSpPr>
          <p:cNvPr id="3" name="Content Placeholder 2"/>
          <p:cNvSpPr>
            <a:spLocks noGrp="1"/>
          </p:cNvSpPr>
          <p:nvPr>
            <p:ph idx="1"/>
          </p:nvPr>
        </p:nvSpPr>
        <p:spPr/>
        <p:txBody>
          <a:bodyPr/>
          <a:lstStyle/>
          <a:p>
            <a:pPr marL="0" indent="0">
              <a:buNone/>
            </a:pPr>
            <a:r>
              <a:rPr lang="en-US" dirty="0" smtClean="0"/>
              <a:t>As we learn how a CPU works, we need to be aware of the external interface of the CPU – how the programmer sees the design.</a:t>
            </a:r>
          </a:p>
          <a:p>
            <a:pPr marL="0" indent="0">
              <a:buNone/>
            </a:pPr>
            <a:endParaRPr lang="en-US" dirty="0"/>
          </a:p>
          <a:p>
            <a:pPr marL="0" indent="0">
              <a:buNone/>
            </a:pPr>
            <a:r>
              <a:rPr lang="en-US" dirty="0" smtClean="0"/>
              <a:t>Machine language (and therefore, the assembly language) are the interface that programmers have to the CPU.</a:t>
            </a:r>
          </a:p>
          <a:p>
            <a:pPr marL="0" indent="0">
              <a:buNone/>
            </a:pPr>
            <a:endParaRPr lang="en-US" dirty="0"/>
          </a:p>
          <a:p>
            <a:pPr marL="0" indent="0">
              <a:buNone/>
            </a:pPr>
            <a:r>
              <a:rPr lang="en-US" dirty="0" smtClean="0"/>
              <a:t>Most programmers, of course, use C or something higher level to write their applications. But those use the assembly/machine language interface.</a:t>
            </a:r>
            <a:endParaRPr lang="en-US" dirty="0"/>
          </a:p>
        </p:txBody>
      </p:sp>
    </p:spTree>
    <p:extLst>
      <p:ext uri="{BB962C8B-B14F-4D97-AF65-F5344CB8AC3E}">
        <p14:creationId xmlns:p14="http://schemas.microsoft.com/office/powerpoint/2010/main" val="1131513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1510" y="1041996"/>
            <a:ext cx="2456121" cy="8187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err="1" smtClean="0"/>
              <a:t>MyProgram.c</a:t>
            </a:r>
            <a:endParaRPr lang="en-US" sz="2800" dirty="0"/>
          </a:p>
        </p:txBody>
      </p:sp>
      <p:cxnSp>
        <p:nvCxnSpPr>
          <p:cNvPr id="6" name="Straight Arrow Connector 5"/>
          <p:cNvCxnSpPr>
            <a:stCxn id="4" idx="3"/>
            <a:endCxn id="16" idx="2"/>
          </p:cNvCxnSpPr>
          <p:nvPr/>
        </p:nvCxnSpPr>
        <p:spPr>
          <a:xfrm flipV="1">
            <a:off x="2677631" y="1451348"/>
            <a:ext cx="1022498" cy="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6721547" y="1041995"/>
            <a:ext cx="3475076" cy="8187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err="1" smtClean="0"/>
              <a:t>MyProgram</a:t>
            </a:r>
            <a:endParaRPr lang="en-US" sz="2800" dirty="0" smtClean="0"/>
          </a:p>
          <a:p>
            <a:pPr algn="ctr"/>
            <a:r>
              <a:rPr lang="en-US" sz="2800" dirty="0" smtClean="0"/>
              <a:t>(Compiled to ML)</a:t>
            </a:r>
            <a:endParaRPr lang="en-US" sz="2800" dirty="0"/>
          </a:p>
        </p:txBody>
      </p:sp>
      <p:cxnSp>
        <p:nvCxnSpPr>
          <p:cNvPr id="8" name="Straight Arrow Connector 7"/>
          <p:cNvCxnSpPr>
            <a:stCxn id="16" idx="6"/>
            <a:endCxn id="7" idx="1"/>
          </p:cNvCxnSpPr>
          <p:nvPr/>
        </p:nvCxnSpPr>
        <p:spPr>
          <a:xfrm>
            <a:off x="5964863" y="1451348"/>
            <a:ext cx="756684"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3700129" y="707069"/>
            <a:ext cx="2264734" cy="1488558"/>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smtClean="0">
                <a:solidFill>
                  <a:srgbClr val="002060"/>
                </a:solidFill>
              </a:rPr>
              <a:t>C Compiler/ Linker</a:t>
            </a:r>
            <a:endParaRPr lang="en-US" sz="2800" dirty="0">
              <a:solidFill>
                <a:srgbClr val="002060"/>
              </a:solidFill>
            </a:endParaRPr>
          </a:p>
        </p:txBody>
      </p:sp>
      <p:sp>
        <p:nvSpPr>
          <p:cNvPr id="21" name="Rounded Rectangle 20"/>
          <p:cNvSpPr/>
          <p:nvPr/>
        </p:nvSpPr>
        <p:spPr>
          <a:xfrm>
            <a:off x="5082362" y="2796365"/>
            <a:ext cx="2987749" cy="9675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Operating System</a:t>
            </a:r>
          </a:p>
          <a:p>
            <a:pPr algn="ctr"/>
            <a:r>
              <a:rPr lang="en-US" sz="2800" dirty="0" smtClean="0"/>
              <a:t>(Compiled to ML)</a:t>
            </a:r>
            <a:endParaRPr lang="en-US" sz="2800" dirty="0"/>
          </a:p>
        </p:txBody>
      </p:sp>
      <p:sp>
        <p:nvSpPr>
          <p:cNvPr id="22" name="Rectangle 21"/>
          <p:cNvSpPr/>
          <p:nvPr/>
        </p:nvSpPr>
        <p:spPr>
          <a:xfrm>
            <a:off x="2349795" y="5061098"/>
            <a:ext cx="9154633" cy="147792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smtClean="0"/>
              <a:t>CPU</a:t>
            </a:r>
            <a:endParaRPr lang="en-US" sz="4800" dirty="0"/>
          </a:p>
        </p:txBody>
      </p:sp>
      <p:cxnSp>
        <p:nvCxnSpPr>
          <p:cNvPr id="27" name="Straight Connector 26"/>
          <p:cNvCxnSpPr>
            <a:stCxn id="21" idx="2"/>
          </p:cNvCxnSpPr>
          <p:nvPr/>
        </p:nvCxnSpPr>
        <p:spPr>
          <a:xfrm flipH="1">
            <a:off x="6549656" y="3763927"/>
            <a:ext cx="26581" cy="129717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9671197" y="1860702"/>
            <a:ext cx="57594" cy="320039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21" idx="3"/>
          </p:cNvCxnSpPr>
          <p:nvPr/>
        </p:nvCxnSpPr>
        <p:spPr>
          <a:xfrm flipV="1">
            <a:off x="8070111" y="1860702"/>
            <a:ext cx="941424" cy="1419444"/>
          </a:xfrm>
          <a:prstGeom prst="line">
            <a:avLst/>
          </a:prstGeom>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8172177" y="2104846"/>
            <a:ext cx="1439818" cy="830997"/>
          </a:xfrm>
          <a:prstGeom prst="rect">
            <a:avLst/>
          </a:prstGeom>
          <a:noFill/>
        </p:spPr>
        <p:txBody>
          <a:bodyPr wrap="none" rtlCol="0">
            <a:spAutoFit/>
          </a:bodyPr>
          <a:lstStyle/>
          <a:p>
            <a:r>
              <a:rPr lang="en-US" sz="2400" dirty="0" smtClean="0"/>
              <a:t>OS</a:t>
            </a:r>
            <a:br>
              <a:rPr lang="en-US" sz="2400" dirty="0" smtClean="0"/>
            </a:br>
            <a:r>
              <a:rPr lang="en-US" sz="2400" dirty="0" smtClean="0"/>
              <a:t>Schedules</a:t>
            </a:r>
            <a:endParaRPr lang="en-US" sz="2400" dirty="0"/>
          </a:p>
        </p:txBody>
      </p:sp>
      <p:sp>
        <p:nvSpPr>
          <p:cNvPr id="36" name="TextBox 35"/>
          <p:cNvSpPr txBox="1"/>
          <p:nvPr/>
        </p:nvSpPr>
        <p:spPr>
          <a:xfrm>
            <a:off x="9699994" y="3219011"/>
            <a:ext cx="864339" cy="830997"/>
          </a:xfrm>
          <a:prstGeom prst="rect">
            <a:avLst/>
          </a:prstGeom>
          <a:noFill/>
        </p:spPr>
        <p:txBody>
          <a:bodyPr wrap="none" rtlCol="0">
            <a:spAutoFit/>
          </a:bodyPr>
          <a:lstStyle/>
          <a:p>
            <a:r>
              <a:rPr lang="en-US" sz="2400" dirty="0" smtClean="0"/>
              <a:t>Runs </a:t>
            </a:r>
            <a:br>
              <a:rPr lang="en-US" sz="2400" dirty="0" smtClean="0"/>
            </a:br>
            <a:r>
              <a:rPr lang="en-US" sz="2400" dirty="0" smtClean="0"/>
              <a:t>On</a:t>
            </a:r>
            <a:endParaRPr lang="en-US" sz="2400" dirty="0"/>
          </a:p>
        </p:txBody>
      </p:sp>
      <p:sp>
        <p:nvSpPr>
          <p:cNvPr id="37" name="TextBox 36"/>
          <p:cNvSpPr txBox="1"/>
          <p:nvPr/>
        </p:nvSpPr>
        <p:spPr>
          <a:xfrm>
            <a:off x="6561839" y="4041499"/>
            <a:ext cx="864339" cy="830997"/>
          </a:xfrm>
          <a:prstGeom prst="rect">
            <a:avLst/>
          </a:prstGeom>
          <a:noFill/>
        </p:spPr>
        <p:txBody>
          <a:bodyPr wrap="none" rtlCol="0">
            <a:spAutoFit/>
          </a:bodyPr>
          <a:lstStyle/>
          <a:p>
            <a:r>
              <a:rPr lang="en-US" sz="2400" dirty="0" smtClean="0"/>
              <a:t>Runs </a:t>
            </a:r>
            <a:br>
              <a:rPr lang="en-US" sz="2400" dirty="0" smtClean="0"/>
            </a:br>
            <a:r>
              <a:rPr lang="en-US" sz="2400" dirty="0" smtClean="0"/>
              <a:t>On</a:t>
            </a:r>
            <a:endParaRPr lang="en-US" sz="2400" dirty="0"/>
          </a:p>
        </p:txBody>
      </p:sp>
    </p:spTree>
    <p:extLst>
      <p:ext uri="{BB962C8B-B14F-4D97-AF65-F5344CB8AC3E}">
        <p14:creationId xmlns:p14="http://schemas.microsoft.com/office/powerpoint/2010/main" val="3335314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a:xfrm>
            <a:off x="838200" y="329609"/>
            <a:ext cx="10515600" cy="6358270"/>
          </a:xfrm>
        </p:spPr>
        <p:txBody>
          <a:bodyPr>
            <a:normAutofit/>
          </a:bodyPr>
          <a:lstStyle/>
          <a:p>
            <a:pPr marL="0" indent="0">
              <a:buNone/>
            </a:pPr>
            <a:endParaRPr lang="en-US" dirty="0" smtClean="0"/>
          </a:p>
          <a:p>
            <a:pPr marL="0" indent="0">
              <a:buNone/>
            </a:pPr>
            <a:r>
              <a:rPr lang="en-US" dirty="0" smtClean="0"/>
              <a:t>User initiates program load (double clicks application, for example)</a:t>
            </a:r>
          </a:p>
          <a:p>
            <a:pPr marL="0" indent="0">
              <a:buNone/>
            </a:pPr>
            <a:endParaRPr lang="en-US" dirty="0" smtClean="0"/>
          </a:p>
          <a:p>
            <a:pPr marL="0" indent="0">
              <a:buNone/>
            </a:pPr>
            <a:r>
              <a:rPr lang="en-US" dirty="0" smtClean="0"/>
              <a:t>Operating system reads program from disk into memory</a:t>
            </a:r>
          </a:p>
          <a:p>
            <a:pPr marL="0" indent="0">
              <a:buNone/>
            </a:pPr>
            <a:endParaRPr lang="en-US" dirty="0" smtClean="0"/>
          </a:p>
          <a:p>
            <a:pPr marL="0" indent="0">
              <a:buNone/>
            </a:pPr>
            <a:r>
              <a:rPr lang="en-US" dirty="0" smtClean="0"/>
              <a:t>Operating system marks this program in its own data structures as “runnable”</a:t>
            </a:r>
          </a:p>
          <a:p>
            <a:pPr marL="0" indent="0">
              <a:buNone/>
            </a:pPr>
            <a:endParaRPr lang="en-US" dirty="0" smtClean="0"/>
          </a:p>
          <a:p>
            <a:pPr marL="0" indent="0">
              <a:buNone/>
            </a:pPr>
            <a:r>
              <a:rPr lang="en-US" dirty="0" smtClean="0"/>
              <a:t>When a CPU needs work to do, the operating system points the CPU to the beginning of the program in memory</a:t>
            </a:r>
          </a:p>
          <a:p>
            <a:pPr marL="0" indent="0">
              <a:buNone/>
            </a:pPr>
            <a:endParaRPr lang="en-US" dirty="0" smtClean="0"/>
          </a:p>
          <a:p>
            <a:pPr marL="0" indent="0">
              <a:buNone/>
            </a:pPr>
            <a:r>
              <a:rPr lang="en-US" dirty="0" smtClean="0"/>
              <a:t>The CPU reads the first instruction from memory and starts running</a:t>
            </a:r>
            <a:endParaRPr lang="en-US" dirty="0"/>
          </a:p>
        </p:txBody>
      </p:sp>
    </p:spTree>
    <p:extLst>
      <p:ext uri="{BB962C8B-B14F-4D97-AF65-F5344CB8AC3E}">
        <p14:creationId xmlns:p14="http://schemas.microsoft.com/office/powerpoint/2010/main" val="1270816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Key Concepts</a:t>
            </a:r>
            <a:endParaRPr lang="en-US" dirty="0"/>
          </a:p>
        </p:txBody>
      </p:sp>
      <p:sp>
        <p:nvSpPr>
          <p:cNvPr id="8" name="Content Placeholder 7"/>
          <p:cNvSpPr>
            <a:spLocks noGrp="1"/>
          </p:cNvSpPr>
          <p:nvPr>
            <p:ph idx="1"/>
          </p:nvPr>
        </p:nvSpPr>
        <p:spPr>
          <a:xfrm>
            <a:off x="838200" y="1518557"/>
            <a:ext cx="10515600" cy="4658406"/>
          </a:xfrm>
        </p:spPr>
        <p:txBody>
          <a:bodyPr/>
          <a:lstStyle/>
          <a:p>
            <a:pPr marL="0" indent="0">
              <a:buNone/>
            </a:pPr>
            <a:r>
              <a:rPr lang="en-US" dirty="0" smtClean="0"/>
              <a:t>Instructions are simple to write and understand</a:t>
            </a:r>
          </a:p>
          <a:p>
            <a:pPr marL="0" indent="0">
              <a:buNone/>
            </a:pPr>
            <a:endParaRPr lang="en-US" dirty="0" smtClean="0"/>
          </a:p>
          <a:p>
            <a:pPr marL="0" indent="0">
              <a:buNone/>
            </a:pPr>
            <a:r>
              <a:rPr lang="en-US" dirty="0" smtClean="0"/>
              <a:t>You need more of them</a:t>
            </a:r>
          </a:p>
          <a:p>
            <a:pPr marL="0" indent="0">
              <a:buNone/>
            </a:pPr>
            <a:endParaRPr lang="en-US" dirty="0" smtClean="0"/>
          </a:p>
          <a:p>
            <a:pPr marL="0" indent="0">
              <a:buNone/>
            </a:pPr>
            <a:r>
              <a:rPr lang="en-US" dirty="0" smtClean="0"/>
              <a:t>Some of the things that you are used to have to be built yourself:</a:t>
            </a:r>
          </a:p>
          <a:p>
            <a:pPr marL="0" indent="0">
              <a:buNone/>
            </a:pPr>
            <a:r>
              <a:rPr lang="en-US" dirty="0"/>
              <a:t>	</a:t>
            </a:r>
            <a:r>
              <a:rPr lang="en-US" dirty="0" smtClean="0"/>
              <a:t>No loops, block-based flow control (if, switch)</a:t>
            </a:r>
          </a:p>
          <a:p>
            <a:pPr marL="0" indent="0">
              <a:buNone/>
            </a:pPr>
            <a:endParaRPr lang="en-US" dirty="0" smtClean="0"/>
          </a:p>
          <a:p>
            <a:pPr marL="0" indent="0">
              <a:buNone/>
            </a:pPr>
            <a:r>
              <a:rPr lang="en-US" dirty="0" smtClean="0"/>
              <a:t>Variables are different</a:t>
            </a:r>
          </a:p>
        </p:txBody>
      </p:sp>
    </p:spTree>
    <p:extLst>
      <p:ext uri="{BB962C8B-B14F-4D97-AF65-F5344CB8AC3E}">
        <p14:creationId xmlns:p14="http://schemas.microsoft.com/office/powerpoint/2010/main" val="4172937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Variables</a:t>
            </a:r>
            <a:endParaRPr lang="en-US" dirty="0"/>
          </a:p>
        </p:txBody>
      </p:sp>
      <p:sp>
        <p:nvSpPr>
          <p:cNvPr id="3" name="Content Placeholder 2"/>
          <p:cNvSpPr>
            <a:spLocks noGrp="1"/>
          </p:cNvSpPr>
          <p:nvPr>
            <p:ph idx="1"/>
          </p:nvPr>
        </p:nvSpPr>
        <p:spPr/>
        <p:txBody>
          <a:bodyPr/>
          <a:lstStyle/>
          <a:p>
            <a:pPr marL="0" indent="0">
              <a:buNone/>
            </a:pPr>
            <a:r>
              <a:rPr lang="en-US" dirty="0" smtClean="0"/>
              <a:t>In high level languages, when you see something like:</a:t>
            </a:r>
          </a:p>
          <a:p>
            <a:pPr marL="0" indent="0">
              <a:buNone/>
            </a:pPr>
            <a:r>
              <a:rPr lang="en-US" dirty="0" err="1" smtClean="0"/>
              <a:t>int</a:t>
            </a:r>
            <a:r>
              <a:rPr lang="en-US" dirty="0" smtClean="0"/>
              <a:t> a;</a:t>
            </a:r>
          </a:p>
          <a:p>
            <a:pPr marL="0" indent="0">
              <a:buNone/>
            </a:pPr>
            <a:r>
              <a:rPr lang="en-US" dirty="0" smtClean="0"/>
              <a:t>This means “allocate space and allow me to reference that space as a”</a:t>
            </a:r>
          </a:p>
          <a:p>
            <a:pPr marL="0" indent="0">
              <a:buNone/>
            </a:pPr>
            <a:r>
              <a:rPr lang="en-US" dirty="0" smtClean="0"/>
              <a:t>This could be on the stack or the heap (memory).</a:t>
            </a:r>
          </a:p>
          <a:p>
            <a:pPr marL="0" indent="0">
              <a:buNone/>
            </a:pPr>
            <a:endParaRPr lang="en-US" dirty="0"/>
          </a:p>
          <a:p>
            <a:pPr marL="0" indent="0">
              <a:buNone/>
            </a:pPr>
            <a:r>
              <a:rPr lang="en-US" dirty="0" smtClean="0"/>
              <a:t>This is a high level abstraction that Assembly language typically doesn’t give us.</a:t>
            </a:r>
            <a:endParaRPr lang="en-US" dirty="0"/>
          </a:p>
        </p:txBody>
      </p:sp>
    </p:spTree>
    <p:extLst>
      <p:ext uri="{BB962C8B-B14F-4D97-AF65-F5344CB8AC3E}">
        <p14:creationId xmlns:p14="http://schemas.microsoft.com/office/powerpoint/2010/main" val="8533511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Registers</a:t>
            </a:r>
            <a:endParaRPr lang="en-US" dirty="0"/>
          </a:p>
        </p:txBody>
      </p:sp>
      <p:sp>
        <p:nvSpPr>
          <p:cNvPr id="3" name="Content Placeholder 2"/>
          <p:cNvSpPr>
            <a:spLocks noGrp="1"/>
          </p:cNvSpPr>
          <p:nvPr>
            <p:ph idx="1"/>
          </p:nvPr>
        </p:nvSpPr>
        <p:spPr/>
        <p:txBody>
          <a:bodyPr/>
          <a:lstStyle/>
          <a:p>
            <a:pPr marL="0" indent="0">
              <a:buNone/>
            </a:pPr>
            <a:r>
              <a:rPr lang="en-US" dirty="0" smtClean="0"/>
              <a:t>Each CPU has a small (8-16, typically) number of hardware “variables”. Inside the machine, these are numbered. In Assembly, you will see them, often, numbered the same way: R0 – R15, for example.</a:t>
            </a:r>
          </a:p>
          <a:p>
            <a:pPr marL="0" indent="0">
              <a:buNone/>
            </a:pPr>
            <a:endParaRPr lang="en-US" dirty="0"/>
          </a:p>
          <a:p>
            <a:pPr marL="0" indent="0">
              <a:buNone/>
            </a:pPr>
            <a:r>
              <a:rPr lang="en-US" dirty="0" smtClean="0"/>
              <a:t>In x86/x64, you will see some registers with names (</a:t>
            </a:r>
            <a:r>
              <a:rPr lang="en-US" dirty="0" err="1" smtClean="0"/>
              <a:t>rax</a:t>
            </a:r>
            <a:r>
              <a:rPr lang="en-US" dirty="0" smtClean="0"/>
              <a:t>, </a:t>
            </a:r>
            <a:r>
              <a:rPr lang="en-US" dirty="0" err="1" smtClean="0"/>
              <a:t>rbx</a:t>
            </a:r>
            <a:r>
              <a:rPr lang="en-US" dirty="0" smtClean="0"/>
              <a:t>, </a:t>
            </a:r>
            <a:r>
              <a:rPr lang="en-US" dirty="0" err="1" smtClean="0"/>
              <a:t>rcx</a:t>
            </a:r>
            <a:r>
              <a:rPr lang="en-US" dirty="0" smtClean="0"/>
              <a:t>) and some numbered (r8 – r15). </a:t>
            </a:r>
          </a:p>
          <a:p>
            <a:pPr marL="0" indent="0">
              <a:buNone/>
            </a:pPr>
            <a:endParaRPr lang="en-US" dirty="0"/>
          </a:p>
          <a:p>
            <a:pPr marL="0" indent="0">
              <a:buNone/>
            </a:pPr>
            <a:r>
              <a:rPr lang="en-US" dirty="0" smtClean="0"/>
              <a:t>You can use these registers in your programs as variables. Imagine if your C program had a global: </a:t>
            </a:r>
            <a:r>
              <a:rPr lang="en-US" dirty="0" err="1" smtClean="0"/>
              <a:t>int</a:t>
            </a:r>
            <a:r>
              <a:rPr lang="en-US" dirty="0" smtClean="0"/>
              <a:t> r0, r1,r2,r3,r4,r5,r6,r7;</a:t>
            </a:r>
            <a:endParaRPr lang="en-US" dirty="0"/>
          </a:p>
        </p:txBody>
      </p:sp>
    </p:spTree>
    <p:extLst>
      <p:ext uri="{BB962C8B-B14F-4D97-AF65-F5344CB8AC3E}">
        <p14:creationId xmlns:p14="http://schemas.microsoft.com/office/powerpoint/2010/main" val="21600905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Instruction format</a:t>
            </a:r>
            <a:endParaRPr lang="en-US" dirty="0"/>
          </a:p>
        </p:txBody>
      </p:sp>
      <p:sp>
        <p:nvSpPr>
          <p:cNvPr id="3" name="Content Placeholder 2"/>
          <p:cNvSpPr>
            <a:spLocks noGrp="1"/>
          </p:cNvSpPr>
          <p:nvPr>
            <p:ph idx="1"/>
          </p:nvPr>
        </p:nvSpPr>
        <p:spPr/>
        <p:txBody>
          <a:bodyPr/>
          <a:lstStyle/>
          <a:p>
            <a:pPr marL="0" indent="0">
              <a:buNone/>
            </a:pPr>
            <a:r>
              <a:rPr lang="en-US" dirty="0" smtClean="0"/>
              <a:t>Assembly looks a little different than C based languages. There are no line terminators (;), no curly braces ({}), no indentation. Usually everything is written in a straight line down the screen:</a:t>
            </a:r>
          </a:p>
          <a:p>
            <a:pPr marL="0" indent="0">
              <a:buNone/>
            </a:pPr>
            <a:r>
              <a:rPr lang="en-US" dirty="0" smtClean="0"/>
              <a:t>add R1,R2,R3</a:t>
            </a:r>
          </a:p>
          <a:p>
            <a:pPr marL="0" indent="0">
              <a:buNone/>
            </a:pPr>
            <a:r>
              <a:rPr lang="en-US" dirty="0" err="1" smtClean="0"/>
              <a:t>mult</a:t>
            </a:r>
            <a:r>
              <a:rPr lang="en-US" dirty="0" smtClean="0"/>
              <a:t> R7,R2,R6</a:t>
            </a:r>
          </a:p>
          <a:p>
            <a:pPr marL="0" indent="0">
              <a:buNone/>
            </a:pPr>
            <a:r>
              <a:rPr lang="en-US" dirty="0" err="1" smtClean="0"/>
              <a:t>branchifequal</a:t>
            </a:r>
            <a:r>
              <a:rPr lang="en-US" dirty="0" smtClean="0"/>
              <a:t> $1234</a:t>
            </a:r>
          </a:p>
          <a:p>
            <a:pPr marL="0" indent="0">
              <a:buNone/>
            </a:pPr>
            <a:endParaRPr lang="en-US" dirty="0"/>
          </a:p>
          <a:p>
            <a:pPr marL="0" indent="0">
              <a:buNone/>
            </a:pPr>
            <a:r>
              <a:rPr lang="en-US" dirty="0" smtClean="0"/>
              <a:t>This is common across almost all assembly languages.</a:t>
            </a:r>
          </a:p>
          <a:p>
            <a:pPr marL="0" indent="0">
              <a:buNone/>
            </a:pPr>
            <a:endParaRPr lang="en-US" dirty="0"/>
          </a:p>
        </p:txBody>
      </p:sp>
    </p:spTree>
    <p:extLst>
      <p:ext uri="{BB962C8B-B14F-4D97-AF65-F5344CB8AC3E}">
        <p14:creationId xmlns:p14="http://schemas.microsoft.com/office/powerpoint/2010/main" val="3858732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Addressing</a:t>
            </a:r>
            <a:endParaRPr lang="en-US" dirty="0"/>
          </a:p>
        </p:txBody>
      </p:sp>
      <p:sp>
        <p:nvSpPr>
          <p:cNvPr id="3" name="Content Placeholder 2"/>
          <p:cNvSpPr>
            <a:spLocks noGrp="1"/>
          </p:cNvSpPr>
          <p:nvPr>
            <p:ph idx="1"/>
          </p:nvPr>
        </p:nvSpPr>
        <p:spPr>
          <a:xfrm>
            <a:off x="838200" y="1825625"/>
            <a:ext cx="10515600" cy="4694918"/>
          </a:xfrm>
        </p:spPr>
        <p:txBody>
          <a:bodyPr>
            <a:normAutofit/>
          </a:bodyPr>
          <a:lstStyle/>
          <a:p>
            <a:pPr marL="0" indent="0">
              <a:buNone/>
            </a:pPr>
            <a:r>
              <a:rPr lang="en-US" dirty="0" smtClean="0"/>
              <a:t>You might have noticed $1234 on the previous slide.</a:t>
            </a:r>
          </a:p>
          <a:p>
            <a:pPr marL="0" indent="0">
              <a:buNone/>
            </a:pPr>
            <a:r>
              <a:rPr lang="en-US" dirty="0" smtClean="0"/>
              <a:t>Without blocks ({}), we need to have some way to indicate where to jump TO. In assembly, we indicate the address to jump to.</a:t>
            </a:r>
          </a:p>
          <a:p>
            <a:pPr marL="0" indent="0">
              <a:buNone/>
            </a:pPr>
            <a:endParaRPr lang="en-US" dirty="0"/>
          </a:p>
          <a:p>
            <a:pPr marL="0" indent="0">
              <a:buNone/>
            </a:pPr>
            <a:r>
              <a:rPr lang="en-US" dirty="0" smtClean="0"/>
              <a:t>$1234 is an example of an absolute address – go exactly here.</a:t>
            </a:r>
          </a:p>
          <a:p>
            <a:pPr marL="0" indent="0">
              <a:buNone/>
            </a:pPr>
            <a:r>
              <a:rPr lang="en-US" dirty="0" err="1" smtClean="0"/>
              <a:t>branchifequal</a:t>
            </a:r>
            <a:r>
              <a:rPr lang="en-US" dirty="0" smtClean="0"/>
              <a:t> -100 </a:t>
            </a:r>
          </a:p>
          <a:p>
            <a:pPr marL="0" indent="0">
              <a:buNone/>
            </a:pPr>
            <a:r>
              <a:rPr lang="en-US" dirty="0" err="1" smtClean="0"/>
              <a:t>branchifequal</a:t>
            </a:r>
            <a:r>
              <a:rPr lang="en-US" dirty="0" smtClean="0"/>
              <a:t> 124</a:t>
            </a:r>
          </a:p>
          <a:p>
            <a:pPr marL="0" indent="0">
              <a:buNone/>
            </a:pPr>
            <a:r>
              <a:rPr lang="en-US" dirty="0" smtClean="0"/>
              <a:t>These are examples of relative addressing – go 100 bytes backward and 124 bytes forward.</a:t>
            </a:r>
            <a:endParaRPr lang="en-US" dirty="0"/>
          </a:p>
        </p:txBody>
      </p:sp>
    </p:spTree>
    <p:extLst>
      <p:ext uri="{BB962C8B-B14F-4D97-AF65-F5344CB8AC3E}">
        <p14:creationId xmlns:p14="http://schemas.microsoft.com/office/powerpoint/2010/main" val="17517022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Labels</a:t>
            </a:r>
            <a:endParaRPr lang="en-US" dirty="0"/>
          </a:p>
        </p:txBody>
      </p:sp>
      <p:sp>
        <p:nvSpPr>
          <p:cNvPr id="3" name="Content Placeholder 2"/>
          <p:cNvSpPr>
            <a:spLocks noGrp="1"/>
          </p:cNvSpPr>
          <p:nvPr>
            <p:ph idx="1"/>
          </p:nvPr>
        </p:nvSpPr>
        <p:spPr/>
        <p:txBody>
          <a:bodyPr/>
          <a:lstStyle/>
          <a:p>
            <a:pPr marL="0" indent="0">
              <a:buNone/>
            </a:pPr>
            <a:r>
              <a:rPr lang="en-US" dirty="0" smtClean="0"/>
              <a:t>Some assemblers (a program to convert assembly language to machine language) have the ability to allow you to create labels. A label is a name for a line of code. The assembler will, as part of the assembling process, count the distance for you.</a:t>
            </a:r>
          </a:p>
          <a:p>
            <a:pPr marL="0" indent="0">
              <a:buNone/>
            </a:pPr>
            <a:endParaRPr lang="en-US" dirty="0"/>
          </a:p>
          <a:p>
            <a:pPr marL="0" indent="0">
              <a:buNone/>
            </a:pPr>
            <a:r>
              <a:rPr lang="en-US" dirty="0" err="1" smtClean="0"/>
              <a:t>beginningOfLoop</a:t>
            </a:r>
            <a:r>
              <a:rPr lang="en-US" dirty="0" smtClean="0"/>
              <a:t>:  add R1, R2, R3</a:t>
            </a:r>
          </a:p>
          <a:p>
            <a:pPr marL="0" indent="0">
              <a:buNone/>
            </a:pPr>
            <a:r>
              <a:rPr lang="en-US" dirty="0" smtClean="0"/>
              <a:t>…</a:t>
            </a:r>
          </a:p>
          <a:p>
            <a:pPr marL="0" indent="0">
              <a:buNone/>
            </a:pPr>
            <a:r>
              <a:rPr lang="en-US" dirty="0" err="1" smtClean="0"/>
              <a:t>branchifequal</a:t>
            </a:r>
            <a:r>
              <a:rPr lang="en-US" dirty="0" smtClean="0"/>
              <a:t> </a:t>
            </a:r>
            <a:r>
              <a:rPr lang="en-US" dirty="0" err="1" smtClean="0"/>
              <a:t>beginningOfLoop</a:t>
            </a:r>
            <a:endParaRPr lang="en-US" dirty="0"/>
          </a:p>
        </p:txBody>
      </p:sp>
    </p:spTree>
    <p:extLst>
      <p:ext uri="{BB962C8B-B14F-4D97-AF65-F5344CB8AC3E}">
        <p14:creationId xmlns:p14="http://schemas.microsoft.com/office/powerpoint/2010/main" val="13333974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little practice</a:t>
            </a:r>
            <a:endParaRPr lang="en-US" dirty="0"/>
          </a:p>
        </p:txBody>
      </p:sp>
      <p:sp>
        <p:nvSpPr>
          <p:cNvPr id="4" name="Content Placeholder 3"/>
          <p:cNvSpPr>
            <a:spLocks noGrp="1"/>
          </p:cNvSpPr>
          <p:nvPr>
            <p:ph sz="half" idx="1"/>
          </p:nvPr>
        </p:nvSpPr>
        <p:spPr/>
        <p:txBody>
          <a:bodyPr/>
          <a:lstStyle/>
          <a:p>
            <a:pPr marL="0" indent="0">
              <a:buNone/>
            </a:pPr>
            <a:r>
              <a:rPr lang="en-US" dirty="0" err="1" smtClean="0"/>
              <a:t>int</a:t>
            </a:r>
            <a:r>
              <a:rPr lang="en-US" dirty="0" smtClean="0"/>
              <a:t> f = 0;</a:t>
            </a:r>
          </a:p>
          <a:p>
            <a:pPr marL="0" indent="0">
              <a:buNone/>
            </a:pPr>
            <a:r>
              <a:rPr lang="en-US" dirty="0" err="1" smtClean="0"/>
              <a:t>int</a:t>
            </a:r>
            <a:r>
              <a:rPr lang="en-US" dirty="0" smtClean="0"/>
              <a:t> c = 20;</a:t>
            </a:r>
          </a:p>
          <a:p>
            <a:pPr marL="0" indent="0">
              <a:buNone/>
            </a:pPr>
            <a:r>
              <a:rPr lang="en-US" dirty="0" smtClean="0"/>
              <a:t>f = (9 * c)/5 + 32;</a:t>
            </a:r>
            <a:endParaRPr lang="en-US" dirty="0"/>
          </a:p>
        </p:txBody>
      </p:sp>
      <p:sp>
        <p:nvSpPr>
          <p:cNvPr id="5" name="Content Placeholder 4"/>
          <p:cNvSpPr>
            <a:spLocks noGrp="1"/>
          </p:cNvSpPr>
          <p:nvPr>
            <p:ph sz="half" idx="2"/>
          </p:nvPr>
        </p:nvSpPr>
        <p:spPr>
          <a:xfrm>
            <a:off x="6172200" y="223157"/>
            <a:ext cx="5181600" cy="6487886"/>
          </a:xfrm>
        </p:spPr>
        <p:txBody>
          <a:bodyPr/>
          <a:lstStyle/>
          <a:p>
            <a:pPr marL="0" indent="0">
              <a:buNone/>
            </a:pPr>
            <a:r>
              <a:rPr lang="en-US" dirty="0" smtClean="0"/>
              <a:t>sub R0 </a:t>
            </a:r>
            <a:r>
              <a:rPr lang="en-US" dirty="0" err="1" smtClean="0"/>
              <a:t>R0</a:t>
            </a:r>
            <a:r>
              <a:rPr lang="en-US" dirty="0" smtClean="0"/>
              <a:t> </a:t>
            </a:r>
            <a:r>
              <a:rPr lang="en-US" dirty="0" err="1" smtClean="0"/>
              <a:t>R0</a:t>
            </a:r>
            <a:r>
              <a:rPr lang="en-US" dirty="0" smtClean="0"/>
              <a:t> – clear R0 (f)</a:t>
            </a:r>
          </a:p>
          <a:p>
            <a:pPr marL="0" indent="0">
              <a:buNone/>
            </a:pPr>
            <a:r>
              <a:rPr lang="en-US" dirty="0" smtClean="0"/>
              <a:t>sub R1 </a:t>
            </a:r>
            <a:r>
              <a:rPr lang="en-US" dirty="0" err="1" smtClean="0"/>
              <a:t>R1</a:t>
            </a:r>
            <a:r>
              <a:rPr lang="en-US" dirty="0" smtClean="0"/>
              <a:t> </a:t>
            </a:r>
            <a:r>
              <a:rPr lang="en-US" dirty="0" err="1" smtClean="0"/>
              <a:t>R1</a:t>
            </a:r>
            <a:r>
              <a:rPr lang="en-US" dirty="0" smtClean="0"/>
              <a:t> – clear R1 (c)</a:t>
            </a:r>
          </a:p>
          <a:p>
            <a:pPr marL="0" indent="0">
              <a:buNone/>
            </a:pPr>
            <a:r>
              <a:rPr lang="en-US" dirty="0" err="1" smtClean="0"/>
              <a:t>addimmediate</a:t>
            </a:r>
            <a:r>
              <a:rPr lang="en-US" dirty="0" smtClean="0"/>
              <a:t> 20 R1 – set c</a:t>
            </a:r>
          </a:p>
          <a:p>
            <a:pPr marL="0" indent="0">
              <a:buNone/>
            </a:pPr>
            <a:r>
              <a:rPr lang="en-US" dirty="0" smtClean="0"/>
              <a:t>sub R2 </a:t>
            </a:r>
            <a:r>
              <a:rPr lang="en-US" dirty="0" err="1" smtClean="0"/>
              <a:t>R2</a:t>
            </a:r>
            <a:r>
              <a:rPr lang="en-US" dirty="0" smtClean="0"/>
              <a:t> </a:t>
            </a:r>
            <a:r>
              <a:rPr lang="en-US" dirty="0" err="1" smtClean="0"/>
              <a:t>R2</a:t>
            </a:r>
            <a:r>
              <a:rPr lang="en-US" dirty="0" smtClean="0"/>
              <a:t> – clear R2</a:t>
            </a:r>
          </a:p>
          <a:p>
            <a:pPr marL="0" indent="0">
              <a:buNone/>
            </a:pPr>
            <a:r>
              <a:rPr lang="en-US" dirty="0" err="1" smtClean="0"/>
              <a:t>addimmediate</a:t>
            </a:r>
            <a:r>
              <a:rPr lang="en-US" dirty="0" smtClean="0"/>
              <a:t> 9 R2 – set R2 to 9</a:t>
            </a:r>
          </a:p>
          <a:p>
            <a:pPr marL="0" indent="0">
              <a:buNone/>
            </a:pPr>
            <a:r>
              <a:rPr lang="en-US" dirty="0" smtClean="0"/>
              <a:t>sub R3 </a:t>
            </a:r>
            <a:r>
              <a:rPr lang="en-US" dirty="0" err="1" smtClean="0"/>
              <a:t>R3</a:t>
            </a:r>
            <a:r>
              <a:rPr lang="en-US" dirty="0" smtClean="0"/>
              <a:t> </a:t>
            </a:r>
            <a:r>
              <a:rPr lang="en-US" dirty="0" err="1" smtClean="0"/>
              <a:t>R3</a:t>
            </a:r>
            <a:r>
              <a:rPr lang="en-US" dirty="0" smtClean="0"/>
              <a:t> – clear R3</a:t>
            </a:r>
          </a:p>
          <a:p>
            <a:pPr marL="0" indent="0">
              <a:buNone/>
            </a:pPr>
            <a:r>
              <a:rPr lang="en-US" dirty="0" err="1" smtClean="0"/>
              <a:t>addimmediate</a:t>
            </a:r>
            <a:r>
              <a:rPr lang="en-US" dirty="0" smtClean="0"/>
              <a:t> 5 R3 – set R3 to 5</a:t>
            </a:r>
          </a:p>
          <a:p>
            <a:pPr marL="0" indent="0">
              <a:buNone/>
            </a:pPr>
            <a:r>
              <a:rPr lang="en-US" dirty="0" smtClean="0"/>
              <a:t>multiply R2 R1 R4 -- 9*c into R4</a:t>
            </a:r>
          </a:p>
          <a:p>
            <a:pPr marL="0" indent="0">
              <a:buNone/>
            </a:pPr>
            <a:r>
              <a:rPr lang="en-US" dirty="0" smtClean="0"/>
              <a:t>divide R4 R3 R0 – 9*c/5 into R0(f)</a:t>
            </a:r>
          </a:p>
          <a:p>
            <a:pPr marL="0" indent="0">
              <a:buNone/>
            </a:pPr>
            <a:r>
              <a:rPr lang="en-US" dirty="0" err="1" smtClean="0"/>
              <a:t>addimmediate</a:t>
            </a:r>
            <a:r>
              <a:rPr lang="en-US" dirty="0" smtClean="0"/>
              <a:t> 32 R0 – complete</a:t>
            </a:r>
          </a:p>
          <a:p>
            <a:pPr marL="0" indent="0">
              <a:buNone/>
            </a:pPr>
            <a:endParaRPr lang="en-US" dirty="0" smtClean="0"/>
          </a:p>
          <a:p>
            <a:pPr marL="0" indent="0">
              <a:buNone/>
            </a:pPr>
            <a:endParaRPr lang="en-US" dirty="0" smtClean="0"/>
          </a:p>
          <a:p>
            <a:pPr marL="0" indent="0">
              <a:buNone/>
            </a:pPr>
            <a:endParaRPr lang="en-US" dirty="0"/>
          </a:p>
        </p:txBody>
      </p:sp>
      <p:sp>
        <p:nvSpPr>
          <p:cNvPr id="6" name="Rectangle 5"/>
          <p:cNvSpPr/>
          <p:nvPr/>
        </p:nvSpPr>
        <p:spPr>
          <a:xfrm>
            <a:off x="6144986" y="767443"/>
            <a:ext cx="4365172" cy="923245"/>
          </a:xfrm>
          <a:prstGeom prst="rect">
            <a:avLst/>
          </a:prstGeom>
          <a:solidFill>
            <a:srgbClr val="5B9BD5">
              <a:alpha val="1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6144986" y="2754086"/>
            <a:ext cx="4936671" cy="923245"/>
          </a:xfrm>
          <a:prstGeom prst="rect">
            <a:avLst/>
          </a:prstGeom>
          <a:solidFill>
            <a:srgbClr val="5B9BD5">
              <a:alpha val="1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144986" y="3739243"/>
            <a:ext cx="5110844" cy="1480457"/>
          </a:xfrm>
          <a:prstGeom prst="rect">
            <a:avLst/>
          </a:prstGeom>
          <a:solidFill>
            <a:srgbClr val="5B9BD5">
              <a:alpha val="1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144986" y="1786277"/>
            <a:ext cx="4936671" cy="923245"/>
          </a:xfrm>
          <a:prstGeom prst="rect">
            <a:avLst/>
          </a:prstGeom>
          <a:solidFill>
            <a:srgbClr val="5B9BD5">
              <a:alpha val="1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5002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6144985" y="767443"/>
            <a:ext cx="4631871" cy="923245"/>
          </a:xfrm>
          <a:prstGeom prst="rect">
            <a:avLst/>
          </a:prstGeom>
          <a:solidFill>
            <a:srgbClr val="5B9BD5">
              <a:alpha val="1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smtClean="0"/>
              <a:t>A little practice</a:t>
            </a:r>
            <a:endParaRPr lang="en-US" dirty="0"/>
          </a:p>
        </p:txBody>
      </p:sp>
      <p:sp>
        <p:nvSpPr>
          <p:cNvPr id="4" name="Content Placeholder 3"/>
          <p:cNvSpPr>
            <a:spLocks noGrp="1"/>
          </p:cNvSpPr>
          <p:nvPr>
            <p:ph sz="half" idx="1"/>
          </p:nvPr>
        </p:nvSpPr>
        <p:spPr/>
        <p:txBody>
          <a:bodyPr/>
          <a:lstStyle/>
          <a:p>
            <a:pPr marL="0" indent="0">
              <a:buNone/>
            </a:pPr>
            <a:r>
              <a:rPr lang="en-US" dirty="0" err="1" smtClean="0"/>
              <a:t>int</a:t>
            </a:r>
            <a:r>
              <a:rPr lang="en-US" dirty="0" smtClean="0"/>
              <a:t> sum = 0;</a:t>
            </a:r>
          </a:p>
          <a:p>
            <a:pPr marL="0" indent="0">
              <a:buNone/>
            </a:pPr>
            <a:r>
              <a:rPr lang="en-US" dirty="0" smtClean="0"/>
              <a:t>for (</a:t>
            </a:r>
            <a:r>
              <a:rPr lang="en-US" dirty="0" err="1" smtClean="0"/>
              <a:t>int</a:t>
            </a:r>
            <a:r>
              <a:rPr lang="en-US" dirty="0" smtClean="0"/>
              <a:t> a=0;a&lt;20;a++)</a:t>
            </a:r>
          </a:p>
          <a:p>
            <a:pPr marL="0" indent="0">
              <a:buNone/>
            </a:pPr>
            <a:r>
              <a:rPr lang="en-US" dirty="0"/>
              <a:t>	</a:t>
            </a:r>
            <a:r>
              <a:rPr lang="en-US" dirty="0" smtClean="0"/>
              <a:t>sum += a;</a:t>
            </a:r>
            <a:endParaRPr lang="en-US" dirty="0"/>
          </a:p>
        </p:txBody>
      </p:sp>
      <p:sp>
        <p:nvSpPr>
          <p:cNvPr id="7" name="Rectangle 6"/>
          <p:cNvSpPr/>
          <p:nvPr/>
        </p:nvSpPr>
        <p:spPr>
          <a:xfrm>
            <a:off x="6144986" y="2269672"/>
            <a:ext cx="4936671" cy="1407660"/>
          </a:xfrm>
          <a:prstGeom prst="rect">
            <a:avLst/>
          </a:prstGeom>
          <a:solidFill>
            <a:srgbClr val="5B9BD5">
              <a:alpha val="1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p:cNvSpPr>
            <a:spLocks noGrp="1"/>
          </p:cNvSpPr>
          <p:nvPr>
            <p:ph sz="half" idx="2"/>
          </p:nvPr>
        </p:nvSpPr>
        <p:spPr>
          <a:xfrm>
            <a:off x="6172200" y="223157"/>
            <a:ext cx="5181600" cy="6487886"/>
          </a:xfrm>
        </p:spPr>
        <p:txBody>
          <a:bodyPr/>
          <a:lstStyle/>
          <a:p>
            <a:pPr marL="0" indent="0">
              <a:buNone/>
            </a:pPr>
            <a:r>
              <a:rPr lang="en-US" dirty="0" smtClean="0"/>
              <a:t>sub R0 </a:t>
            </a:r>
            <a:r>
              <a:rPr lang="en-US" dirty="0" err="1" smtClean="0"/>
              <a:t>R0</a:t>
            </a:r>
            <a:r>
              <a:rPr lang="en-US" dirty="0" smtClean="0"/>
              <a:t> </a:t>
            </a:r>
            <a:r>
              <a:rPr lang="en-US" dirty="0" err="1" smtClean="0"/>
              <a:t>R0</a:t>
            </a:r>
            <a:r>
              <a:rPr lang="en-US" dirty="0" smtClean="0"/>
              <a:t> – clear R0 (sum)</a:t>
            </a:r>
          </a:p>
          <a:p>
            <a:pPr marL="0" indent="0">
              <a:buNone/>
            </a:pPr>
            <a:r>
              <a:rPr lang="en-US" dirty="0" smtClean="0"/>
              <a:t>sub R1 </a:t>
            </a:r>
            <a:r>
              <a:rPr lang="en-US" dirty="0" err="1" smtClean="0"/>
              <a:t>R1</a:t>
            </a:r>
            <a:r>
              <a:rPr lang="en-US" dirty="0" smtClean="0"/>
              <a:t> </a:t>
            </a:r>
            <a:r>
              <a:rPr lang="en-US" dirty="0" err="1" smtClean="0"/>
              <a:t>R1</a:t>
            </a:r>
            <a:r>
              <a:rPr lang="en-US" dirty="0" smtClean="0"/>
              <a:t> – clear R1 (max)</a:t>
            </a:r>
          </a:p>
          <a:p>
            <a:pPr marL="0" indent="0">
              <a:buNone/>
            </a:pPr>
            <a:r>
              <a:rPr lang="en-US" dirty="0" err="1" smtClean="0"/>
              <a:t>addimmediate</a:t>
            </a:r>
            <a:r>
              <a:rPr lang="en-US" dirty="0" smtClean="0"/>
              <a:t> 20 R1 – set max</a:t>
            </a:r>
          </a:p>
          <a:p>
            <a:pPr marL="0" indent="0">
              <a:buNone/>
            </a:pPr>
            <a:r>
              <a:rPr lang="en-US" dirty="0" smtClean="0"/>
              <a:t>sub R2 </a:t>
            </a:r>
            <a:r>
              <a:rPr lang="en-US" dirty="0" err="1" smtClean="0"/>
              <a:t>R2</a:t>
            </a:r>
            <a:r>
              <a:rPr lang="en-US" dirty="0" smtClean="0"/>
              <a:t> </a:t>
            </a:r>
            <a:r>
              <a:rPr lang="en-US" dirty="0" err="1" smtClean="0"/>
              <a:t>R2</a:t>
            </a:r>
            <a:r>
              <a:rPr lang="en-US" dirty="0" smtClean="0"/>
              <a:t> – clear R2 (a)</a:t>
            </a:r>
          </a:p>
          <a:p>
            <a:pPr marL="0" indent="0">
              <a:buNone/>
            </a:pPr>
            <a:r>
              <a:rPr lang="en-US" dirty="0" smtClean="0"/>
              <a:t>add R2 R0 </a:t>
            </a:r>
            <a:r>
              <a:rPr lang="en-US" dirty="0" err="1" smtClean="0"/>
              <a:t>R0</a:t>
            </a:r>
            <a:r>
              <a:rPr lang="en-US" dirty="0" smtClean="0"/>
              <a:t> – sum += a</a:t>
            </a:r>
          </a:p>
          <a:p>
            <a:pPr marL="0" indent="0">
              <a:buNone/>
            </a:pPr>
            <a:r>
              <a:rPr lang="en-US" dirty="0" err="1" smtClean="0"/>
              <a:t>addimmediate</a:t>
            </a:r>
            <a:r>
              <a:rPr lang="en-US" dirty="0" smtClean="0"/>
              <a:t> 1 R2 – a++</a:t>
            </a:r>
          </a:p>
          <a:p>
            <a:pPr marL="0" indent="0">
              <a:buNone/>
            </a:pPr>
            <a:r>
              <a:rPr lang="en-US" dirty="0" err="1" smtClean="0"/>
              <a:t>branchifless</a:t>
            </a:r>
            <a:r>
              <a:rPr lang="en-US" dirty="0" smtClean="0"/>
              <a:t> R2 R1 -4 – for loop</a:t>
            </a:r>
            <a:endParaRPr lang="en-US" dirty="0"/>
          </a:p>
        </p:txBody>
      </p:sp>
    </p:spTree>
    <p:extLst>
      <p:ext uri="{BB962C8B-B14F-4D97-AF65-F5344CB8AC3E}">
        <p14:creationId xmlns:p14="http://schemas.microsoft.com/office/powerpoint/2010/main" val="26727131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Calling functions</a:t>
            </a:r>
            <a:endParaRPr lang="en-US" dirty="0"/>
          </a:p>
        </p:txBody>
      </p:sp>
      <p:sp>
        <p:nvSpPr>
          <p:cNvPr id="6" name="Content Placeholder 5"/>
          <p:cNvSpPr>
            <a:spLocks noGrp="1"/>
          </p:cNvSpPr>
          <p:nvPr>
            <p:ph idx="1"/>
          </p:nvPr>
        </p:nvSpPr>
        <p:spPr/>
        <p:txBody>
          <a:bodyPr>
            <a:normAutofit lnSpcReduction="10000"/>
          </a:bodyPr>
          <a:lstStyle/>
          <a:p>
            <a:pPr marL="0" indent="0">
              <a:buNone/>
            </a:pPr>
            <a:r>
              <a:rPr lang="en-US" dirty="0" smtClean="0"/>
              <a:t>jump is like a “</a:t>
            </a:r>
            <a:r>
              <a:rPr lang="en-US" dirty="0" err="1" smtClean="0"/>
              <a:t>goto</a:t>
            </a:r>
            <a:r>
              <a:rPr lang="en-US" dirty="0" smtClean="0"/>
              <a:t>” in C or Java – it doesn’t handle parameters or returning. It is a one way trip.</a:t>
            </a:r>
          </a:p>
          <a:p>
            <a:pPr marL="0" indent="0">
              <a:buNone/>
            </a:pPr>
            <a:endParaRPr lang="en-US" dirty="0"/>
          </a:p>
          <a:p>
            <a:pPr marL="0" indent="0">
              <a:buNone/>
            </a:pPr>
            <a:r>
              <a:rPr lang="en-US" dirty="0" smtClean="0"/>
              <a:t>Functions can be called in nearly all assembly languages. </a:t>
            </a:r>
          </a:p>
          <a:p>
            <a:pPr marL="0" indent="0">
              <a:buNone/>
            </a:pPr>
            <a:r>
              <a:rPr lang="en-US" dirty="0" smtClean="0"/>
              <a:t>For example:</a:t>
            </a:r>
          </a:p>
          <a:p>
            <a:pPr marL="0" indent="0">
              <a:buNone/>
            </a:pPr>
            <a:r>
              <a:rPr lang="en-US" dirty="0" smtClean="0"/>
              <a:t>call </a:t>
            </a:r>
            <a:r>
              <a:rPr lang="en-US" dirty="0" err="1" smtClean="0"/>
              <a:t>someFunction</a:t>
            </a:r>
            <a:endParaRPr lang="en-US" dirty="0" smtClean="0"/>
          </a:p>
          <a:p>
            <a:pPr marL="0" indent="0">
              <a:buNone/>
            </a:pPr>
            <a:endParaRPr lang="en-US" dirty="0" smtClean="0"/>
          </a:p>
          <a:p>
            <a:pPr marL="0" indent="0">
              <a:buNone/>
            </a:pPr>
            <a:r>
              <a:rPr lang="en-US" dirty="0" err="1" smtClean="0"/>
              <a:t>someFunction</a:t>
            </a:r>
            <a:r>
              <a:rPr lang="en-US" dirty="0" smtClean="0"/>
              <a:t>: add R1 R2 R3</a:t>
            </a:r>
          </a:p>
          <a:p>
            <a:pPr marL="0" indent="0">
              <a:buNone/>
            </a:pPr>
            <a:r>
              <a:rPr lang="en-US" dirty="0" smtClean="0"/>
              <a:t>return</a:t>
            </a:r>
            <a:endParaRPr lang="en-US" dirty="0"/>
          </a:p>
        </p:txBody>
      </p:sp>
    </p:spTree>
    <p:extLst>
      <p:ext uri="{BB962C8B-B14F-4D97-AF65-F5344CB8AC3E}">
        <p14:creationId xmlns:p14="http://schemas.microsoft.com/office/powerpoint/2010/main" val="16636834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 Parameters and Return Values</a:t>
            </a:r>
            <a:endParaRPr lang="en-US" dirty="0"/>
          </a:p>
        </p:txBody>
      </p:sp>
      <p:sp>
        <p:nvSpPr>
          <p:cNvPr id="3" name="Content Placeholder 2"/>
          <p:cNvSpPr>
            <a:spLocks noGrp="1"/>
          </p:cNvSpPr>
          <p:nvPr>
            <p:ph idx="1"/>
          </p:nvPr>
        </p:nvSpPr>
        <p:spPr/>
        <p:txBody>
          <a:bodyPr/>
          <a:lstStyle/>
          <a:p>
            <a:pPr marL="0" indent="0">
              <a:buNone/>
            </a:pPr>
            <a:r>
              <a:rPr lang="en-US" dirty="0" smtClean="0"/>
              <a:t>There are  a few different mechanisms that can be used for parameters and return values. </a:t>
            </a:r>
          </a:p>
          <a:p>
            <a:pPr marL="0" indent="0">
              <a:buNone/>
            </a:pPr>
            <a:endParaRPr lang="en-US" dirty="0"/>
          </a:p>
          <a:p>
            <a:pPr marL="0" indent="0">
              <a:buNone/>
            </a:pPr>
            <a:r>
              <a:rPr lang="en-US" dirty="0" smtClean="0"/>
              <a:t>One mechanism is to always use registers. R0 can be the first parameter, R1 the second, etc. </a:t>
            </a:r>
          </a:p>
          <a:p>
            <a:pPr marL="0" indent="0">
              <a:buNone/>
            </a:pPr>
            <a:endParaRPr lang="en-US" dirty="0"/>
          </a:p>
          <a:p>
            <a:pPr marL="0" indent="0">
              <a:buNone/>
            </a:pPr>
            <a:r>
              <a:rPr lang="en-US" dirty="0" smtClean="0"/>
              <a:t>In this mechanism, R0 could always be the return value.</a:t>
            </a:r>
            <a:endParaRPr lang="en-US" dirty="0"/>
          </a:p>
        </p:txBody>
      </p:sp>
    </p:spTree>
    <p:extLst>
      <p:ext uri="{BB962C8B-B14F-4D97-AF65-F5344CB8AC3E}">
        <p14:creationId xmlns:p14="http://schemas.microsoft.com/office/powerpoint/2010/main" val="19981730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is that “bad”?</a:t>
            </a:r>
            <a:endParaRPr lang="en-US" dirty="0"/>
          </a:p>
        </p:txBody>
      </p:sp>
      <p:sp>
        <p:nvSpPr>
          <p:cNvPr id="3" name="Content Placeholder 2"/>
          <p:cNvSpPr>
            <a:spLocks noGrp="1"/>
          </p:cNvSpPr>
          <p:nvPr>
            <p:ph idx="1"/>
          </p:nvPr>
        </p:nvSpPr>
        <p:spPr/>
        <p:txBody>
          <a:bodyPr/>
          <a:lstStyle/>
          <a:p>
            <a:pPr marL="0" indent="0">
              <a:buNone/>
            </a:pPr>
            <a:r>
              <a:rPr lang="en-US" dirty="0" smtClean="0"/>
              <a:t>Each function could call any number of other functions. If function a calls function b which calls function c, what can the code that calls function a assume about the state of the registers? Maybe function b took 15 parameters. That means that code that makes a function call has to assume that the registers are not what they were when they called that function.</a:t>
            </a:r>
          </a:p>
          <a:p>
            <a:pPr marL="0" indent="0">
              <a:buNone/>
            </a:pPr>
            <a:endParaRPr lang="en-US" dirty="0"/>
          </a:p>
          <a:p>
            <a:pPr marL="0" indent="0">
              <a:buNone/>
            </a:pPr>
            <a:r>
              <a:rPr lang="en-US" dirty="0" smtClean="0"/>
              <a:t>Sort of like lending your car to a friend – if you lend it with ½ a tank of gas, how much is in there when they return it? </a:t>
            </a:r>
            <a:endParaRPr lang="en-US" dirty="0"/>
          </a:p>
        </p:txBody>
      </p:sp>
    </p:spTree>
    <p:extLst>
      <p:ext uri="{BB962C8B-B14F-4D97-AF65-F5344CB8AC3E}">
        <p14:creationId xmlns:p14="http://schemas.microsoft.com/office/powerpoint/2010/main" val="31920772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different approach</a:t>
            </a:r>
            <a:endParaRPr lang="en-US" dirty="0"/>
          </a:p>
        </p:txBody>
      </p:sp>
      <p:sp>
        <p:nvSpPr>
          <p:cNvPr id="3" name="Content Placeholder 2"/>
          <p:cNvSpPr>
            <a:spLocks noGrp="1"/>
          </p:cNvSpPr>
          <p:nvPr>
            <p:ph idx="1"/>
          </p:nvPr>
        </p:nvSpPr>
        <p:spPr>
          <a:xfrm>
            <a:off x="838200" y="1825625"/>
            <a:ext cx="10515600" cy="2784475"/>
          </a:xfrm>
        </p:spPr>
        <p:txBody>
          <a:bodyPr/>
          <a:lstStyle/>
          <a:p>
            <a:pPr marL="0" indent="0">
              <a:buNone/>
            </a:pPr>
            <a:r>
              <a:rPr lang="en-US" dirty="0" smtClean="0"/>
              <a:t>What if we all agree that R15 points to a stack of memory (in other words, the value stored in R15 is a pointer to memory). A caller could push parameters on the stack. The called function could do its work, then pop the parameters off the stack and push the return value then return. The caller could then pop the return value off of the stack and know (because everyone follows the rules) that the stack is what it was before we started.</a:t>
            </a:r>
            <a:endParaRPr lang="en-US" dirty="0"/>
          </a:p>
        </p:txBody>
      </p:sp>
      <p:sp>
        <p:nvSpPr>
          <p:cNvPr id="4" name="Rectangle 3"/>
          <p:cNvSpPr/>
          <p:nvPr/>
        </p:nvSpPr>
        <p:spPr>
          <a:xfrm>
            <a:off x="1513118" y="4769532"/>
            <a:ext cx="1023259" cy="11919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Empty Stack</a:t>
            </a:r>
            <a:endParaRPr lang="en-US" dirty="0"/>
          </a:p>
        </p:txBody>
      </p:sp>
      <p:sp>
        <p:nvSpPr>
          <p:cNvPr id="5" name="Rectangle 4"/>
          <p:cNvSpPr/>
          <p:nvPr/>
        </p:nvSpPr>
        <p:spPr>
          <a:xfrm>
            <a:off x="2740484" y="4769529"/>
            <a:ext cx="974273" cy="11919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dirty="0" err="1" smtClean="0"/>
              <a:t>Param</a:t>
            </a:r>
            <a:r>
              <a:rPr lang="en-US" dirty="0" smtClean="0"/>
              <a:t> 3</a:t>
            </a:r>
          </a:p>
          <a:p>
            <a:pPr algn="ctr"/>
            <a:r>
              <a:rPr lang="en-US" dirty="0" err="1" smtClean="0"/>
              <a:t>Param</a:t>
            </a:r>
            <a:r>
              <a:rPr lang="en-US" dirty="0" smtClean="0"/>
              <a:t> 2</a:t>
            </a:r>
          </a:p>
          <a:p>
            <a:pPr algn="ctr"/>
            <a:r>
              <a:rPr lang="en-US" dirty="0" err="1" smtClean="0"/>
              <a:t>Param</a:t>
            </a:r>
            <a:r>
              <a:rPr lang="en-US" dirty="0" smtClean="0"/>
              <a:t> 1</a:t>
            </a:r>
            <a:endParaRPr lang="en-US" dirty="0"/>
          </a:p>
        </p:txBody>
      </p:sp>
      <p:sp>
        <p:nvSpPr>
          <p:cNvPr id="6" name="Right Arrow 5"/>
          <p:cNvSpPr/>
          <p:nvPr/>
        </p:nvSpPr>
        <p:spPr>
          <a:xfrm>
            <a:off x="3883485" y="5306785"/>
            <a:ext cx="1567543" cy="3456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Call Function</a:t>
            </a:r>
            <a:endParaRPr lang="en-US" dirty="0"/>
          </a:p>
        </p:txBody>
      </p:sp>
      <p:sp>
        <p:nvSpPr>
          <p:cNvPr id="7" name="Rectangle 6"/>
          <p:cNvSpPr/>
          <p:nvPr/>
        </p:nvSpPr>
        <p:spPr>
          <a:xfrm>
            <a:off x="5573490" y="4769529"/>
            <a:ext cx="810988" cy="11919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Empty Stack</a:t>
            </a:r>
            <a:endParaRPr lang="en-US" dirty="0"/>
          </a:p>
        </p:txBody>
      </p:sp>
      <p:sp>
        <p:nvSpPr>
          <p:cNvPr id="8" name="Rectangle 7"/>
          <p:cNvSpPr/>
          <p:nvPr/>
        </p:nvSpPr>
        <p:spPr>
          <a:xfrm>
            <a:off x="6844399" y="4769528"/>
            <a:ext cx="846364" cy="11919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dirty="0" smtClean="0"/>
              <a:t>Return Value</a:t>
            </a:r>
            <a:endParaRPr lang="en-US" dirty="0"/>
          </a:p>
        </p:txBody>
      </p:sp>
      <p:sp>
        <p:nvSpPr>
          <p:cNvPr id="9" name="Right Arrow 8"/>
          <p:cNvSpPr/>
          <p:nvPr/>
        </p:nvSpPr>
        <p:spPr>
          <a:xfrm>
            <a:off x="7829555" y="5306784"/>
            <a:ext cx="1143000" cy="3456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Return</a:t>
            </a:r>
            <a:endParaRPr lang="en-US" dirty="0"/>
          </a:p>
        </p:txBody>
      </p:sp>
      <p:sp>
        <p:nvSpPr>
          <p:cNvPr id="10" name="Rectangle 9"/>
          <p:cNvSpPr/>
          <p:nvPr/>
        </p:nvSpPr>
        <p:spPr>
          <a:xfrm>
            <a:off x="9086856" y="4829401"/>
            <a:ext cx="1036864" cy="11919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Empty Stack</a:t>
            </a:r>
            <a:endParaRPr lang="en-US" dirty="0"/>
          </a:p>
        </p:txBody>
      </p:sp>
      <p:sp>
        <p:nvSpPr>
          <p:cNvPr id="11" name="TextBox 10"/>
          <p:cNvSpPr txBox="1"/>
          <p:nvPr/>
        </p:nvSpPr>
        <p:spPr>
          <a:xfrm>
            <a:off x="1099461" y="6021386"/>
            <a:ext cx="1224118" cy="646331"/>
          </a:xfrm>
          <a:prstGeom prst="rect">
            <a:avLst/>
          </a:prstGeom>
          <a:noFill/>
        </p:spPr>
        <p:txBody>
          <a:bodyPr wrap="none" rtlCol="0">
            <a:spAutoFit/>
          </a:bodyPr>
          <a:lstStyle/>
          <a:p>
            <a:r>
              <a:rPr lang="en-US" dirty="0" smtClean="0"/>
              <a:t>Before </a:t>
            </a:r>
          </a:p>
          <a:p>
            <a:r>
              <a:rPr lang="en-US" dirty="0" smtClean="0"/>
              <a:t>start of call</a:t>
            </a:r>
            <a:endParaRPr lang="en-US" dirty="0"/>
          </a:p>
        </p:txBody>
      </p:sp>
      <p:sp>
        <p:nvSpPr>
          <p:cNvPr id="12" name="TextBox 11"/>
          <p:cNvSpPr txBox="1"/>
          <p:nvPr/>
        </p:nvSpPr>
        <p:spPr>
          <a:xfrm>
            <a:off x="2740484" y="5995756"/>
            <a:ext cx="1762406" cy="646331"/>
          </a:xfrm>
          <a:prstGeom prst="rect">
            <a:avLst/>
          </a:prstGeom>
          <a:noFill/>
        </p:spPr>
        <p:txBody>
          <a:bodyPr wrap="none" rtlCol="0">
            <a:spAutoFit/>
          </a:bodyPr>
          <a:lstStyle/>
          <a:p>
            <a:r>
              <a:rPr lang="en-US" dirty="0" smtClean="0"/>
              <a:t>Push parameters</a:t>
            </a:r>
          </a:p>
          <a:p>
            <a:r>
              <a:rPr lang="en-US" dirty="0" smtClean="0"/>
              <a:t>on the stack</a:t>
            </a:r>
          </a:p>
        </p:txBody>
      </p:sp>
      <p:sp>
        <p:nvSpPr>
          <p:cNvPr id="15" name="TextBox 14"/>
          <p:cNvSpPr txBox="1"/>
          <p:nvPr/>
        </p:nvSpPr>
        <p:spPr>
          <a:xfrm>
            <a:off x="5092058" y="5961513"/>
            <a:ext cx="1668021" cy="646331"/>
          </a:xfrm>
          <a:prstGeom prst="rect">
            <a:avLst/>
          </a:prstGeom>
          <a:noFill/>
        </p:spPr>
        <p:txBody>
          <a:bodyPr wrap="none" rtlCol="0">
            <a:spAutoFit/>
          </a:bodyPr>
          <a:lstStyle/>
          <a:p>
            <a:r>
              <a:rPr lang="en-US" dirty="0" smtClean="0"/>
              <a:t>Pop parameters</a:t>
            </a:r>
          </a:p>
          <a:p>
            <a:r>
              <a:rPr lang="en-US" dirty="0" smtClean="0"/>
              <a:t>from the stack</a:t>
            </a:r>
          </a:p>
        </p:txBody>
      </p:sp>
      <p:sp>
        <p:nvSpPr>
          <p:cNvPr id="16" name="TextBox 15"/>
          <p:cNvSpPr txBox="1"/>
          <p:nvPr/>
        </p:nvSpPr>
        <p:spPr>
          <a:xfrm>
            <a:off x="6829667" y="5961513"/>
            <a:ext cx="1836144" cy="646331"/>
          </a:xfrm>
          <a:prstGeom prst="rect">
            <a:avLst/>
          </a:prstGeom>
          <a:noFill/>
        </p:spPr>
        <p:txBody>
          <a:bodyPr wrap="none" rtlCol="0">
            <a:spAutoFit/>
          </a:bodyPr>
          <a:lstStyle/>
          <a:p>
            <a:r>
              <a:rPr lang="en-US" dirty="0" smtClean="0"/>
              <a:t>Push return value</a:t>
            </a:r>
          </a:p>
          <a:p>
            <a:r>
              <a:rPr lang="en-US" dirty="0" smtClean="0"/>
              <a:t>on the stack</a:t>
            </a:r>
          </a:p>
        </p:txBody>
      </p:sp>
      <p:sp>
        <p:nvSpPr>
          <p:cNvPr id="17" name="TextBox 16"/>
          <p:cNvSpPr txBox="1"/>
          <p:nvPr/>
        </p:nvSpPr>
        <p:spPr>
          <a:xfrm>
            <a:off x="8972555" y="6021386"/>
            <a:ext cx="1741759" cy="646331"/>
          </a:xfrm>
          <a:prstGeom prst="rect">
            <a:avLst/>
          </a:prstGeom>
          <a:noFill/>
        </p:spPr>
        <p:txBody>
          <a:bodyPr wrap="none" rtlCol="0">
            <a:spAutoFit/>
          </a:bodyPr>
          <a:lstStyle/>
          <a:p>
            <a:r>
              <a:rPr lang="en-US" dirty="0" smtClean="0"/>
              <a:t>Pop return value</a:t>
            </a:r>
          </a:p>
          <a:p>
            <a:r>
              <a:rPr lang="en-US" dirty="0" smtClean="0"/>
              <a:t>from the stack</a:t>
            </a:r>
          </a:p>
        </p:txBody>
      </p:sp>
    </p:spTree>
    <p:extLst>
      <p:ext uri="{BB962C8B-B14F-4D97-AF65-F5344CB8AC3E}">
        <p14:creationId xmlns:p14="http://schemas.microsoft.com/office/powerpoint/2010/main" val="13263207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is that bad?</a:t>
            </a:r>
            <a:endParaRPr lang="en-US" dirty="0"/>
          </a:p>
        </p:txBody>
      </p:sp>
      <p:sp>
        <p:nvSpPr>
          <p:cNvPr id="3" name="Content Placeholder 2"/>
          <p:cNvSpPr>
            <a:spLocks noGrp="1"/>
          </p:cNvSpPr>
          <p:nvPr>
            <p:ph idx="1"/>
          </p:nvPr>
        </p:nvSpPr>
        <p:spPr/>
        <p:txBody>
          <a:bodyPr/>
          <a:lstStyle/>
          <a:p>
            <a:pPr marL="0" indent="0">
              <a:buNone/>
            </a:pPr>
            <a:r>
              <a:rPr lang="en-US" dirty="0" smtClean="0"/>
              <a:t>Typically, as we will study later, accesses to memory are slow.</a:t>
            </a:r>
          </a:p>
          <a:p>
            <a:pPr marL="0" indent="0">
              <a:buNone/>
            </a:pPr>
            <a:r>
              <a:rPr lang="en-US" dirty="0" smtClean="0"/>
              <a:t>We are writing parameters to memory, then (nearly) immediately reading them back into registers.</a:t>
            </a:r>
          </a:p>
          <a:p>
            <a:pPr marL="0" indent="0">
              <a:buNone/>
            </a:pPr>
            <a:endParaRPr lang="en-US" dirty="0"/>
          </a:p>
          <a:p>
            <a:pPr marL="0" indent="0">
              <a:buNone/>
            </a:pPr>
            <a:r>
              <a:rPr lang="en-US" dirty="0" smtClean="0"/>
              <a:t>There is clearly a tradeoff between flexibility (stack) and speed (registers). Can we do better than all-or-nothing?</a:t>
            </a:r>
            <a:endParaRPr lang="en-US" dirty="0"/>
          </a:p>
        </p:txBody>
      </p:sp>
    </p:spTree>
    <p:extLst>
      <p:ext uri="{BB962C8B-B14F-4D97-AF65-F5344CB8AC3E}">
        <p14:creationId xmlns:p14="http://schemas.microsoft.com/office/powerpoint/2010/main" val="24999047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hybrid approach</a:t>
            </a:r>
            <a:endParaRPr lang="en-US" dirty="0"/>
          </a:p>
        </p:txBody>
      </p:sp>
      <p:sp>
        <p:nvSpPr>
          <p:cNvPr id="3" name="Content Placeholder 2"/>
          <p:cNvSpPr>
            <a:spLocks noGrp="1"/>
          </p:cNvSpPr>
          <p:nvPr>
            <p:ph idx="1"/>
          </p:nvPr>
        </p:nvSpPr>
        <p:spPr>
          <a:xfrm>
            <a:off x="838200" y="1825625"/>
            <a:ext cx="10515600" cy="4531632"/>
          </a:xfrm>
        </p:spPr>
        <p:txBody>
          <a:bodyPr>
            <a:normAutofit/>
          </a:bodyPr>
          <a:lstStyle/>
          <a:p>
            <a:pPr marL="0" indent="0">
              <a:buNone/>
            </a:pPr>
            <a:r>
              <a:rPr lang="en-US" dirty="0" smtClean="0"/>
              <a:t>What if we define the rules this way:</a:t>
            </a:r>
          </a:p>
          <a:p>
            <a:pPr marL="0" indent="0">
              <a:buNone/>
            </a:pPr>
            <a:r>
              <a:rPr lang="en-US" dirty="0" smtClean="0"/>
              <a:t>When calling a function, R0 and R1 hold the first two parameters.</a:t>
            </a:r>
          </a:p>
          <a:p>
            <a:pPr marL="0" indent="0">
              <a:buNone/>
            </a:pPr>
            <a:r>
              <a:rPr lang="en-US" dirty="0" smtClean="0"/>
              <a:t>All other parameters go on the stack and will be cleaned up.</a:t>
            </a:r>
          </a:p>
          <a:p>
            <a:pPr marL="0" indent="0">
              <a:buNone/>
            </a:pPr>
            <a:r>
              <a:rPr lang="en-US" dirty="0" smtClean="0"/>
              <a:t>Called functions can only use R0 or R1 (or save/restore other registers)</a:t>
            </a:r>
          </a:p>
          <a:p>
            <a:pPr marL="0" indent="0">
              <a:buNone/>
            </a:pPr>
            <a:r>
              <a:rPr lang="en-US" dirty="0" smtClean="0"/>
              <a:t>R0 will contain the return value.</a:t>
            </a:r>
          </a:p>
          <a:p>
            <a:pPr marL="0" indent="0">
              <a:buNone/>
            </a:pPr>
            <a:endParaRPr lang="en-US" dirty="0"/>
          </a:p>
          <a:p>
            <a:pPr marL="0" indent="0">
              <a:buNone/>
            </a:pPr>
            <a:r>
              <a:rPr lang="en-US" dirty="0" smtClean="0"/>
              <a:t>This means that callers need only preserve/avoid 2 registers.</a:t>
            </a:r>
          </a:p>
          <a:p>
            <a:pPr marL="0" indent="0">
              <a:buNone/>
            </a:pPr>
            <a:r>
              <a:rPr lang="en-US" dirty="0" smtClean="0"/>
              <a:t>Is two the right number? Would 3 be better? Only experimentation will tell.</a:t>
            </a:r>
            <a:endParaRPr lang="en-US" dirty="0"/>
          </a:p>
        </p:txBody>
      </p:sp>
    </p:spTree>
    <p:extLst>
      <p:ext uri="{BB962C8B-B14F-4D97-AF65-F5344CB8AC3E}">
        <p14:creationId xmlns:p14="http://schemas.microsoft.com/office/powerpoint/2010/main" val="25910659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 to variables</a:t>
            </a:r>
            <a:endParaRPr lang="en-US" dirty="0"/>
          </a:p>
        </p:txBody>
      </p:sp>
      <p:sp>
        <p:nvSpPr>
          <p:cNvPr id="3" name="Content Placeholder 2"/>
          <p:cNvSpPr>
            <a:spLocks noGrp="1"/>
          </p:cNvSpPr>
          <p:nvPr>
            <p:ph idx="1"/>
          </p:nvPr>
        </p:nvSpPr>
        <p:spPr/>
        <p:txBody>
          <a:bodyPr/>
          <a:lstStyle/>
          <a:p>
            <a:pPr marL="0" indent="0">
              <a:buNone/>
            </a:pPr>
            <a:r>
              <a:rPr lang="en-US" dirty="0" smtClean="0"/>
              <a:t>We can store integers, maybe floats and pointers in registers.</a:t>
            </a:r>
          </a:p>
          <a:p>
            <a:pPr marL="0" indent="0">
              <a:buNone/>
            </a:pPr>
            <a:r>
              <a:rPr lang="en-US" dirty="0" smtClean="0"/>
              <a:t>What do we do for strings? Arrays? Linked lists?</a:t>
            </a:r>
          </a:p>
          <a:p>
            <a:pPr marL="0" indent="0">
              <a:buNone/>
            </a:pPr>
            <a:endParaRPr lang="en-US" dirty="0"/>
          </a:p>
          <a:p>
            <a:pPr marL="0" indent="0">
              <a:buNone/>
            </a:pPr>
            <a:r>
              <a:rPr lang="en-US" dirty="0" smtClean="0"/>
              <a:t>We store a pointer to an address in a register and use that as a base for referencing memory.</a:t>
            </a:r>
          </a:p>
          <a:p>
            <a:pPr marL="0" indent="0">
              <a:buNone/>
            </a:pPr>
            <a:endParaRPr lang="en-US" dirty="0"/>
          </a:p>
          <a:p>
            <a:pPr marL="0" indent="0">
              <a:buNone/>
            </a:pPr>
            <a:r>
              <a:rPr lang="en-US" dirty="0" smtClean="0"/>
              <a:t>Where do we get the pointer? That depends…</a:t>
            </a:r>
            <a:endParaRPr lang="en-US" dirty="0"/>
          </a:p>
        </p:txBody>
      </p:sp>
    </p:spTree>
    <p:extLst>
      <p:ext uri="{BB962C8B-B14F-4D97-AF65-F5344CB8AC3E}">
        <p14:creationId xmlns:p14="http://schemas.microsoft.com/office/powerpoint/2010/main" val="37762244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Memory Maps</a:t>
            </a:r>
            <a:endParaRPr lang="en-US" dirty="0"/>
          </a:p>
        </p:txBody>
      </p:sp>
      <p:sp>
        <p:nvSpPr>
          <p:cNvPr id="3" name="Content Placeholder 2"/>
          <p:cNvSpPr>
            <a:spLocks noGrp="1"/>
          </p:cNvSpPr>
          <p:nvPr>
            <p:ph idx="1"/>
          </p:nvPr>
        </p:nvSpPr>
        <p:spPr>
          <a:xfrm>
            <a:off x="838200" y="1409700"/>
            <a:ext cx="10515600" cy="5170713"/>
          </a:xfrm>
        </p:spPr>
        <p:txBody>
          <a:bodyPr>
            <a:normAutofit/>
          </a:bodyPr>
          <a:lstStyle/>
          <a:p>
            <a:pPr marL="0" indent="0">
              <a:buNone/>
            </a:pPr>
            <a:r>
              <a:rPr lang="en-US" dirty="0" smtClean="0"/>
              <a:t>If there is no operating system running, you control the whole machine.</a:t>
            </a:r>
          </a:p>
          <a:p>
            <a:pPr marL="0" indent="0">
              <a:buNone/>
            </a:pPr>
            <a:r>
              <a:rPr lang="en-US" dirty="0" smtClean="0"/>
              <a:t>The hardware manufacturer should provide you with a memory map – a set of ranges that are available or not. For example:</a:t>
            </a:r>
          </a:p>
          <a:p>
            <a:pPr marL="0" indent="0">
              <a:buNone/>
            </a:pPr>
            <a:r>
              <a:rPr lang="en-US" dirty="0"/>
              <a:t>ADDRESS RANGE </a:t>
            </a:r>
            <a:r>
              <a:rPr lang="en-US" dirty="0" smtClean="0"/>
              <a:t>	NOTES</a:t>
            </a:r>
          </a:p>
          <a:p>
            <a:pPr marL="0" indent="0">
              <a:buNone/>
            </a:pPr>
            <a:r>
              <a:rPr lang="en-US" dirty="0" smtClean="0"/>
              <a:t>000000-03FFFF 	256K </a:t>
            </a:r>
            <a:r>
              <a:rPr lang="en-US" dirty="0"/>
              <a:t>Bytes of chip </a:t>
            </a:r>
            <a:r>
              <a:rPr lang="en-US" dirty="0" smtClean="0"/>
              <a:t>RAM</a:t>
            </a:r>
          </a:p>
          <a:p>
            <a:pPr marL="0" indent="0">
              <a:buNone/>
            </a:pPr>
            <a:r>
              <a:rPr lang="en-US" dirty="0" smtClean="0"/>
              <a:t>040000-07FFFF 	256K </a:t>
            </a:r>
            <a:r>
              <a:rPr lang="en-US" dirty="0"/>
              <a:t>bytes of chip RAM (option card</a:t>
            </a:r>
            <a:r>
              <a:rPr lang="en-US" dirty="0" smtClean="0"/>
              <a:t>)</a:t>
            </a:r>
          </a:p>
          <a:p>
            <a:pPr marL="0" indent="0">
              <a:buNone/>
            </a:pPr>
            <a:r>
              <a:rPr lang="en-US" dirty="0" smtClean="0"/>
              <a:t>080000-0FFFFF 	512K </a:t>
            </a:r>
            <a:r>
              <a:rPr lang="en-US" dirty="0"/>
              <a:t>Extended chip RAM (to 1 MB</a:t>
            </a:r>
            <a:r>
              <a:rPr lang="en-US" dirty="0" smtClean="0"/>
              <a:t>).</a:t>
            </a:r>
          </a:p>
          <a:p>
            <a:pPr marL="0" indent="0">
              <a:buNone/>
            </a:pPr>
            <a:r>
              <a:rPr lang="en-US" dirty="0" smtClean="0"/>
              <a:t>100000-1FFFFF 	Reserved</a:t>
            </a:r>
            <a:r>
              <a:rPr lang="en-US" dirty="0"/>
              <a:t>. Do not use</a:t>
            </a:r>
            <a:r>
              <a:rPr lang="en-US" dirty="0" smtClean="0"/>
              <a:t>.</a:t>
            </a:r>
          </a:p>
          <a:p>
            <a:pPr marL="0" indent="0">
              <a:buNone/>
            </a:pPr>
            <a:r>
              <a:rPr lang="en-US" dirty="0" smtClean="0"/>
              <a:t>If this is the case, you can chose ANY address you want within the ranges specified.</a:t>
            </a:r>
            <a:endParaRPr lang="en-US" dirty="0"/>
          </a:p>
          <a:p>
            <a:pPr marL="0" indent="0">
              <a:buNone/>
            </a:pPr>
            <a:endParaRPr lang="en-US" dirty="0"/>
          </a:p>
        </p:txBody>
      </p:sp>
    </p:spTree>
    <p:extLst>
      <p:ext uri="{BB962C8B-B14F-4D97-AF65-F5344CB8AC3E}">
        <p14:creationId xmlns:p14="http://schemas.microsoft.com/office/powerpoint/2010/main" val="7951603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Assembly with an operating system</a:t>
            </a:r>
            <a:endParaRPr lang="en-US" dirty="0"/>
          </a:p>
        </p:txBody>
      </p:sp>
      <p:sp>
        <p:nvSpPr>
          <p:cNvPr id="3" name="Content Placeholder 2"/>
          <p:cNvSpPr>
            <a:spLocks noGrp="1"/>
          </p:cNvSpPr>
          <p:nvPr>
            <p:ph idx="1"/>
          </p:nvPr>
        </p:nvSpPr>
        <p:spPr/>
        <p:txBody>
          <a:bodyPr/>
          <a:lstStyle/>
          <a:p>
            <a:pPr marL="0" indent="0">
              <a:buNone/>
            </a:pPr>
            <a:r>
              <a:rPr lang="en-US" dirty="0" smtClean="0"/>
              <a:t>If there is an operating system running, you follow the same rules as you would in, say, C. </a:t>
            </a:r>
          </a:p>
          <a:p>
            <a:pPr marL="0" indent="0">
              <a:buNone/>
            </a:pPr>
            <a:r>
              <a:rPr lang="en-US" dirty="0" smtClean="0"/>
              <a:t>On UNIX or OSX, you might call </a:t>
            </a:r>
            <a:r>
              <a:rPr lang="en-US" dirty="0" err="1" smtClean="0"/>
              <a:t>mmap</a:t>
            </a:r>
            <a:r>
              <a:rPr lang="en-US" dirty="0"/>
              <a:t> </a:t>
            </a:r>
            <a:r>
              <a:rPr lang="en-US" dirty="0" smtClean="0"/>
              <a:t>or </a:t>
            </a:r>
            <a:r>
              <a:rPr lang="en-US" dirty="0" err="1" smtClean="0"/>
              <a:t>brk</a:t>
            </a:r>
            <a:r>
              <a:rPr lang="en-US" dirty="0" smtClean="0"/>
              <a:t>. </a:t>
            </a:r>
          </a:p>
          <a:p>
            <a:pPr marL="0" indent="0">
              <a:buNone/>
            </a:pPr>
            <a:r>
              <a:rPr lang="en-US" dirty="0" smtClean="0"/>
              <a:t>On Windows, you might call </a:t>
            </a:r>
            <a:r>
              <a:rPr lang="en-US" dirty="0" err="1" smtClean="0"/>
              <a:t>VirtualAlloc</a:t>
            </a:r>
            <a:r>
              <a:rPr lang="en-US" dirty="0" smtClean="0"/>
              <a:t>. </a:t>
            </a:r>
          </a:p>
          <a:p>
            <a:pPr marL="0" indent="0">
              <a:buNone/>
            </a:pPr>
            <a:endParaRPr lang="en-US" dirty="0"/>
          </a:p>
          <a:p>
            <a:pPr marL="0" indent="0">
              <a:buNone/>
            </a:pPr>
            <a:r>
              <a:rPr lang="en-US" dirty="0" smtClean="0"/>
              <a:t>These functions typically return a pointer. You can then split the memory up any way that you choose. This is a theme in assembly – sometimes the freedom is overwhelming.</a:t>
            </a:r>
            <a:endParaRPr lang="en-US" dirty="0"/>
          </a:p>
        </p:txBody>
      </p:sp>
    </p:spTree>
    <p:extLst>
      <p:ext uri="{BB962C8B-B14F-4D97-AF65-F5344CB8AC3E}">
        <p14:creationId xmlns:p14="http://schemas.microsoft.com/office/powerpoint/2010/main" val="12012477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Converting assembly to machine language</a:t>
            </a:r>
            <a:endParaRPr lang="en-US" dirty="0"/>
          </a:p>
        </p:txBody>
      </p:sp>
      <p:sp>
        <p:nvSpPr>
          <p:cNvPr id="3" name="Content Placeholder 2"/>
          <p:cNvSpPr>
            <a:spLocks noGrp="1"/>
          </p:cNvSpPr>
          <p:nvPr>
            <p:ph idx="1"/>
          </p:nvPr>
        </p:nvSpPr>
        <p:spPr/>
        <p:txBody>
          <a:bodyPr/>
          <a:lstStyle/>
          <a:p>
            <a:pPr marL="0" indent="0">
              <a:buNone/>
            </a:pPr>
            <a:r>
              <a:rPr lang="en-US" dirty="0" smtClean="0"/>
              <a:t>Every assembly/machine language has a simple algorithm for conversion; assemblers aren’t typically complex software. </a:t>
            </a:r>
          </a:p>
          <a:p>
            <a:pPr marL="0" indent="0">
              <a:buNone/>
            </a:pPr>
            <a:endParaRPr lang="en-US" dirty="0"/>
          </a:p>
          <a:p>
            <a:pPr marL="0" indent="0">
              <a:buNone/>
            </a:pPr>
            <a:r>
              <a:rPr lang="en-US" dirty="0" smtClean="0"/>
              <a:t>Typically, a number of instructions will all use a similar format. In the next few slides, we will look at some examples of MIPS assembly conversion.</a:t>
            </a:r>
            <a:endParaRPr lang="en-US" dirty="0"/>
          </a:p>
        </p:txBody>
      </p:sp>
    </p:spTree>
    <p:extLst>
      <p:ext uri="{BB962C8B-B14F-4D97-AF65-F5344CB8AC3E}">
        <p14:creationId xmlns:p14="http://schemas.microsoft.com/office/powerpoint/2010/main" val="22230341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987" y="500257"/>
            <a:ext cx="9945237" cy="2614402"/>
          </a:xfrm>
          <a:prstGeom prst="rect">
            <a:avLst/>
          </a:prstGeom>
        </p:spPr>
      </p:pic>
      <p:pic>
        <p:nvPicPr>
          <p:cNvPr id="5" name="Picture 4"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64292" y="3833116"/>
            <a:ext cx="4758246" cy="1315827"/>
          </a:xfrm>
          <a:prstGeom prst="rect">
            <a:avLst/>
          </a:prstGeom>
        </p:spPr>
      </p:pic>
      <p:sp>
        <p:nvSpPr>
          <p:cNvPr id="2" name="Line Callout 3 1"/>
          <p:cNvSpPr/>
          <p:nvPr/>
        </p:nvSpPr>
        <p:spPr>
          <a:xfrm>
            <a:off x="3621974" y="4322618"/>
            <a:ext cx="2125683" cy="1407226"/>
          </a:xfrm>
          <a:prstGeom prst="borderCallout3">
            <a:avLst>
              <a:gd name="adj1" fmla="val -4879"/>
              <a:gd name="adj2" fmla="val 65689"/>
              <a:gd name="adj3" fmla="val -34836"/>
              <a:gd name="adj4" fmla="val 140316"/>
              <a:gd name="adj5" fmla="val -54852"/>
              <a:gd name="adj6" fmla="val 183333"/>
              <a:gd name="adj7" fmla="val -98007"/>
              <a:gd name="adj8" fmla="val 27351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Instruction Format</a:t>
            </a:r>
            <a:br>
              <a:rPr lang="en-US" dirty="0" smtClean="0"/>
            </a:br>
            <a:r>
              <a:rPr lang="en-US" dirty="0" smtClean="0"/>
              <a:t>Opcode</a:t>
            </a:r>
            <a:br>
              <a:rPr lang="en-US" dirty="0" smtClean="0"/>
            </a:br>
            <a:r>
              <a:rPr lang="en-US" dirty="0" smtClean="0"/>
              <a:t>Function (as applies)</a:t>
            </a:r>
            <a:endParaRPr lang="en-US" dirty="0"/>
          </a:p>
        </p:txBody>
      </p:sp>
    </p:spTree>
    <p:extLst>
      <p:ext uri="{BB962C8B-B14F-4D97-AF65-F5344CB8AC3E}">
        <p14:creationId xmlns:p14="http://schemas.microsoft.com/office/powerpoint/2010/main" val="18312839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978" y="306563"/>
            <a:ext cx="10263926" cy="4259994"/>
          </a:xfrm>
          <a:prstGeom prst="rect">
            <a:avLst/>
          </a:prstGeom>
        </p:spPr>
      </p:pic>
      <p:pic>
        <p:nvPicPr>
          <p:cNvPr id="5" name="Picture 4"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28195" y="4641371"/>
            <a:ext cx="4923576" cy="2086723"/>
          </a:xfrm>
          <a:prstGeom prst="rect">
            <a:avLst/>
          </a:prstGeom>
        </p:spPr>
      </p:pic>
    </p:spTree>
    <p:extLst>
      <p:ext uri="{BB962C8B-B14F-4D97-AF65-F5344CB8AC3E}">
        <p14:creationId xmlns:p14="http://schemas.microsoft.com/office/powerpoint/2010/main" val="11995910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Addressing Modes</a:t>
            </a:r>
            <a:endParaRPr lang="en-US" dirty="0"/>
          </a:p>
        </p:txBody>
      </p:sp>
      <p:sp>
        <p:nvSpPr>
          <p:cNvPr id="3" name="Content Placeholder 2"/>
          <p:cNvSpPr>
            <a:spLocks noGrp="1"/>
          </p:cNvSpPr>
          <p:nvPr>
            <p:ph idx="1"/>
          </p:nvPr>
        </p:nvSpPr>
        <p:spPr/>
        <p:txBody>
          <a:bodyPr/>
          <a:lstStyle/>
          <a:p>
            <a:pPr marL="0" indent="0">
              <a:buNone/>
            </a:pPr>
            <a:r>
              <a:rPr lang="en-US" dirty="0" smtClean="0"/>
              <a:t>In RISC processors (reduced instruction set computers), memory is only accessed through a single set of simple instructions (like “load” and “store”). </a:t>
            </a:r>
          </a:p>
          <a:p>
            <a:pPr marL="0" indent="0">
              <a:buNone/>
            </a:pPr>
            <a:endParaRPr lang="en-US" dirty="0"/>
          </a:p>
          <a:p>
            <a:pPr marL="0" indent="0">
              <a:buNone/>
            </a:pPr>
            <a:r>
              <a:rPr lang="en-US" dirty="0" smtClean="0"/>
              <a:t>In CISC processors (complex instruction set computers), memory can be accessed from (often) any instruction. This makes writing programs in assembly easier, but making the processor a little harder. </a:t>
            </a:r>
            <a:endParaRPr lang="en-US" dirty="0"/>
          </a:p>
        </p:txBody>
      </p:sp>
    </p:spTree>
    <p:extLst>
      <p:ext uri="{BB962C8B-B14F-4D97-AF65-F5344CB8AC3E}">
        <p14:creationId xmlns:p14="http://schemas.microsoft.com/office/powerpoint/2010/main" val="11361027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Some x86 addressing modes (an example)</a:t>
            </a:r>
            <a:endParaRPr lang="en-US" dirty="0"/>
          </a:p>
        </p:txBody>
      </p:sp>
      <p:sp>
        <p:nvSpPr>
          <p:cNvPr id="3" name="Content Placeholder 2"/>
          <p:cNvSpPr>
            <a:spLocks noGrp="1"/>
          </p:cNvSpPr>
          <p:nvPr>
            <p:ph idx="1"/>
          </p:nvPr>
        </p:nvSpPr>
        <p:spPr/>
        <p:txBody>
          <a:bodyPr/>
          <a:lstStyle/>
          <a:p>
            <a:pPr marL="0" indent="0">
              <a:buNone/>
            </a:pPr>
            <a:r>
              <a:rPr lang="en-US" dirty="0" err="1" smtClean="0"/>
              <a:t>movl</a:t>
            </a:r>
            <a:r>
              <a:rPr lang="en-US" dirty="0" smtClean="0"/>
              <a:t> 1, 0x123456  (moves 1 to the long word starting at hex 123456)</a:t>
            </a:r>
          </a:p>
          <a:p>
            <a:pPr marL="0" indent="0">
              <a:buNone/>
            </a:pPr>
            <a:r>
              <a:rPr lang="en-US" dirty="0" err="1" smtClean="0"/>
              <a:t>movl</a:t>
            </a:r>
            <a:r>
              <a:rPr lang="en-US" dirty="0" smtClean="0"/>
              <a:t> 1,(%</a:t>
            </a:r>
            <a:r>
              <a:rPr lang="en-US" dirty="0" err="1" smtClean="0"/>
              <a:t>rbx</a:t>
            </a:r>
            <a:r>
              <a:rPr lang="en-US" dirty="0" smtClean="0"/>
              <a:t>)         (moves 1 to the address stored in register </a:t>
            </a:r>
            <a:r>
              <a:rPr lang="en-US" dirty="0" err="1" smtClean="0"/>
              <a:t>rbx</a:t>
            </a:r>
            <a:r>
              <a:rPr lang="en-US" dirty="0" smtClean="0"/>
              <a:t>)</a:t>
            </a:r>
          </a:p>
          <a:p>
            <a:pPr marL="0" indent="0">
              <a:buNone/>
            </a:pPr>
            <a:r>
              <a:rPr lang="en-US" dirty="0" err="1" smtClean="0"/>
              <a:t>movl</a:t>
            </a:r>
            <a:r>
              <a:rPr lang="en-US" dirty="0" smtClean="0"/>
              <a:t> 1,-12(%</a:t>
            </a:r>
            <a:r>
              <a:rPr lang="en-US" dirty="0" err="1" smtClean="0"/>
              <a:t>rbx</a:t>
            </a:r>
            <a:r>
              <a:rPr lang="en-US" dirty="0" smtClean="0"/>
              <a:t>)   (moves 1 to the address in </a:t>
            </a:r>
            <a:r>
              <a:rPr lang="en-US" dirty="0" err="1" smtClean="0"/>
              <a:t>rbx</a:t>
            </a:r>
            <a:r>
              <a:rPr lang="en-US" dirty="0" smtClean="0"/>
              <a:t> minus 12)</a:t>
            </a:r>
          </a:p>
          <a:p>
            <a:pPr marL="0" indent="0">
              <a:buNone/>
            </a:pPr>
            <a:endParaRPr lang="en-US" dirty="0"/>
          </a:p>
          <a:p>
            <a:pPr marL="0" indent="0">
              <a:buNone/>
            </a:pPr>
            <a:endParaRPr lang="en-US" dirty="0" smtClean="0"/>
          </a:p>
          <a:p>
            <a:pPr marL="0" indent="0">
              <a:buNone/>
            </a:pPr>
            <a:endParaRPr lang="en-US" dirty="0"/>
          </a:p>
        </p:txBody>
      </p:sp>
    </p:spTree>
    <p:extLst>
      <p:ext uri="{BB962C8B-B14F-4D97-AF65-F5344CB8AC3E}">
        <p14:creationId xmlns:p14="http://schemas.microsoft.com/office/powerpoint/2010/main" val="42921432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Pros and Cons to this approach</a:t>
            </a:r>
            <a:endParaRPr lang="en-US" dirty="0"/>
          </a:p>
        </p:txBody>
      </p:sp>
      <p:sp>
        <p:nvSpPr>
          <p:cNvPr id="3" name="Content Placeholder 2"/>
          <p:cNvSpPr>
            <a:spLocks noGrp="1"/>
          </p:cNvSpPr>
          <p:nvPr>
            <p:ph idx="1"/>
          </p:nvPr>
        </p:nvSpPr>
        <p:spPr/>
        <p:txBody>
          <a:bodyPr/>
          <a:lstStyle/>
          <a:p>
            <a:pPr marL="0" indent="0">
              <a:buNone/>
            </a:pPr>
            <a:r>
              <a:rPr lang="en-US" dirty="0" smtClean="0"/>
              <a:t>With a RISC load/store approach, you have to load the value from memory into a register, then modify the value, then store it back to memory. Three instructions.</a:t>
            </a:r>
          </a:p>
          <a:p>
            <a:pPr marL="0" indent="0">
              <a:buNone/>
            </a:pPr>
            <a:endParaRPr lang="en-US" dirty="0"/>
          </a:p>
          <a:p>
            <a:pPr marL="0" indent="0">
              <a:buNone/>
            </a:pPr>
            <a:r>
              <a:rPr lang="en-US" dirty="0" smtClean="0"/>
              <a:t>With a CISC approach, one instruction can alter a value in memory.</a:t>
            </a:r>
          </a:p>
          <a:p>
            <a:pPr marL="0" indent="0">
              <a:buNone/>
            </a:pPr>
            <a:endParaRPr lang="en-US" dirty="0"/>
          </a:p>
          <a:p>
            <a:pPr marL="0" indent="0">
              <a:buNone/>
            </a:pPr>
            <a:r>
              <a:rPr lang="en-US" dirty="0" smtClean="0"/>
              <a:t>The work done by the CPU to modify the value is almost the same. </a:t>
            </a:r>
          </a:p>
          <a:p>
            <a:pPr marL="0" indent="0">
              <a:buNone/>
            </a:pPr>
            <a:r>
              <a:rPr lang="en-US" dirty="0" smtClean="0"/>
              <a:t>“Get me a soda” compared to “Go to the fridge. Get a soda. Bring it to me.”</a:t>
            </a:r>
            <a:endParaRPr lang="en-US" dirty="0"/>
          </a:p>
        </p:txBody>
      </p:sp>
    </p:spTree>
    <p:extLst>
      <p:ext uri="{BB962C8B-B14F-4D97-AF65-F5344CB8AC3E}">
        <p14:creationId xmlns:p14="http://schemas.microsoft.com/office/powerpoint/2010/main" val="21863695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1516</TotalTime>
  <Words>1921</Words>
  <Application>Microsoft Office PowerPoint</Application>
  <PresentationFormat>Widescreen</PresentationFormat>
  <Paragraphs>226</Paragraphs>
  <Slides>31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Calibri Light</vt:lpstr>
      <vt:lpstr>Wingdings</vt:lpstr>
      <vt:lpstr>Office Theme</vt:lpstr>
      <vt:lpstr>Introduction to Assembly</vt:lpstr>
      <vt:lpstr>Languages</vt:lpstr>
      <vt:lpstr>PowerPoint Presentation</vt:lpstr>
      <vt:lpstr>Refresher</vt:lpstr>
      <vt:lpstr>Machine Language and Assembly are  Almost the Same!</vt:lpstr>
      <vt:lpstr>How does this relate to this class?</vt:lpstr>
      <vt:lpstr>PowerPoint Presentation</vt:lpstr>
      <vt:lpstr>PowerPoint Presentation</vt:lpstr>
      <vt:lpstr>Key Concepts</vt:lpstr>
      <vt:lpstr>Variables</vt:lpstr>
      <vt:lpstr>Registers</vt:lpstr>
      <vt:lpstr>Instruction format</vt:lpstr>
      <vt:lpstr>Addressing</vt:lpstr>
      <vt:lpstr>Labels</vt:lpstr>
      <vt:lpstr>A little practice</vt:lpstr>
      <vt:lpstr>A little practice</vt:lpstr>
      <vt:lpstr>Calling functions</vt:lpstr>
      <vt:lpstr>Function Parameters and Return Values</vt:lpstr>
      <vt:lpstr>Why is that “bad”?</vt:lpstr>
      <vt:lpstr>A different approach</vt:lpstr>
      <vt:lpstr>Why is that bad?</vt:lpstr>
      <vt:lpstr>A hybrid approach</vt:lpstr>
      <vt:lpstr>Back to variables</vt:lpstr>
      <vt:lpstr>Memory Maps</vt:lpstr>
      <vt:lpstr>Assembly with an operating system</vt:lpstr>
      <vt:lpstr>Converting assembly to machine language</vt:lpstr>
      <vt:lpstr>PowerPoint Presentation</vt:lpstr>
      <vt:lpstr>PowerPoint Presentation</vt:lpstr>
      <vt:lpstr>Addressing Modes</vt:lpstr>
      <vt:lpstr>Some x86 addressing modes (an example)</vt:lpstr>
      <vt:lpstr>Pros and Cons to this approach</vt:lpstr>
    </vt:vector>
  </TitlesOfParts>
  <Company>University at Albany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Phipps, Michael</dc:creator>
  <cp:lastModifiedBy>Phipps, Michael</cp:lastModifiedBy>
  <cp:revision>20</cp:revision>
  <dcterms:created xsi:type="dcterms:W3CDTF">2019-07-22T19:23:56Z</dcterms:created>
  <dcterms:modified xsi:type="dcterms:W3CDTF">2020-08-26T20:42:14Z</dcterms:modified>
</cp:coreProperties>
</file>