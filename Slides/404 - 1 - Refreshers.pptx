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7" r:id="rId3"/>
    <p:sldId id="298" r:id="rId4"/>
    <p:sldId id="299" r:id="rId5"/>
    <p:sldId id="300" r:id="rId6"/>
    <p:sldId id="301" r:id="rId7"/>
    <p:sldId id="302" r:id="rId8"/>
    <p:sldId id="303" r:id="rId9"/>
    <p:sldId id="257" r:id="rId10"/>
    <p:sldId id="258" r:id="rId11"/>
    <p:sldId id="259" r:id="rId12"/>
    <p:sldId id="286" r:id="rId13"/>
    <p:sldId id="307" r:id="rId14"/>
    <p:sldId id="306" r:id="rId15"/>
    <p:sldId id="308" r:id="rId16"/>
    <p:sldId id="269" r:id="rId17"/>
    <p:sldId id="270" r:id="rId18"/>
    <p:sldId id="287" r:id="rId19"/>
    <p:sldId id="310" r:id="rId20"/>
    <p:sldId id="311" r:id="rId21"/>
    <p:sldId id="309" r:id="rId22"/>
    <p:sldId id="312" r:id="rId23"/>
    <p:sldId id="313" r:id="rId24"/>
    <p:sldId id="315" r:id="rId25"/>
    <p:sldId id="314" r:id="rId26"/>
    <p:sldId id="316" r:id="rId27"/>
    <p:sldId id="317" r:id="rId28"/>
    <p:sldId id="318" r:id="rId29"/>
    <p:sldId id="319" r:id="rId30"/>
    <p:sldId id="320" r:id="rId31"/>
    <p:sldId id="321" r:id="rId32"/>
    <p:sldId id="260" r:id="rId33"/>
    <p:sldId id="261" r:id="rId34"/>
    <p:sldId id="262" r:id="rId35"/>
    <p:sldId id="263" r:id="rId36"/>
    <p:sldId id="264" r:id="rId37"/>
    <p:sldId id="265" r:id="rId38"/>
    <p:sldId id="305" r:id="rId39"/>
    <p:sldId id="266" r:id="rId40"/>
    <p:sldId id="304" r:id="rId41"/>
    <p:sldId id="267" r:id="rId42"/>
    <p:sldId id="268" r:id="rId43"/>
    <p:sldId id="271" r:id="rId44"/>
    <p:sldId id="272" r:id="rId45"/>
    <p:sldId id="274" r:id="rId46"/>
    <p:sldId id="275" r:id="rId47"/>
    <p:sldId id="273" r:id="rId48"/>
    <p:sldId id="276" r:id="rId49"/>
    <p:sldId id="277" r:id="rId50"/>
    <p:sldId id="278" r:id="rId51"/>
    <p:sldId id="279" r:id="rId52"/>
    <p:sldId id="280" r:id="rId53"/>
    <p:sldId id="281" r:id="rId54"/>
    <p:sldId id="282" r:id="rId55"/>
    <p:sldId id="283" r:id="rId56"/>
    <p:sldId id="284" r:id="rId57"/>
    <p:sldId id="285" r:id="rId58"/>
    <p:sldId id="288" r:id="rId59"/>
    <p:sldId id="289" r:id="rId60"/>
    <p:sldId id="290" r:id="rId61"/>
    <p:sldId id="291" r:id="rId62"/>
    <p:sldId id="292" r:id="rId63"/>
    <p:sldId id="293" r:id="rId64"/>
    <p:sldId id="294" r:id="rId65"/>
    <p:sldId id="295" r:id="rId66"/>
    <p:sldId id="296"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varScale="1">
        <p:scale>
          <a:sx n="67" d="100"/>
          <a:sy n="67" d="100"/>
        </p:scale>
        <p:origin x="68" y="3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8AB01D-EE8B-42DA-929F-B4B10EA46652}" type="doc">
      <dgm:prSet loTypeId="urn:microsoft.com/office/officeart/2005/8/layout/pyramid1" loCatId="pyramid" qsTypeId="urn:microsoft.com/office/officeart/2005/8/quickstyle/simple1" qsCatId="simple" csTypeId="urn:microsoft.com/office/officeart/2005/8/colors/accent1_2" csCatId="accent1" phldr="1"/>
      <dgm:spPr/>
    </dgm:pt>
    <dgm:pt modelId="{4F7E654B-2D5E-4216-A847-A5466F48E535}">
      <dgm:prSet phldrT="[Text]"/>
      <dgm:spPr>
        <a:solidFill>
          <a:schemeClr val="accent6">
            <a:lumMod val="60000"/>
            <a:lumOff val="40000"/>
          </a:schemeClr>
        </a:solidFill>
      </dgm:spPr>
      <dgm:t>
        <a:bodyPr/>
        <a:lstStyle/>
        <a:p>
          <a:r>
            <a:rPr lang="en-US" dirty="0"/>
            <a:t>Users</a:t>
          </a:r>
        </a:p>
      </dgm:t>
    </dgm:pt>
    <dgm:pt modelId="{4CBD79F5-A4EB-48A4-9B56-027A947E68D3}" type="parTrans" cxnId="{339FE23E-0165-4FD9-8646-D9B49DC604EC}">
      <dgm:prSet/>
      <dgm:spPr/>
      <dgm:t>
        <a:bodyPr/>
        <a:lstStyle/>
        <a:p>
          <a:endParaRPr lang="en-US"/>
        </a:p>
      </dgm:t>
    </dgm:pt>
    <dgm:pt modelId="{9FCCC268-5871-4C61-87AA-CA2AFA61E5CF}" type="sibTrans" cxnId="{339FE23E-0165-4FD9-8646-D9B49DC604EC}">
      <dgm:prSet/>
      <dgm:spPr/>
      <dgm:t>
        <a:bodyPr/>
        <a:lstStyle/>
        <a:p>
          <a:endParaRPr lang="en-US"/>
        </a:p>
      </dgm:t>
    </dgm:pt>
    <dgm:pt modelId="{9521AEA5-B9BC-458F-911E-483E64027C24}">
      <dgm:prSet phldrT="[Text]"/>
      <dgm:spPr>
        <a:solidFill>
          <a:schemeClr val="accent6">
            <a:lumMod val="60000"/>
            <a:lumOff val="40000"/>
          </a:schemeClr>
        </a:solidFill>
      </dgm:spPr>
      <dgm:t>
        <a:bodyPr/>
        <a:lstStyle/>
        <a:p>
          <a:r>
            <a:rPr lang="en-US" dirty="0"/>
            <a:t>Operating System</a:t>
          </a:r>
        </a:p>
      </dgm:t>
    </dgm:pt>
    <dgm:pt modelId="{D10F260E-4814-4F28-A52B-4A59285DC768}" type="parTrans" cxnId="{4B3260B4-9DEB-4593-8448-876B32A9F6FB}">
      <dgm:prSet/>
      <dgm:spPr/>
      <dgm:t>
        <a:bodyPr/>
        <a:lstStyle/>
        <a:p>
          <a:endParaRPr lang="en-US"/>
        </a:p>
      </dgm:t>
    </dgm:pt>
    <dgm:pt modelId="{734CD029-29A1-4992-A0B1-9C2EF4CAE5F1}" type="sibTrans" cxnId="{4B3260B4-9DEB-4593-8448-876B32A9F6FB}">
      <dgm:prSet/>
      <dgm:spPr/>
      <dgm:t>
        <a:bodyPr/>
        <a:lstStyle/>
        <a:p>
          <a:endParaRPr lang="en-US"/>
        </a:p>
      </dgm:t>
    </dgm:pt>
    <dgm:pt modelId="{853F7586-093E-4F06-9407-5822186B2C2E}">
      <dgm:prSet phldrT="[Text]"/>
      <dgm:spPr>
        <a:solidFill>
          <a:srgbClr val="FFFF00"/>
        </a:solidFill>
      </dgm:spPr>
      <dgm:t>
        <a:bodyPr/>
        <a:lstStyle/>
        <a:p>
          <a:r>
            <a:rPr lang="en-US" dirty="0"/>
            <a:t>Computer Organization</a:t>
          </a:r>
        </a:p>
      </dgm:t>
    </dgm:pt>
    <dgm:pt modelId="{A6421D69-C0E1-4F98-B657-DA02F9B44A0E}" type="parTrans" cxnId="{1EFAC5F0-ABA0-4950-A7BD-AF0077C22A4C}">
      <dgm:prSet/>
      <dgm:spPr/>
      <dgm:t>
        <a:bodyPr/>
        <a:lstStyle/>
        <a:p>
          <a:endParaRPr lang="en-US"/>
        </a:p>
      </dgm:t>
    </dgm:pt>
    <dgm:pt modelId="{5E79493E-BCFE-4595-86C2-9BE5CCA75A0B}" type="sibTrans" cxnId="{1EFAC5F0-ABA0-4950-A7BD-AF0077C22A4C}">
      <dgm:prSet/>
      <dgm:spPr/>
      <dgm:t>
        <a:bodyPr/>
        <a:lstStyle/>
        <a:p>
          <a:endParaRPr lang="en-US"/>
        </a:p>
      </dgm:t>
    </dgm:pt>
    <dgm:pt modelId="{1909DAC8-53EF-4712-B15A-05CBC73A8A09}">
      <dgm:prSet phldrT="[Text]"/>
      <dgm:spPr>
        <a:solidFill>
          <a:schemeClr val="accent6">
            <a:lumMod val="60000"/>
            <a:lumOff val="40000"/>
          </a:schemeClr>
        </a:solidFill>
      </dgm:spPr>
      <dgm:t>
        <a:bodyPr/>
        <a:lstStyle/>
        <a:p>
          <a:r>
            <a:rPr lang="en-US" dirty="0"/>
            <a:t>Applications</a:t>
          </a:r>
        </a:p>
      </dgm:t>
    </dgm:pt>
    <dgm:pt modelId="{B8BAA56B-7243-4D69-9E55-55DD192B029E}" type="parTrans" cxnId="{50666F0E-93A7-4F88-B1D6-74BD10B9ADAC}">
      <dgm:prSet/>
      <dgm:spPr/>
      <dgm:t>
        <a:bodyPr/>
        <a:lstStyle/>
        <a:p>
          <a:endParaRPr lang="en-US"/>
        </a:p>
      </dgm:t>
    </dgm:pt>
    <dgm:pt modelId="{F0FF0107-697B-48DD-B4AC-ACEFB2E30289}" type="sibTrans" cxnId="{50666F0E-93A7-4F88-B1D6-74BD10B9ADAC}">
      <dgm:prSet/>
      <dgm:spPr/>
      <dgm:t>
        <a:bodyPr/>
        <a:lstStyle/>
        <a:p>
          <a:endParaRPr lang="en-US"/>
        </a:p>
      </dgm:t>
    </dgm:pt>
    <dgm:pt modelId="{D2618F61-499E-4C39-9E98-64306A0B7276}">
      <dgm:prSet phldrT="[Text]"/>
      <dgm:spPr>
        <a:solidFill>
          <a:schemeClr val="accent6">
            <a:lumMod val="60000"/>
            <a:lumOff val="40000"/>
          </a:schemeClr>
        </a:solidFill>
      </dgm:spPr>
      <dgm:t>
        <a:bodyPr/>
        <a:lstStyle/>
        <a:p>
          <a:r>
            <a:rPr lang="en-US" dirty="0"/>
            <a:t>VMs (like JVM)</a:t>
          </a:r>
        </a:p>
      </dgm:t>
    </dgm:pt>
    <dgm:pt modelId="{55D47F42-C99F-40E2-91C5-730811085352}" type="parTrans" cxnId="{0DBD5EA6-CCA0-482A-A6CA-435DA1FC0DA3}">
      <dgm:prSet/>
      <dgm:spPr/>
      <dgm:t>
        <a:bodyPr/>
        <a:lstStyle/>
        <a:p>
          <a:endParaRPr lang="en-US"/>
        </a:p>
      </dgm:t>
    </dgm:pt>
    <dgm:pt modelId="{57AD4202-8455-4A9D-848D-F6655B676C85}" type="sibTrans" cxnId="{0DBD5EA6-CCA0-482A-A6CA-435DA1FC0DA3}">
      <dgm:prSet/>
      <dgm:spPr/>
      <dgm:t>
        <a:bodyPr/>
        <a:lstStyle/>
        <a:p>
          <a:endParaRPr lang="en-US"/>
        </a:p>
      </dgm:t>
    </dgm:pt>
    <dgm:pt modelId="{A4A89F75-AA0A-4CAD-893C-25EEF4C586BC}">
      <dgm:prSet phldrT="[Text]"/>
      <dgm:spPr>
        <a:solidFill>
          <a:srgbClr val="FFFF00"/>
        </a:solidFill>
      </dgm:spPr>
      <dgm:t>
        <a:bodyPr/>
        <a:lstStyle/>
        <a:p>
          <a:r>
            <a:rPr lang="en-US" dirty="0"/>
            <a:t>Computer Architecture</a:t>
          </a:r>
        </a:p>
      </dgm:t>
    </dgm:pt>
    <dgm:pt modelId="{835EF61B-90A3-40BF-AB21-536755CB4D45}" type="parTrans" cxnId="{59BD5FF0-0B41-4193-B10D-0AFDF4CFF8AB}">
      <dgm:prSet/>
      <dgm:spPr/>
      <dgm:t>
        <a:bodyPr/>
        <a:lstStyle/>
        <a:p>
          <a:endParaRPr lang="en-US"/>
        </a:p>
      </dgm:t>
    </dgm:pt>
    <dgm:pt modelId="{D6CDDDD3-F27F-42CB-9CB2-894FA81583FA}" type="sibTrans" cxnId="{59BD5FF0-0B41-4193-B10D-0AFDF4CFF8AB}">
      <dgm:prSet/>
      <dgm:spPr/>
      <dgm:t>
        <a:bodyPr/>
        <a:lstStyle/>
        <a:p>
          <a:endParaRPr lang="en-US"/>
        </a:p>
      </dgm:t>
    </dgm:pt>
    <dgm:pt modelId="{383378DD-564E-42D1-BE31-960CDE8B4A7B}">
      <dgm:prSet phldrT="[Text]"/>
      <dgm:spPr>
        <a:solidFill>
          <a:schemeClr val="accent6">
            <a:lumMod val="60000"/>
            <a:lumOff val="40000"/>
          </a:schemeClr>
        </a:solidFill>
      </dgm:spPr>
      <dgm:t>
        <a:bodyPr/>
        <a:lstStyle/>
        <a:p>
          <a:r>
            <a:rPr lang="en-US" dirty="0"/>
            <a:t>Electricity and Sand</a:t>
          </a:r>
        </a:p>
      </dgm:t>
    </dgm:pt>
    <dgm:pt modelId="{44A3E8EE-1D29-472D-8A88-84DEC9B6E1DD}" type="parTrans" cxnId="{012D45FE-71FB-4EF6-B9A6-C7D6698E3AEC}">
      <dgm:prSet/>
      <dgm:spPr/>
      <dgm:t>
        <a:bodyPr/>
        <a:lstStyle/>
        <a:p>
          <a:endParaRPr lang="en-US"/>
        </a:p>
      </dgm:t>
    </dgm:pt>
    <dgm:pt modelId="{0286A822-F159-4540-AC85-5C7DE1390176}" type="sibTrans" cxnId="{012D45FE-71FB-4EF6-B9A6-C7D6698E3AEC}">
      <dgm:prSet/>
      <dgm:spPr/>
      <dgm:t>
        <a:bodyPr/>
        <a:lstStyle/>
        <a:p>
          <a:endParaRPr lang="en-US"/>
        </a:p>
      </dgm:t>
    </dgm:pt>
    <dgm:pt modelId="{A2FD4CD9-1800-4E3D-B65D-D0197A7AFE71}">
      <dgm:prSet phldrT="[Text]"/>
      <dgm:spPr>
        <a:solidFill>
          <a:srgbClr val="FFFF00"/>
        </a:solidFill>
      </dgm:spPr>
      <dgm:t>
        <a:bodyPr/>
        <a:lstStyle/>
        <a:p>
          <a:r>
            <a:rPr lang="en-US" dirty="0"/>
            <a:t>Digital Design</a:t>
          </a:r>
        </a:p>
      </dgm:t>
    </dgm:pt>
    <dgm:pt modelId="{AD78FE4F-8511-4BD4-9AAD-0088FB45CD2F}" type="parTrans" cxnId="{73A0742F-D341-4C66-AAF2-19E275A6D2EF}">
      <dgm:prSet/>
      <dgm:spPr/>
      <dgm:t>
        <a:bodyPr/>
        <a:lstStyle/>
        <a:p>
          <a:endParaRPr lang="en-US"/>
        </a:p>
      </dgm:t>
    </dgm:pt>
    <dgm:pt modelId="{799DCE74-997E-4926-94A9-E6A5187369F3}" type="sibTrans" cxnId="{73A0742F-D341-4C66-AAF2-19E275A6D2EF}">
      <dgm:prSet/>
      <dgm:spPr/>
      <dgm:t>
        <a:bodyPr/>
        <a:lstStyle/>
        <a:p>
          <a:endParaRPr lang="en-US"/>
        </a:p>
      </dgm:t>
    </dgm:pt>
    <dgm:pt modelId="{59AA48F6-639B-43D4-8A71-1FF22D0625B3}" type="pres">
      <dgm:prSet presAssocID="{0F8AB01D-EE8B-42DA-929F-B4B10EA46652}" presName="Name0" presStyleCnt="0">
        <dgm:presLayoutVars>
          <dgm:dir/>
          <dgm:animLvl val="lvl"/>
          <dgm:resizeHandles val="exact"/>
        </dgm:presLayoutVars>
      </dgm:prSet>
      <dgm:spPr/>
    </dgm:pt>
    <dgm:pt modelId="{F56B2B98-37A3-4A1A-BDA5-94006F311260}" type="pres">
      <dgm:prSet presAssocID="{4F7E654B-2D5E-4216-A847-A5466F48E535}" presName="Name8" presStyleCnt="0"/>
      <dgm:spPr/>
    </dgm:pt>
    <dgm:pt modelId="{2C4010BC-A0D5-4D5E-A4C2-4F468C804C09}" type="pres">
      <dgm:prSet presAssocID="{4F7E654B-2D5E-4216-A847-A5466F48E535}" presName="level" presStyleLbl="node1" presStyleIdx="0" presStyleCnt="8">
        <dgm:presLayoutVars>
          <dgm:chMax val="1"/>
          <dgm:bulletEnabled val="1"/>
        </dgm:presLayoutVars>
      </dgm:prSet>
      <dgm:spPr/>
      <dgm:t>
        <a:bodyPr/>
        <a:lstStyle/>
        <a:p>
          <a:endParaRPr lang="en-US"/>
        </a:p>
      </dgm:t>
    </dgm:pt>
    <dgm:pt modelId="{E1C13E62-1EBA-465E-8F6B-63F290231C0E}" type="pres">
      <dgm:prSet presAssocID="{4F7E654B-2D5E-4216-A847-A5466F48E535}" presName="levelTx" presStyleLbl="revTx" presStyleIdx="0" presStyleCnt="0">
        <dgm:presLayoutVars>
          <dgm:chMax val="1"/>
          <dgm:bulletEnabled val="1"/>
        </dgm:presLayoutVars>
      </dgm:prSet>
      <dgm:spPr/>
      <dgm:t>
        <a:bodyPr/>
        <a:lstStyle/>
        <a:p>
          <a:endParaRPr lang="en-US"/>
        </a:p>
      </dgm:t>
    </dgm:pt>
    <dgm:pt modelId="{222D726B-0764-4AC4-A6E3-472AA16A9126}" type="pres">
      <dgm:prSet presAssocID="{1909DAC8-53EF-4712-B15A-05CBC73A8A09}" presName="Name8" presStyleCnt="0"/>
      <dgm:spPr/>
    </dgm:pt>
    <dgm:pt modelId="{BED763CE-209C-45AB-AF02-0B39CF2BCFFB}" type="pres">
      <dgm:prSet presAssocID="{1909DAC8-53EF-4712-B15A-05CBC73A8A09}" presName="level" presStyleLbl="node1" presStyleIdx="1" presStyleCnt="8">
        <dgm:presLayoutVars>
          <dgm:chMax val="1"/>
          <dgm:bulletEnabled val="1"/>
        </dgm:presLayoutVars>
      </dgm:prSet>
      <dgm:spPr/>
      <dgm:t>
        <a:bodyPr/>
        <a:lstStyle/>
        <a:p>
          <a:endParaRPr lang="en-US"/>
        </a:p>
      </dgm:t>
    </dgm:pt>
    <dgm:pt modelId="{41AA19FD-7E12-404A-857E-C6E017508FE2}" type="pres">
      <dgm:prSet presAssocID="{1909DAC8-53EF-4712-B15A-05CBC73A8A09}" presName="levelTx" presStyleLbl="revTx" presStyleIdx="0" presStyleCnt="0">
        <dgm:presLayoutVars>
          <dgm:chMax val="1"/>
          <dgm:bulletEnabled val="1"/>
        </dgm:presLayoutVars>
      </dgm:prSet>
      <dgm:spPr/>
      <dgm:t>
        <a:bodyPr/>
        <a:lstStyle/>
        <a:p>
          <a:endParaRPr lang="en-US"/>
        </a:p>
      </dgm:t>
    </dgm:pt>
    <dgm:pt modelId="{D2A21C43-285F-44B3-A4E3-6701CFC3F019}" type="pres">
      <dgm:prSet presAssocID="{D2618F61-499E-4C39-9E98-64306A0B7276}" presName="Name8" presStyleCnt="0"/>
      <dgm:spPr/>
    </dgm:pt>
    <dgm:pt modelId="{F536D71E-5F23-4CB1-8035-221B8BD1243C}" type="pres">
      <dgm:prSet presAssocID="{D2618F61-499E-4C39-9E98-64306A0B7276}" presName="level" presStyleLbl="node1" presStyleIdx="2" presStyleCnt="8">
        <dgm:presLayoutVars>
          <dgm:chMax val="1"/>
          <dgm:bulletEnabled val="1"/>
        </dgm:presLayoutVars>
      </dgm:prSet>
      <dgm:spPr/>
      <dgm:t>
        <a:bodyPr/>
        <a:lstStyle/>
        <a:p>
          <a:endParaRPr lang="en-US"/>
        </a:p>
      </dgm:t>
    </dgm:pt>
    <dgm:pt modelId="{2ACCC5F7-DBA6-46AC-8F93-BB4E224C24B8}" type="pres">
      <dgm:prSet presAssocID="{D2618F61-499E-4C39-9E98-64306A0B7276}" presName="levelTx" presStyleLbl="revTx" presStyleIdx="0" presStyleCnt="0">
        <dgm:presLayoutVars>
          <dgm:chMax val="1"/>
          <dgm:bulletEnabled val="1"/>
        </dgm:presLayoutVars>
      </dgm:prSet>
      <dgm:spPr/>
      <dgm:t>
        <a:bodyPr/>
        <a:lstStyle/>
        <a:p>
          <a:endParaRPr lang="en-US"/>
        </a:p>
      </dgm:t>
    </dgm:pt>
    <dgm:pt modelId="{9DBE2921-BA02-44B8-9107-D22C226FE2A4}" type="pres">
      <dgm:prSet presAssocID="{9521AEA5-B9BC-458F-911E-483E64027C24}" presName="Name8" presStyleCnt="0"/>
      <dgm:spPr/>
    </dgm:pt>
    <dgm:pt modelId="{49046B5A-CBCD-4281-AB02-8173CF791E5F}" type="pres">
      <dgm:prSet presAssocID="{9521AEA5-B9BC-458F-911E-483E64027C24}" presName="level" presStyleLbl="node1" presStyleIdx="3" presStyleCnt="8">
        <dgm:presLayoutVars>
          <dgm:chMax val="1"/>
          <dgm:bulletEnabled val="1"/>
        </dgm:presLayoutVars>
      </dgm:prSet>
      <dgm:spPr/>
      <dgm:t>
        <a:bodyPr/>
        <a:lstStyle/>
        <a:p>
          <a:endParaRPr lang="en-US"/>
        </a:p>
      </dgm:t>
    </dgm:pt>
    <dgm:pt modelId="{7095900C-DC70-46AB-8772-14FD4F7CDCED}" type="pres">
      <dgm:prSet presAssocID="{9521AEA5-B9BC-458F-911E-483E64027C24}" presName="levelTx" presStyleLbl="revTx" presStyleIdx="0" presStyleCnt="0">
        <dgm:presLayoutVars>
          <dgm:chMax val="1"/>
          <dgm:bulletEnabled val="1"/>
        </dgm:presLayoutVars>
      </dgm:prSet>
      <dgm:spPr/>
      <dgm:t>
        <a:bodyPr/>
        <a:lstStyle/>
        <a:p>
          <a:endParaRPr lang="en-US"/>
        </a:p>
      </dgm:t>
    </dgm:pt>
    <dgm:pt modelId="{D1504026-D328-4F8E-B623-84DF94E4C15D}" type="pres">
      <dgm:prSet presAssocID="{A4A89F75-AA0A-4CAD-893C-25EEF4C586BC}" presName="Name8" presStyleCnt="0"/>
      <dgm:spPr/>
    </dgm:pt>
    <dgm:pt modelId="{8AC5C1EB-1782-46A3-AA9E-901529ADCCB3}" type="pres">
      <dgm:prSet presAssocID="{A4A89F75-AA0A-4CAD-893C-25EEF4C586BC}" presName="level" presStyleLbl="node1" presStyleIdx="4" presStyleCnt="8">
        <dgm:presLayoutVars>
          <dgm:chMax val="1"/>
          <dgm:bulletEnabled val="1"/>
        </dgm:presLayoutVars>
      </dgm:prSet>
      <dgm:spPr/>
      <dgm:t>
        <a:bodyPr/>
        <a:lstStyle/>
        <a:p>
          <a:endParaRPr lang="en-US"/>
        </a:p>
      </dgm:t>
    </dgm:pt>
    <dgm:pt modelId="{FA4C8579-7796-4BC3-A80F-00BDA13126EA}" type="pres">
      <dgm:prSet presAssocID="{A4A89F75-AA0A-4CAD-893C-25EEF4C586BC}" presName="levelTx" presStyleLbl="revTx" presStyleIdx="0" presStyleCnt="0">
        <dgm:presLayoutVars>
          <dgm:chMax val="1"/>
          <dgm:bulletEnabled val="1"/>
        </dgm:presLayoutVars>
      </dgm:prSet>
      <dgm:spPr/>
      <dgm:t>
        <a:bodyPr/>
        <a:lstStyle/>
        <a:p>
          <a:endParaRPr lang="en-US"/>
        </a:p>
      </dgm:t>
    </dgm:pt>
    <dgm:pt modelId="{D1E61EF9-891F-4CA9-8A55-34F4269C277B}" type="pres">
      <dgm:prSet presAssocID="{853F7586-093E-4F06-9407-5822186B2C2E}" presName="Name8" presStyleCnt="0"/>
      <dgm:spPr/>
    </dgm:pt>
    <dgm:pt modelId="{D54781E3-DBB8-41CE-B2FD-1CF9D3989A72}" type="pres">
      <dgm:prSet presAssocID="{853F7586-093E-4F06-9407-5822186B2C2E}" presName="level" presStyleLbl="node1" presStyleIdx="5" presStyleCnt="8">
        <dgm:presLayoutVars>
          <dgm:chMax val="1"/>
          <dgm:bulletEnabled val="1"/>
        </dgm:presLayoutVars>
      </dgm:prSet>
      <dgm:spPr/>
      <dgm:t>
        <a:bodyPr/>
        <a:lstStyle/>
        <a:p>
          <a:endParaRPr lang="en-US"/>
        </a:p>
      </dgm:t>
    </dgm:pt>
    <dgm:pt modelId="{CC522F25-862A-457E-AAE4-FE07DD915DB2}" type="pres">
      <dgm:prSet presAssocID="{853F7586-093E-4F06-9407-5822186B2C2E}" presName="levelTx" presStyleLbl="revTx" presStyleIdx="0" presStyleCnt="0">
        <dgm:presLayoutVars>
          <dgm:chMax val="1"/>
          <dgm:bulletEnabled val="1"/>
        </dgm:presLayoutVars>
      </dgm:prSet>
      <dgm:spPr/>
      <dgm:t>
        <a:bodyPr/>
        <a:lstStyle/>
        <a:p>
          <a:endParaRPr lang="en-US"/>
        </a:p>
      </dgm:t>
    </dgm:pt>
    <dgm:pt modelId="{8FE7ABFA-A0DF-429A-915B-D5BA0C1886BA}" type="pres">
      <dgm:prSet presAssocID="{A2FD4CD9-1800-4E3D-B65D-D0197A7AFE71}" presName="Name8" presStyleCnt="0"/>
      <dgm:spPr/>
    </dgm:pt>
    <dgm:pt modelId="{302A290A-8B71-48CA-864B-F17027EFAF50}" type="pres">
      <dgm:prSet presAssocID="{A2FD4CD9-1800-4E3D-B65D-D0197A7AFE71}" presName="level" presStyleLbl="node1" presStyleIdx="6" presStyleCnt="8">
        <dgm:presLayoutVars>
          <dgm:chMax val="1"/>
          <dgm:bulletEnabled val="1"/>
        </dgm:presLayoutVars>
      </dgm:prSet>
      <dgm:spPr/>
      <dgm:t>
        <a:bodyPr/>
        <a:lstStyle/>
        <a:p>
          <a:endParaRPr lang="en-US"/>
        </a:p>
      </dgm:t>
    </dgm:pt>
    <dgm:pt modelId="{A69B1409-06F9-473B-8ECA-D2B6F4AFE171}" type="pres">
      <dgm:prSet presAssocID="{A2FD4CD9-1800-4E3D-B65D-D0197A7AFE71}" presName="levelTx" presStyleLbl="revTx" presStyleIdx="0" presStyleCnt="0">
        <dgm:presLayoutVars>
          <dgm:chMax val="1"/>
          <dgm:bulletEnabled val="1"/>
        </dgm:presLayoutVars>
      </dgm:prSet>
      <dgm:spPr/>
      <dgm:t>
        <a:bodyPr/>
        <a:lstStyle/>
        <a:p>
          <a:endParaRPr lang="en-US"/>
        </a:p>
      </dgm:t>
    </dgm:pt>
    <dgm:pt modelId="{FD7AEBBA-AF9C-4B5C-AF96-B195CFA23B10}" type="pres">
      <dgm:prSet presAssocID="{383378DD-564E-42D1-BE31-960CDE8B4A7B}" presName="Name8" presStyleCnt="0"/>
      <dgm:spPr/>
    </dgm:pt>
    <dgm:pt modelId="{B23539F1-372A-440A-A9B5-66F9AF38F702}" type="pres">
      <dgm:prSet presAssocID="{383378DD-564E-42D1-BE31-960CDE8B4A7B}" presName="level" presStyleLbl="node1" presStyleIdx="7" presStyleCnt="8">
        <dgm:presLayoutVars>
          <dgm:chMax val="1"/>
          <dgm:bulletEnabled val="1"/>
        </dgm:presLayoutVars>
      </dgm:prSet>
      <dgm:spPr/>
      <dgm:t>
        <a:bodyPr/>
        <a:lstStyle/>
        <a:p>
          <a:endParaRPr lang="en-US"/>
        </a:p>
      </dgm:t>
    </dgm:pt>
    <dgm:pt modelId="{2611330C-535F-462D-9948-E5214624C473}" type="pres">
      <dgm:prSet presAssocID="{383378DD-564E-42D1-BE31-960CDE8B4A7B}" presName="levelTx" presStyleLbl="revTx" presStyleIdx="0" presStyleCnt="0">
        <dgm:presLayoutVars>
          <dgm:chMax val="1"/>
          <dgm:bulletEnabled val="1"/>
        </dgm:presLayoutVars>
      </dgm:prSet>
      <dgm:spPr/>
      <dgm:t>
        <a:bodyPr/>
        <a:lstStyle/>
        <a:p>
          <a:endParaRPr lang="en-US"/>
        </a:p>
      </dgm:t>
    </dgm:pt>
  </dgm:ptLst>
  <dgm:cxnLst>
    <dgm:cxn modelId="{4B3260B4-9DEB-4593-8448-876B32A9F6FB}" srcId="{0F8AB01D-EE8B-42DA-929F-B4B10EA46652}" destId="{9521AEA5-B9BC-458F-911E-483E64027C24}" srcOrd="3" destOrd="0" parTransId="{D10F260E-4814-4F28-A52B-4A59285DC768}" sibTransId="{734CD029-29A1-4992-A0B1-9C2EF4CAE5F1}"/>
    <dgm:cxn modelId="{012D45FE-71FB-4EF6-B9A6-C7D6698E3AEC}" srcId="{0F8AB01D-EE8B-42DA-929F-B4B10EA46652}" destId="{383378DD-564E-42D1-BE31-960CDE8B4A7B}" srcOrd="7" destOrd="0" parTransId="{44A3E8EE-1D29-472D-8A88-84DEC9B6E1DD}" sibTransId="{0286A822-F159-4540-AC85-5C7DE1390176}"/>
    <dgm:cxn modelId="{50666F0E-93A7-4F88-B1D6-74BD10B9ADAC}" srcId="{0F8AB01D-EE8B-42DA-929F-B4B10EA46652}" destId="{1909DAC8-53EF-4712-B15A-05CBC73A8A09}" srcOrd="1" destOrd="0" parTransId="{B8BAA56B-7243-4D69-9E55-55DD192B029E}" sibTransId="{F0FF0107-697B-48DD-B4AC-ACEFB2E30289}"/>
    <dgm:cxn modelId="{339FE23E-0165-4FD9-8646-D9B49DC604EC}" srcId="{0F8AB01D-EE8B-42DA-929F-B4B10EA46652}" destId="{4F7E654B-2D5E-4216-A847-A5466F48E535}" srcOrd="0" destOrd="0" parTransId="{4CBD79F5-A4EB-48A4-9B56-027A947E68D3}" sibTransId="{9FCCC268-5871-4C61-87AA-CA2AFA61E5CF}"/>
    <dgm:cxn modelId="{D120B710-4FDD-4690-8FA0-91128D65484D}" type="presOf" srcId="{853F7586-093E-4F06-9407-5822186B2C2E}" destId="{CC522F25-862A-457E-AAE4-FE07DD915DB2}" srcOrd="1" destOrd="0" presId="urn:microsoft.com/office/officeart/2005/8/layout/pyramid1"/>
    <dgm:cxn modelId="{74E68675-D346-4C04-85B4-31753E24320C}" type="presOf" srcId="{9521AEA5-B9BC-458F-911E-483E64027C24}" destId="{7095900C-DC70-46AB-8772-14FD4F7CDCED}" srcOrd="1" destOrd="0" presId="urn:microsoft.com/office/officeart/2005/8/layout/pyramid1"/>
    <dgm:cxn modelId="{AD5E9A7D-AD17-4E6F-94CC-5A8B3BD9CB6E}" type="presOf" srcId="{D2618F61-499E-4C39-9E98-64306A0B7276}" destId="{2ACCC5F7-DBA6-46AC-8F93-BB4E224C24B8}" srcOrd="1" destOrd="0" presId="urn:microsoft.com/office/officeart/2005/8/layout/pyramid1"/>
    <dgm:cxn modelId="{172309B9-8174-4618-80C0-8BA1CB86C91B}" type="presOf" srcId="{A2FD4CD9-1800-4E3D-B65D-D0197A7AFE71}" destId="{A69B1409-06F9-473B-8ECA-D2B6F4AFE171}" srcOrd="1" destOrd="0" presId="urn:microsoft.com/office/officeart/2005/8/layout/pyramid1"/>
    <dgm:cxn modelId="{5CC62C53-A02B-4C43-A1DA-ADF3C6B3201D}" type="presOf" srcId="{A4A89F75-AA0A-4CAD-893C-25EEF4C586BC}" destId="{8AC5C1EB-1782-46A3-AA9E-901529ADCCB3}" srcOrd="0" destOrd="0" presId="urn:microsoft.com/office/officeart/2005/8/layout/pyramid1"/>
    <dgm:cxn modelId="{1F2C40B3-75B1-4235-AAC1-C51637B7A5EA}" type="presOf" srcId="{D2618F61-499E-4C39-9E98-64306A0B7276}" destId="{F536D71E-5F23-4CB1-8035-221B8BD1243C}" srcOrd="0" destOrd="0" presId="urn:microsoft.com/office/officeart/2005/8/layout/pyramid1"/>
    <dgm:cxn modelId="{83921D34-CC01-4B28-B394-B76ED6A385BD}" type="presOf" srcId="{1909DAC8-53EF-4712-B15A-05CBC73A8A09}" destId="{BED763CE-209C-45AB-AF02-0B39CF2BCFFB}" srcOrd="0" destOrd="0" presId="urn:microsoft.com/office/officeart/2005/8/layout/pyramid1"/>
    <dgm:cxn modelId="{4958D625-F8EA-4C20-AD07-91C3751E7334}" type="presOf" srcId="{0F8AB01D-EE8B-42DA-929F-B4B10EA46652}" destId="{59AA48F6-639B-43D4-8A71-1FF22D0625B3}" srcOrd="0" destOrd="0" presId="urn:microsoft.com/office/officeart/2005/8/layout/pyramid1"/>
    <dgm:cxn modelId="{5B7D53BE-6779-40FE-AAB0-9D16959CC21A}" type="presOf" srcId="{4F7E654B-2D5E-4216-A847-A5466F48E535}" destId="{2C4010BC-A0D5-4D5E-A4C2-4F468C804C09}" srcOrd="0" destOrd="0" presId="urn:microsoft.com/office/officeart/2005/8/layout/pyramid1"/>
    <dgm:cxn modelId="{59BD5FF0-0B41-4193-B10D-0AFDF4CFF8AB}" srcId="{0F8AB01D-EE8B-42DA-929F-B4B10EA46652}" destId="{A4A89F75-AA0A-4CAD-893C-25EEF4C586BC}" srcOrd="4" destOrd="0" parTransId="{835EF61B-90A3-40BF-AB21-536755CB4D45}" sibTransId="{D6CDDDD3-F27F-42CB-9CB2-894FA81583FA}"/>
    <dgm:cxn modelId="{73A0742F-D341-4C66-AAF2-19E275A6D2EF}" srcId="{0F8AB01D-EE8B-42DA-929F-B4B10EA46652}" destId="{A2FD4CD9-1800-4E3D-B65D-D0197A7AFE71}" srcOrd="6" destOrd="0" parTransId="{AD78FE4F-8511-4BD4-9AAD-0088FB45CD2F}" sibTransId="{799DCE74-997E-4926-94A9-E6A5187369F3}"/>
    <dgm:cxn modelId="{3CBA5E3D-FBB4-4662-877F-E8B9E026C9EA}" type="presOf" srcId="{383378DD-564E-42D1-BE31-960CDE8B4A7B}" destId="{B23539F1-372A-440A-A9B5-66F9AF38F702}" srcOrd="0" destOrd="0" presId="urn:microsoft.com/office/officeart/2005/8/layout/pyramid1"/>
    <dgm:cxn modelId="{B0C8C1B8-7E1F-447D-93DA-9D930FE06C29}" type="presOf" srcId="{A4A89F75-AA0A-4CAD-893C-25EEF4C586BC}" destId="{FA4C8579-7796-4BC3-A80F-00BDA13126EA}" srcOrd="1" destOrd="0" presId="urn:microsoft.com/office/officeart/2005/8/layout/pyramid1"/>
    <dgm:cxn modelId="{1EFAC5F0-ABA0-4950-A7BD-AF0077C22A4C}" srcId="{0F8AB01D-EE8B-42DA-929F-B4B10EA46652}" destId="{853F7586-093E-4F06-9407-5822186B2C2E}" srcOrd="5" destOrd="0" parTransId="{A6421D69-C0E1-4F98-B657-DA02F9B44A0E}" sibTransId="{5E79493E-BCFE-4595-86C2-9BE5CCA75A0B}"/>
    <dgm:cxn modelId="{0DEE9730-66AC-4AE7-9E9F-39D979533F6E}" type="presOf" srcId="{1909DAC8-53EF-4712-B15A-05CBC73A8A09}" destId="{41AA19FD-7E12-404A-857E-C6E017508FE2}" srcOrd="1" destOrd="0" presId="urn:microsoft.com/office/officeart/2005/8/layout/pyramid1"/>
    <dgm:cxn modelId="{786BDAE7-F55E-4F9F-BB85-9580EDD9B67B}" type="presOf" srcId="{4F7E654B-2D5E-4216-A847-A5466F48E535}" destId="{E1C13E62-1EBA-465E-8F6B-63F290231C0E}" srcOrd="1" destOrd="0" presId="urn:microsoft.com/office/officeart/2005/8/layout/pyramid1"/>
    <dgm:cxn modelId="{5809C207-83D6-4169-9A4A-B27C5F8B93FD}" type="presOf" srcId="{383378DD-564E-42D1-BE31-960CDE8B4A7B}" destId="{2611330C-535F-462D-9948-E5214624C473}" srcOrd="1" destOrd="0" presId="urn:microsoft.com/office/officeart/2005/8/layout/pyramid1"/>
    <dgm:cxn modelId="{0DBD5EA6-CCA0-482A-A6CA-435DA1FC0DA3}" srcId="{0F8AB01D-EE8B-42DA-929F-B4B10EA46652}" destId="{D2618F61-499E-4C39-9E98-64306A0B7276}" srcOrd="2" destOrd="0" parTransId="{55D47F42-C99F-40E2-91C5-730811085352}" sibTransId="{57AD4202-8455-4A9D-848D-F6655B676C85}"/>
    <dgm:cxn modelId="{107A4278-555B-44DA-8516-95CFDABD5EF7}" type="presOf" srcId="{A2FD4CD9-1800-4E3D-B65D-D0197A7AFE71}" destId="{302A290A-8B71-48CA-864B-F17027EFAF50}" srcOrd="0" destOrd="0" presId="urn:microsoft.com/office/officeart/2005/8/layout/pyramid1"/>
    <dgm:cxn modelId="{1607F297-B9F8-438A-BC91-ABB45A0FF915}" type="presOf" srcId="{9521AEA5-B9BC-458F-911E-483E64027C24}" destId="{49046B5A-CBCD-4281-AB02-8173CF791E5F}" srcOrd="0" destOrd="0" presId="urn:microsoft.com/office/officeart/2005/8/layout/pyramid1"/>
    <dgm:cxn modelId="{E10F60AB-633A-480B-8D6A-40DD6AA8327E}" type="presOf" srcId="{853F7586-093E-4F06-9407-5822186B2C2E}" destId="{D54781E3-DBB8-41CE-B2FD-1CF9D3989A72}" srcOrd="0" destOrd="0" presId="urn:microsoft.com/office/officeart/2005/8/layout/pyramid1"/>
    <dgm:cxn modelId="{D55130F7-5CF1-49A2-8D3D-7BDE925C6711}" type="presParOf" srcId="{59AA48F6-639B-43D4-8A71-1FF22D0625B3}" destId="{F56B2B98-37A3-4A1A-BDA5-94006F311260}" srcOrd="0" destOrd="0" presId="urn:microsoft.com/office/officeart/2005/8/layout/pyramid1"/>
    <dgm:cxn modelId="{0152D0A4-A386-41B9-B69F-0329593F9C04}" type="presParOf" srcId="{F56B2B98-37A3-4A1A-BDA5-94006F311260}" destId="{2C4010BC-A0D5-4D5E-A4C2-4F468C804C09}" srcOrd="0" destOrd="0" presId="urn:microsoft.com/office/officeart/2005/8/layout/pyramid1"/>
    <dgm:cxn modelId="{E0A4E532-D940-4A9F-822B-2BC059E9A19E}" type="presParOf" srcId="{F56B2B98-37A3-4A1A-BDA5-94006F311260}" destId="{E1C13E62-1EBA-465E-8F6B-63F290231C0E}" srcOrd="1" destOrd="0" presId="urn:microsoft.com/office/officeart/2005/8/layout/pyramid1"/>
    <dgm:cxn modelId="{9FC0B12F-41D2-4935-AA42-643BA9A81722}" type="presParOf" srcId="{59AA48F6-639B-43D4-8A71-1FF22D0625B3}" destId="{222D726B-0764-4AC4-A6E3-472AA16A9126}" srcOrd="1" destOrd="0" presId="urn:microsoft.com/office/officeart/2005/8/layout/pyramid1"/>
    <dgm:cxn modelId="{BDE805B4-4FFA-4703-8841-0FE59572C280}" type="presParOf" srcId="{222D726B-0764-4AC4-A6E3-472AA16A9126}" destId="{BED763CE-209C-45AB-AF02-0B39CF2BCFFB}" srcOrd="0" destOrd="0" presId="urn:microsoft.com/office/officeart/2005/8/layout/pyramid1"/>
    <dgm:cxn modelId="{F7D186AA-2033-4C17-B5BB-853471D18670}" type="presParOf" srcId="{222D726B-0764-4AC4-A6E3-472AA16A9126}" destId="{41AA19FD-7E12-404A-857E-C6E017508FE2}" srcOrd="1" destOrd="0" presId="urn:microsoft.com/office/officeart/2005/8/layout/pyramid1"/>
    <dgm:cxn modelId="{9D51D266-FACB-4097-9713-553EBE2B9D6D}" type="presParOf" srcId="{59AA48F6-639B-43D4-8A71-1FF22D0625B3}" destId="{D2A21C43-285F-44B3-A4E3-6701CFC3F019}" srcOrd="2" destOrd="0" presId="urn:microsoft.com/office/officeart/2005/8/layout/pyramid1"/>
    <dgm:cxn modelId="{DAE84500-9633-435C-A0F0-9E837AF68432}" type="presParOf" srcId="{D2A21C43-285F-44B3-A4E3-6701CFC3F019}" destId="{F536D71E-5F23-4CB1-8035-221B8BD1243C}" srcOrd="0" destOrd="0" presId="urn:microsoft.com/office/officeart/2005/8/layout/pyramid1"/>
    <dgm:cxn modelId="{E52D0833-CCB8-4FE4-A938-18206BE71BE3}" type="presParOf" srcId="{D2A21C43-285F-44B3-A4E3-6701CFC3F019}" destId="{2ACCC5F7-DBA6-46AC-8F93-BB4E224C24B8}" srcOrd="1" destOrd="0" presId="urn:microsoft.com/office/officeart/2005/8/layout/pyramid1"/>
    <dgm:cxn modelId="{A04E915D-45FC-4075-98FC-0FE152E1132F}" type="presParOf" srcId="{59AA48F6-639B-43D4-8A71-1FF22D0625B3}" destId="{9DBE2921-BA02-44B8-9107-D22C226FE2A4}" srcOrd="3" destOrd="0" presId="urn:microsoft.com/office/officeart/2005/8/layout/pyramid1"/>
    <dgm:cxn modelId="{C57C49E8-2A86-4DEA-B014-DEFF1679ADA7}" type="presParOf" srcId="{9DBE2921-BA02-44B8-9107-D22C226FE2A4}" destId="{49046B5A-CBCD-4281-AB02-8173CF791E5F}" srcOrd="0" destOrd="0" presId="urn:microsoft.com/office/officeart/2005/8/layout/pyramid1"/>
    <dgm:cxn modelId="{285A1C49-5E31-4636-856C-F7CB193E297D}" type="presParOf" srcId="{9DBE2921-BA02-44B8-9107-D22C226FE2A4}" destId="{7095900C-DC70-46AB-8772-14FD4F7CDCED}" srcOrd="1" destOrd="0" presId="urn:microsoft.com/office/officeart/2005/8/layout/pyramid1"/>
    <dgm:cxn modelId="{9506FD61-B601-44C9-A33D-78E18EB6AE1D}" type="presParOf" srcId="{59AA48F6-639B-43D4-8A71-1FF22D0625B3}" destId="{D1504026-D328-4F8E-B623-84DF94E4C15D}" srcOrd="4" destOrd="0" presId="urn:microsoft.com/office/officeart/2005/8/layout/pyramid1"/>
    <dgm:cxn modelId="{3DEEC6A1-F57A-4AF4-8339-9576050F77BB}" type="presParOf" srcId="{D1504026-D328-4F8E-B623-84DF94E4C15D}" destId="{8AC5C1EB-1782-46A3-AA9E-901529ADCCB3}" srcOrd="0" destOrd="0" presId="urn:microsoft.com/office/officeart/2005/8/layout/pyramid1"/>
    <dgm:cxn modelId="{8D27633B-F678-4581-8513-860BC8D25BFF}" type="presParOf" srcId="{D1504026-D328-4F8E-B623-84DF94E4C15D}" destId="{FA4C8579-7796-4BC3-A80F-00BDA13126EA}" srcOrd="1" destOrd="0" presId="urn:microsoft.com/office/officeart/2005/8/layout/pyramid1"/>
    <dgm:cxn modelId="{1C5D718E-C8A4-4B03-A3F7-271776842B38}" type="presParOf" srcId="{59AA48F6-639B-43D4-8A71-1FF22D0625B3}" destId="{D1E61EF9-891F-4CA9-8A55-34F4269C277B}" srcOrd="5" destOrd="0" presId="urn:microsoft.com/office/officeart/2005/8/layout/pyramid1"/>
    <dgm:cxn modelId="{2617D51E-224A-43C2-8654-F17B3B44277E}" type="presParOf" srcId="{D1E61EF9-891F-4CA9-8A55-34F4269C277B}" destId="{D54781E3-DBB8-41CE-B2FD-1CF9D3989A72}" srcOrd="0" destOrd="0" presId="urn:microsoft.com/office/officeart/2005/8/layout/pyramid1"/>
    <dgm:cxn modelId="{85515341-B2C0-45EB-9601-5C288FDEAC3D}" type="presParOf" srcId="{D1E61EF9-891F-4CA9-8A55-34F4269C277B}" destId="{CC522F25-862A-457E-AAE4-FE07DD915DB2}" srcOrd="1" destOrd="0" presId="urn:microsoft.com/office/officeart/2005/8/layout/pyramid1"/>
    <dgm:cxn modelId="{F2FF83C0-79E0-4F6E-ADDE-C8074362DF72}" type="presParOf" srcId="{59AA48F6-639B-43D4-8A71-1FF22D0625B3}" destId="{8FE7ABFA-A0DF-429A-915B-D5BA0C1886BA}" srcOrd="6" destOrd="0" presId="urn:microsoft.com/office/officeart/2005/8/layout/pyramid1"/>
    <dgm:cxn modelId="{CA09EDE5-819B-4EF6-9642-69322F0F2244}" type="presParOf" srcId="{8FE7ABFA-A0DF-429A-915B-D5BA0C1886BA}" destId="{302A290A-8B71-48CA-864B-F17027EFAF50}" srcOrd="0" destOrd="0" presId="urn:microsoft.com/office/officeart/2005/8/layout/pyramid1"/>
    <dgm:cxn modelId="{9171883F-0302-49A3-A80C-1D3008B6D84E}" type="presParOf" srcId="{8FE7ABFA-A0DF-429A-915B-D5BA0C1886BA}" destId="{A69B1409-06F9-473B-8ECA-D2B6F4AFE171}" srcOrd="1" destOrd="0" presId="urn:microsoft.com/office/officeart/2005/8/layout/pyramid1"/>
    <dgm:cxn modelId="{FC565A4A-FDF5-4856-B95E-89BEB2AE3280}" type="presParOf" srcId="{59AA48F6-639B-43D4-8A71-1FF22D0625B3}" destId="{FD7AEBBA-AF9C-4B5C-AF96-B195CFA23B10}" srcOrd="7" destOrd="0" presId="urn:microsoft.com/office/officeart/2005/8/layout/pyramid1"/>
    <dgm:cxn modelId="{EF80A020-CC9D-41F1-9B43-9940404113C3}" type="presParOf" srcId="{FD7AEBBA-AF9C-4B5C-AF96-B195CFA23B10}" destId="{B23539F1-372A-440A-A9B5-66F9AF38F702}" srcOrd="0" destOrd="0" presId="urn:microsoft.com/office/officeart/2005/8/layout/pyramid1"/>
    <dgm:cxn modelId="{9BF4DFF1-1A67-4600-A484-48D482A777B4}" type="presParOf" srcId="{FD7AEBBA-AF9C-4B5C-AF96-B195CFA23B10}" destId="{2611330C-535F-462D-9948-E5214624C473}"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010BC-A0D5-4D5E-A4C2-4F468C804C09}">
      <dsp:nvSpPr>
        <dsp:cNvPr id="0" name=""/>
        <dsp:cNvSpPr/>
      </dsp:nvSpPr>
      <dsp:spPr>
        <a:xfrm>
          <a:off x="4600575" y="0"/>
          <a:ext cx="1314450" cy="619720"/>
        </a:xfrm>
        <a:prstGeom prst="trapezoid">
          <a:avLst>
            <a:gd name="adj" fmla="val 106052"/>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a:t>Users</a:t>
          </a:r>
        </a:p>
      </dsp:txBody>
      <dsp:txXfrm>
        <a:off x="4600575" y="0"/>
        <a:ext cx="1314450" cy="619720"/>
      </dsp:txXfrm>
    </dsp:sp>
    <dsp:sp modelId="{BED763CE-209C-45AB-AF02-0B39CF2BCFFB}">
      <dsp:nvSpPr>
        <dsp:cNvPr id="0" name=""/>
        <dsp:cNvSpPr/>
      </dsp:nvSpPr>
      <dsp:spPr>
        <a:xfrm>
          <a:off x="3943350" y="619720"/>
          <a:ext cx="2628900" cy="619720"/>
        </a:xfrm>
        <a:prstGeom prst="trapezoid">
          <a:avLst>
            <a:gd name="adj" fmla="val 106052"/>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a:t>Applications</a:t>
          </a:r>
        </a:p>
      </dsp:txBody>
      <dsp:txXfrm>
        <a:off x="4403407" y="619720"/>
        <a:ext cx="1708785" cy="619720"/>
      </dsp:txXfrm>
    </dsp:sp>
    <dsp:sp modelId="{F536D71E-5F23-4CB1-8035-221B8BD1243C}">
      <dsp:nvSpPr>
        <dsp:cNvPr id="0" name=""/>
        <dsp:cNvSpPr/>
      </dsp:nvSpPr>
      <dsp:spPr>
        <a:xfrm>
          <a:off x="3286125" y="1239440"/>
          <a:ext cx="3943350" cy="619720"/>
        </a:xfrm>
        <a:prstGeom prst="trapezoid">
          <a:avLst>
            <a:gd name="adj" fmla="val 106052"/>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a:t>VMs (like JVM)</a:t>
          </a:r>
        </a:p>
      </dsp:txBody>
      <dsp:txXfrm>
        <a:off x="3976211" y="1239440"/>
        <a:ext cx="2563177" cy="619720"/>
      </dsp:txXfrm>
    </dsp:sp>
    <dsp:sp modelId="{49046B5A-CBCD-4281-AB02-8173CF791E5F}">
      <dsp:nvSpPr>
        <dsp:cNvPr id="0" name=""/>
        <dsp:cNvSpPr/>
      </dsp:nvSpPr>
      <dsp:spPr>
        <a:xfrm>
          <a:off x="2628900" y="1859161"/>
          <a:ext cx="5257800" cy="619720"/>
        </a:xfrm>
        <a:prstGeom prst="trapezoid">
          <a:avLst>
            <a:gd name="adj" fmla="val 106052"/>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a:t>Operating System</a:t>
          </a:r>
        </a:p>
      </dsp:txBody>
      <dsp:txXfrm>
        <a:off x="3549015" y="1859161"/>
        <a:ext cx="3417570" cy="619720"/>
      </dsp:txXfrm>
    </dsp:sp>
    <dsp:sp modelId="{8AC5C1EB-1782-46A3-AA9E-901529ADCCB3}">
      <dsp:nvSpPr>
        <dsp:cNvPr id="0" name=""/>
        <dsp:cNvSpPr/>
      </dsp:nvSpPr>
      <dsp:spPr>
        <a:xfrm>
          <a:off x="1971675" y="2478881"/>
          <a:ext cx="6572250" cy="619720"/>
        </a:xfrm>
        <a:prstGeom prst="trapezoid">
          <a:avLst>
            <a:gd name="adj" fmla="val 106052"/>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a:t>Computer Architecture</a:t>
          </a:r>
        </a:p>
      </dsp:txBody>
      <dsp:txXfrm>
        <a:off x="3121818" y="2478881"/>
        <a:ext cx="4271962" cy="619720"/>
      </dsp:txXfrm>
    </dsp:sp>
    <dsp:sp modelId="{D54781E3-DBB8-41CE-B2FD-1CF9D3989A72}">
      <dsp:nvSpPr>
        <dsp:cNvPr id="0" name=""/>
        <dsp:cNvSpPr/>
      </dsp:nvSpPr>
      <dsp:spPr>
        <a:xfrm>
          <a:off x="1314450" y="3098601"/>
          <a:ext cx="7886700" cy="619720"/>
        </a:xfrm>
        <a:prstGeom prst="trapezoid">
          <a:avLst>
            <a:gd name="adj" fmla="val 106052"/>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a:t>Computer Organization</a:t>
          </a:r>
        </a:p>
      </dsp:txBody>
      <dsp:txXfrm>
        <a:off x="2694622" y="3098601"/>
        <a:ext cx="5126355" cy="619720"/>
      </dsp:txXfrm>
    </dsp:sp>
    <dsp:sp modelId="{302A290A-8B71-48CA-864B-F17027EFAF50}">
      <dsp:nvSpPr>
        <dsp:cNvPr id="0" name=""/>
        <dsp:cNvSpPr/>
      </dsp:nvSpPr>
      <dsp:spPr>
        <a:xfrm>
          <a:off x="657225" y="3718322"/>
          <a:ext cx="9201149" cy="619720"/>
        </a:xfrm>
        <a:prstGeom prst="trapezoid">
          <a:avLst>
            <a:gd name="adj" fmla="val 106052"/>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a:t>Digital Design</a:t>
          </a:r>
        </a:p>
      </dsp:txBody>
      <dsp:txXfrm>
        <a:off x="2267426" y="3718322"/>
        <a:ext cx="5980747" cy="619720"/>
      </dsp:txXfrm>
    </dsp:sp>
    <dsp:sp modelId="{B23539F1-372A-440A-A9B5-66F9AF38F702}">
      <dsp:nvSpPr>
        <dsp:cNvPr id="0" name=""/>
        <dsp:cNvSpPr/>
      </dsp:nvSpPr>
      <dsp:spPr>
        <a:xfrm>
          <a:off x="0" y="4338042"/>
          <a:ext cx="10515600" cy="619720"/>
        </a:xfrm>
        <a:prstGeom prst="trapezoid">
          <a:avLst>
            <a:gd name="adj" fmla="val 106052"/>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a:t>Electricity and Sand</a:t>
          </a:r>
        </a:p>
      </dsp:txBody>
      <dsp:txXfrm>
        <a:off x="1840229" y="4338042"/>
        <a:ext cx="6835140" cy="61972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EFA0A-7C82-4FC5-8DB8-79C6C2CE92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FF5394-1206-4144-99F2-2123B3FD6F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35A8D3-D4E8-47A7-AB35-7967F37CD7BA}"/>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5" name="Footer Placeholder 4">
            <a:extLst>
              <a:ext uri="{FF2B5EF4-FFF2-40B4-BE49-F238E27FC236}">
                <a16:creationId xmlns:a16="http://schemas.microsoft.com/office/drawing/2014/main" id="{8CDD2A95-0250-4FC0-8A55-260F768D8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5594B-5D18-4624-B18A-2DA03F944743}"/>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1753817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6A014-F30A-40DF-A839-021359022B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5D2A9D-6DD9-4F47-8EBE-825FB666671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1EBC92-8E9F-42AD-8583-72B7E8C47969}"/>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5" name="Footer Placeholder 4">
            <a:extLst>
              <a:ext uri="{FF2B5EF4-FFF2-40B4-BE49-F238E27FC236}">
                <a16:creationId xmlns:a16="http://schemas.microsoft.com/office/drawing/2014/main" id="{F8798F8E-FD5A-4664-A8EF-A915BDC57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8D2598-2EDB-489C-B560-6E84F9FBF11A}"/>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2354916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44F2-A5CF-4DC8-B1C9-AD8BBC21EA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54FAF4-9C72-4508-BEC9-0DBA4AE728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0CC7B99-E9A0-43A0-870D-384E36AB391F}"/>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5" name="Footer Placeholder 4">
            <a:extLst>
              <a:ext uri="{FF2B5EF4-FFF2-40B4-BE49-F238E27FC236}">
                <a16:creationId xmlns:a16="http://schemas.microsoft.com/office/drawing/2014/main" id="{3B680666-A5AC-4269-9AA7-953E4AF402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2D46FC-3272-48EF-BC63-B44BDD008B03}"/>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4072552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E7743-5A56-40CF-96CD-A8702D07EE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7525E9-4209-47B8-9CBE-448D606B85A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C42CA2-7BF9-4A8C-BC61-6AEF4E88F51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C47760-5101-4CD9-9795-2CC866B687BD}"/>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6" name="Footer Placeholder 5">
            <a:extLst>
              <a:ext uri="{FF2B5EF4-FFF2-40B4-BE49-F238E27FC236}">
                <a16:creationId xmlns:a16="http://schemas.microsoft.com/office/drawing/2014/main" id="{EF4AC5E5-9FD3-4A20-9972-C176961B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E0EE97-8041-4352-8030-1A9ADB1191CE}"/>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2299813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A515-49DE-4188-91DA-2A7543067A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9DF807-A64A-4188-80DA-2D8D5EAA9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BC52F01-21A3-48E8-90A0-72D6546B875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13EF4F-D540-4D39-8C0A-BFBB1BAD49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64BA21-1344-4D2D-B08F-FC773AC461F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3F9005-46D8-45D8-A8DB-2D808D202CFB}"/>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8" name="Footer Placeholder 7">
            <a:extLst>
              <a:ext uri="{FF2B5EF4-FFF2-40B4-BE49-F238E27FC236}">
                <a16:creationId xmlns:a16="http://schemas.microsoft.com/office/drawing/2014/main" id="{42F69C39-B6D1-45B2-9D6D-7DE83679C1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E81714-53DE-4155-9E3C-B4439B3DC11C}"/>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223516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751A7-7F0B-4D70-8025-8325FD9A67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376DFF-AC37-4549-AA64-C7ECF270B5F8}"/>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4" name="Footer Placeholder 3">
            <a:extLst>
              <a:ext uri="{FF2B5EF4-FFF2-40B4-BE49-F238E27FC236}">
                <a16:creationId xmlns:a16="http://schemas.microsoft.com/office/drawing/2014/main" id="{CC798D72-E261-4424-9A65-7D77FF4D54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272B13-C9A2-494A-8BFD-B89D6BE434D7}"/>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1665254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116210-B9EC-4CA8-B311-A65712EDB556}"/>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3" name="Footer Placeholder 2">
            <a:extLst>
              <a:ext uri="{FF2B5EF4-FFF2-40B4-BE49-F238E27FC236}">
                <a16:creationId xmlns:a16="http://schemas.microsoft.com/office/drawing/2014/main" id="{D32184A9-D25E-442C-A540-C64C1F13D8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643923-83B4-4A5F-B672-EE58071FFCE6}"/>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619733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A4823-A3AA-424A-A029-009A81AABB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7DD6FD-F28B-4046-B2B6-EF6B3EDA2D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62D1F6-4CA3-4B84-BC01-764EF19D7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F75AADB-5CC3-4A8A-AF47-C393C9D10FCB}"/>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6" name="Footer Placeholder 5">
            <a:extLst>
              <a:ext uri="{FF2B5EF4-FFF2-40B4-BE49-F238E27FC236}">
                <a16:creationId xmlns:a16="http://schemas.microsoft.com/office/drawing/2014/main" id="{22CF2341-31DB-49D6-8F70-33D6FF67FE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3C0A28-0C07-4D41-8E94-7C953119DF7D}"/>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2195853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3F63-16E4-4A69-915A-E1AAFE3DD5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00F09E-C62D-4714-929E-FD483894F4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D97347-81E3-4380-B796-B67E9ADB5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09939F8-C484-4AA9-A89D-8691795DA494}"/>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6" name="Footer Placeholder 5">
            <a:extLst>
              <a:ext uri="{FF2B5EF4-FFF2-40B4-BE49-F238E27FC236}">
                <a16:creationId xmlns:a16="http://schemas.microsoft.com/office/drawing/2014/main" id="{DB7DEF00-522E-43A6-A96F-049B98AEB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A8DB64-8CC8-4DF9-B403-F3690B3EF1D5}"/>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2158422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E17B-B01E-4D5C-8BE6-8F7F8C55EC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0119FC-51C4-47AC-9CAE-3B01A63F7B7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48D923-502E-4424-9D1D-CD2E5E25BE7B}"/>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5" name="Footer Placeholder 4">
            <a:extLst>
              <a:ext uri="{FF2B5EF4-FFF2-40B4-BE49-F238E27FC236}">
                <a16:creationId xmlns:a16="http://schemas.microsoft.com/office/drawing/2014/main" id="{89946831-9EFE-4368-8560-179E5F9C5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138DE1-9E84-4C19-B4C0-8F940257EC2B}"/>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1768944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29A620-E205-4FBB-9D7E-03BD22EDD2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8ECC39-05F6-4BB5-A2C2-21169A62ACF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7CBE4A-488D-469E-8132-F4DB8E8E13BA}"/>
              </a:ext>
            </a:extLst>
          </p:cNvPr>
          <p:cNvSpPr>
            <a:spLocks noGrp="1"/>
          </p:cNvSpPr>
          <p:nvPr>
            <p:ph type="dt" sz="half" idx="10"/>
          </p:nvPr>
        </p:nvSpPr>
        <p:spPr/>
        <p:txBody>
          <a:bodyPr/>
          <a:lstStyle/>
          <a:p>
            <a:fld id="{EE5F89DF-1007-4236-AE25-37DDCCD189DB}" type="datetimeFigureOut">
              <a:rPr lang="en-US" smtClean="0"/>
              <a:t>2/8/2021</a:t>
            </a:fld>
            <a:endParaRPr lang="en-US"/>
          </a:p>
        </p:txBody>
      </p:sp>
      <p:sp>
        <p:nvSpPr>
          <p:cNvPr id="5" name="Footer Placeholder 4">
            <a:extLst>
              <a:ext uri="{FF2B5EF4-FFF2-40B4-BE49-F238E27FC236}">
                <a16:creationId xmlns:a16="http://schemas.microsoft.com/office/drawing/2014/main" id="{F961EB27-11E7-446D-BE03-7DABD0C37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70D77-A37F-41F4-8BE7-EB5D2B6CA13B}"/>
              </a:ext>
            </a:extLst>
          </p:cNvPr>
          <p:cNvSpPr>
            <a:spLocks noGrp="1"/>
          </p:cNvSpPr>
          <p:nvPr>
            <p:ph type="sldNum" sz="quarter" idx="12"/>
          </p:nvPr>
        </p:nvSpPr>
        <p:spPr/>
        <p:txBody>
          <a:bodyPr/>
          <a:lstStyle/>
          <a:p>
            <a:fld id="{CB21D166-1976-45CF-9A0C-42A62C55C7A5}" type="slidenum">
              <a:rPr lang="en-US" smtClean="0"/>
              <a:t>‹#›</a:t>
            </a:fld>
            <a:endParaRPr lang="en-US"/>
          </a:p>
        </p:txBody>
      </p:sp>
    </p:spTree>
    <p:extLst>
      <p:ext uri="{BB962C8B-B14F-4D97-AF65-F5344CB8AC3E}">
        <p14:creationId xmlns:p14="http://schemas.microsoft.com/office/powerpoint/2010/main" val="2221496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6BC4D0-CFF7-472E-B32C-D1C116D5D0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6E84A0-4168-4288-807B-F98EBA2260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5F5B49-6E95-406F-A07C-83022D3F80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5F89DF-1007-4236-AE25-37DDCCD189DB}" type="datetimeFigureOut">
              <a:rPr lang="en-US" smtClean="0"/>
              <a:t>2/8/2021</a:t>
            </a:fld>
            <a:endParaRPr lang="en-US"/>
          </a:p>
        </p:txBody>
      </p:sp>
      <p:sp>
        <p:nvSpPr>
          <p:cNvPr id="5" name="Footer Placeholder 4">
            <a:extLst>
              <a:ext uri="{FF2B5EF4-FFF2-40B4-BE49-F238E27FC236}">
                <a16:creationId xmlns:a16="http://schemas.microsoft.com/office/drawing/2014/main" id="{2F4D3F32-61A4-45F1-9FEB-AA12E05A69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FFC31B-06A8-4A83-A5DF-FF384B644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21D166-1976-45CF-9A0C-42A62C55C7A5}" type="slidenum">
              <a:rPr lang="en-US" smtClean="0"/>
              <a:t>‹#›</a:t>
            </a:fld>
            <a:endParaRPr lang="en-US"/>
          </a:p>
        </p:txBody>
      </p:sp>
    </p:spTree>
    <p:extLst>
      <p:ext uri="{BB962C8B-B14F-4D97-AF65-F5344CB8AC3E}">
        <p14:creationId xmlns:p14="http://schemas.microsoft.com/office/powerpoint/2010/main" val="4163552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98A38-012D-49E1-9031-53FCE7AF11B8}"/>
              </a:ext>
            </a:extLst>
          </p:cNvPr>
          <p:cNvSpPr>
            <a:spLocks noGrp="1"/>
          </p:cNvSpPr>
          <p:nvPr>
            <p:ph type="ctrTitle"/>
          </p:nvPr>
        </p:nvSpPr>
        <p:spPr/>
        <p:txBody>
          <a:bodyPr/>
          <a:lstStyle/>
          <a:p>
            <a:r>
              <a:rPr lang="en-US" dirty="0"/>
              <a:t>Intro &amp; Refreshers</a:t>
            </a:r>
          </a:p>
        </p:txBody>
      </p:sp>
    </p:spTree>
    <p:extLst>
      <p:ext uri="{BB962C8B-B14F-4D97-AF65-F5344CB8AC3E}">
        <p14:creationId xmlns:p14="http://schemas.microsoft.com/office/powerpoint/2010/main" val="9900081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807939-8669-4998-B0B7-7836F382DB54}"/>
              </a:ext>
            </a:extLst>
          </p:cNvPr>
          <p:cNvSpPr>
            <a:spLocks noGrp="1"/>
          </p:cNvSpPr>
          <p:nvPr>
            <p:ph type="title"/>
          </p:nvPr>
        </p:nvSpPr>
        <p:spPr>
          <a:xfrm>
            <a:off x="838200" y="365125"/>
            <a:ext cx="10515600" cy="1325563"/>
          </a:xfrm>
        </p:spPr>
        <p:txBody>
          <a:bodyPr/>
          <a:lstStyle/>
          <a:p>
            <a:r>
              <a:rPr lang="en-US" dirty="0"/>
              <a:t>What’s Expected From You</a:t>
            </a:r>
          </a:p>
        </p:txBody>
      </p:sp>
      <p:sp>
        <p:nvSpPr>
          <p:cNvPr id="5" name="Content Placeholder 2">
            <a:extLst>
              <a:ext uri="{FF2B5EF4-FFF2-40B4-BE49-F238E27FC236}">
                <a16:creationId xmlns:a16="http://schemas.microsoft.com/office/drawing/2014/main" id="{41755F3C-D507-4E65-A6A9-788F1FF4EFC3}"/>
              </a:ext>
            </a:extLst>
          </p:cNvPr>
          <p:cNvSpPr>
            <a:spLocks noGrp="1"/>
          </p:cNvSpPr>
          <p:nvPr>
            <p:ph idx="1"/>
          </p:nvPr>
        </p:nvSpPr>
        <p:spPr>
          <a:xfrm>
            <a:off x="838200" y="1825625"/>
            <a:ext cx="10515600" cy="4351338"/>
          </a:xfrm>
        </p:spPr>
        <p:txBody>
          <a:bodyPr>
            <a:normAutofit lnSpcReduction="10000"/>
          </a:bodyPr>
          <a:lstStyle/>
          <a:p>
            <a:r>
              <a:rPr lang="en-US" dirty="0"/>
              <a:t>Attend Lectures</a:t>
            </a:r>
          </a:p>
          <a:p>
            <a:pPr lvl="1"/>
            <a:r>
              <a:rPr lang="en-US" dirty="0"/>
              <a:t>If you don’t, you will miss out on things that you will need to know</a:t>
            </a:r>
          </a:p>
          <a:p>
            <a:pPr lvl="1"/>
            <a:r>
              <a:rPr lang="en-US" dirty="0"/>
              <a:t>Reading the slides is not enough</a:t>
            </a:r>
          </a:p>
          <a:p>
            <a:r>
              <a:rPr lang="en-US" dirty="0"/>
              <a:t>Be active and think critically</a:t>
            </a:r>
          </a:p>
          <a:p>
            <a:pPr lvl="1"/>
            <a:r>
              <a:rPr lang="en-US" dirty="0"/>
              <a:t>Ask questions. Come to office hours if you need to. Send email.</a:t>
            </a:r>
          </a:p>
          <a:p>
            <a:r>
              <a:rPr lang="en-US" dirty="0"/>
              <a:t>Do projects and homework</a:t>
            </a:r>
          </a:p>
          <a:p>
            <a:pPr lvl="1"/>
            <a:r>
              <a:rPr lang="en-US" dirty="0"/>
              <a:t>Start early and be honest</a:t>
            </a:r>
          </a:p>
          <a:p>
            <a:r>
              <a:rPr lang="en-US" dirty="0"/>
              <a:t>Study for tests</a:t>
            </a:r>
          </a:p>
          <a:p>
            <a:r>
              <a:rPr lang="en-US" dirty="0"/>
              <a:t>Respect the class and each other</a:t>
            </a:r>
          </a:p>
          <a:p>
            <a:pPr lvl="1"/>
            <a:r>
              <a:rPr lang="en-US" dirty="0"/>
              <a:t>Devices for notes only</a:t>
            </a:r>
          </a:p>
        </p:txBody>
      </p:sp>
    </p:spTree>
    <p:extLst>
      <p:ext uri="{BB962C8B-B14F-4D97-AF65-F5344CB8AC3E}">
        <p14:creationId xmlns:p14="http://schemas.microsoft.com/office/powerpoint/2010/main" val="22919752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49B49-B7D6-434C-9B5B-3A984260CB8D}"/>
              </a:ext>
            </a:extLst>
          </p:cNvPr>
          <p:cNvSpPr>
            <a:spLocks noGrp="1"/>
          </p:cNvSpPr>
          <p:nvPr>
            <p:ph type="title"/>
          </p:nvPr>
        </p:nvSpPr>
        <p:spPr/>
        <p:txBody>
          <a:bodyPr/>
          <a:lstStyle/>
          <a:p>
            <a:r>
              <a:rPr lang="en-US" dirty="0"/>
              <a:t>Computer Architect</a:t>
            </a:r>
          </a:p>
        </p:txBody>
      </p:sp>
      <p:sp>
        <p:nvSpPr>
          <p:cNvPr id="3" name="Content Placeholder 2">
            <a:extLst>
              <a:ext uri="{FF2B5EF4-FFF2-40B4-BE49-F238E27FC236}">
                <a16:creationId xmlns:a16="http://schemas.microsoft.com/office/drawing/2014/main" id="{3D14FC7E-2AB4-4109-B68B-B72CEFB626E7}"/>
              </a:ext>
            </a:extLst>
          </p:cNvPr>
          <p:cNvSpPr>
            <a:spLocks noGrp="1"/>
          </p:cNvSpPr>
          <p:nvPr>
            <p:ph idx="1"/>
          </p:nvPr>
        </p:nvSpPr>
        <p:spPr/>
        <p:txBody>
          <a:bodyPr/>
          <a:lstStyle/>
          <a:p>
            <a:r>
              <a:rPr lang="en-US" dirty="0"/>
              <a:t>Look backward (what has already been done)</a:t>
            </a:r>
          </a:p>
          <a:p>
            <a:pPr lvl="1"/>
            <a:r>
              <a:rPr lang="en-US" dirty="0"/>
              <a:t>Understand design decisions and tradeoffs. Remember – people in the past were just as smart as you.</a:t>
            </a:r>
          </a:p>
          <a:p>
            <a:r>
              <a:rPr lang="en-US" dirty="0"/>
              <a:t>Look forward (what is coming)</a:t>
            </a:r>
          </a:p>
          <a:p>
            <a:pPr lvl="1"/>
            <a:r>
              <a:rPr lang="en-US" dirty="0"/>
              <a:t>Push the state of the art. Consider new materials, new ideas and manufacturing processes as well as new needs.</a:t>
            </a:r>
          </a:p>
          <a:p>
            <a:r>
              <a:rPr lang="en-US" dirty="0"/>
              <a:t>Look up (at the rest of the computing infrastructure)</a:t>
            </a:r>
          </a:p>
          <a:p>
            <a:pPr lvl="1"/>
            <a:r>
              <a:rPr lang="en-US" dirty="0"/>
              <a:t>New languages, software engineering principles change requirements</a:t>
            </a:r>
          </a:p>
          <a:p>
            <a:r>
              <a:rPr lang="en-US" dirty="0"/>
              <a:t>Look down (towards circuits)</a:t>
            </a:r>
          </a:p>
          <a:p>
            <a:pPr lvl="1"/>
            <a:r>
              <a:rPr lang="en-US" dirty="0"/>
              <a:t>What’s new in circuit design that changes what we can do?</a:t>
            </a:r>
          </a:p>
        </p:txBody>
      </p:sp>
    </p:spTree>
    <p:extLst>
      <p:ext uri="{BB962C8B-B14F-4D97-AF65-F5344CB8AC3E}">
        <p14:creationId xmlns:p14="http://schemas.microsoft.com/office/powerpoint/2010/main" val="38667242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ECA1-365F-46D7-99D6-E9BF724C9DF1}"/>
              </a:ext>
            </a:extLst>
          </p:cNvPr>
          <p:cNvSpPr>
            <a:spLocks noGrp="1"/>
          </p:cNvSpPr>
          <p:nvPr>
            <p:ph type="title"/>
          </p:nvPr>
        </p:nvSpPr>
        <p:spPr>
          <a:xfrm>
            <a:off x="838200" y="0"/>
            <a:ext cx="10515600" cy="836024"/>
          </a:xfrm>
        </p:spPr>
        <p:txBody>
          <a:bodyPr>
            <a:normAutofit/>
          </a:bodyPr>
          <a:lstStyle/>
          <a:p>
            <a:r>
              <a:rPr lang="en-US" dirty="0"/>
              <a:t>This Course</a:t>
            </a:r>
          </a:p>
        </p:txBody>
      </p:sp>
      <p:graphicFrame>
        <p:nvGraphicFramePr>
          <p:cNvPr id="4" name="Content Placeholder 3">
            <a:extLst>
              <a:ext uri="{FF2B5EF4-FFF2-40B4-BE49-F238E27FC236}">
                <a16:creationId xmlns:a16="http://schemas.microsoft.com/office/drawing/2014/main" id="{BD1B0947-D43F-487F-A09D-2FC1E5927E38}"/>
              </a:ext>
            </a:extLst>
          </p:cNvPr>
          <p:cNvGraphicFramePr>
            <a:graphicFrameLocks noGrp="1"/>
          </p:cNvGraphicFramePr>
          <p:nvPr>
            <p:ph idx="1"/>
            <p:extLst>
              <p:ext uri="{D42A27DB-BD31-4B8C-83A1-F6EECF244321}">
                <p14:modId xmlns:p14="http://schemas.microsoft.com/office/powerpoint/2010/main" val="2980884851"/>
              </p:ext>
            </p:extLst>
          </p:nvPr>
        </p:nvGraphicFramePr>
        <p:xfrm>
          <a:off x="838200" y="1219200"/>
          <a:ext cx="10515600" cy="4957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2590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F5348-CFB4-40F7-8CE9-C692E3C01A79}"/>
              </a:ext>
            </a:extLst>
          </p:cNvPr>
          <p:cNvSpPr>
            <a:spLocks noGrp="1"/>
          </p:cNvSpPr>
          <p:nvPr>
            <p:ph type="title"/>
          </p:nvPr>
        </p:nvSpPr>
        <p:spPr/>
        <p:txBody>
          <a:bodyPr/>
          <a:lstStyle/>
          <a:p>
            <a:r>
              <a:rPr lang="en-US" dirty="0"/>
              <a:t>Abstractions</a:t>
            </a:r>
          </a:p>
        </p:txBody>
      </p:sp>
      <p:sp>
        <p:nvSpPr>
          <p:cNvPr id="3" name="Content Placeholder 2">
            <a:extLst>
              <a:ext uri="{FF2B5EF4-FFF2-40B4-BE49-F238E27FC236}">
                <a16:creationId xmlns:a16="http://schemas.microsoft.com/office/drawing/2014/main" id="{F0175C02-305B-4E71-B8CC-1B326714B9CD}"/>
              </a:ext>
            </a:extLst>
          </p:cNvPr>
          <p:cNvSpPr>
            <a:spLocks noGrp="1"/>
          </p:cNvSpPr>
          <p:nvPr>
            <p:ph idx="1"/>
          </p:nvPr>
        </p:nvSpPr>
        <p:spPr/>
        <p:txBody>
          <a:bodyPr/>
          <a:lstStyle/>
          <a:p>
            <a:pPr marL="0" indent="0">
              <a:buNone/>
            </a:pPr>
            <a:r>
              <a:rPr lang="en-US" dirty="0"/>
              <a:t>We go through our lives knowing but not thinking actively about many things. </a:t>
            </a:r>
          </a:p>
          <a:p>
            <a:pPr marL="0" indent="0">
              <a:buNone/>
            </a:pPr>
            <a:endParaRPr lang="en-US" dirty="0"/>
          </a:p>
          <a:p>
            <a:pPr marL="0" indent="0">
              <a:buNone/>
            </a:pPr>
            <a:r>
              <a:rPr lang="en-US" dirty="0"/>
              <a:t>When I drive, I don’t consider what I know about the internal combustion engine. When I cook, I don’t consider the chemical changes inside my food.</a:t>
            </a:r>
          </a:p>
          <a:p>
            <a:pPr marL="0" indent="0">
              <a:buNone/>
            </a:pPr>
            <a:endParaRPr lang="en-US" dirty="0"/>
          </a:p>
          <a:p>
            <a:pPr marL="0" indent="0">
              <a:buNone/>
            </a:pPr>
            <a:r>
              <a:rPr lang="en-US" dirty="0"/>
              <a:t>Even though I </a:t>
            </a:r>
            <a:r>
              <a:rPr lang="en-US" b="1" dirty="0"/>
              <a:t>know</a:t>
            </a:r>
            <a:r>
              <a:rPr lang="en-US" dirty="0"/>
              <a:t> something about it, I don’t </a:t>
            </a:r>
            <a:r>
              <a:rPr lang="en-US" b="1" dirty="0"/>
              <a:t>actively</a:t>
            </a:r>
            <a:r>
              <a:rPr lang="en-US" dirty="0"/>
              <a:t> consider it.</a:t>
            </a:r>
          </a:p>
          <a:p>
            <a:pPr marL="0" indent="0">
              <a:buNone/>
            </a:pPr>
            <a:r>
              <a:rPr lang="en-US" dirty="0"/>
              <a:t>Abstractions reduce my cognitive load.</a:t>
            </a:r>
          </a:p>
        </p:txBody>
      </p:sp>
    </p:spTree>
    <p:extLst>
      <p:ext uri="{BB962C8B-B14F-4D97-AF65-F5344CB8AC3E}">
        <p14:creationId xmlns:p14="http://schemas.microsoft.com/office/powerpoint/2010/main" val="41153765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45E7D-161C-4F59-91AE-06903DE6E522}"/>
              </a:ext>
            </a:extLst>
          </p:cNvPr>
          <p:cNvSpPr>
            <a:spLocks noGrp="1"/>
          </p:cNvSpPr>
          <p:nvPr>
            <p:ph type="title"/>
          </p:nvPr>
        </p:nvSpPr>
        <p:spPr/>
        <p:txBody>
          <a:bodyPr/>
          <a:lstStyle/>
          <a:p>
            <a:r>
              <a:rPr lang="en-US" dirty="0"/>
              <a:t>Then why learn?</a:t>
            </a:r>
          </a:p>
        </p:txBody>
      </p:sp>
      <p:sp>
        <p:nvSpPr>
          <p:cNvPr id="3" name="Content Placeholder 2">
            <a:extLst>
              <a:ext uri="{FF2B5EF4-FFF2-40B4-BE49-F238E27FC236}">
                <a16:creationId xmlns:a16="http://schemas.microsoft.com/office/drawing/2014/main" id="{EDEFA0ED-851A-4FD1-BB3A-8077B10F9DDF}"/>
              </a:ext>
            </a:extLst>
          </p:cNvPr>
          <p:cNvSpPr>
            <a:spLocks noGrp="1"/>
          </p:cNvSpPr>
          <p:nvPr>
            <p:ph idx="1"/>
          </p:nvPr>
        </p:nvSpPr>
        <p:spPr/>
        <p:txBody>
          <a:bodyPr/>
          <a:lstStyle/>
          <a:p>
            <a:pPr marL="0" indent="0">
              <a:buNone/>
            </a:pPr>
            <a:r>
              <a:rPr lang="en-US" dirty="0"/>
              <a:t>What if something goes wrong?</a:t>
            </a:r>
          </a:p>
          <a:p>
            <a:pPr marL="0" indent="0">
              <a:buNone/>
            </a:pPr>
            <a:r>
              <a:rPr lang="en-US" dirty="0"/>
              <a:t>	My program is too slow</a:t>
            </a:r>
          </a:p>
          <a:p>
            <a:pPr marL="0" indent="0">
              <a:buNone/>
            </a:pPr>
            <a:r>
              <a:rPr lang="en-US" dirty="0"/>
              <a:t>	My program isn’t returning the results I expect</a:t>
            </a:r>
          </a:p>
          <a:p>
            <a:pPr marL="0" indent="0">
              <a:buNone/>
            </a:pPr>
            <a:r>
              <a:rPr lang="en-US" dirty="0"/>
              <a:t>	I need a computer that uses less power</a:t>
            </a:r>
          </a:p>
          <a:p>
            <a:pPr marL="0" indent="0">
              <a:buNone/>
            </a:pPr>
            <a:r>
              <a:rPr lang="en-US" dirty="0"/>
              <a:t>	My operating system is compromised</a:t>
            </a:r>
          </a:p>
        </p:txBody>
      </p:sp>
    </p:spTree>
    <p:extLst>
      <p:ext uri="{BB962C8B-B14F-4D97-AF65-F5344CB8AC3E}">
        <p14:creationId xmlns:p14="http://schemas.microsoft.com/office/powerpoint/2010/main" val="33799290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D1AE-8F62-4C6A-8818-F7C3D9EC6C8E}"/>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E5B3CF86-1E75-426D-89B5-BF22111A1684}"/>
              </a:ext>
            </a:extLst>
          </p:cNvPr>
          <p:cNvSpPr>
            <a:spLocks noGrp="1"/>
          </p:cNvSpPr>
          <p:nvPr>
            <p:ph idx="1"/>
          </p:nvPr>
        </p:nvSpPr>
        <p:spPr/>
        <p:txBody>
          <a:bodyPr/>
          <a:lstStyle/>
          <a:p>
            <a:pPr marL="514350" indent="-514350">
              <a:buAutoNum type="arabicParenR"/>
            </a:pPr>
            <a:r>
              <a:rPr lang="en-US" dirty="0"/>
              <a:t>Learn how processors and computer work, from the electricity and sand level to (just below) the operating system level</a:t>
            </a:r>
          </a:p>
          <a:p>
            <a:pPr marL="514350" indent="-514350">
              <a:buAutoNum type="arabicParenR"/>
            </a:pPr>
            <a:r>
              <a:rPr lang="en-US" dirty="0"/>
              <a:t>Solidify our assembly language knowledge</a:t>
            </a:r>
          </a:p>
          <a:p>
            <a:pPr marL="514350" indent="-514350">
              <a:buAutoNum type="arabicParenR"/>
            </a:pPr>
            <a:r>
              <a:rPr lang="en-US" dirty="0"/>
              <a:t>Understand and make design tradeoffs</a:t>
            </a:r>
          </a:p>
          <a:p>
            <a:pPr marL="514350" indent="-514350">
              <a:buAutoNum type="arabicParenR"/>
            </a:pPr>
            <a:r>
              <a:rPr lang="en-US" dirty="0"/>
              <a:t>Be able to make more knowledgeable recommendations on computer hardware and systems</a:t>
            </a:r>
          </a:p>
          <a:p>
            <a:pPr marL="514350" indent="-514350">
              <a:buAutoNum type="arabicParenR"/>
            </a:pPr>
            <a:endParaRPr lang="en-US" dirty="0"/>
          </a:p>
        </p:txBody>
      </p:sp>
    </p:spTree>
    <p:extLst>
      <p:ext uri="{BB962C8B-B14F-4D97-AF65-F5344CB8AC3E}">
        <p14:creationId xmlns:p14="http://schemas.microsoft.com/office/powerpoint/2010/main" val="35304192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41574-B83F-427D-9C53-03E30B2E55E5}"/>
              </a:ext>
            </a:extLst>
          </p:cNvPr>
          <p:cNvSpPr>
            <a:spLocks noGrp="1"/>
          </p:cNvSpPr>
          <p:nvPr>
            <p:ph type="title"/>
          </p:nvPr>
        </p:nvSpPr>
        <p:spPr/>
        <p:txBody>
          <a:bodyPr/>
          <a:lstStyle/>
          <a:p>
            <a:r>
              <a:rPr lang="en-US" dirty="0"/>
              <a:t>Von Neumann Model</a:t>
            </a:r>
          </a:p>
        </p:txBody>
      </p:sp>
      <p:sp>
        <p:nvSpPr>
          <p:cNvPr id="3" name="Content Placeholder 2">
            <a:extLst>
              <a:ext uri="{FF2B5EF4-FFF2-40B4-BE49-F238E27FC236}">
                <a16:creationId xmlns:a16="http://schemas.microsoft.com/office/drawing/2014/main" id="{C56632A3-3879-4D22-9204-3C6B56691324}"/>
              </a:ext>
            </a:extLst>
          </p:cNvPr>
          <p:cNvSpPr>
            <a:spLocks noGrp="1"/>
          </p:cNvSpPr>
          <p:nvPr>
            <p:ph idx="1"/>
          </p:nvPr>
        </p:nvSpPr>
        <p:spPr/>
        <p:txBody>
          <a:bodyPr/>
          <a:lstStyle/>
          <a:p>
            <a:r>
              <a:rPr lang="en-US" dirty="0"/>
              <a:t>Also known as the stored program model</a:t>
            </a:r>
          </a:p>
          <a:p>
            <a:pPr lvl="1"/>
            <a:r>
              <a:rPr lang="en-US" dirty="0"/>
              <a:t>Instructions stored in memory one after another</a:t>
            </a:r>
          </a:p>
          <a:p>
            <a:pPr lvl="1"/>
            <a:r>
              <a:rPr lang="en-US" dirty="0"/>
              <a:t>Memory is unified – one memory for program and data</a:t>
            </a:r>
          </a:p>
          <a:p>
            <a:pPr lvl="1"/>
            <a:r>
              <a:rPr lang="en-US" dirty="0"/>
              <a:t>Except for control instructions, instructions are sequential</a:t>
            </a:r>
          </a:p>
          <a:p>
            <a:pPr marL="457200" lvl="1" indent="0">
              <a:buNone/>
            </a:pPr>
            <a:endParaRPr lang="en-US" dirty="0"/>
          </a:p>
        </p:txBody>
      </p:sp>
    </p:spTree>
    <p:extLst>
      <p:ext uri="{BB962C8B-B14F-4D97-AF65-F5344CB8AC3E}">
        <p14:creationId xmlns:p14="http://schemas.microsoft.com/office/powerpoint/2010/main" val="9791539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6B0D9-F7EE-496D-830B-572B942DD525}"/>
              </a:ext>
            </a:extLst>
          </p:cNvPr>
          <p:cNvSpPr>
            <a:spLocks noGrp="1"/>
          </p:cNvSpPr>
          <p:nvPr>
            <p:ph type="title"/>
          </p:nvPr>
        </p:nvSpPr>
        <p:spPr>
          <a:xfrm>
            <a:off x="838200" y="365125"/>
            <a:ext cx="10653584" cy="1325563"/>
          </a:xfrm>
        </p:spPr>
        <p:txBody>
          <a:bodyPr/>
          <a:lstStyle/>
          <a:p>
            <a:r>
              <a:rPr lang="en-US" dirty="0"/>
              <a:t>How do we represent numbers in a computer?</a:t>
            </a:r>
          </a:p>
        </p:txBody>
      </p:sp>
      <p:sp>
        <p:nvSpPr>
          <p:cNvPr id="3" name="Content Placeholder 2">
            <a:extLst>
              <a:ext uri="{FF2B5EF4-FFF2-40B4-BE49-F238E27FC236}">
                <a16:creationId xmlns:a16="http://schemas.microsoft.com/office/drawing/2014/main" id="{A037D6A3-5F27-43B1-8C49-3820BDC68011}"/>
              </a:ext>
            </a:extLst>
          </p:cNvPr>
          <p:cNvSpPr>
            <a:spLocks noGrp="1"/>
          </p:cNvSpPr>
          <p:nvPr>
            <p:ph idx="1"/>
          </p:nvPr>
        </p:nvSpPr>
        <p:spPr/>
        <p:txBody>
          <a:bodyPr/>
          <a:lstStyle/>
          <a:p>
            <a:pPr marL="0" indent="0">
              <a:buNone/>
            </a:pPr>
            <a:r>
              <a:rPr lang="en-US" dirty="0"/>
              <a:t>Computers have no implicit understanding of numbers, math, letters, words or, really, anything.</a:t>
            </a:r>
          </a:p>
          <a:p>
            <a:pPr marL="0" indent="0">
              <a:buNone/>
            </a:pPr>
            <a:endParaRPr lang="en-US" dirty="0"/>
          </a:p>
          <a:p>
            <a:pPr marL="0" indent="0">
              <a:buNone/>
            </a:pPr>
            <a:r>
              <a:rPr lang="en-US" dirty="0"/>
              <a:t>What they CAN do is follow certain rules/operations that are built in.</a:t>
            </a:r>
          </a:p>
          <a:p>
            <a:pPr marL="0" indent="0">
              <a:buNone/>
            </a:pPr>
            <a:endParaRPr lang="en-US" dirty="0"/>
          </a:p>
          <a:p>
            <a:pPr marL="0" indent="0">
              <a:buNone/>
            </a:pPr>
            <a:r>
              <a:rPr lang="en-US" dirty="0"/>
              <a:t>In order for this to be useful, we all have to agree on some basic principles. </a:t>
            </a:r>
          </a:p>
        </p:txBody>
      </p:sp>
    </p:spTree>
    <p:extLst>
      <p:ext uri="{BB962C8B-B14F-4D97-AF65-F5344CB8AC3E}">
        <p14:creationId xmlns:p14="http://schemas.microsoft.com/office/powerpoint/2010/main" val="21682910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700D48D-C9AA-4000-A912-29A4FEA98A9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29D1085-8F55-431B-B4F7-124B62610530}"/>
              </a:ext>
            </a:extLst>
          </p:cNvPr>
          <p:cNvSpPr>
            <a:spLocks noGrp="1"/>
          </p:cNvSpPr>
          <p:nvPr>
            <p:ph type="title"/>
          </p:nvPr>
        </p:nvSpPr>
        <p:spPr>
          <a:xfrm>
            <a:off x="1018604" y="1053042"/>
            <a:ext cx="4458424" cy="3068357"/>
          </a:xfrm>
        </p:spPr>
        <p:txBody>
          <a:bodyPr vert="horz" lIns="91440" tIns="45720" rIns="91440" bIns="45720" rtlCol="0" anchor="b">
            <a:normAutofit/>
          </a:bodyPr>
          <a:lstStyle/>
          <a:p>
            <a:r>
              <a:rPr lang="en-US" sz="6000" dirty="0">
                <a:solidFill>
                  <a:srgbClr val="FFFFFF"/>
                </a:solidFill>
              </a:rPr>
              <a:t>Integers in base 10</a:t>
            </a:r>
          </a:p>
        </p:txBody>
      </p:sp>
      <p:pic>
        <p:nvPicPr>
          <p:cNvPr id="10" name="Picture 9" descr="A close up of a logo&#10;&#10;Description generated with very high confidence">
            <a:extLst>
              <a:ext uri="{FF2B5EF4-FFF2-40B4-BE49-F238E27FC236}">
                <a16:creationId xmlns:a16="http://schemas.microsoft.com/office/drawing/2014/main" id="{A1695A11-CA5B-4F9D-A9E2-655D5B738D1C}"/>
              </a:ext>
            </a:extLst>
          </p:cNvPr>
          <p:cNvPicPr>
            <a:picLocks noChangeAspect="1"/>
          </p:cNvPicPr>
          <p:nvPr/>
        </p:nvPicPr>
        <p:blipFill rotWithShape="1">
          <a:blip r:embed="rId2">
            <a:extLst>
              <a:ext uri="{28A0092B-C50C-407E-A947-70E740481C1C}">
                <a14:useLocalDpi xmlns:a14="http://schemas.microsoft.com/office/drawing/2010/main" val="0"/>
              </a:ext>
            </a:extLst>
          </a:blip>
          <a:srcRect l="10072" t="6970" r="3049" b="4848"/>
          <a:stretch/>
        </p:blipFill>
        <p:spPr>
          <a:xfrm>
            <a:off x="6225129" y="667469"/>
            <a:ext cx="5898292" cy="2397208"/>
          </a:xfrm>
          <a:prstGeom prst="rect">
            <a:avLst/>
          </a:prstGeom>
        </p:spPr>
      </p:pic>
      <p:cxnSp>
        <p:nvCxnSpPr>
          <p:cNvPr id="24" name="Straight Connector 23">
            <a:extLst>
              <a:ext uri="{FF2B5EF4-FFF2-40B4-BE49-F238E27FC236}">
                <a16:creationId xmlns:a16="http://schemas.microsoft.com/office/drawing/2014/main" id="{805E69BC-D844-4AB5-9E35-ED458EE29655}"/>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312C673-8179-457E-AD2A-D1FAE4CC961A}"/>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6AB0864-165E-45F9-8644-919B7108D5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2143" y="3750733"/>
            <a:ext cx="3964265" cy="2794807"/>
          </a:xfrm>
          <a:prstGeom prst="rect">
            <a:avLst/>
          </a:prstGeom>
        </p:spPr>
      </p:pic>
    </p:spTree>
    <p:extLst>
      <p:ext uri="{BB962C8B-B14F-4D97-AF65-F5344CB8AC3E}">
        <p14:creationId xmlns:p14="http://schemas.microsoft.com/office/powerpoint/2010/main" val="8106997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6CF29CD-38B8-4924-BA11-6D60517487E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42816"/>
            <a:ext cx="12192000" cy="26151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857C1A-081D-4B00-B3BD-7E5578690B95}"/>
              </a:ext>
            </a:extLst>
          </p:cNvPr>
          <p:cNvSpPr>
            <a:spLocks noGrp="1"/>
          </p:cNvSpPr>
          <p:nvPr>
            <p:ph type="title"/>
          </p:nvPr>
        </p:nvSpPr>
        <p:spPr>
          <a:xfrm>
            <a:off x="707011" y="4502330"/>
            <a:ext cx="10765410" cy="1207269"/>
          </a:xfrm>
        </p:spPr>
        <p:txBody>
          <a:bodyPr vert="horz" lIns="91440" tIns="45720" rIns="91440" bIns="45720" rtlCol="0" anchor="b">
            <a:normAutofit/>
          </a:bodyPr>
          <a:lstStyle/>
          <a:p>
            <a:pPr algn="ctr"/>
            <a:r>
              <a:rPr lang="en-US" sz="6000" dirty="0">
                <a:solidFill>
                  <a:schemeClr val="bg1"/>
                </a:solidFill>
              </a:rPr>
              <a:t>Integers in base 2 (binary)</a:t>
            </a:r>
          </a:p>
        </p:txBody>
      </p:sp>
      <p:cxnSp>
        <p:nvCxnSpPr>
          <p:cNvPr id="14" name="Straight Connector 13">
            <a:extLst>
              <a:ext uri="{FF2B5EF4-FFF2-40B4-BE49-F238E27FC236}">
                <a16:creationId xmlns:a16="http://schemas.microsoft.com/office/drawing/2014/main" id="{3D83F26F-C55B-4A92-9AFF-4894D14E27C5}"/>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060136"/>
            <a:ext cx="0" cy="21209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screenshot of a cell phone&#10;&#10;Description generated with very high confidence">
            <a:extLst>
              <a:ext uri="{FF2B5EF4-FFF2-40B4-BE49-F238E27FC236}">
                <a16:creationId xmlns:a16="http://schemas.microsoft.com/office/drawing/2014/main" id="{0BCE839E-4EAF-48EC-A1C9-ABBE6DE4D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4433" y="321734"/>
            <a:ext cx="3174973" cy="3597704"/>
          </a:xfrm>
          <a:prstGeom prst="rect">
            <a:avLst/>
          </a:prstGeom>
        </p:spPr>
      </p:pic>
      <p:pic>
        <p:nvPicPr>
          <p:cNvPr id="9" name="Picture 8" descr="A close up of a logo&#10;&#10;Description generated with very high confidence">
            <a:extLst>
              <a:ext uri="{FF2B5EF4-FFF2-40B4-BE49-F238E27FC236}">
                <a16:creationId xmlns:a16="http://schemas.microsoft.com/office/drawing/2014/main" id="{F57EC3E0-88D0-43AF-AA08-9C53432F5F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7373"/>
            <a:ext cx="9145276" cy="2686425"/>
          </a:xfrm>
          <a:prstGeom prst="rect">
            <a:avLst/>
          </a:prstGeom>
        </p:spPr>
      </p:pic>
    </p:spTree>
    <p:extLst>
      <p:ext uri="{BB962C8B-B14F-4D97-AF65-F5344CB8AC3E}">
        <p14:creationId xmlns:p14="http://schemas.microsoft.com/office/powerpoint/2010/main" val="25347626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6126B-A435-4A2A-8C28-1B09DA53EA51}"/>
              </a:ext>
            </a:extLst>
          </p:cNvPr>
          <p:cNvSpPr>
            <a:spLocks noGrp="1"/>
          </p:cNvSpPr>
          <p:nvPr>
            <p:ph type="title"/>
          </p:nvPr>
        </p:nvSpPr>
        <p:spPr/>
        <p:txBody>
          <a:bodyPr/>
          <a:lstStyle/>
          <a:p>
            <a:r>
              <a:rPr lang="en-US" dirty="0"/>
              <a:t>Operations - Addition</a:t>
            </a:r>
          </a:p>
        </p:txBody>
      </p:sp>
      <p:sp>
        <p:nvSpPr>
          <p:cNvPr id="3" name="Content Placeholder 2">
            <a:extLst>
              <a:ext uri="{FF2B5EF4-FFF2-40B4-BE49-F238E27FC236}">
                <a16:creationId xmlns:a16="http://schemas.microsoft.com/office/drawing/2014/main" id="{724713F9-93B1-4D10-AF38-C98195213BD9}"/>
              </a:ext>
            </a:extLst>
          </p:cNvPr>
          <p:cNvSpPr>
            <a:spLocks noGrp="1"/>
          </p:cNvSpPr>
          <p:nvPr>
            <p:ph idx="1"/>
          </p:nvPr>
        </p:nvSpPr>
        <p:spPr>
          <a:xfrm>
            <a:off x="838200" y="1351005"/>
            <a:ext cx="10515600" cy="5141870"/>
          </a:xfrm>
        </p:spPr>
        <p:txBody>
          <a:bodyPr>
            <a:normAutofit/>
          </a:bodyPr>
          <a:lstStyle/>
          <a:p>
            <a:pPr marL="0" indent="0">
              <a:buNone/>
            </a:pPr>
            <a:r>
              <a:rPr lang="en-US" dirty="0"/>
              <a:t>When we add “normal numbers” in base 10, how do we do it?</a:t>
            </a:r>
          </a:p>
          <a:p>
            <a:pPr marL="0" indent="0">
              <a:buNone/>
            </a:pPr>
            <a:r>
              <a:rPr lang="en-US" dirty="0"/>
              <a:t>For each column of digits, starting on the right:</a:t>
            </a:r>
          </a:p>
          <a:p>
            <a:pPr marL="0" indent="0">
              <a:buNone/>
            </a:pPr>
            <a:r>
              <a:rPr lang="en-US" dirty="0"/>
              <a:t>	We add (lookup table/memorized) the two digits.</a:t>
            </a:r>
          </a:p>
          <a:p>
            <a:pPr marL="0" indent="0">
              <a:buNone/>
            </a:pPr>
            <a:r>
              <a:rPr lang="en-US" dirty="0"/>
              <a:t>	We then divide/modulo that value by the base (10)</a:t>
            </a:r>
          </a:p>
          <a:p>
            <a:pPr marL="0" indent="0">
              <a:buNone/>
            </a:pPr>
            <a:r>
              <a:rPr lang="en-US" dirty="0"/>
              <a:t>	The modulo is the “answer”, the quotient is the “carry”</a:t>
            </a:r>
          </a:p>
          <a:p>
            <a:pPr marL="0" indent="0">
              <a:buNone/>
            </a:pPr>
            <a:endParaRPr lang="en-US" dirty="0"/>
          </a:p>
          <a:p>
            <a:pPr marL="0" indent="0">
              <a:buNone/>
            </a:pPr>
            <a:r>
              <a:rPr lang="en-US" dirty="0"/>
              <a:t>Base 2 is the same, except the base is 2 and the lookup table is short:</a:t>
            </a:r>
          </a:p>
          <a:p>
            <a:pPr marL="0" indent="0">
              <a:buNone/>
            </a:pPr>
            <a:r>
              <a:rPr lang="en-US" dirty="0"/>
              <a:t>0 + 0 = 0 (no carry) </a:t>
            </a:r>
          </a:p>
          <a:p>
            <a:pPr marL="0" indent="0">
              <a:buNone/>
            </a:pPr>
            <a:r>
              <a:rPr lang="en-US" dirty="0"/>
              <a:t>0 + 1 == 1 + 0 = 1 (no carry)</a:t>
            </a:r>
          </a:p>
          <a:p>
            <a:pPr marL="0" indent="0">
              <a:buNone/>
            </a:pPr>
            <a:r>
              <a:rPr lang="en-US" dirty="0"/>
              <a:t>1 + 1 = 0 (carry)</a:t>
            </a:r>
          </a:p>
        </p:txBody>
      </p:sp>
    </p:spTree>
    <p:extLst>
      <p:ext uri="{BB962C8B-B14F-4D97-AF65-F5344CB8AC3E}">
        <p14:creationId xmlns:p14="http://schemas.microsoft.com/office/powerpoint/2010/main" val="23024094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F5EB7-E038-45F3-A48C-F8B0A10640DD}"/>
              </a:ext>
            </a:extLst>
          </p:cNvPr>
          <p:cNvSpPr>
            <a:spLocks noGrp="1"/>
          </p:cNvSpPr>
          <p:nvPr>
            <p:ph type="title"/>
          </p:nvPr>
        </p:nvSpPr>
        <p:spPr/>
        <p:txBody>
          <a:bodyPr/>
          <a:lstStyle/>
          <a:p>
            <a:r>
              <a:rPr lang="en-US" dirty="0"/>
              <a:t>Operations - Subtraction</a:t>
            </a:r>
          </a:p>
        </p:txBody>
      </p:sp>
      <p:sp>
        <p:nvSpPr>
          <p:cNvPr id="3" name="Content Placeholder 2">
            <a:extLst>
              <a:ext uri="{FF2B5EF4-FFF2-40B4-BE49-F238E27FC236}">
                <a16:creationId xmlns:a16="http://schemas.microsoft.com/office/drawing/2014/main" id="{0DE44389-6005-46CC-9434-7FB5BE6BDEEF}"/>
              </a:ext>
            </a:extLst>
          </p:cNvPr>
          <p:cNvSpPr>
            <a:spLocks noGrp="1"/>
          </p:cNvSpPr>
          <p:nvPr>
            <p:ph idx="1"/>
          </p:nvPr>
        </p:nvSpPr>
        <p:spPr/>
        <p:txBody>
          <a:bodyPr/>
          <a:lstStyle/>
          <a:p>
            <a:pPr marL="0" indent="0">
              <a:buNone/>
            </a:pPr>
            <a:r>
              <a:rPr lang="en-US" dirty="0"/>
              <a:t>Works much the same as addition, except that carry (move excess to the left) becomes borrow (move value to the right).</a:t>
            </a:r>
          </a:p>
          <a:p>
            <a:pPr marL="0" indent="0">
              <a:buNone/>
            </a:pPr>
            <a:endParaRPr lang="en-US" dirty="0"/>
          </a:p>
        </p:txBody>
      </p:sp>
    </p:spTree>
    <p:extLst>
      <p:ext uri="{BB962C8B-B14F-4D97-AF65-F5344CB8AC3E}">
        <p14:creationId xmlns:p14="http://schemas.microsoft.com/office/powerpoint/2010/main" val="26821560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6126B-A435-4A2A-8C28-1B09DA53EA51}"/>
              </a:ext>
            </a:extLst>
          </p:cNvPr>
          <p:cNvSpPr>
            <a:spLocks noGrp="1"/>
          </p:cNvSpPr>
          <p:nvPr>
            <p:ph type="title"/>
          </p:nvPr>
        </p:nvSpPr>
        <p:spPr/>
        <p:txBody>
          <a:bodyPr/>
          <a:lstStyle/>
          <a:p>
            <a:r>
              <a:rPr lang="en-US" dirty="0"/>
              <a:t>Operations – Multiplication Special Case</a:t>
            </a:r>
          </a:p>
        </p:txBody>
      </p:sp>
      <p:sp>
        <p:nvSpPr>
          <p:cNvPr id="3" name="Content Placeholder 2">
            <a:extLst>
              <a:ext uri="{FF2B5EF4-FFF2-40B4-BE49-F238E27FC236}">
                <a16:creationId xmlns:a16="http://schemas.microsoft.com/office/drawing/2014/main" id="{724713F9-93B1-4D10-AF38-C98195213BD9}"/>
              </a:ext>
            </a:extLst>
          </p:cNvPr>
          <p:cNvSpPr>
            <a:spLocks noGrp="1"/>
          </p:cNvSpPr>
          <p:nvPr>
            <p:ph idx="1"/>
          </p:nvPr>
        </p:nvSpPr>
        <p:spPr>
          <a:xfrm>
            <a:off x="838200" y="1351005"/>
            <a:ext cx="10515600" cy="4825958"/>
          </a:xfrm>
        </p:spPr>
        <p:txBody>
          <a:bodyPr/>
          <a:lstStyle/>
          <a:p>
            <a:pPr marL="0" indent="0">
              <a:buNone/>
            </a:pPr>
            <a:r>
              <a:rPr lang="en-US" dirty="0"/>
              <a:t>When we multiply “normal numbers” by 10, how do we do it?</a:t>
            </a:r>
          </a:p>
          <a:p>
            <a:pPr marL="0" indent="0">
              <a:buNone/>
            </a:pPr>
            <a:r>
              <a:rPr lang="en-US" dirty="0"/>
              <a:t>We add a 0. 1,234 * 10 = </a:t>
            </a:r>
            <a:r>
              <a:rPr lang="en-US" dirty="0" smtClean="0"/>
              <a:t>12,340</a:t>
            </a:r>
            <a:endParaRPr lang="en-US" dirty="0"/>
          </a:p>
          <a:p>
            <a:pPr marL="0" indent="0">
              <a:buNone/>
            </a:pPr>
            <a:r>
              <a:rPr lang="en-US" dirty="0"/>
              <a:t>Divide by 10 is move the decimal place one to the left:</a:t>
            </a:r>
          </a:p>
          <a:p>
            <a:pPr marL="0" indent="0">
              <a:buNone/>
            </a:pPr>
            <a:r>
              <a:rPr lang="en-US" dirty="0"/>
              <a:t>1,234 / 10 = 123.4</a:t>
            </a:r>
          </a:p>
          <a:p>
            <a:pPr marL="0" indent="0">
              <a:buNone/>
            </a:pPr>
            <a:r>
              <a:rPr lang="en-US" dirty="0"/>
              <a:t>Base 2 is the same – to multiply by 2, you shift left.</a:t>
            </a:r>
          </a:p>
          <a:p>
            <a:pPr marL="0" indent="0">
              <a:buNone/>
            </a:pPr>
            <a:r>
              <a:rPr lang="en-US" dirty="0"/>
              <a:t>1010 * 10 = 10100 (2 in base 2 is 10)</a:t>
            </a:r>
          </a:p>
          <a:p>
            <a:pPr marL="0" indent="0">
              <a:buNone/>
            </a:pPr>
            <a:r>
              <a:rPr lang="en-US" dirty="0"/>
              <a:t>1010 / 10 = 101</a:t>
            </a:r>
          </a:p>
        </p:txBody>
      </p:sp>
    </p:spTree>
    <p:extLst>
      <p:ext uri="{BB962C8B-B14F-4D97-AF65-F5344CB8AC3E}">
        <p14:creationId xmlns:p14="http://schemas.microsoft.com/office/powerpoint/2010/main" val="37474987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6126B-A435-4A2A-8C28-1B09DA53EA51}"/>
              </a:ext>
            </a:extLst>
          </p:cNvPr>
          <p:cNvSpPr>
            <a:spLocks noGrp="1"/>
          </p:cNvSpPr>
          <p:nvPr>
            <p:ph type="title"/>
          </p:nvPr>
        </p:nvSpPr>
        <p:spPr/>
        <p:txBody>
          <a:bodyPr/>
          <a:lstStyle/>
          <a:p>
            <a:r>
              <a:rPr lang="en-US" dirty="0"/>
              <a:t>Operations - Multiplication</a:t>
            </a:r>
          </a:p>
        </p:txBody>
      </p:sp>
      <p:sp>
        <p:nvSpPr>
          <p:cNvPr id="3" name="Content Placeholder 2">
            <a:extLst>
              <a:ext uri="{FF2B5EF4-FFF2-40B4-BE49-F238E27FC236}">
                <a16:creationId xmlns:a16="http://schemas.microsoft.com/office/drawing/2014/main" id="{724713F9-93B1-4D10-AF38-C98195213BD9}"/>
              </a:ext>
            </a:extLst>
          </p:cNvPr>
          <p:cNvSpPr>
            <a:spLocks noGrp="1"/>
          </p:cNvSpPr>
          <p:nvPr>
            <p:ph idx="1"/>
          </p:nvPr>
        </p:nvSpPr>
        <p:spPr>
          <a:xfrm>
            <a:off x="838200" y="1351005"/>
            <a:ext cx="10515600" cy="5141870"/>
          </a:xfrm>
        </p:spPr>
        <p:txBody>
          <a:bodyPr>
            <a:normAutofit/>
          </a:bodyPr>
          <a:lstStyle/>
          <a:p>
            <a:pPr marL="0" indent="0">
              <a:buNone/>
            </a:pPr>
            <a:r>
              <a:rPr lang="en-US" dirty="0"/>
              <a:t>When we multiply “normal numbers” in base 10, how do we do it?</a:t>
            </a:r>
          </a:p>
          <a:p>
            <a:pPr marL="0" indent="0">
              <a:buNone/>
            </a:pPr>
            <a:r>
              <a:rPr lang="en-US" dirty="0"/>
              <a:t>For each digit in the second number</a:t>
            </a:r>
          </a:p>
          <a:p>
            <a:pPr marL="0" indent="0">
              <a:buNone/>
            </a:pPr>
            <a:r>
              <a:rPr lang="en-US" dirty="0"/>
              <a:t>	Multiply the first number times the digit, carrying like in add</a:t>
            </a:r>
          </a:p>
          <a:p>
            <a:pPr marL="0" indent="0">
              <a:buNone/>
            </a:pPr>
            <a:r>
              <a:rPr lang="en-US" dirty="0"/>
              <a:t>	Multiply that result by the base (10) times the order of the digit</a:t>
            </a:r>
          </a:p>
          <a:p>
            <a:pPr marL="0" indent="0">
              <a:buNone/>
            </a:pPr>
            <a:r>
              <a:rPr lang="en-US" dirty="0"/>
              <a:t>	Add that result to the sum</a:t>
            </a:r>
          </a:p>
          <a:p>
            <a:pPr marL="0" indent="0">
              <a:buNone/>
            </a:pPr>
            <a:r>
              <a:rPr lang="en-US" dirty="0"/>
              <a:t>Example: 123 X 456 = </a:t>
            </a:r>
          </a:p>
          <a:p>
            <a:pPr marL="0" indent="0">
              <a:buNone/>
            </a:pPr>
            <a:r>
              <a:rPr lang="en-US" dirty="0"/>
              <a:t>	123 * 6 + 123 * 5 * 10 + 123 * 4 * 100</a:t>
            </a:r>
          </a:p>
          <a:p>
            <a:pPr marL="0" indent="0">
              <a:buNone/>
            </a:pPr>
            <a:endParaRPr lang="en-US" dirty="0"/>
          </a:p>
          <a:p>
            <a:pPr marL="0" indent="0">
              <a:buNone/>
            </a:pPr>
            <a:r>
              <a:rPr lang="en-US" dirty="0"/>
              <a:t>Base 2 is the same, except the base is 2</a:t>
            </a:r>
          </a:p>
        </p:txBody>
      </p:sp>
    </p:spTree>
    <p:extLst>
      <p:ext uri="{BB962C8B-B14F-4D97-AF65-F5344CB8AC3E}">
        <p14:creationId xmlns:p14="http://schemas.microsoft.com/office/powerpoint/2010/main" val="27353062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40A08-5816-427C-BB25-7B33E9A7130A}"/>
              </a:ext>
            </a:extLst>
          </p:cNvPr>
          <p:cNvSpPr>
            <a:spLocks noGrp="1"/>
          </p:cNvSpPr>
          <p:nvPr>
            <p:ph type="title"/>
          </p:nvPr>
        </p:nvSpPr>
        <p:spPr/>
        <p:txBody>
          <a:bodyPr/>
          <a:lstStyle/>
          <a:p>
            <a:r>
              <a:rPr lang="en-US" dirty="0"/>
              <a:t>How can we represent negative numbers?</a:t>
            </a:r>
          </a:p>
        </p:txBody>
      </p:sp>
      <p:sp>
        <p:nvSpPr>
          <p:cNvPr id="3" name="Content Placeholder 2">
            <a:extLst>
              <a:ext uri="{FF2B5EF4-FFF2-40B4-BE49-F238E27FC236}">
                <a16:creationId xmlns:a16="http://schemas.microsoft.com/office/drawing/2014/main" id="{94A1A1CB-DDDA-4E29-927C-3755CA6066A2}"/>
              </a:ext>
            </a:extLst>
          </p:cNvPr>
          <p:cNvSpPr>
            <a:spLocks noGrp="1"/>
          </p:cNvSpPr>
          <p:nvPr>
            <p:ph idx="1"/>
          </p:nvPr>
        </p:nvSpPr>
        <p:spPr/>
        <p:txBody>
          <a:bodyPr/>
          <a:lstStyle/>
          <a:p>
            <a:pPr marL="0" indent="0">
              <a:buNone/>
            </a:pPr>
            <a:r>
              <a:rPr lang="en-US" dirty="0"/>
              <a:t>The leftmost (most significant) bit indicates negative when set.</a:t>
            </a:r>
          </a:p>
          <a:p>
            <a:pPr marL="0" indent="0">
              <a:buNone/>
            </a:pPr>
            <a:r>
              <a:rPr lang="en-US" dirty="0"/>
              <a:t>But that gives us a problem – one of the most fundamental identities is that x + -x = 0.</a:t>
            </a:r>
          </a:p>
          <a:p>
            <a:pPr marL="0" indent="0">
              <a:buNone/>
            </a:pPr>
            <a:r>
              <a:rPr lang="en-US" dirty="0"/>
              <a:t>If we have:</a:t>
            </a:r>
          </a:p>
          <a:p>
            <a:pPr marL="0" indent="0">
              <a:buNone/>
            </a:pPr>
            <a:r>
              <a:rPr lang="en-US" dirty="0"/>
              <a:t>   0000 0001 (1)</a:t>
            </a:r>
          </a:p>
          <a:p>
            <a:pPr marL="0" indent="0">
              <a:buNone/>
            </a:pPr>
            <a:r>
              <a:rPr lang="en-US" dirty="0"/>
              <a:t>+ 1000 0001 (-1)</a:t>
            </a:r>
            <a:r>
              <a:rPr lang="en-US" baseline="30000" dirty="0"/>
              <a:t>not really</a:t>
            </a:r>
          </a:p>
          <a:p>
            <a:pPr marL="0" indent="0">
              <a:buNone/>
            </a:pPr>
            <a:r>
              <a:rPr lang="en-US" baseline="30000" dirty="0"/>
              <a:t>---------------------------------</a:t>
            </a:r>
          </a:p>
          <a:p>
            <a:pPr marL="0" indent="0">
              <a:buNone/>
            </a:pPr>
            <a:r>
              <a:rPr lang="en-US" baseline="30000" dirty="0"/>
              <a:t>     </a:t>
            </a:r>
            <a:r>
              <a:rPr lang="en-US" dirty="0"/>
              <a:t>1000 0010 This is -2, by a simple “negative if the MSB is set” rule…</a:t>
            </a:r>
          </a:p>
        </p:txBody>
      </p:sp>
    </p:spTree>
    <p:extLst>
      <p:ext uri="{BB962C8B-B14F-4D97-AF65-F5344CB8AC3E}">
        <p14:creationId xmlns:p14="http://schemas.microsoft.com/office/powerpoint/2010/main" val="31080078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1C13-8A57-4CCE-B029-DA4AD943EE0E}"/>
              </a:ext>
            </a:extLst>
          </p:cNvPr>
          <p:cNvSpPr>
            <a:spLocks noGrp="1"/>
          </p:cNvSpPr>
          <p:nvPr>
            <p:ph type="title"/>
          </p:nvPr>
        </p:nvSpPr>
        <p:spPr/>
        <p:txBody>
          <a:bodyPr/>
          <a:lstStyle/>
          <a:p>
            <a:r>
              <a:rPr lang="en-US" dirty="0"/>
              <a:t>Two’s Complement</a:t>
            </a:r>
          </a:p>
        </p:txBody>
      </p:sp>
      <p:sp>
        <p:nvSpPr>
          <p:cNvPr id="3" name="Content Placeholder 2">
            <a:extLst>
              <a:ext uri="{FF2B5EF4-FFF2-40B4-BE49-F238E27FC236}">
                <a16:creationId xmlns:a16="http://schemas.microsoft.com/office/drawing/2014/main" id="{AF28684F-707A-41F3-9908-C7E7DA978BE6}"/>
              </a:ext>
            </a:extLst>
          </p:cNvPr>
          <p:cNvSpPr>
            <a:spLocks noGrp="1"/>
          </p:cNvSpPr>
          <p:nvPr>
            <p:ph sz="half" idx="1"/>
          </p:nvPr>
        </p:nvSpPr>
        <p:spPr/>
        <p:txBody>
          <a:bodyPr>
            <a:normAutofit fontScale="92500" lnSpcReduction="10000"/>
          </a:bodyPr>
          <a:lstStyle/>
          <a:p>
            <a:pPr marL="0" indent="0">
              <a:buNone/>
            </a:pPr>
            <a:r>
              <a:rPr lang="en-US" dirty="0"/>
              <a:t>Instead, we will keep the MSB as the positive/negative indicator, but we will define a negative as the negation of the positive, then add one.</a:t>
            </a:r>
          </a:p>
          <a:p>
            <a:pPr marL="0" indent="0">
              <a:buNone/>
            </a:pPr>
            <a:r>
              <a:rPr lang="en-US" dirty="0"/>
              <a:t>For example, let’s find -7.</a:t>
            </a:r>
          </a:p>
          <a:p>
            <a:pPr marL="0" indent="0">
              <a:buNone/>
            </a:pPr>
            <a:r>
              <a:rPr lang="en-US" dirty="0"/>
              <a:t>0000 0111</a:t>
            </a:r>
          </a:p>
          <a:p>
            <a:pPr marL="0" indent="0">
              <a:buNone/>
            </a:pPr>
            <a:r>
              <a:rPr lang="en-US" dirty="0"/>
              <a:t>Negate 7:</a:t>
            </a:r>
          </a:p>
          <a:p>
            <a:pPr marL="0" indent="0">
              <a:buNone/>
            </a:pPr>
            <a:r>
              <a:rPr lang="en-US" dirty="0"/>
              <a:t>1111 1000</a:t>
            </a:r>
          </a:p>
          <a:p>
            <a:pPr marL="0" indent="0">
              <a:buNone/>
            </a:pPr>
            <a:r>
              <a:rPr lang="en-US" dirty="0"/>
              <a:t>Add 1</a:t>
            </a:r>
          </a:p>
          <a:p>
            <a:pPr marL="0" indent="0">
              <a:buNone/>
            </a:pPr>
            <a:r>
              <a:rPr lang="en-US" dirty="0"/>
              <a:t>1111 1001</a:t>
            </a:r>
            <a:r>
              <a:rPr lang="en-US" u="sng" dirty="0"/>
              <a:t>    </a:t>
            </a:r>
          </a:p>
        </p:txBody>
      </p:sp>
      <p:sp>
        <p:nvSpPr>
          <p:cNvPr id="4" name="Content Placeholder 3">
            <a:extLst>
              <a:ext uri="{FF2B5EF4-FFF2-40B4-BE49-F238E27FC236}">
                <a16:creationId xmlns:a16="http://schemas.microsoft.com/office/drawing/2014/main" id="{824DC86B-2893-443F-A386-C24805F05EC3}"/>
              </a:ext>
            </a:extLst>
          </p:cNvPr>
          <p:cNvSpPr>
            <a:spLocks noGrp="1"/>
          </p:cNvSpPr>
          <p:nvPr>
            <p:ph sz="half" idx="2"/>
          </p:nvPr>
        </p:nvSpPr>
        <p:spPr/>
        <p:txBody>
          <a:bodyPr>
            <a:normAutofit fontScale="92500" lnSpcReduction="10000"/>
          </a:bodyPr>
          <a:lstStyle/>
          <a:p>
            <a:pPr marL="0" indent="0">
              <a:buNone/>
            </a:pPr>
            <a:r>
              <a:rPr lang="en-US" dirty="0"/>
              <a:t>   0000 0111 (7)</a:t>
            </a:r>
          </a:p>
          <a:p>
            <a:pPr marL="0" indent="0">
              <a:buNone/>
            </a:pPr>
            <a:r>
              <a:rPr lang="en-US" u="sng" dirty="0"/>
              <a:t>+ 1111 1001</a:t>
            </a:r>
            <a:r>
              <a:rPr lang="en-US" dirty="0"/>
              <a:t> (-7)</a:t>
            </a:r>
          </a:p>
          <a:p>
            <a:pPr marL="0" indent="0">
              <a:buNone/>
            </a:pPr>
            <a:r>
              <a:rPr lang="en-US" dirty="0"/>
              <a:t>    0000 0000</a:t>
            </a:r>
          </a:p>
          <a:p>
            <a:pPr marL="0" indent="0">
              <a:buNone/>
            </a:pPr>
            <a:endParaRPr lang="en-US" dirty="0"/>
          </a:p>
          <a:p>
            <a:pPr marL="0" indent="0">
              <a:buNone/>
            </a:pPr>
            <a:r>
              <a:rPr lang="en-US" dirty="0"/>
              <a:t>0111 1111 (127)</a:t>
            </a:r>
          </a:p>
          <a:p>
            <a:pPr marL="0" indent="0">
              <a:buNone/>
            </a:pPr>
            <a:r>
              <a:rPr lang="en-US" u="sng" dirty="0"/>
              <a:t>1000 0001</a:t>
            </a:r>
            <a:r>
              <a:rPr lang="en-US" dirty="0"/>
              <a:t> (-127)</a:t>
            </a:r>
          </a:p>
          <a:p>
            <a:pPr marL="0" indent="0">
              <a:buNone/>
            </a:pPr>
            <a:r>
              <a:rPr lang="en-US" dirty="0"/>
              <a:t>0000 0000</a:t>
            </a:r>
          </a:p>
          <a:p>
            <a:pPr marL="0" indent="0">
              <a:buNone/>
            </a:pPr>
            <a:endParaRPr lang="en-US" dirty="0"/>
          </a:p>
        </p:txBody>
      </p:sp>
    </p:spTree>
    <p:extLst>
      <p:ext uri="{BB962C8B-B14F-4D97-AF65-F5344CB8AC3E}">
        <p14:creationId xmlns:p14="http://schemas.microsoft.com/office/powerpoint/2010/main" val="38239605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9DA53-3B15-4B3B-9E1B-A4E9098188EF}"/>
              </a:ext>
            </a:extLst>
          </p:cNvPr>
          <p:cNvSpPr>
            <a:spLocks noGrp="1"/>
          </p:cNvSpPr>
          <p:nvPr>
            <p:ph type="title"/>
          </p:nvPr>
        </p:nvSpPr>
        <p:spPr/>
        <p:txBody>
          <a:bodyPr/>
          <a:lstStyle/>
          <a:p>
            <a:r>
              <a:rPr lang="en-US" dirty="0"/>
              <a:t>One More Thing…</a:t>
            </a:r>
          </a:p>
        </p:txBody>
      </p:sp>
      <p:sp>
        <p:nvSpPr>
          <p:cNvPr id="5" name="Content Placeholder 4">
            <a:extLst>
              <a:ext uri="{FF2B5EF4-FFF2-40B4-BE49-F238E27FC236}">
                <a16:creationId xmlns:a16="http://schemas.microsoft.com/office/drawing/2014/main" id="{861BCBD7-A895-45CA-BB99-E477C2444831}"/>
              </a:ext>
            </a:extLst>
          </p:cNvPr>
          <p:cNvSpPr>
            <a:spLocks noGrp="1"/>
          </p:cNvSpPr>
          <p:nvPr>
            <p:ph idx="1"/>
          </p:nvPr>
        </p:nvSpPr>
        <p:spPr/>
        <p:txBody>
          <a:bodyPr/>
          <a:lstStyle/>
          <a:p>
            <a:pPr marL="0" indent="0">
              <a:buNone/>
            </a:pPr>
            <a:r>
              <a:rPr lang="en-US" dirty="0"/>
              <a:t>Because we use the left most digit for sign, it is important to “sign extend” when we copy numbers from small spaces to larger ones.</a:t>
            </a:r>
          </a:p>
          <a:p>
            <a:pPr marL="0" indent="0">
              <a:buNone/>
            </a:pPr>
            <a:endParaRPr lang="en-US" dirty="0"/>
          </a:p>
          <a:p>
            <a:pPr marL="0" indent="0">
              <a:buNone/>
            </a:pPr>
            <a:r>
              <a:rPr lang="en-US" dirty="0"/>
              <a:t>Copy 1010 1010 to a 16 bit register:</a:t>
            </a:r>
          </a:p>
          <a:p>
            <a:pPr marL="0" indent="0">
              <a:buNone/>
            </a:pPr>
            <a:r>
              <a:rPr lang="en-US" dirty="0"/>
              <a:t>1111 1111 1010 1010</a:t>
            </a:r>
          </a:p>
        </p:txBody>
      </p:sp>
    </p:spTree>
    <p:extLst>
      <p:ext uri="{BB962C8B-B14F-4D97-AF65-F5344CB8AC3E}">
        <p14:creationId xmlns:p14="http://schemas.microsoft.com/office/powerpoint/2010/main" val="13978665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94AB5-F5A6-4081-BF65-C968FAAFFC68}"/>
              </a:ext>
            </a:extLst>
          </p:cNvPr>
          <p:cNvSpPr>
            <a:spLocks noGrp="1"/>
          </p:cNvSpPr>
          <p:nvPr>
            <p:ph type="title"/>
          </p:nvPr>
        </p:nvSpPr>
        <p:spPr>
          <a:xfrm>
            <a:off x="657225" y="365125"/>
            <a:ext cx="10829925" cy="1325563"/>
          </a:xfrm>
        </p:spPr>
        <p:txBody>
          <a:bodyPr/>
          <a:lstStyle/>
          <a:p>
            <a:r>
              <a:rPr lang="en-US" dirty="0"/>
              <a:t>Why do we care so much about base 2/binary?</a:t>
            </a:r>
          </a:p>
        </p:txBody>
      </p:sp>
      <p:sp>
        <p:nvSpPr>
          <p:cNvPr id="3" name="Content Placeholder 2">
            <a:extLst>
              <a:ext uri="{FF2B5EF4-FFF2-40B4-BE49-F238E27FC236}">
                <a16:creationId xmlns:a16="http://schemas.microsoft.com/office/drawing/2014/main" id="{DE2FC50C-F9FB-4FF9-81C3-A7C43819EEDF}"/>
              </a:ext>
            </a:extLst>
          </p:cNvPr>
          <p:cNvSpPr>
            <a:spLocks noGrp="1"/>
          </p:cNvSpPr>
          <p:nvPr>
            <p:ph idx="1"/>
          </p:nvPr>
        </p:nvSpPr>
        <p:spPr/>
        <p:txBody>
          <a:bodyPr/>
          <a:lstStyle/>
          <a:p>
            <a:pPr marL="0" indent="0">
              <a:buNone/>
            </a:pPr>
            <a:r>
              <a:rPr lang="en-US" dirty="0"/>
              <a:t>Computers use “on/off” to store values. 2 values = base 2 = binary.</a:t>
            </a:r>
          </a:p>
          <a:p>
            <a:pPr marL="0" indent="0">
              <a:buNone/>
            </a:pPr>
            <a:endParaRPr lang="en-US" dirty="0"/>
          </a:p>
          <a:p>
            <a:pPr marL="0" indent="0">
              <a:buNone/>
            </a:pPr>
            <a:r>
              <a:rPr lang="en-US" dirty="0"/>
              <a:t>The problem we run into is that our brains aren’t wired nicely for binary. We think in groups of 10, naturally. </a:t>
            </a:r>
          </a:p>
        </p:txBody>
      </p:sp>
    </p:spTree>
    <p:extLst>
      <p:ext uri="{BB962C8B-B14F-4D97-AF65-F5344CB8AC3E}">
        <p14:creationId xmlns:p14="http://schemas.microsoft.com/office/powerpoint/2010/main" val="2733492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FE83-96F9-483A-901D-840DDCA9398B}"/>
              </a:ext>
            </a:extLst>
          </p:cNvPr>
          <p:cNvSpPr>
            <a:spLocks noGrp="1"/>
          </p:cNvSpPr>
          <p:nvPr>
            <p:ph type="title"/>
          </p:nvPr>
        </p:nvSpPr>
        <p:spPr/>
        <p:txBody>
          <a:bodyPr/>
          <a:lstStyle/>
          <a:p>
            <a:r>
              <a:rPr lang="en-US" dirty="0"/>
              <a:t>Binary Coded Decimal (BCD)</a:t>
            </a:r>
          </a:p>
        </p:txBody>
      </p:sp>
      <p:sp>
        <p:nvSpPr>
          <p:cNvPr id="3" name="Content Placeholder 2">
            <a:extLst>
              <a:ext uri="{FF2B5EF4-FFF2-40B4-BE49-F238E27FC236}">
                <a16:creationId xmlns:a16="http://schemas.microsoft.com/office/drawing/2014/main" id="{FB45D16E-07B4-4D22-9C89-3705DBA7310D}"/>
              </a:ext>
            </a:extLst>
          </p:cNvPr>
          <p:cNvSpPr>
            <a:spLocks noGrp="1"/>
          </p:cNvSpPr>
          <p:nvPr>
            <p:ph idx="1"/>
          </p:nvPr>
        </p:nvSpPr>
        <p:spPr>
          <a:xfrm>
            <a:off x="838200" y="1825625"/>
            <a:ext cx="10515600" cy="1325563"/>
          </a:xfrm>
        </p:spPr>
        <p:txBody>
          <a:bodyPr/>
          <a:lstStyle/>
          <a:p>
            <a:pPr marL="0" indent="0">
              <a:buNone/>
            </a:pPr>
            <a:r>
              <a:rPr lang="en-US" dirty="0"/>
              <a:t>One potential way to solve this dilemma is to use BCD. In BCD, each decimal (base 10) digit is represented as 4 bits. Why 4? 2</a:t>
            </a:r>
            <a:r>
              <a:rPr lang="en-US" baseline="30000" dirty="0"/>
              <a:t>3</a:t>
            </a:r>
            <a:r>
              <a:rPr lang="en-US" dirty="0"/>
              <a:t> == 8; that’s not enough. 2</a:t>
            </a:r>
            <a:r>
              <a:rPr lang="en-US" baseline="30000" dirty="0"/>
              <a:t>4</a:t>
            </a:r>
            <a:r>
              <a:rPr lang="en-US" dirty="0"/>
              <a:t> = 16, that is enough. In BCD, we get:</a:t>
            </a:r>
          </a:p>
          <a:p>
            <a:pPr marL="0" indent="0">
              <a:buNone/>
            </a:pPr>
            <a:endParaRPr lang="en-US" dirty="0"/>
          </a:p>
        </p:txBody>
      </p:sp>
      <p:graphicFrame>
        <p:nvGraphicFramePr>
          <p:cNvPr id="5" name="Table 4">
            <a:extLst>
              <a:ext uri="{FF2B5EF4-FFF2-40B4-BE49-F238E27FC236}">
                <a16:creationId xmlns:a16="http://schemas.microsoft.com/office/drawing/2014/main" id="{87D21FB0-7746-41A8-8627-0B501D6B9367}"/>
              </a:ext>
            </a:extLst>
          </p:cNvPr>
          <p:cNvGraphicFramePr>
            <a:graphicFrameLocks noGrp="1"/>
          </p:cNvGraphicFramePr>
          <p:nvPr>
            <p:extLst>
              <p:ext uri="{D42A27DB-BD31-4B8C-83A1-F6EECF244321}">
                <p14:modId xmlns:p14="http://schemas.microsoft.com/office/powerpoint/2010/main" val="728831736"/>
              </p:ext>
            </p:extLst>
          </p:nvPr>
        </p:nvGraphicFramePr>
        <p:xfrm>
          <a:off x="838200" y="3548591"/>
          <a:ext cx="2997200" cy="2225040"/>
        </p:xfrm>
        <a:graphic>
          <a:graphicData uri="http://schemas.openxmlformats.org/drawingml/2006/table">
            <a:tbl>
              <a:tblPr firstRow="1" bandRow="1">
                <a:tableStyleId>{5C22544A-7EE6-4342-B048-85BDC9FD1C3A}</a:tableStyleId>
              </a:tblPr>
              <a:tblGrid>
                <a:gridCol w="1011238">
                  <a:extLst>
                    <a:ext uri="{9D8B030D-6E8A-4147-A177-3AD203B41FA5}">
                      <a16:colId xmlns:a16="http://schemas.microsoft.com/office/drawing/2014/main" val="4053598325"/>
                    </a:ext>
                  </a:extLst>
                </a:gridCol>
                <a:gridCol w="1985962">
                  <a:extLst>
                    <a:ext uri="{9D8B030D-6E8A-4147-A177-3AD203B41FA5}">
                      <a16:colId xmlns:a16="http://schemas.microsoft.com/office/drawing/2014/main" val="2833425745"/>
                    </a:ext>
                  </a:extLst>
                </a:gridCol>
              </a:tblGrid>
              <a:tr h="370840">
                <a:tc>
                  <a:txBody>
                    <a:bodyPr/>
                    <a:lstStyle/>
                    <a:p>
                      <a:r>
                        <a:rPr lang="en-US" dirty="0"/>
                        <a:t>Decimal</a:t>
                      </a:r>
                    </a:p>
                  </a:txBody>
                  <a:tcPr/>
                </a:tc>
                <a:tc>
                  <a:txBody>
                    <a:bodyPr/>
                    <a:lstStyle/>
                    <a:p>
                      <a:r>
                        <a:rPr lang="en-US" dirty="0"/>
                        <a:t>BCD</a:t>
                      </a:r>
                    </a:p>
                  </a:txBody>
                  <a:tcPr/>
                </a:tc>
                <a:extLst>
                  <a:ext uri="{0D108BD9-81ED-4DB2-BD59-A6C34878D82A}">
                    <a16:rowId xmlns:a16="http://schemas.microsoft.com/office/drawing/2014/main" val="2085188866"/>
                  </a:ext>
                </a:extLst>
              </a:tr>
              <a:tr h="370840">
                <a:tc>
                  <a:txBody>
                    <a:bodyPr/>
                    <a:lstStyle/>
                    <a:p>
                      <a:r>
                        <a:rPr lang="en-US" dirty="0"/>
                        <a:t>0</a:t>
                      </a:r>
                    </a:p>
                  </a:txBody>
                  <a:tcPr/>
                </a:tc>
                <a:tc>
                  <a:txBody>
                    <a:bodyPr/>
                    <a:lstStyle/>
                    <a:p>
                      <a:r>
                        <a:rPr lang="en-US" dirty="0"/>
                        <a:t>0000</a:t>
                      </a:r>
                    </a:p>
                  </a:txBody>
                  <a:tcPr/>
                </a:tc>
                <a:extLst>
                  <a:ext uri="{0D108BD9-81ED-4DB2-BD59-A6C34878D82A}">
                    <a16:rowId xmlns:a16="http://schemas.microsoft.com/office/drawing/2014/main" val="1009313812"/>
                  </a:ext>
                </a:extLst>
              </a:tr>
              <a:tr h="370840">
                <a:tc>
                  <a:txBody>
                    <a:bodyPr/>
                    <a:lstStyle/>
                    <a:p>
                      <a:r>
                        <a:rPr lang="en-US" dirty="0"/>
                        <a:t>1</a:t>
                      </a:r>
                    </a:p>
                  </a:txBody>
                  <a:tcPr/>
                </a:tc>
                <a:tc>
                  <a:txBody>
                    <a:bodyPr/>
                    <a:lstStyle/>
                    <a:p>
                      <a:r>
                        <a:rPr lang="en-US" dirty="0"/>
                        <a:t>0001</a:t>
                      </a:r>
                    </a:p>
                  </a:txBody>
                  <a:tcPr/>
                </a:tc>
                <a:extLst>
                  <a:ext uri="{0D108BD9-81ED-4DB2-BD59-A6C34878D82A}">
                    <a16:rowId xmlns:a16="http://schemas.microsoft.com/office/drawing/2014/main" val="653138076"/>
                  </a:ext>
                </a:extLst>
              </a:tr>
              <a:tr h="370840">
                <a:tc>
                  <a:txBody>
                    <a:bodyPr/>
                    <a:lstStyle/>
                    <a:p>
                      <a:r>
                        <a:rPr lang="en-US" dirty="0"/>
                        <a:t>2</a:t>
                      </a:r>
                    </a:p>
                  </a:txBody>
                  <a:tcPr/>
                </a:tc>
                <a:tc>
                  <a:txBody>
                    <a:bodyPr/>
                    <a:lstStyle/>
                    <a:p>
                      <a:r>
                        <a:rPr lang="en-US" dirty="0"/>
                        <a:t>0010</a:t>
                      </a:r>
                    </a:p>
                  </a:txBody>
                  <a:tcPr/>
                </a:tc>
                <a:extLst>
                  <a:ext uri="{0D108BD9-81ED-4DB2-BD59-A6C34878D82A}">
                    <a16:rowId xmlns:a16="http://schemas.microsoft.com/office/drawing/2014/main" val="3454083718"/>
                  </a:ext>
                </a:extLst>
              </a:tr>
              <a:tr h="370840">
                <a:tc>
                  <a:txBody>
                    <a:bodyPr/>
                    <a:lstStyle/>
                    <a:p>
                      <a:r>
                        <a:rPr lang="en-US" dirty="0"/>
                        <a:t>3</a:t>
                      </a:r>
                    </a:p>
                  </a:txBody>
                  <a:tcPr/>
                </a:tc>
                <a:tc>
                  <a:txBody>
                    <a:bodyPr/>
                    <a:lstStyle/>
                    <a:p>
                      <a:r>
                        <a:rPr lang="en-US" dirty="0"/>
                        <a:t>0011</a:t>
                      </a:r>
                    </a:p>
                  </a:txBody>
                  <a:tcPr/>
                </a:tc>
                <a:extLst>
                  <a:ext uri="{0D108BD9-81ED-4DB2-BD59-A6C34878D82A}">
                    <a16:rowId xmlns:a16="http://schemas.microsoft.com/office/drawing/2014/main" val="1831796104"/>
                  </a:ext>
                </a:extLst>
              </a:tr>
              <a:tr h="370840">
                <a:tc>
                  <a:txBody>
                    <a:bodyPr/>
                    <a:lstStyle/>
                    <a:p>
                      <a:r>
                        <a:rPr lang="en-US" dirty="0"/>
                        <a:t>4</a:t>
                      </a:r>
                    </a:p>
                  </a:txBody>
                  <a:tcPr/>
                </a:tc>
                <a:tc>
                  <a:txBody>
                    <a:bodyPr/>
                    <a:lstStyle/>
                    <a:p>
                      <a:r>
                        <a:rPr lang="en-US" dirty="0"/>
                        <a:t>0100</a:t>
                      </a:r>
                    </a:p>
                  </a:txBody>
                  <a:tcPr/>
                </a:tc>
                <a:extLst>
                  <a:ext uri="{0D108BD9-81ED-4DB2-BD59-A6C34878D82A}">
                    <a16:rowId xmlns:a16="http://schemas.microsoft.com/office/drawing/2014/main" val="1655418900"/>
                  </a:ext>
                </a:extLst>
              </a:tr>
            </a:tbl>
          </a:graphicData>
        </a:graphic>
      </p:graphicFrame>
      <p:graphicFrame>
        <p:nvGraphicFramePr>
          <p:cNvPr id="6" name="Table 5">
            <a:extLst>
              <a:ext uri="{FF2B5EF4-FFF2-40B4-BE49-F238E27FC236}">
                <a16:creationId xmlns:a16="http://schemas.microsoft.com/office/drawing/2014/main" id="{F81A155C-70DC-4740-9BD4-81E1DE34931F}"/>
              </a:ext>
            </a:extLst>
          </p:cNvPr>
          <p:cNvGraphicFramePr>
            <a:graphicFrameLocks noGrp="1"/>
          </p:cNvGraphicFramePr>
          <p:nvPr>
            <p:extLst>
              <p:ext uri="{D42A27DB-BD31-4B8C-83A1-F6EECF244321}">
                <p14:modId xmlns:p14="http://schemas.microsoft.com/office/powerpoint/2010/main" val="4267753809"/>
              </p:ext>
            </p:extLst>
          </p:nvPr>
        </p:nvGraphicFramePr>
        <p:xfrm>
          <a:off x="4213225" y="3548591"/>
          <a:ext cx="2997200" cy="2225040"/>
        </p:xfrm>
        <a:graphic>
          <a:graphicData uri="http://schemas.openxmlformats.org/drawingml/2006/table">
            <a:tbl>
              <a:tblPr firstRow="1" bandRow="1">
                <a:tableStyleId>{5C22544A-7EE6-4342-B048-85BDC9FD1C3A}</a:tableStyleId>
              </a:tblPr>
              <a:tblGrid>
                <a:gridCol w="1011238">
                  <a:extLst>
                    <a:ext uri="{9D8B030D-6E8A-4147-A177-3AD203B41FA5}">
                      <a16:colId xmlns:a16="http://schemas.microsoft.com/office/drawing/2014/main" val="4053598325"/>
                    </a:ext>
                  </a:extLst>
                </a:gridCol>
                <a:gridCol w="1985962">
                  <a:extLst>
                    <a:ext uri="{9D8B030D-6E8A-4147-A177-3AD203B41FA5}">
                      <a16:colId xmlns:a16="http://schemas.microsoft.com/office/drawing/2014/main" val="2833425745"/>
                    </a:ext>
                  </a:extLst>
                </a:gridCol>
              </a:tblGrid>
              <a:tr h="370840">
                <a:tc>
                  <a:txBody>
                    <a:bodyPr/>
                    <a:lstStyle/>
                    <a:p>
                      <a:r>
                        <a:rPr lang="en-US" dirty="0"/>
                        <a:t>Decimal</a:t>
                      </a:r>
                    </a:p>
                  </a:txBody>
                  <a:tcPr/>
                </a:tc>
                <a:tc>
                  <a:txBody>
                    <a:bodyPr/>
                    <a:lstStyle/>
                    <a:p>
                      <a:r>
                        <a:rPr lang="en-US" dirty="0"/>
                        <a:t>BCD</a:t>
                      </a:r>
                    </a:p>
                  </a:txBody>
                  <a:tcPr/>
                </a:tc>
                <a:extLst>
                  <a:ext uri="{0D108BD9-81ED-4DB2-BD59-A6C34878D82A}">
                    <a16:rowId xmlns:a16="http://schemas.microsoft.com/office/drawing/2014/main" val="2085188866"/>
                  </a:ext>
                </a:extLst>
              </a:tr>
              <a:tr h="370840">
                <a:tc>
                  <a:txBody>
                    <a:bodyPr/>
                    <a:lstStyle/>
                    <a:p>
                      <a:r>
                        <a:rPr lang="en-US" dirty="0"/>
                        <a:t>5</a:t>
                      </a:r>
                    </a:p>
                  </a:txBody>
                  <a:tcPr/>
                </a:tc>
                <a:tc>
                  <a:txBody>
                    <a:bodyPr/>
                    <a:lstStyle/>
                    <a:p>
                      <a:r>
                        <a:rPr lang="en-US" dirty="0"/>
                        <a:t>0101</a:t>
                      </a:r>
                    </a:p>
                  </a:txBody>
                  <a:tcPr/>
                </a:tc>
                <a:extLst>
                  <a:ext uri="{0D108BD9-81ED-4DB2-BD59-A6C34878D82A}">
                    <a16:rowId xmlns:a16="http://schemas.microsoft.com/office/drawing/2014/main" val="1009313812"/>
                  </a:ext>
                </a:extLst>
              </a:tr>
              <a:tr h="370840">
                <a:tc>
                  <a:txBody>
                    <a:bodyPr/>
                    <a:lstStyle/>
                    <a:p>
                      <a:r>
                        <a:rPr lang="en-US" dirty="0"/>
                        <a:t>6</a:t>
                      </a:r>
                    </a:p>
                  </a:txBody>
                  <a:tcPr/>
                </a:tc>
                <a:tc>
                  <a:txBody>
                    <a:bodyPr/>
                    <a:lstStyle/>
                    <a:p>
                      <a:r>
                        <a:rPr lang="en-US" dirty="0"/>
                        <a:t>0110</a:t>
                      </a:r>
                    </a:p>
                  </a:txBody>
                  <a:tcPr/>
                </a:tc>
                <a:extLst>
                  <a:ext uri="{0D108BD9-81ED-4DB2-BD59-A6C34878D82A}">
                    <a16:rowId xmlns:a16="http://schemas.microsoft.com/office/drawing/2014/main" val="653138076"/>
                  </a:ext>
                </a:extLst>
              </a:tr>
              <a:tr h="370840">
                <a:tc>
                  <a:txBody>
                    <a:bodyPr/>
                    <a:lstStyle/>
                    <a:p>
                      <a:r>
                        <a:rPr lang="en-US" dirty="0"/>
                        <a:t>7</a:t>
                      </a:r>
                    </a:p>
                  </a:txBody>
                  <a:tcPr/>
                </a:tc>
                <a:tc>
                  <a:txBody>
                    <a:bodyPr/>
                    <a:lstStyle/>
                    <a:p>
                      <a:r>
                        <a:rPr lang="en-US" dirty="0"/>
                        <a:t>0111</a:t>
                      </a:r>
                    </a:p>
                  </a:txBody>
                  <a:tcPr/>
                </a:tc>
                <a:extLst>
                  <a:ext uri="{0D108BD9-81ED-4DB2-BD59-A6C34878D82A}">
                    <a16:rowId xmlns:a16="http://schemas.microsoft.com/office/drawing/2014/main" val="3454083718"/>
                  </a:ext>
                </a:extLst>
              </a:tr>
              <a:tr h="370840">
                <a:tc>
                  <a:txBody>
                    <a:bodyPr/>
                    <a:lstStyle/>
                    <a:p>
                      <a:r>
                        <a:rPr lang="en-US" dirty="0"/>
                        <a:t>8</a:t>
                      </a:r>
                    </a:p>
                  </a:txBody>
                  <a:tcPr/>
                </a:tc>
                <a:tc>
                  <a:txBody>
                    <a:bodyPr/>
                    <a:lstStyle/>
                    <a:p>
                      <a:r>
                        <a:rPr lang="en-US" dirty="0"/>
                        <a:t>1000</a:t>
                      </a:r>
                    </a:p>
                  </a:txBody>
                  <a:tcPr/>
                </a:tc>
                <a:extLst>
                  <a:ext uri="{0D108BD9-81ED-4DB2-BD59-A6C34878D82A}">
                    <a16:rowId xmlns:a16="http://schemas.microsoft.com/office/drawing/2014/main" val="1831796104"/>
                  </a:ext>
                </a:extLst>
              </a:tr>
              <a:tr h="370840">
                <a:tc>
                  <a:txBody>
                    <a:bodyPr/>
                    <a:lstStyle/>
                    <a:p>
                      <a:r>
                        <a:rPr lang="en-US" dirty="0"/>
                        <a:t>9</a:t>
                      </a:r>
                    </a:p>
                  </a:txBody>
                  <a:tcPr/>
                </a:tc>
                <a:tc>
                  <a:txBody>
                    <a:bodyPr/>
                    <a:lstStyle/>
                    <a:p>
                      <a:r>
                        <a:rPr lang="en-US" dirty="0"/>
                        <a:t>1001</a:t>
                      </a:r>
                    </a:p>
                  </a:txBody>
                  <a:tcPr/>
                </a:tc>
                <a:extLst>
                  <a:ext uri="{0D108BD9-81ED-4DB2-BD59-A6C34878D82A}">
                    <a16:rowId xmlns:a16="http://schemas.microsoft.com/office/drawing/2014/main" val="1655418900"/>
                  </a:ext>
                </a:extLst>
              </a:tr>
            </a:tbl>
          </a:graphicData>
        </a:graphic>
      </p:graphicFrame>
      <p:sp>
        <p:nvSpPr>
          <p:cNvPr id="7" name="TextBox 6">
            <a:extLst>
              <a:ext uri="{FF2B5EF4-FFF2-40B4-BE49-F238E27FC236}">
                <a16:creationId xmlns:a16="http://schemas.microsoft.com/office/drawing/2014/main" id="{E7540BFC-C055-4777-89C0-3ADD48893A61}"/>
              </a:ext>
            </a:extLst>
          </p:cNvPr>
          <p:cNvSpPr txBox="1"/>
          <p:nvPr/>
        </p:nvSpPr>
        <p:spPr>
          <a:xfrm>
            <a:off x="7588250" y="4098906"/>
            <a:ext cx="3929062" cy="954107"/>
          </a:xfrm>
          <a:prstGeom prst="rect">
            <a:avLst/>
          </a:prstGeom>
          <a:noFill/>
        </p:spPr>
        <p:txBody>
          <a:bodyPr wrap="square" rtlCol="0">
            <a:spAutoFit/>
          </a:bodyPr>
          <a:lstStyle/>
          <a:p>
            <a:r>
              <a:rPr lang="en-US" sz="2800" dirty="0"/>
              <a:t>What’s the problem with this system?</a:t>
            </a:r>
          </a:p>
        </p:txBody>
      </p:sp>
    </p:spTree>
    <p:extLst>
      <p:ext uri="{BB962C8B-B14F-4D97-AF65-F5344CB8AC3E}">
        <p14:creationId xmlns:p14="http://schemas.microsoft.com/office/powerpoint/2010/main" val="5431673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F9823-1754-4371-AF83-92DB9FE5BC5C}"/>
              </a:ext>
            </a:extLst>
          </p:cNvPr>
          <p:cNvSpPr>
            <a:spLocks noGrp="1"/>
          </p:cNvSpPr>
          <p:nvPr>
            <p:ph type="title"/>
          </p:nvPr>
        </p:nvSpPr>
        <p:spPr/>
        <p:txBody>
          <a:bodyPr/>
          <a:lstStyle/>
          <a:p>
            <a:r>
              <a:rPr lang="en-US" dirty="0"/>
              <a:t>Hexadecimal</a:t>
            </a:r>
          </a:p>
        </p:txBody>
      </p:sp>
      <p:sp>
        <p:nvSpPr>
          <p:cNvPr id="3" name="Content Placeholder 2">
            <a:extLst>
              <a:ext uri="{FF2B5EF4-FFF2-40B4-BE49-F238E27FC236}">
                <a16:creationId xmlns:a16="http://schemas.microsoft.com/office/drawing/2014/main" id="{A97C6467-CC0D-4D5C-9E82-667F7E8694DA}"/>
              </a:ext>
            </a:extLst>
          </p:cNvPr>
          <p:cNvSpPr>
            <a:spLocks noGrp="1"/>
          </p:cNvSpPr>
          <p:nvPr>
            <p:ph idx="1"/>
          </p:nvPr>
        </p:nvSpPr>
        <p:spPr/>
        <p:txBody>
          <a:bodyPr/>
          <a:lstStyle/>
          <a:p>
            <a:pPr marL="0" indent="0">
              <a:buNone/>
            </a:pPr>
            <a:r>
              <a:rPr lang="en-US" dirty="0"/>
              <a:t>Instead of wasting ranges and being inefficient, consider a system that uses base 16? In that case, 4 bits give us 16 different digits to work with. We satisfy (sort of) our brains need to work with something less detail oriented than a range of 0’s and 1’s. </a:t>
            </a:r>
          </a:p>
          <a:p>
            <a:pPr marL="0" indent="0">
              <a:buNone/>
            </a:pPr>
            <a:endParaRPr lang="en-US" dirty="0"/>
          </a:p>
          <a:p>
            <a:pPr marL="0" indent="0">
              <a:buNone/>
            </a:pPr>
            <a:r>
              <a:rPr lang="en-US" dirty="0"/>
              <a:t>The digits are 0-9, then A (10), B(11), C(12), D(13), E(14) and F(15). </a:t>
            </a:r>
          </a:p>
        </p:txBody>
      </p:sp>
    </p:spTree>
    <p:extLst>
      <p:ext uri="{BB962C8B-B14F-4D97-AF65-F5344CB8AC3E}">
        <p14:creationId xmlns:p14="http://schemas.microsoft.com/office/powerpoint/2010/main" val="32771108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FE83-96F9-483A-901D-840DDCA9398B}"/>
              </a:ext>
            </a:extLst>
          </p:cNvPr>
          <p:cNvSpPr>
            <a:spLocks noGrp="1"/>
          </p:cNvSpPr>
          <p:nvPr>
            <p:ph type="title"/>
          </p:nvPr>
        </p:nvSpPr>
        <p:spPr/>
        <p:txBody>
          <a:bodyPr/>
          <a:lstStyle/>
          <a:p>
            <a:r>
              <a:rPr lang="en-US" dirty="0"/>
              <a:t>Hexadecimal Mapping</a:t>
            </a:r>
          </a:p>
        </p:txBody>
      </p:sp>
      <p:graphicFrame>
        <p:nvGraphicFramePr>
          <p:cNvPr id="5" name="Table 4">
            <a:extLst>
              <a:ext uri="{FF2B5EF4-FFF2-40B4-BE49-F238E27FC236}">
                <a16:creationId xmlns:a16="http://schemas.microsoft.com/office/drawing/2014/main" id="{87D21FB0-7746-41A8-8627-0B501D6B9367}"/>
              </a:ext>
            </a:extLst>
          </p:cNvPr>
          <p:cNvGraphicFramePr>
            <a:graphicFrameLocks noGrp="1"/>
          </p:cNvGraphicFramePr>
          <p:nvPr>
            <p:extLst>
              <p:ext uri="{D42A27DB-BD31-4B8C-83A1-F6EECF244321}">
                <p14:modId xmlns:p14="http://schemas.microsoft.com/office/powerpoint/2010/main" val="1589470806"/>
              </p:ext>
            </p:extLst>
          </p:nvPr>
        </p:nvGraphicFramePr>
        <p:xfrm>
          <a:off x="838200" y="1819803"/>
          <a:ext cx="3690938" cy="3337560"/>
        </p:xfrm>
        <a:graphic>
          <a:graphicData uri="http://schemas.openxmlformats.org/drawingml/2006/table">
            <a:tbl>
              <a:tblPr firstRow="1" bandRow="1">
                <a:tableStyleId>{5C22544A-7EE6-4342-B048-85BDC9FD1C3A}</a:tableStyleId>
              </a:tblPr>
              <a:tblGrid>
                <a:gridCol w="1119188">
                  <a:extLst>
                    <a:ext uri="{9D8B030D-6E8A-4147-A177-3AD203B41FA5}">
                      <a16:colId xmlns:a16="http://schemas.microsoft.com/office/drawing/2014/main" val="4053598325"/>
                    </a:ext>
                  </a:extLst>
                </a:gridCol>
                <a:gridCol w="1714500">
                  <a:extLst>
                    <a:ext uri="{9D8B030D-6E8A-4147-A177-3AD203B41FA5}">
                      <a16:colId xmlns:a16="http://schemas.microsoft.com/office/drawing/2014/main" val="2211892661"/>
                    </a:ext>
                  </a:extLst>
                </a:gridCol>
                <a:gridCol w="857250">
                  <a:extLst>
                    <a:ext uri="{9D8B030D-6E8A-4147-A177-3AD203B41FA5}">
                      <a16:colId xmlns:a16="http://schemas.microsoft.com/office/drawing/2014/main" val="2833425745"/>
                    </a:ext>
                  </a:extLst>
                </a:gridCol>
              </a:tblGrid>
              <a:tr h="370840">
                <a:tc>
                  <a:txBody>
                    <a:bodyPr/>
                    <a:lstStyle/>
                    <a:p>
                      <a:r>
                        <a:rPr lang="en-US" dirty="0"/>
                        <a:t>Decimal</a:t>
                      </a:r>
                    </a:p>
                  </a:txBody>
                  <a:tcPr/>
                </a:tc>
                <a:tc>
                  <a:txBody>
                    <a:bodyPr/>
                    <a:lstStyle/>
                    <a:p>
                      <a:r>
                        <a:rPr lang="en-US" dirty="0"/>
                        <a:t>Hexadecimal</a:t>
                      </a:r>
                    </a:p>
                  </a:txBody>
                  <a:tcPr/>
                </a:tc>
                <a:tc>
                  <a:txBody>
                    <a:bodyPr/>
                    <a:lstStyle/>
                    <a:p>
                      <a:r>
                        <a:rPr lang="en-US" dirty="0"/>
                        <a:t>Binary</a:t>
                      </a:r>
                    </a:p>
                  </a:txBody>
                  <a:tcPr/>
                </a:tc>
                <a:extLst>
                  <a:ext uri="{0D108BD9-81ED-4DB2-BD59-A6C34878D82A}">
                    <a16:rowId xmlns:a16="http://schemas.microsoft.com/office/drawing/2014/main" val="2085188866"/>
                  </a:ext>
                </a:extLst>
              </a:tr>
              <a:tr h="370840">
                <a:tc>
                  <a:txBody>
                    <a:bodyPr/>
                    <a:lstStyle/>
                    <a:p>
                      <a:r>
                        <a:rPr lang="en-US" dirty="0"/>
                        <a:t>0</a:t>
                      </a:r>
                    </a:p>
                  </a:txBody>
                  <a:tcPr/>
                </a:tc>
                <a:tc>
                  <a:txBody>
                    <a:bodyPr/>
                    <a:lstStyle/>
                    <a:p>
                      <a:r>
                        <a:rPr lang="en-US" dirty="0"/>
                        <a:t>0</a:t>
                      </a:r>
                    </a:p>
                  </a:txBody>
                  <a:tcPr/>
                </a:tc>
                <a:tc>
                  <a:txBody>
                    <a:bodyPr/>
                    <a:lstStyle/>
                    <a:p>
                      <a:r>
                        <a:rPr lang="en-US" dirty="0"/>
                        <a:t>0000</a:t>
                      </a:r>
                    </a:p>
                  </a:txBody>
                  <a:tcPr/>
                </a:tc>
                <a:extLst>
                  <a:ext uri="{0D108BD9-81ED-4DB2-BD59-A6C34878D82A}">
                    <a16:rowId xmlns:a16="http://schemas.microsoft.com/office/drawing/2014/main" val="1009313812"/>
                  </a:ext>
                </a:extLst>
              </a:tr>
              <a:tr h="370840">
                <a:tc>
                  <a:txBody>
                    <a:bodyPr/>
                    <a:lstStyle/>
                    <a:p>
                      <a:r>
                        <a:rPr lang="en-US" dirty="0"/>
                        <a:t>1</a:t>
                      </a:r>
                    </a:p>
                  </a:txBody>
                  <a:tcPr/>
                </a:tc>
                <a:tc>
                  <a:txBody>
                    <a:bodyPr/>
                    <a:lstStyle/>
                    <a:p>
                      <a:r>
                        <a:rPr lang="en-US" dirty="0"/>
                        <a:t>1</a:t>
                      </a:r>
                    </a:p>
                  </a:txBody>
                  <a:tcPr/>
                </a:tc>
                <a:tc>
                  <a:txBody>
                    <a:bodyPr/>
                    <a:lstStyle/>
                    <a:p>
                      <a:r>
                        <a:rPr lang="en-US" dirty="0"/>
                        <a:t>0001</a:t>
                      </a:r>
                    </a:p>
                  </a:txBody>
                  <a:tcPr/>
                </a:tc>
                <a:extLst>
                  <a:ext uri="{0D108BD9-81ED-4DB2-BD59-A6C34878D82A}">
                    <a16:rowId xmlns:a16="http://schemas.microsoft.com/office/drawing/2014/main" val="653138076"/>
                  </a:ext>
                </a:extLst>
              </a:tr>
              <a:tr h="370840">
                <a:tc>
                  <a:txBody>
                    <a:bodyPr/>
                    <a:lstStyle/>
                    <a:p>
                      <a:r>
                        <a:rPr lang="en-US" dirty="0"/>
                        <a:t>2</a:t>
                      </a:r>
                    </a:p>
                  </a:txBody>
                  <a:tcPr/>
                </a:tc>
                <a:tc>
                  <a:txBody>
                    <a:bodyPr/>
                    <a:lstStyle/>
                    <a:p>
                      <a:r>
                        <a:rPr lang="en-US" dirty="0"/>
                        <a:t>2</a:t>
                      </a:r>
                    </a:p>
                  </a:txBody>
                  <a:tcPr/>
                </a:tc>
                <a:tc>
                  <a:txBody>
                    <a:bodyPr/>
                    <a:lstStyle/>
                    <a:p>
                      <a:r>
                        <a:rPr lang="en-US" dirty="0"/>
                        <a:t>0010</a:t>
                      </a:r>
                    </a:p>
                  </a:txBody>
                  <a:tcPr/>
                </a:tc>
                <a:extLst>
                  <a:ext uri="{0D108BD9-81ED-4DB2-BD59-A6C34878D82A}">
                    <a16:rowId xmlns:a16="http://schemas.microsoft.com/office/drawing/2014/main" val="3454083718"/>
                  </a:ext>
                </a:extLst>
              </a:tr>
              <a:tr h="370840">
                <a:tc>
                  <a:txBody>
                    <a:bodyPr/>
                    <a:lstStyle/>
                    <a:p>
                      <a:r>
                        <a:rPr lang="en-US" dirty="0"/>
                        <a:t>3</a:t>
                      </a:r>
                    </a:p>
                  </a:txBody>
                  <a:tcPr/>
                </a:tc>
                <a:tc>
                  <a:txBody>
                    <a:bodyPr/>
                    <a:lstStyle/>
                    <a:p>
                      <a:r>
                        <a:rPr lang="en-US" dirty="0"/>
                        <a:t>3</a:t>
                      </a:r>
                    </a:p>
                  </a:txBody>
                  <a:tcPr/>
                </a:tc>
                <a:tc>
                  <a:txBody>
                    <a:bodyPr/>
                    <a:lstStyle/>
                    <a:p>
                      <a:r>
                        <a:rPr lang="en-US" dirty="0"/>
                        <a:t>0011</a:t>
                      </a:r>
                    </a:p>
                  </a:txBody>
                  <a:tcPr/>
                </a:tc>
                <a:extLst>
                  <a:ext uri="{0D108BD9-81ED-4DB2-BD59-A6C34878D82A}">
                    <a16:rowId xmlns:a16="http://schemas.microsoft.com/office/drawing/2014/main" val="1831796104"/>
                  </a:ext>
                </a:extLst>
              </a:tr>
              <a:tr h="370840">
                <a:tc>
                  <a:txBody>
                    <a:bodyPr/>
                    <a:lstStyle/>
                    <a:p>
                      <a:r>
                        <a:rPr lang="en-US" dirty="0"/>
                        <a:t>4</a:t>
                      </a:r>
                    </a:p>
                  </a:txBody>
                  <a:tcPr/>
                </a:tc>
                <a:tc>
                  <a:txBody>
                    <a:bodyPr/>
                    <a:lstStyle/>
                    <a:p>
                      <a:r>
                        <a:rPr lang="en-US" dirty="0"/>
                        <a:t>4</a:t>
                      </a:r>
                    </a:p>
                  </a:txBody>
                  <a:tcPr/>
                </a:tc>
                <a:tc>
                  <a:txBody>
                    <a:bodyPr/>
                    <a:lstStyle/>
                    <a:p>
                      <a:r>
                        <a:rPr lang="en-US" dirty="0"/>
                        <a:t>0100</a:t>
                      </a:r>
                    </a:p>
                  </a:txBody>
                  <a:tcPr/>
                </a:tc>
                <a:extLst>
                  <a:ext uri="{0D108BD9-81ED-4DB2-BD59-A6C34878D82A}">
                    <a16:rowId xmlns:a16="http://schemas.microsoft.com/office/drawing/2014/main" val="1655418900"/>
                  </a:ext>
                </a:extLst>
              </a:tr>
              <a:tr h="370840">
                <a:tc>
                  <a:txBody>
                    <a:bodyPr/>
                    <a:lstStyle/>
                    <a:p>
                      <a:r>
                        <a:rPr lang="en-US" dirty="0"/>
                        <a:t>5</a:t>
                      </a:r>
                    </a:p>
                  </a:txBody>
                  <a:tcPr/>
                </a:tc>
                <a:tc>
                  <a:txBody>
                    <a:bodyPr/>
                    <a:lstStyle/>
                    <a:p>
                      <a:r>
                        <a:rPr lang="en-US" dirty="0"/>
                        <a:t>5</a:t>
                      </a:r>
                    </a:p>
                  </a:txBody>
                  <a:tcPr/>
                </a:tc>
                <a:tc>
                  <a:txBody>
                    <a:bodyPr/>
                    <a:lstStyle/>
                    <a:p>
                      <a:r>
                        <a:rPr lang="en-US" dirty="0"/>
                        <a:t>0101</a:t>
                      </a:r>
                    </a:p>
                  </a:txBody>
                  <a:tcPr/>
                </a:tc>
                <a:extLst>
                  <a:ext uri="{0D108BD9-81ED-4DB2-BD59-A6C34878D82A}">
                    <a16:rowId xmlns:a16="http://schemas.microsoft.com/office/drawing/2014/main" val="2187174681"/>
                  </a:ext>
                </a:extLst>
              </a:tr>
              <a:tr h="370840">
                <a:tc>
                  <a:txBody>
                    <a:bodyPr/>
                    <a:lstStyle/>
                    <a:p>
                      <a:r>
                        <a:rPr lang="en-US" dirty="0"/>
                        <a:t>6</a:t>
                      </a:r>
                    </a:p>
                  </a:txBody>
                  <a:tcPr/>
                </a:tc>
                <a:tc>
                  <a:txBody>
                    <a:bodyPr/>
                    <a:lstStyle/>
                    <a:p>
                      <a:r>
                        <a:rPr lang="en-US" dirty="0"/>
                        <a:t>6</a:t>
                      </a:r>
                    </a:p>
                  </a:txBody>
                  <a:tcPr/>
                </a:tc>
                <a:tc>
                  <a:txBody>
                    <a:bodyPr/>
                    <a:lstStyle/>
                    <a:p>
                      <a:r>
                        <a:rPr lang="en-US" dirty="0"/>
                        <a:t>0110</a:t>
                      </a:r>
                    </a:p>
                  </a:txBody>
                  <a:tcPr/>
                </a:tc>
                <a:extLst>
                  <a:ext uri="{0D108BD9-81ED-4DB2-BD59-A6C34878D82A}">
                    <a16:rowId xmlns:a16="http://schemas.microsoft.com/office/drawing/2014/main" val="2538064881"/>
                  </a:ext>
                </a:extLst>
              </a:tr>
              <a:tr h="370840">
                <a:tc>
                  <a:txBody>
                    <a:bodyPr/>
                    <a:lstStyle/>
                    <a:p>
                      <a:r>
                        <a:rPr lang="en-US" dirty="0"/>
                        <a:t>7</a:t>
                      </a:r>
                    </a:p>
                  </a:txBody>
                  <a:tcPr/>
                </a:tc>
                <a:tc>
                  <a:txBody>
                    <a:bodyPr/>
                    <a:lstStyle/>
                    <a:p>
                      <a:r>
                        <a:rPr lang="en-US" dirty="0"/>
                        <a:t>7</a:t>
                      </a:r>
                    </a:p>
                  </a:txBody>
                  <a:tcPr/>
                </a:tc>
                <a:tc>
                  <a:txBody>
                    <a:bodyPr/>
                    <a:lstStyle/>
                    <a:p>
                      <a:r>
                        <a:rPr lang="en-US" dirty="0"/>
                        <a:t>0111</a:t>
                      </a:r>
                    </a:p>
                  </a:txBody>
                  <a:tcPr/>
                </a:tc>
                <a:extLst>
                  <a:ext uri="{0D108BD9-81ED-4DB2-BD59-A6C34878D82A}">
                    <a16:rowId xmlns:a16="http://schemas.microsoft.com/office/drawing/2014/main" val="3936943450"/>
                  </a:ext>
                </a:extLst>
              </a:tr>
            </a:tbl>
          </a:graphicData>
        </a:graphic>
      </p:graphicFrame>
      <p:graphicFrame>
        <p:nvGraphicFramePr>
          <p:cNvPr id="8" name="Table 7">
            <a:extLst>
              <a:ext uri="{FF2B5EF4-FFF2-40B4-BE49-F238E27FC236}">
                <a16:creationId xmlns:a16="http://schemas.microsoft.com/office/drawing/2014/main" id="{C4612151-6C9A-4D69-9F31-C22EEFBAC2C9}"/>
              </a:ext>
            </a:extLst>
          </p:cNvPr>
          <p:cNvGraphicFramePr>
            <a:graphicFrameLocks noGrp="1"/>
          </p:cNvGraphicFramePr>
          <p:nvPr>
            <p:extLst>
              <p:ext uri="{D42A27DB-BD31-4B8C-83A1-F6EECF244321}">
                <p14:modId xmlns:p14="http://schemas.microsoft.com/office/powerpoint/2010/main" val="3043221000"/>
              </p:ext>
            </p:extLst>
          </p:nvPr>
        </p:nvGraphicFramePr>
        <p:xfrm>
          <a:off x="6448425" y="1819803"/>
          <a:ext cx="3690938" cy="3337560"/>
        </p:xfrm>
        <a:graphic>
          <a:graphicData uri="http://schemas.openxmlformats.org/drawingml/2006/table">
            <a:tbl>
              <a:tblPr firstRow="1" bandRow="1">
                <a:tableStyleId>{5C22544A-7EE6-4342-B048-85BDC9FD1C3A}</a:tableStyleId>
              </a:tblPr>
              <a:tblGrid>
                <a:gridCol w="1119188">
                  <a:extLst>
                    <a:ext uri="{9D8B030D-6E8A-4147-A177-3AD203B41FA5}">
                      <a16:colId xmlns:a16="http://schemas.microsoft.com/office/drawing/2014/main" val="4053598325"/>
                    </a:ext>
                  </a:extLst>
                </a:gridCol>
                <a:gridCol w="1714500">
                  <a:extLst>
                    <a:ext uri="{9D8B030D-6E8A-4147-A177-3AD203B41FA5}">
                      <a16:colId xmlns:a16="http://schemas.microsoft.com/office/drawing/2014/main" val="2211892661"/>
                    </a:ext>
                  </a:extLst>
                </a:gridCol>
                <a:gridCol w="857250">
                  <a:extLst>
                    <a:ext uri="{9D8B030D-6E8A-4147-A177-3AD203B41FA5}">
                      <a16:colId xmlns:a16="http://schemas.microsoft.com/office/drawing/2014/main" val="2833425745"/>
                    </a:ext>
                  </a:extLst>
                </a:gridCol>
              </a:tblGrid>
              <a:tr h="370840">
                <a:tc>
                  <a:txBody>
                    <a:bodyPr/>
                    <a:lstStyle/>
                    <a:p>
                      <a:r>
                        <a:rPr lang="en-US" dirty="0"/>
                        <a:t>Decimal</a:t>
                      </a:r>
                    </a:p>
                  </a:txBody>
                  <a:tcPr/>
                </a:tc>
                <a:tc>
                  <a:txBody>
                    <a:bodyPr/>
                    <a:lstStyle/>
                    <a:p>
                      <a:r>
                        <a:rPr lang="en-US" dirty="0"/>
                        <a:t>Hexadecimal</a:t>
                      </a:r>
                    </a:p>
                  </a:txBody>
                  <a:tcPr/>
                </a:tc>
                <a:tc>
                  <a:txBody>
                    <a:bodyPr/>
                    <a:lstStyle/>
                    <a:p>
                      <a:r>
                        <a:rPr lang="en-US" dirty="0"/>
                        <a:t>Binary</a:t>
                      </a:r>
                    </a:p>
                  </a:txBody>
                  <a:tcPr/>
                </a:tc>
                <a:extLst>
                  <a:ext uri="{0D108BD9-81ED-4DB2-BD59-A6C34878D82A}">
                    <a16:rowId xmlns:a16="http://schemas.microsoft.com/office/drawing/2014/main" val="2085188866"/>
                  </a:ext>
                </a:extLst>
              </a:tr>
              <a:tr h="370840">
                <a:tc>
                  <a:txBody>
                    <a:bodyPr/>
                    <a:lstStyle/>
                    <a:p>
                      <a:r>
                        <a:rPr lang="en-US" dirty="0"/>
                        <a:t>8</a:t>
                      </a:r>
                    </a:p>
                  </a:txBody>
                  <a:tcPr/>
                </a:tc>
                <a:tc>
                  <a:txBody>
                    <a:bodyPr/>
                    <a:lstStyle/>
                    <a:p>
                      <a:r>
                        <a:rPr lang="en-US" dirty="0"/>
                        <a:t>8</a:t>
                      </a:r>
                    </a:p>
                  </a:txBody>
                  <a:tcPr/>
                </a:tc>
                <a:tc>
                  <a:txBody>
                    <a:bodyPr/>
                    <a:lstStyle/>
                    <a:p>
                      <a:r>
                        <a:rPr lang="en-US" dirty="0"/>
                        <a:t>1000</a:t>
                      </a:r>
                    </a:p>
                  </a:txBody>
                  <a:tcPr/>
                </a:tc>
                <a:extLst>
                  <a:ext uri="{0D108BD9-81ED-4DB2-BD59-A6C34878D82A}">
                    <a16:rowId xmlns:a16="http://schemas.microsoft.com/office/drawing/2014/main" val="3609269083"/>
                  </a:ext>
                </a:extLst>
              </a:tr>
              <a:tr h="370840">
                <a:tc>
                  <a:txBody>
                    <a:bodyPr/>
                    <a:lstStyle/>
                    <a:p>
                      <a:r>
                        <a:rPr lang="en-US" dirty="0"/>
                        <a:t>9</a:t>
                      </a:r>
                    </a:p>
                  </a:txBody>
                  <a:tcPr/>
                </a:tc>
                <a:tc>
                  <a:txBody>
                    <a:bodyPr/>
                    <a:lstStyle/>
                    <a:p>
                      <a:r>
                        <a:rPr lang="en-US" dirty="0"/>
                        <a:t>9</a:t>
                      </a:r>
                    </a:p>
                  </a:txBody>
                  <a:tcPr/>
                </a:tc>
                <a:tc>
                  <a:txBody>
                    <a:bodyPr/>
                    <a:lstStyle/>
                    <a:p>
                      <a:r>
                        <a:rPr lang="en-US" dirty="0"/>
                        <a:t>1001</a:t>
                      </a:r>
                    </a:p>
                  </a:txBody>
                  <a:tcPr/>
                </a:tc>
                <a:extLst>
                  <a:ext uri="{0D108BD9-81ED-4DB2-BD59-A6C34878D82A}">
                    <a16:rowId xmlns:a16="http://schemas.microsoft.com/office/drawing/2014/main" val="1009313812"/>
                  </a:ext>
                </a:extLst>
              </a:tr>
              <a:tr h="370840">
                <a:tc>
                  <a:txBody>
                    <a:bodyPr/>
                    <a:lstStyle/>
                    <a:p>
                      <a:r>
                        <a:rPr lang="en-US" dirty="0"/>
                        <a:t>10</a:t>
                      </a:r>
                    </a:p>
                  </a:txBody>
                  <a:tcPr/>
                </a:tc>
                <a:tc>
                  <a:txBody>
                    <a:bodyPr/>
                    <a:lstStyle/>
                    <a:p>
                      <a:r>
                        <a:rPr lang="en-US" dirty="0"/>
                        <a:t>A</a:t>
                      </a:r>
                    </a:p>
                  </a:txBody>
                  <a:tcPr/>
                </a:tc>
                <a:tc>
                  <a:txBody>
                    <a:bodyPr/>
                    <a:lstStyle/>
                    <a:p>
                      <a:r>
                        <a:rPr lang="en-US" dirty="0"/>
                        <a:t>1010</a:t>
                      </a:r>
                    </a:p>
                  </a:txBody>
                  <a:tcPr/>
                </a:tc>
                <a:extLst>
                  <a:ext uri="{0D108BD9-81ED-4DB2-BD59-A6C34878D82A}">
                    <a16:rowId xmlns:a16="http://schemas.microsoft.com/office/drawing/2014/main" val="653138076"/>
                  </a:ext>
                </a:extLst>
              </a:tr>
              <a:tr h="370840">
                <a:tc>
                  <a:txBody>
                    <a:bodyPr/>
                    <a:lstStyle/>
                    <a:p>
                      <a:r>
                        <a:rPr lang="en-US" dirty="0"/>
                        <a:t>11</a:t>
                      </a:r>
                    </a:p>
                  </a:txBody>
                  <a:tcPr/>
                </a:tc>
                <a:tc>
                  <a:txBody>
                    <a:bodyPr/>
                    <a:lstStyle/>
                    <a:p>
                      <a:r>
                        <a:rPr lang="en-US" dirty="0"/>
                        <a:t>B</a:t>
                      </a:r>
                    </a:p>
                  </a:txBody>
                  <a:tcPr/>
                </a:tc>
                <a:tc>
                  <a:txBody>
                    <a:bodyPr/>
                    <a:lstStyle/>
                    <a:p>
                      <a:r>
                        <a:rPr lang="en-US" dirty="0"/>
                        <a:t>1011</a:t>
                      </a:r>
                    </a:p>
                  </a:txBody>
                  <a:tcPr/>
                </a:tc>
                <a:extLst>
                  <a:ext uri="{0D108BD9-81ED-4DB2-BD59-A6C34878D82A}">
                    <a16:rowId xmlns:a16="http://schemas.microsoft.com/office/drawing/2014/main" val="3454083718"/>
                  </a:ext>
                </a:extLst>
              </a:tr>
              <a:tr h="370840">
                <a:tc>
                  <a:txBody>
                    <a:bodyPr/>
                    <a:lstStyle/>
                    <a:p>
                      <a:r>
                        <a:rPr lang="en-US" dirty="0"/>
                        <a:t>12</a:t>
                      </a:r>
                    </a:p>
                  </a:txBody>
                  <a:tcPr/>
                </a:tc>
                <a:tc>
                  <a:txBody>
                    <a:bodyPr/>
                    <a:lstStyle/>
                    <a:p>
                      <a:r>
                        <a:rPr lang="en-US" dirty="0"/>
                        <a:t>C</a:t>
                      </a:r>
                    </a:p>
                  </a:txBody>
                  <a:tcPr/>
                </a:tc>
                <a:tc>
                  <a:txBody>
                    <a:bodyPr/>
                    <a:lstStyle/>
                    <a:p>
                      <a:r>
                        <a:rPr lang="en-US" dirty="0"/>
                        <a:t>1100</a:t>
                      </a:r>
                    </a:p>
                  </a:txBody>
                  <a:tcPr/>
                </a:tc>
                <a:extLst>
                  <a:ext uri="{0D108BD9-81ED-4DB2-BD59-A6C34878D82A}">
                    <a16:rowId xmlns:a16="http://schemas.microsoft.com/office/drawing/2014/main" val="1831796104"/>
                  </a:ext>
                </a:extLst>
              </a:tr>
              <a:tr h="370840">
                <a:tc>
                  <a:txBody>
                    <a:bodyPr/>
                    <a:lstStyle/>
                    <a:p>
                      <a:r>
                        <a:rPr lang="en-US" dirty="0"/>
                        <a:t>13</a:t>
                      </a:r>
                    </a:p>
                  </a:txBody>
                  <a:tcPr/>
                </a:tc>
                <a:tc>
                  <a:txBody>
                    <a:bodyPr/>
                    <a:lstStyle/>
                    <a:p>
                      <a:r>
                        <a:rPr lang="en-US" dirty="0"/>
                        <a:t>D</a:t>
                      </a:r>
                    </a:p>
                  </a:txBody>
                  <a:tcPr/>
                </a:tc>
                <a:tc>
                  <a:txBody>
                    <a:bodyPr/>
                    <a:lstStyle/>
                    <a:p>
                      <a:r>
                        <a:rPr lang="en-US" dirty="0"/>
                        <a:t>1101</a:t>
                      </a:r>
                    </a:p>
                  </a:txBody>
                  <a:tcPr/>
                </a:tc>
                <a:extLst>
                  <a:ext uri="{0D108BD9-81ED-4DB2-BD59-A6C34878D82A}">
                    <a16:rowId xmlns:a16="http://schemas.microsoft.com/office/drawing/2014/main" val="1655418900"/>
                  </a:ext>
                </a:extLst>
              </a:tr>
              <a:tr h="370840">
                <a:tc>
                  <a:txBody>
                    <a:bodyPr/>
                    <a:lstStyle/>
                    <a:p>
                      <a:r>
                        <a:rPr lang="en-US" dirty="0"/>
                        <a:t>14</a:t>
                      </a:r>
                    </a:p>
                  </a:txBody>
                  <a:tcPr/>
                </a:tc>
                <a:tc>
                  <a:txBody>
                    <a:bodyPr/>
                    <a:lstStyle/>
                    <a:p>
                      <a:r>
                        <a:rPr lang="en-US" dirty="0"/>
                        <a:t>E</a:t>
                      </a:r>
                    </a:p>
                  </a:txBody>
                  <a:tcPr/>
                </a:tc>
                <a:tc>
                  <a:txBody>
                    <a:bodyPr/>
                    <a:lstStyle/>
                    <a:p>
                      <a:r>
                        <a:rPr lang="en-US" dirty="0"/>
                        <a:t>1110</a:t>
                      </a:r>
                    </a:p>
                  </a:txBody>
                  <a:tcPr/>
                </a:tc>
                <a:extLst>
                  <a:ext uri="{0D108BD9-81ED-4DB2-BD59-A6C34878D82A}">
                    <a16:rowId xmlns:a16="http://schemas.microsoft.com/office/drawing/2014/main" val="2187174681"/>
                  </a:ext>
                </a:extLst>
              </a:tr>
              <a:tr h="370840">
                <a:tc>
                  <a:txBody>
                    <a:bodyPr/>
                    <a:lstStyle/>
                    <a:p>
                      <a:r>
                        <a:rPr lang="en-US" dirty="0"/>
                        <a:t>15</a:t>
                      </a:r>
                    </a:p>
                  </a:txBody>
                  <a:tcPr/>
                </a:tc>
                <a:tc>
                  <a:txBody>
                    <a:bodyPr/>
                    <a:lstStyle/>
                    <a:p>
                      <a:r>
                        <a:rPr lang="en-US" dirty="0"/>
                        <a:t>F</a:t>
                      </a:r>
                    </a:p>
                  </a:txBody>
                  <a:tcPr/>
                </a:tc>
                <a:tc>
                  <a:txBody>
                    <a:bodyPr/>
                    <a:lstStyle/>
                    <a:p>
                      <a:r>
                        <a:rPr lang="en-US" dirty="0"/>
                        <a:t>1111</a:t>
                      </a:r>
                    </a:p>
                  </a:txBody>
                  <a:tcPr/>
                </a:tc>
                <a:extLst>
                  <a:ext uri="{0D108BD9-81ED-4DB2-BD59-A6C34878D82A}">
                    <a16:rowId xmlns:a16="http://schemas.microsoft.com/office/drawing/2014/main" val="2538064881"/>
                  </a:ext>
                </a:extLst>
              </a:tr>
            </a:tbl>
          </a:graphicData>
        </a:graphic>
      </p:graphicFrame>
    </p:spTree>
    <p:extLst>
      <p:ext uri="{BB962C8B-B14F-4D97-AF65-F5344CB8AC3E}">
        <p14:creationId xmlns:p14="http://schemas.microsoft.com/office/powerpoint/2010/main" val="7808381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89BE-8F2C-4BAE-8CD4-14E5F34DFBB1}"/>
              </a:ext>
            </a:extLst>
          </p:cNvPr>
          <p:cNvSpPr>
            <a:spLocks noGrp="1"/>
          </p:cNvSpPr>
          <p:nvPr>
            <p:ph type="title"/>
          </p:nvPr>
        </p:nvSpPr>
        <p:spPr/>
        <p:txBody>
          <a:bodyPr/>
          <a:lstStyle/>
          <a:p>
            <a:r>
              <a:rPr lang="en-US" dirty="0"/>
              <a:t>Words</a:t>
            </a:r>
          </a:p>
        </p:txBody>
      </p:sp>
      <p:sp>
        <p:nvSpPr>
          <p:cNvPr id="3" name="Content Placeholder 2">
            <a:extLst>
              <a:ext uri="{FF2B5EF4-FFF2-40B4-BE49-F238E27FC236}">
                <a16:creationId xmlns:a16="http://schemas.microsoft.com/office/drawing/2014/main" id="{04F4A991-E22C-4610-904F-37E3ECE67A48}"/>
              </a:ext>
            </a:extLst>
          </p:cNvPr>
          <p:cNvSpPr>
            <a:spLocks noGrp="1"/>
          </p:cNvSpPr>
          <p:nvPr>
            <p:ph idx="1"/>
          </p:nvPr>
        </p:nvSpPr>
        <p:spPr/>
        <p:txBody>
          <a:bodyPr/>
          <a:lstStyle/>
          <a:p>
            <a:pPr marL="0" indent="0">
              <a:buNone/>
            </a:pPr>
            <a:r>
              <a:rPr lang="en-US" dirty="0"/>
              <a:t>It becomes awkward to say “one hexadecimal digit”. Or “two hexadecimal digits”. Or “8 bits”. So we have some terms that are in common use:</a:t>
            </a:r>
          </a:p>
          <a:p>
            <a:pPr marL="0" indent="0">
              <a:buNone/>
            </a:pPr>
            <a:r>
              <a:rPr lang="en-US" dirty="0"/>
              <a:t>nibble: 4 bits (1 hex digit)</a:t>
            </a:r>
          </a:p>
          <a:p>
            <a:pPr marL="0" indent="0">
              <a:buNone/>
            </a:pPr>
            <a:r>
              <a:rPr lang="en-US" dirty="0"/>
              <a:t>byte : 8 bits (2 hex digits)</a:t>
            </a:r>
          </a:p>
          <a:p>
            <a:pPr marL="0" indent="0">
              <a:buNone/>
            </a:pPr>
            <a:r>
              <a:rPr lang="en-US" dirty="0"/>
              <a:t>word : 16 bits (4 hex digits)</a:t>
            </a:r>
          </a:p>
          <a:p>
            <a:pPr marL="0" indent="0">
              <a:buNone/>
            </a:pPr>
            <a:r>
              <a:rPr lang="en-US" dirty="0"/>
              <a:t>longword : 32 bits (8 hex digits)</a:t>
            </a:r>
          </a:p>
          <a:p>
            <a:pPr marL="0" indent="0">
              <a:buNone/>
            </a:pPr>
            <a:r>
              <a:rPr lang="en-US" dirty="0"/>
              <a:t>quadword : 64 bits (16 hex digits)</a:t>
            </a:r>
          </a:p>
          <a:p>
            <a:pPr marL="0" indent="0">
              <a:buNone/>
            </a:pPr>
            <a:endParaRPr lang="en-US" dirty="0"/>
          </a:p>
        </p:txBody>
      </p:sp>
    </p:spTree>
    <p:extLst>
      <p:ext uri="{BB962C8B-B14F-4D97-AF65-F5344CB8AC3E}">
        <p14:creationId xmlns:p14="http://schemas.microsoft.com/office/powerpoint/2010/main" val="42291963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2AF0C-780B-4587-9C4A-DA2776C0216C}"/>
              </a:ext>
            </a:extLst>
          </p:cNvPr>
          <p:cNvSpPr>
            <a:spLocks noGrp="1"/>
          </p:cNvSpPr>
          <p:nvPr>
            <p:ph type="title"/>
          </p:nvPr>
        </p:nvSpPr>
        <p:spPr/>
        <p:txBody>
          <a:bodyPr/>
          <a:lstStyle/>
          <a:p>
            <a:r>
              <a:rPr lang="en-US" dirty="0"/>
              <a:t>Logic Operators</a:t>
            </a:r>
          </a:p>
        </p:txBody>
      </p:sp>
      <p:sp>
        <p:nvSpPr>
          <p:cNvPr id="3" name="Content Placeholder 2">
            <a:extLst>
              <a:ext uri="{FF2B5EF4-FFF2-40B4-BE49-F238E27FC236}">
                <a16:creationId xmlns:a16="http://schemas.microsoft.com/office/drawing/2014/main" id="{F4A28607-4D6E-40D0-99B7-430E4D180C29}"/>
              </a:ext>
            </a:extLst>
          </p:cNvPr>
          <p:cNvSpPr>
            <a:spLocks noGrp="1"/>
          </p:cNvSpPr>
          <p:nvPr>
            <p:ph idx="1"/>
          </p:nvPr>
        </p:nvSpPr>
        <p:spPr>
          <a:xfrm>
            <a:off x="838200" y="1825625"/>
            <a:ext cx="10515600" cy="588963"/>
          </a:xfrm>
        </p:spPr>
        <p:txBody>
          <a:bodyPr/>
          <a:lstStyle/>
          <a:p>
            <a:pPr marL="0" indent="0">
              <a:buNone/>
            </a:pPr>
            <a:r>
              <a:rPr lang="en-US" dirty="0"/>
              <a:t>Remember from a long time ago AND, OR, NOT, XOR?</a:t>
            </a:r>
          </a:p>
        </p:txBody>
      </p:sp>
      <p:graphicFrame>
        <p:nvGraphicFramePr>
          <p:cNvPr id="4" name="Table 3">
            <a:extLst>
              <a:ext uri="{FF2B5EF4-FFF2-40B4-BE49-F238E27FC236}">
                <a16:creationId xmlns:a16="http://schemas.microsoft.com/office/drawing/2014/main" id="{ADB39C2D-867A-49C0-8541-25C300B18910}"/>
              </a:ext>
            </a:extLst>
          </p:cNvPr>
          <p:cNvGraphicFramePr>
            <a:graphicFrameLocks noGrp="1"/>
          </p:cNvGraphicFramePr>
          <p:nvPr>
            <p:extLst>
              <p:ext uri="{D42A27DB-BD31-4B8C-83A1-F6EECF244321}">
                <p14:modId xmlns:p14="http://schemas.microsoft.com/office/powerpoint/2010/main" val="815913526"/>
              </p:ext>
            </p:extLst>
          </p:nvPr>
        </p:nvGraphicFramePr>
        <p:xfrm>
          <a:off x="974733" y="2734203"/>
          <a:ext cx="1625598" cy="2590800"/>
        </p:xfrm>
        <a:graphic>
          <a:graphicData uri="http://schemas.openxmlformats.org/drawingml/2006/table">
            <a:tbl>
              <a:tblPr bandCol="1">
                <a:tableStyleId>{9D7B26C5-4107-4FEC-AEDC-1716B250A1EF}</a:tableStyleId>
              </a:tblPr>
              <a:tblGrid>
                <a:gridCol w="541866">
                  <a:extLst>
                    <a:ext uri="{9D8B030D-6E8A-4147-A177-3AD203B41FA5}">
                      <a16:colId xmlns:a16="http://schemas.microsoft.com/office/drawing/2014/main" val="4051738267"/>
                    </a:ext>
                  </a:extLst>
                </a:gridCol>
                <a:gridCol w="541866">
                  <a:extLst>
                    <a:ext uri="{9D8B030D-6E8A-4147-A177-3AD203B41FA5}">
                      <a16:colId xmlns:a16="http://schemas.microsoft.com/office/drawing/2014/main" val="3601997913"/>
                    </a:ext>
                  </a:extLst>
                </a:gridCol>
                <a:gridCol w="541866">
                  <a:extLst>
                    <a:ext uri="{9D8B030D-6E8A-4147-A177-3AD203B41FA5}">
                      <a16:colId xmlns:a16="http://schemas.microsoft.com/office/drawing/2014/main" val="3862098631"/>
                    </a:ext>
                  </a:extLst>
                </a:gridCol>
              </a:tblGrid>
              <a:tr h="367559">
                <a:tc gridSpan="3">
                  <a:txBody>
                    <a:bodyPr/>
                    <a:lstStyle/>
                    <a:p>
                      <a:r>
                        <a:rPr lang="en-US" sz="2800" dirty="0"/>
                        <a:t>AND</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970915313"/>
                  </a:ext>
                </a:extLst>
              </a:tr>
              <a:tr h="367559">
                <a:tc>
                  <a:txBody>
                    <a:bodyPr/>
                    <a:lstStyle/>
                    <a:p>
                      <a:r>
                        <a:rPr lang="en-US" sz="2800" dirty="0"/>
                        <a:t>0</a:t>
                      </a:r>
                    </a:p>
                  </a:txBody>
                  <a:tcPr>
                    <a:noFill/>
                  </a:tcPr>
                </a:tc>
                <a:tc>
                  <a:txBody>
                    <a:bodyPr/>
                    <a:lstStyle/>
                    <a:p>
                      <a:r>
                        <a:rPr lang="en-US" sz="2800" dirty="0"/>
                        <a:t>0</a:t>
                      </a:r>
                    </a:p>
                  </a:txBody>
                  <a:tcPr/>
                </a:tc>
                <a:tc>
                  <a:txBody>
                    <a:bodyPr/>
                    <a:lstStyle/>
                    <a:p>
                      <a:r>
                        <a:rPr lang="en-US" sz="2800" dirty="0"/>
                        <a:t>0</a:t>
                      </a:r>
                    </a:p>
                  </a:txBody>
                  <a:tcPr/>
                </a:tc>
                <a:extLst>
                  <a:ext uri="{0D108BD9-81ED-4DB2-BD59-A6C34878D82A}">
                    <a16:rowId xmlns:a16="http://schemas.microsoft.com/office/drawing/2014/main" val="3822842421"/>
                  </a:ext>
                </a:extLst>
              </a:tr>
              <a:tr h="367559">
                <a:tc>
                  <a:txBody>
                    <a:bodyPr/>
                    <a:lstStyle/>
                    <a:p>
                      <a:r>
                        <a:rPr lang="en-US" sz="2800" dirty="0"/>
                        <a:t>0</a:t>
                      </a:r>
                    </a:p>
                  </a:txBody>
                  <a:tcPr>
                    <a:noFill/>
                  </a:tcPr>
                </a:tc>
                <a:tc>
                  <a:txBody>
                    <a:bodyPr/>
                    <a:lstStyle/>
                    <a:p>
                      <a:r>
                        <a:rPr lang="en-US" sz="2800" dirty="0"/>
                        <a:t>1</a:t>
                      </a:r>
                    </a:p>
                  </a:txBody>
                  <a:tcPr/>
                </a:tc>
                <a:tc>
                  <a:txBody>
                    <a:bodyPr/>
                    <a:lstStyle/>
                    <a:p>
                      <a:r>
                        <a:rPr lang="en-US" sz="2800" dirty="0"/>
                        <a:t>0</a:t>
                      </a:r>
                    </a:p>
                  </a:txBody>
                  <a:tcPr/>
                </a:tc>
                <a:extLst>
                  <a:ext uri="{0D108BD9-81ED-4DB2-BD59-A6C34878D82A}">
                    <a16:rowId xmlns:a16="http://schemas.microsoft.com/office/drawing/2014/main" val="865635027"/>
                  </a:ext>
                </a:extLst>
              </a:tr>
              <a:tr h="367559">
                <a:tc>
                  <a:txBody>
                    <a:bodyPr/>
                    <a:lstStyle/>
                    <a:p>
                      <a:r>
                        <a:rPr lang="en-US" sz="2800" dirty="0"/>
                        <a:t>1</a:t>
                      </a:r>
                    </a:p>
                  </a:txBody>
                  <a:tcPr>
                    <a:noFill/>
                  </a:tcPr>
                </a:tc>
                <a:tc>
                  <a:txBody>
                    <a:bodyPr/>
                    <a:lstStyle/>
                    <a:p>
                      <a:r>
                        <a:rPr lang="en-US" sz="2800" dirty="0"/>
                        <a:t>0</a:t>
                      </a:r>
                    </a:p>
                  </a:txBody>
                  <a:tcPr/>
                </a:tc>
                <a:tc>
                  <a:txBody>
                    <a:bodyPr/>
                    <a:lstStyle/>
                    <a:p>
                      <a:r>
                        <a:rPr lang="en-US" sz="2800" dirty="0"/>
                        <a:t>0</a:t>
                      </a:r>
                    </a:p>
                  </a:txBody>
                  <a:tcPr/>
                </a:tc>
                <a:extLst>
                  <a:ext uri="{0D108BD9-81ED-4DB2-BD59-A6C34878D82A}">
                    <a16:rowId xmlns:a16="http://schemas.microsoft.com/office/drawing/2014/main" val="4039204351"/>
                  </a:ext>
                </a:extLst>
              </a:tr>
              <a:tr h="367559">
                <a:tc>
                  <a:txBody>
                    <a:bodyPr/>
                    <a:lstStyle/>
                    <a:p>
                      <a:r>
                        <a:rPr lang="en-US" sz="2800" dirty="0"/>
                        <a:t>1</a:t>
                      </a:r>
                    </a:p>
                  </a:txBody>
                  <a:tcPr>
                    <a:noFill/>
                  </a:tcPr>
                </a:tc>
                <a:tc>
                  <a:txBody>
                    <a:bodyPr/>
                    <a:lstStyle/>
                    <a:p>
                      <a:r>
                        <a:rPr lang="en-US" sz="2800" dirty="0"/>
                        <a:t>1</a:t>
                      </a:r>
                    </a:p>
                  </a:txBody>
                  <a:tcPr/>
                </a:tc>
                <a:tc>
                  <a:txBody>
                    <a:bodyPr/>
                    <a:lstStyle/>
                    <a:p>
                      <a:r>
                        <a:rPr lang="en-US" sz="2800" dirty="0"/>
                        <a:t>1</a:t>
                      </a:r>
                    </a:p>
                  </a:txBody>
                  <a:tcPr/>
                </a:tc>
                <a:extLst>
                  <a:ext uri="{0D108BD9-81ED-4DB2-BD59-A6C34878D82A}">
                    <a16:rowId xmlns:a16="http://schemas.microsoft.com/office/drawing/2014/main" val="2538615294"/>
                  </a:ext>
                </a:extLst>
              </a:tr>
            </a:tbl>
          </a:graphicData>
        </a:graphic>
      </p:graphicFrame>
      <p:graphicFrame>
        <p:nvGraphicFramePr>
          <p:cNvPr id="5" name="Table 4">
            <a:extLst>
              <a:ext uri="{FF2B5EF4-FFF2-40B4-BE49-F238E27FC236}">
                <a16:creationId xmlns:a16="http://schemas.microsoft.com/office/drawing/2014/main" id="{FDA9AF87-338F-4E3D-9BA8-5C3CBBD001F0}"/>
              </a:ext>
            </a:extLst>
          </p:cNvPr>
          <p:cNvGraphicFramePr>
            <a:graphicFrameLocks noGrp="1"/>
          </p:cNvGraphicFramePr>
          <p:nvPr>
            <p:extLst>
              <p:ext uri="{D42A27DB-BD31-4B8C-83A1-F6EECF244321}">
                <p14:modId xmlns:p14="http://schemas.microsoft.com/office/powerpoint/2010/main" val="2796504369"/>
              </p:ext>
            </p:extLst>
          </p:nvPr>
        </p:nvGraphicFramePr>
        <p:xfrm>
          <a:off x="3915576" y="2734203"/>
          <a:ext cx="1625598" cy="2590800"/>
        </p:xfrm>
        <a:graphic>
          <a:graphicData uri="http://schemas.openxmlformats.org/drawingml/2006/table">
            <a:tbl>
              <a:tblPr bandCol="1">
                <a:tableStyleId>{9D7B26C5-4107-4FEC-AEDC-1716B250A1EF}</a:tableStyleId>
              </a:tblPr>
              <a:tblGrid>
                <a:gridCol w="541866">
                  <a:extLst>
                    <a:ext uri="{9D8B030D-6E8A-4147-A177-3AD203B41FA5}">
                      <a16:colId xmlns:a16="http://schemas.microsoft.com/office/drawing/2014/main" val="4051738267"/>
                    </a:ext>
                  </a:extLst>
                </a:gridCol>
                <a:gridCol w="541866">
                  <a:extLst>
                    <a:ext uri="{9D8B030D-6E8A-4147-A177-3AD203B41FA5}">
                      <a16:colId xmlns:a16="http://schemas.microsoft.com/office/drawing/2014/main" val="3601997913"/>
                    </a:ext>
                  </a:extLst>
                </a:gridCol>
                <a:gridCol w="541866">
                  <a:extLst>
                    <a:ext uri="{9D8B030D-6E8A-4147-A177-3AD203B41FA5}">
                      <a16:colId xmlns:a16="http://schemas.microsoft.com/office/drawing/2014/main" val="3862098631"/>
                    </a:ext>
                  </a:extLst>
                </a:gridCol>
              </a:tblGrid>
              <a:tr h="367559">
                <a:tc gridSpan="3">
                  <a:txBody>
                    <a:bodyPr/>
                    <a:lstStyle/>
                    <a:p>
                      <a:r>
                        <a:rPr lang="en-US" sz="2800" dirty="0"/>
                        <a:t>OR</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970915313"/>
                  </a:ext>
                </a:extLst>
              </a:tr>
              <a:tr h="367559">
                <a:tc>
                  <a:txBody>
                    <a:bodyPr/>
                    <a:lstStyle/>
                    <a:p>
                      <a:r>
                        <a:rPr lang="en-US" sz="2800" dirty="0"/>
                        <a:t>0</a:t>
                      </a:r>
                    </a:p>
                  </a:txBody>
                  <a:tcPr>
                    <a:noFill/>
                  </a:tcPr>
                </a:tc>
                <a:tc>
                  <a:txBody>
                    <a:bodyPr/>
                    <a:lstStyle/>
                    <a:p>
                      <a:r>
                        <a:rPr lang="en-US" sz="2800" dirty="0"/>
                        <a:t>0</a:t>
                      </a:r>
                    </a:p>
                  </a:txBody>
                  <a:tcPr/>
                </a:tc>
                <a:tc>
                  <a:txBody>
                    <a:bodyPr/>
                    <a:lstStyle/>
                    <a:p>
                      <a:r>
                        <a:rPr lang="en-US" sz="2800" dirty="0"/>
                        <a:t>0</a:t>
                      </a:r>
                    </a:p>
                  </a:txBody>
                  <a:tcPr/>
                </a:tc>
                <a:extLst>
                  <a:ext uri="{0D108BD9-81ED-4DB2-BD59-A6C34878D82A}">
                    <a16:rowId xmlns:a16="http://schemas.microsoft.com/office/drawing/2014/main" val="3822842421"/>
                  </a:ext>
                </a:extLst>
              </a:tr>
              <a:tr h="367559">
                <a:tc>
                  <a:txBody>
                    <a:bodyPr/>
                    <a:lstStyle/>
                    <a:p>
                      <a:r>
                        <a:rPr lang="en-US" sz="2800" dirty="0"/>
                        <a:t>0</a:t>
                      </a:r>
                    </a:p>
                  </a:txBody>
                  <a:tcPr>
                    <a:noFill/>
                  </a:tcPr>
                </a:tc>
                <a:tc>
                  <a:txBody>
                    <a:bodyPr/>
                    <a:lstStyle/>
                    <a:p>
                      <a:r>
                        <a:rPr lang="en-US" sz="2800" dirty="0"/>
                        <a:t>1</a:t>
                      </a:r>
                    </a:p>
                  </a:txBody>
                  <a:tcPr/>
                </a:tc>
                <a:tc>
                  <a:txBody>
                    <a:bodyPr/>
                    <a:lstStyle/>
                    <a:p>
                      <a:r>
                        <a:rPr lang="en-US" sz="2800" dirty="0"/>
                        <a:t>1</a:t>
                      </a:r>
                    </a:p>
                  </a:txBody>
                  <a:tcPr/>
                </a:tc>
                <a:extLst>
                  <a:ext uri="{0D108BD9-81ED-4DB2-BD59-A6C34878D82A}">
                    <a16:rowId xmlns:a16="http://schemas.microsoft.com/office/drawing/2014/main" val="865635027"/>
                  </a:ext>
                </a:extLst>
              </a:tr>
              <a:tr h="367559">
                <a:tc>
                  <a:txBody>
                    <a:bodyPr/>
                    <a:lstStyle/>
                    <a:p>
                      <a:r>
                        <a:rPr lang="en-US" sz="2800" dirty="0"/>
                        <a:t>1</a:t>
                      </a:r>
                    </a:p>
                  </a:txBody>
                  <a:tcPr>
                    <a:noFill/>
                  </a:tcPr>
                </a:tc>
                <a:tc>
                  <a:txBody>
                    <a:bodyPr/>
                    <a:lstStyle/>
                    <a:p>
                      <a:r>
                        <a:rPr lang="en-US" sz="2800" dirty="0"/>
                        <a:t>0</a:t>
                      </a:r>
                    </a:p>
                  </a:txBody>
                  <a:tcPr/>
                </a:tc>
                <a:tc>
                  <a:txBody>
                    <a:bodyPr/>
                    <a:lstStyle/>
                    <a:p>
                      <a:r>
                        <a:rPr lang="en-US" sz="2800" dirty="0"/>
                        <a:t>1</a:t>
                      </a:r>
                    </a:p>
                  </a:txBody>
                  <a:tcPr/>
                </a:tc>
                <a:extLst>
                  <a:ext uri="{0D108BD9-81ED-4DB2-BD59-A6C34878D82A}">
                    <a16:rowId xmlns:a16="http://schemas.microsoft.com/office/drawing/2014/main" val="4039204351"/>
                  </a:ext>
                </a:extLst>
              </a:tr>
              <a:tr h="367559">
                <a:tc>
                  <a:txBody>
                    <a:bodyPr/>
                    <a:lstStyle/>
                    <a:p>
                      <a:r>
                        <a:rPr lang="en-US" sz="2800" dirty="0"/>
                        <a:t>1</a:t>
                      </a:r>
                    </a:p>
                  </a:txBody>
                  <a:tcPr>
                    <a:noFill/>
                  </a:tcPr>
                </a:tc>
                <a:tc>
                  <a:txBody>
                    <a:bodyPr/>
                    <a:lstStyle/>
                    <a:p>
                      <a:r>
                        <a:rPr lang="en-US" sz="2800" dirty="0"/>
                        <a:t>1</a:t>
                      </a:r>
                    </a:p>
                  </a:txBody>
                  <a:tcPr/>
                </a:tc>
                <a:tc>
                  <a:txBody>
                    <a:bodyPr/>
                    <a:lstStyle/>
                    <a:p>
                      <a:r>
                        <a:rPr lang="en-US" sz="2800" dirty="0"/>
                        <a:t>1</a:t>
                      </a:r>
                    </a:p>
                  </a:txBody>
                  <a:tcPr/>
                </a:tc>
                <a:extLst>
                  <a:ext uri="{0D108BD9-81ED-4DB2-BD59-A6C34878D82A}">
                    <a16:rowId xmlns:a16="http://schemas.microsoft.com/office/drawing/2014/main" val="2538615294"/>
                  </a:ext>
                </a:extLst>
              </a:tr>
            </a:tbl>
          </a:graphicData>
        </a:graphic>
      </p:graphicFrame>
      <p:graphicFrame>
        <p:nvGraphicFramePr>
          <p:cNvPr id="6" name="Table 5">
            <a:extLst>
              <a:ext uri="{FF2B5EF4-FFF2-40B4-BE49-F238E27FC236}">
                <a16:creationId xmlns:a16="http://schemas.microsoft.com/office/drawing/2014/main" id="{63E564DE-9EB0-46B4-80CA-B32CABEC0465}"/>
              </a:ext>
            </a:extLst>
          </p:cNvPr>
          <p:cNvGraphicFramePr>
            <a:graphicFrameLocks noGrp="1"/>
          </p:cNvGraphicFramePr>
          <p:nvPr>
            <p:extLst>
              <p:ext uri="{D42A27DB-BD31-4B8C-83A1-F6EECF244321}">
                <p14:modId xmlns:p14="http://schemas.microsoft.com/office/powerpoint/2010/main" val="3783033436"/>
              </p:ext>
            </p:extLst>
          </p:nvPr>
        </p:nvGraphicFramePr>
        <p:xfrm>
          <a:off x="6856420" y="2739492"/>
          <a:ext cx="1625598" cy="2590800"/>
        </p:xfrm>
        <a:graphic>
          <a:graphicData uri="http://schemas.openxmlformats.org/drawingml/2006/table">
            <a:tbl>
              <a:tblPr bandCol="1">
                <a:tableStyleId>{9D7B26C5-4107-4FEC-AEDC-1716B250A1EF}</a:tableStyleId>
              </a:tblPr>
              <a:tblGrid>
                <a:gridCol w="541866">
                  <a:extLst>
                    <a:ext uri="{9D8B030D-6E8A-4147-A177-3AD203B41FA5}">
                      <a16:colId xmlns:a16="http://schemas.microsoft.com/office/drawing/2014/main" val="4051738267"/>
                    </a:ext>
                  </a:extLst>
                </a:gridCol>
                <a:gridCol w="541866">
                  <a:extLst>
                    <a:ext uri="{9D8B030D-6E8A-4147-A177-3AD203B41FA5}">
                      <a16:colId xmlns:a16="http://schemas.microsoft.com/office/drawing/2014/main" val="3601997913"/>
                    </a:ext>
                  </a:extLst>
                </a:gridCol>
                <a:gridCol w="541866">
                  <a:extLst>
                    <a:ext uri="{9D8B030D-6E8A-4147-A177-3AD203B41FA5}">
                      <a16:colId xmlns:a16="http://schemas.microsoft.com/office/drawing/2014/main" val="3862098631"/>
                    </a:ext>
                  </a:extLst>
                </a:gridCol>
              </a:tblGrid>
              <a:tr h="367559">
                <a:tc gridSpan="3">
                  <a:txBody>
                    <a:bodyPr/>
                    <a:lstStyle/>
                    <a:p>
                      <a:r>
                        <a:rPr lang="en-US" sz="2800" dirty="0"/>
                        <a:t>XOR</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970915313"/>
                  </a:ext>
                </a:extLst>
              </a:tr>
              <a:tr h="367559">
                <a:tc>
                  <a:txBody>
                    <a:bodyPr/>
                    <a:lstStyle/>
                    <a:p>
                      <a:r>
                        <a:rPr lang="en-US" sz="2800" dirty="0"/>
                        <a:t>0</a:t>
                      </a:r>
                    </a:p>
                  </a:txBody>
                  <a:tcPr>
                    <a:noFill/>
                  </a:tcPr>
                </a:tc>
                <a:tc>
                  <a:txBody>
                    <a:bodyPr/>
                    <a:lstStyle/>
                    <a:p>
                      <a:r>
                        <a:rPr lang="en-US" sz="2800" dirty="0"/>
                        <a:t>0</a:t>
                      </a:r>
                    </a:p>
                  </a:txBody>
                  <a:tcPr/>
                </a:tc>
                <a:tc>
                  <a:txBody>
                    <a:bodyPr/>
                    <a:lstStyle/>
                    <a:p>
                      <a:r>
                        <a:rPr lang="en-US" sz="2800" dirty="0"/>
                        <a:t>0</a:t>
                      </a:r>
                    </a:p>
                  </a:txBody>
                  <a:tcPr/>
                </a:tc>
                <a:extLst>
                  <a:ext uri="{0D108BD9-81ED-4DB2-BD59-A6C34878D82A}">
                    <a16:rowId xmlns:a16="http://schemas.microsoft.com/office/drawing/2014/main" val="3822842421"/>
                  </a:ext>
                </a:extLst>
              </a:tr>
              <a:tr h="367559">
                <a:tc>
                  <a:txBody>
                    <a:bodyPr/>
                    <a:lstStyle/>
                    <a:p>
                      <a:r>
                        <a:rPr lang="en-US" sz="2800" dirty="0"/>
                        <a:t>0</a:t>
                      </a:r>
                    </a:p>
                  </a:txBody>
                  <a:tcPr>
                    <a:noFill/>
                  </a:tcPr>
                </a:tc>
                <a:tc>
                  <a:txBody>
                    <a:bodyPr/>
                    <a:lstStyle/>
                    <a:p>
                      <a:r>
                        <a:rPr lang="en-US" sz="2800" dirty="0"/>
                        <a:t>1</a:t>
                      </a:r>
                    </a:p>
                  </a:txBody>
                  <a:tcPr/>
                </a:tc>
                <a:tc>
                  <a:txBody>
                    <a:bodyPr/>
                    <a:lstStyle/>
                    <a:p>
                      <a:r>
                        <a:rPr lang="en-US" sz="2800" dirty="0"/>
                        <a:t>1</a:t>
                      </a:r>
                    </a:p>
                  </a:txBody>
                  <a:tcPr/>
                </a:tc>
                <a:extLst>
                  <a:ext uri="{0D108BD9-81ED-4DB2-BD59-A6C34878D82A}">
                    <a16:rowId xmlns:a16="http://schemas.microsoft.com/office/drawing/2014/main" val="865635027"/>
                  </a:ext>
                </a:extLst>
              </a:tr>
              <a:tr h="367559">
                <a:tc>
                  <a:txBody>
                    <a:bodyPr/>
                    <a:lstStyle/>
                    <a:p>
                      <a:r>
                        <a:rPr lang="en-US" sz="2800" dirty="0"/>
                        <a:t>1</a:t>
                      </a:r>
                    </a:p>
                  </a:txBody>
                  <a:tcPr>
                    <a:noFill/>
                  </a:tcPr>
                </a:tc>
                <a:tc>
                  <a:txBody>
                    <a:bodyPr/>
                    <a:lstStyle/>
                    <a:p>
                      <a:r>
                        <a:rPr lang="en-US" sz="2800" dirty="0"/>
                        <a:t>0</a:t>
                      </a:r>
                    </a:p>
                  </a:txBody>
                  <a:tcPr/>
                </a:tc>
                <a:tc>
                  <a:txBody>
                    <a:bodyPr/>
                    <a:lstStyle/>
                    <a:p>
                      <a:r>
                        <a:rPr lang="en-US" sz="2800" dirty="0"/>
                        <a:t>1</a:t>
                      </a:r>
                    </a:p>
                  </a:txBody>
                  <a:tcPr/>
                </a:tc>
                <a:extLst>
                  <a:ext uri="{0D108BD9-81ED-4DB2-BD59-A6C34878D82A}">
                    <a16:rowId xmlns:a16="http://schemas.microsoft.com/office/drawing/2014/main" val="4039204351"/>
                  </a:ext>
                </a:extLst>
              </a:tr>
              <a:tr h="367559">
                <a:tc>
                  <a:txBody>
                    <a:bodyPr/>
                    <a:lstStyle/>
                    <a:p>
                      <a:r>
                        <a:rPr lang="en-US" sz="2800" dirty="0"/>
                        <a:t>1</a:t>
                      </a:r>
                    </a:p>
                  </a:txBody>
                  <a:tcPr>
                    <a:noFill/>
                  </a:tcPr>
                </a:tc>
                <a:tc>
                  <a:txBody>
                    <a:bodyPr/>
                    <a:lstStyle/>
                    <a:p>
                      <a:r>
                        <a:rPr lang="en-US" sz="2800" dirty="0"/>
                        <a:t>1</a:t>
                      </a:r>
                    </a:p>
                  </a:txBody>
                  <a:tcPr/>
                </a:tc>
                <a:tc>
                  <a:txBody>
                    <a:bodyPr/>
                    <a:lstStyle/>
                    <a:p>
                      <a:r>
                        <a:rPr lang="en-US" sz="2800" dirty="0"/>
                        <a:t>0</a:t>
                      </a:r>
                    </a:p>
                  </a:txBody>
                  <a:tcPr/>
                </a:tc>
                <a:extLst>
                  <a:ext uri="{0D108BD9-81ED-4DB2-BD59-A6C34878D82A}">
                    <a16:rowId xmlns:a16="http://schemas.microsoft.com/office/drawing/2014/main" val="2538615294"/>
                  </a:ext>
                </a:extLst>
              </a:tr>
            </a:tbl>
          </a:graphicData>
        </a:graphic>
      </p:graphicFrame>
      <p:graphicFrame>
        <p:nvGraphicFramePr>
          <p:cNvPr id="8" name="Table 7">
            <a:extLst>
              <a:ext uri="{FF2B5EF4-FFF2-40B4-BE49-F238E27FC236}">
                <a16:creationId xmlns:a16="http://schemas.microsoft.com/office/drawing/2014/main" id="{3F7967C0-5AD8-4EE3-B477-DE9E71BB6BBA}"/>
              </a:ext>
            </a:extLst>
          </p:cNvPr>
          <p:cNvGraphicFramePr>
            <a:graphicFrameLocks noGrp="1"/>
          </p:cNvGraphicFramePr>
          <p:nvPr>
            <p:extLst>
              <p:ext uri="{D42A27DB-BD31-4B8C-83A1-F6EECF244321}">
                <p14:modId xmlns:p14="http://schemas.microsoft.com/office/powerpoint/2010/main" val="3280640487"/>
              </p:ext>
            </p:extLst>
          </p:nvPr>
        </p:nvGraphicFramePr>
        <p:xfrm>
          <a:off x="9797263" y="2734203"/>
          <a:ext cx="1083732" cy="1554480"/>
        </p:xfrm>
        <a:graphic>
          <a:graphicData uri="http://schemas.openxmlformats.org/drawingml/2006/table">
            <a:tbl>
              <a:tblPr bandCol="1">
                <a:tableStyleId>{9D7B26C5-4107-4FEC-AEDC-1716B250A1EF}</a:tableStyleId>
              </a:tblPr>
              <a:tblGrid>
                <a:gridCol w="541866">
                  <a:extLst>
                    <a:ext uri="{9D8B030D-6E8A-4147-A177-3AD203B41FA5}">
                      <a16:colId xmlns:a16="http://schemas.microsoft.com/office/drawing/2014/main" val="4051738267"/>
                    </a:ext>
                  </a:extLst>
                </a:gridCol>
                <a:gridCol w="541866">
                  <a:extLst>
                    <a:ext uri="{9D8B030D-6E8A-4147-A177-3AD203B41FA5}">
                      <a16:colId xmlns:a16="http://schemas.microsoft.com/office/drawing/2014/main" val="3862098631"/>
                    </a:ext>
                  </a:extLst>
                </a:gridCol>
              </a:tblGrid>
              <a:tr h="367559">
                <a:tc gridSpan="2">
                  <a:txBody>
                    <a:bodyPr/>
                    <a:lstStyle/>
                    <a:p>
                      <a:r>
                        <a:rPr lang="en-US" sz="2800" dirty="0"/>
                        <a:t>NOT</a:t>
                      </a:r>
                    </a:p>
                  </a:txBody>
                  <a:tcPr/>
                </a:tc>
                <a:tc hMerge="1">
                  <a:txBody>
                    <a:bodyPr/>
                    <a:lstStyle/>
                    <a:p>
                      <a:endParaRPr lang="en-US" dirty="0"/>
                    </a:p>
                  </a:txBody>
                  <a:tcPr/>
                </a:tc>
                <a:extLst>
                  <a:ext uri="{0D108BD9-81ED-4DB2-BD59-A6C34878D82A}">
                    <a16:rowId xmlns:a16="http://schemas.microsoft.com/office/drawing/2014/main" val="3970915313"/>
                  </a:ext>
                </a:extLst>
              </a:tr>
              <a:tr h="367559">
                <a:tc>
                  <a:txBody>
                    <a:bodyPr/>
                    <a:lstStyle/>
                    <a:p>
                      <a:r>
                        <a:rPr lang="en-US" sz="2800" dirty="0"/>
                        <a:t>0</a:t>
                      </a:r>
                    </a:p>
                  </a:txBody>
                  <a:tcPr>
                    <a:noFill/>
                  </a:tcPr>
                </a:tc>
                <a:tc>
                  <a:txBody>
                    <a:bodyPr/>
                    <a:lstStyle/>
                    <a:p>
                      <a:pPr marL="0" algn="l" defTabSz="914400" rtl="0" eaLnBrk="1" latinLnBrk="0" hangingPunct="1"/>
                      <a:r>
                        <a:rPr lang="en-US" sz="2800" kern="1200" dirty="0">
                          <a:solidFill>
                            <a:schemeClr val="tx1"/>
                          </a:solidFill>
                          <a:latin typeface="+mn-lt"/>
                          <a:ea typeface="+mn-ea"/>
                          <a:cs typeface="+mn-cs"/>
                        </a:rPr>
                        <a:t>1</a:t>
                      </a:r>
                    </a:p>
                  </a:txBody>
                  <a:tcPr>
                    <a:solidFill>
                      <a:schemeClr val="bg1">
                        <a:lumMod val="75000"/>
                      </a:schemeClr>
                    </a:solidFill>
                  </a:tcPr>
                </a:tc>
                <a:extLst>
                  <a:ext uri="{0D108BD9-81ED-4DB2-BD59-A6C34878D82A}">
                    <a16:rowId xmlns:a16="http://schemas.microsoft.com/office/drawing/2014/main" val="3822842421"/>
                  </a:ext>
                </a:extLst>
              </a:tr>
              <a:tr h="367559">
                <a:tc>
                  <a:txBody>
                    <a:bodyPr/>
                    <a:lstStyle/>
                    <a:p>
                      <a:r>
                        <a:rPr lang="en-US" sz="2800" dirty="0"/>
                        <a:t>1</a:t>
                      </a:r>
                    </a:p>
                  </a:txBody>
                  <a:tcPr>
                    <a:noFill/>
                  </a:tcPr>
                </a:tc>
                <a:tc>
                  <a:txBody>
                    <a:bodyPr/>
                    <a:lstStyle/>
                    <a:p>
                      <a:pPr marL="0" algn="l" defTabSz="914400" rtl="0" eaLnBrk="1" latinLnBrk="0" hangingPunct="1"/>
                      <a:r>
                        <a:rPr lang="en-US" sz="2800" kern="1200" dirty="0">
                          <a:solidFill>
                            <a:schemeClr val="tx1"/>
                          </a:solidFill>
                          <a:latin typeface="+mn-lt"/>
                          <a:ea typeface="+mn-ea"/>
                          <a:cs typeface="+mn-cs"/>
                        </a:rPr>
                        <a:t>0</a:t>
                      </a:r>
                    </a:p>
                  </a:txBody>
                  <a:tcPr>
                    <a:solidFill>
                      <a:schemeClr val="bg1">
                        <a:lumMod val="75000"/>
                      </a:schemeClr>
                    </a:solidFill>
                  </a:tcPr>
                </a:tc>
                <a:extLst>
                  <a:ext uri="{0D108BD9-81ED-4DB2-BD59-A6C34878D82A}">
                    <a16:rowId xmlns:a16="http://schemas.microsoft.com/office/drawing/2014/main" val="2538615294"/>
                  </a:ext>
                </a:extLst>
              </a:tr>
            </a:tbl>
          </a:graphicData>
        </a:graphic>
      </p:graphicFrame>
    </p:spTree>
    <p:extLst>
      <p:ext uri="{BB962C8B-B14F-4D97-AF65-F5344CB8AC3E}">
        <p14:creationId xmlns:p14="http://schemas.microsoft.com/office/powerpoint/2010/main" val="14602990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AD2F3-93C1-4217-A206-7D44443A5794}"/>
              </a:ext>
            </a:extLst>
          </p:cNvPr>
          <p:cNvSpPr>
            <a:spLocks noGrp="1"/>
          </p:cNvSpPr>
          <p:nvPr>
            <p:ph type="title"/>
          </p:nvPr>
        </p:nvSpPr>
        <p:spPr/>
        <p:txBody>
          <a:bodyPr/>
          <a:lstStyle/>
          <a:p>
            <a:r>
              <a:rPr lang="en-US" dirty="0"/>
              <a:t>Shifting &amp; Masking</a:t>
            </a:r>
          </a:p>
        </p:txBody>
      </p:sp>
      <p:sp>
        <p:nvSpPr>
          <p:cNvPr id="3" name="Content Placeholder 2">
            <a:extLst>
              <a:ext uri="{FF2B5EF4-FFF2-40B4-BE49-F238E27FC236}">
                <a16:creationId xmlns:a16="http://schemas.microsoft.com/office/drawing/2014/main" id="{1B19C24E-B103-4975-8DB0-8F736C1CFD3A}"/>
              </a:ext>
            </a:extLst>
          </p:cNvPr>
          <p:cNvSpPr>
            <a:spLocks noGrp="1"/>
          </p:cNvSpPr>
          <p:nvPr>
            <p:ph idx="1"/>
          </p:nvPr>
        </p:nvSpPr>
        <p:spPr>
          <a:xfrm>
            <a:off x="300038" y="1825625"/>
            <a:ext cx="11487150" cy="4351338"/>
          </a:xfrm>
        </p:spPr>
        <p:txBody>
          <a:bodyPr/>
          <a:lstStyle/>
          <a:p>
            <a:pPr marL="0" indent="0">
              <a:buNone/>
            </a:pPr>
            <a:r>
              <a:rPr lang="en-US" dirty="0"/>
              <a:t>Assume that you have a longword (32 bits). You need to look at the leftmost 4 bits. How might you do that?</a:t>
            </a:r>
          </a:p>
          <a:p>
            <a:pPr marL="0" indent="0">
              <a:buNone/>
            </a:pPr>
            <a:endParaRPr lang="en-US" dirty="0"/>
          </a:p>
          <a:p>
            <a:pPr marL="0" indent="0">
              <a:buNone/>
            </a:pPr>
            <a:r>
              <a:rPr lang="en-US" dirty="0"/>
              <a:t>Consider the bits: YYYY XXXX </a:t>
            </a:r>
            <a:r>
              <a:rPr lang="en-US" dirty="0" err="1"/>
              <a:t>XXXX</a:t>
            </a:r>
            <a:r>
              <a:rPr lang="en-US" dirty="0"/>
              <a:t> </a:t>
            </a:r>
            <a:r>
              <a:rPr lang="en-US" dirty="0" err="1"/>
              <a:t>XXXX</a:t>
            </a:r>
            <a:r>
              <a:rPr lang="en-US" dirty="0"/>
              <a:t> </a:t>
            </a:r>
            <a:r>
              <a:rPr lang="en-US" dirty="0" err="1"/>
              <a:t>XXXX</a:t>
            </a:r>
            <a:r>
              <a:rPr lang="en-US" dirty="0"/>
              <a:t> </a:t>
            </a:r>
            <a:r>
              <a:rPr lang="en-US" dirty="0" err="1"/>
              <a:t>XXXX</a:t>
            </a:r>
            <a:r>
              <a:rPr lang="en-US" dirty="0"/>
              <a:t> </a:t>
            </a:r>
            <a:r>
              <a:rPr lang="en-US" dirty="0" err="1"/>
              <a:t>XXXX</a:t>
            </a:r>
            <a:r>
              <a:rPr lang="en-US" dirty="0"/>
              <a:t> </a:t>
            </a:r>
            <a:r>
              <a:rPr lang="en-US" dirty="0" err="1"/>
              <a:t>XXXX</a:t>
            </a:r>
            <a:endParaRPr lang="en-US" dirty="0"/>
          </a:p>
          <a:p>
            <a:pPr marL="0" indent="0">
              <a:buNone/>
            </a:pPr>
            <a:r>
              <a:rPr lang="en-US" dirty="0"/>
              <a:t>(in groups of nibbles)</a:t>
            </a:r>
          </a:p>
          <a:p>
            <a:pPr marL="0" indent="0">
              <a:buNone/>
            </a:pPr>
            <a:endParaRPr lang="en-US" dirty="0"/>
          </a:p>
          <a:p>
            <a:pPr marL="0" indent="0">
              <a:buNone/>
            </a:pPr>
            <a:r>
              <a:rPr lang="en-US" dirty="0"/>
              <a:t>If we only care about Y’s, how can we “get rid of” the X’s?</a:t>
            </a:r>
          </a:p>
        </p:txBody>
      </p:sp>
    </p:spTree>
    <p:extLst>
      <p:ext uri="{BB962C8B-B14F-4D97-AF65-F5344CB8AC3E}">
        <p14:creationId xmlns:p14="http://schemas.microsoft.com/office/powerpoint/2010/main" val="32402032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E111B-A722-4A57-9B17-95FE62B2FE23}"/>
              </a:ext>
            </a:extLst>
          </p:cNvPr>
          <p:cNvSpPr>
            <a:spLocks noGrp="1"/>
          </p:cNvSpPr>
          <p:nvPr>
            <p:ph type="title"/>
          </p:nvPr>
        </p:nvSpPr>
        <p:spPr/>
        <p:txBody>
          <a:bodyPr/>
          <a:lstStyle/>
          <a:p>
            <a:r>
              <a:rPr lang="en-US" dirty="0"/>
              <a:t>Shifting</a:t>
            </a:r>
          </a:p>
        </p:txBody>
      </p:sp>
      <p:sp>
        <p:nvSpPr>
          <p:cNvPr id="3" name="Content Placeholder 2">
            <a:extLst>
              <a:ext uri="{FF2B5EF4-FFF2-40B4-BE49-F238E27FC236}">
                <a16:creationId xmlns:a16="http://schemas.microsoft.com/office/drawing/2014/main" id="{341E4F3D-EE72-4727-8129-7A672F3B9D1A}"/>
              </a:ext>
            </a:extLst>
          </p:cNvPr>
          <p:cNvSpPr>
            <a:spLocks noGrp="1"/>
          </p:cNvSpPr>
          <p:nvPr>
            <p:ph idx="1"/>
          </p:nvPr>
        </p:nvSpPr>
        <p:spPr>
          <a:xfrm>
            <a:off x="838200" y="1825625"/>
            <a:ext cx="10515600" cy="4351338"/>
          </a:xfrm>
        </p:spPr>
        <p:txBody>
          <a:bodyPr/>
          <a:lstStyle/>
          <a:p>
            <a:pPr marL="0" indent="0">
              <a:buNone/>
            </a:pPr>
            <a:r>
              <a:rPr lang="en-US" dirty="0"/>
              <a:t>If we right shift the value </a:t>
            </a:r>
          </a:p>
          <a:p>
            <a:pPr marL="0" indent="0">
              <a:buNone/>
            </a:pPr>
            <a:r>
              <a:rPr lang="en-US" dirty="0">
                <a:latin typeface="Consolas" panose="020B0609020204030204" pitchFamily="49" charset="0"/>
              </a:rPr>
              <a:t>YYYY XXXX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endParaRPr lang="en-US" dirty="0">
              <a:latin typeface="Consolas" panose="020B0609020204030204" pitchFamily="49" charset="0"/>
            </a:endParaRPr>
          </a:p>
          <a:p>
            <a:pPr marL="0" indent="0">
              <a:buNone/>
            </a:pPr>
            <a:r>
              <a:rPr lang="en-US" dirty="0"/>
              <a:t>28 bits, we will get:</a:t>
            </a:r>
          </a:p>
          <a:p>
            <a:pPr marL="0" indent="0">
              <a:buNone/>
            </a:pPr>
            <a:r>
              <a:rPr lang="en-US" dirty="0">
                <a:latin typeface="Consolas" panose="020B0609020204030204" pitchFamily="49" charset="0"/>
              </a:rPr>
              <a:t>0000 0000 0000 0000 0000 0000 0000 YYYY</a:t>
            </a:r>
          </a:p>
          <a:p>
            <a:pPr marL="0" indent="0">
              <a:buNone/>
            </a:pPr>
            <a:endParaRPr lang="en-US" dirty="0"/>
          </a:p>
          <a:p>
            <a:pPr marL="0" indent="0">
              <a:buNone/>
            </a:pPr>
            <a:r>
              <a:rPr lang="en-US" dirty="0"/>
              <a:t>But what if our starting value is:</a:t>
            </a:r>
          </a:p>
          <a:p>
            <a:pPr marL="0" indent="0">
              <a:buNone/>
            </a:pPr>
            <a:r>
              <a:rPr lang="en-US" dirty="0">
                <a:latin typeface="Consolas" panose="020B0609020204030204" pitchFamily="49" charset="0"/>
              </a:rPr>
              <a:t>XXXX YYYY XXXX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endParaRPr lang="en-US" dirty="0">
              <a:latin typeface="Consolas" panose="020B0609020204030204" pitchFamily="49" charset="0"/>
            </a:endParaRPr>
          </a:p>
          <a:p>
            <a:pPr marL="0" indent="0">
              <a:buNone/>
            </a:pPr>
            <a:endParaRPr lang="en-US" dirty="0"/>
          </a:p>
        </p:txBody>
      </p:sp>
    </p:spTree>
    <p:extLst>
      <p:ext uri="{BB962C8B-B14F-4D97-AF65-F5344CB8AC3E}">
        <p14:creationId xmlns:p14="http://schemas.microsoft.com/office/powerpoint/2010/main" val="9950948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965E-2192-42C4-B9BA-F2E5B05EE204}"/>
              </a:ext>
            </a:extLst>
          </p:cNvPr>
          <p:cNvSpPr>
            <a:spLocks noGrp="1"/>
          </p:cNvSpPr>
          <p:nvPr>
            <p:ph type="title"/>
          </p:nvPr>
        </p:nvSpPr>
        <p:spPr/>
        <p:txBody>
          <a:bodyPr/>
          <a:lstStyle/>
          <a:p>
            <a:r>
              <a:rPr lang="en-US" dirty="0"/>
              <a:t>Masking</a:t>
            </a:r>
          </a:p>
        </p:txBody>
      </p:sp>
      <p:sp>
        <p:nvSpPr>
          <p:cNvPr id="3" name="Content Placeholder 2">
            <a:extLst>
              <a:ext uri="{FF2B5EF4-FFF2-40B4-BE49-F238E27FC236}">
                <a16:creationId xmlns:a16="http://schemas.microsoft.com/office/drawing/2014/main" id="{EF3854E0-930A-41B8-9115-4FBF9BD923D9}"/>
              </a:ext>
            </a:extLst>
          </p:cNvPr>
          <p:cNvSpPr>
            <a:spLocks noGrp="1"/>
          </p:cNvSpPr>
          <p:nvPr>
            <p:ph idx="1"/>
          </p:nvPr>
        </p:nvSpPr>
        <p:spPr/>
        <p:txBody>
          <a:bodyPr/>
          <a:lstStyle/>
          <a:p>
            <a:pPr marL="0" indent="0">
              <a:buNone/>
            </a:pPr>
            <a:r>
              <a:rPr lang="en-US" dirty="0"/>
              <a:t>Starting with this:</a:t>
            </a:r>
          </a:p>
          <a:p>
            <a:pPr marL="0" indent="0">
              <a:buNone/>
            </a:pPr>
            <a:r>
              <a:rPr lang="en-US" dirty="0">
                <a:latin typeface="Consolas" panose="020B0609020204030204" pitchFamily="49" charset="0"/>
              </a:rPr>
              <a:t>XXXX YYYY XXXX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endParaRPr lang="en-US" dirty="0">
              <a:latin typeface="Consolas" panose="020B0609020204030204" pitchFamily="49" charset="0"/>
            </a:endParaRPr>
          </a:p>
          <a:p>
            <a:pPr marL="0" indent="0">
              <a:buNone/>
            </a:pPr>
            <a:endParaRPr lang="en-US" dirty="0"/>
          </a:p>
          <a:p>
            <a:pPr marL="0" indent="0">
              <a:buNone/>
            </a:pPr>
            <a:r>
              <a:rPr lang="en-US" dirty="0"/>
              <a:t>We need to remove whatever values are in X, then shift Y’s into the position where we want them. </a:t>
            </a:r>
          </a:p>
          <a:p>
            <a:pPr marL="0" indent="0">
              <a:buNone/>
            </a:pPr>
            <a:endParaRPr lang="en-US" dirty="0"/>
          </a:p>
          <a:p>
            <a:pPr marL="0" indent="0">
              <a:buNone/>
            </a:pPr>
            <a:r>
              <a:rPr lang="en-US" dirty="0"/>
              <a:t>What operation can we use (AND, OR, XOR, NOT) to do this?</a:t>
            </a:r>
          </a:p>
        </p:txBody>
      </p:sp>
    </p:spTree>
    <p:extLst>
      <p:ext uri="{BB962C8B-B14F-4D97-AF65-F5344CB8AC3E}">
        <p14:creationId xmlns:p14="http://schemas.microsoft.com/office/powerpoint/2010/main" val="22344391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69669-6297-4B9F-A329-4A93817A7E5A}"/>
              </a:ext>
            </a:extLst>
          </p:cNvPr>
          <p:cNvSpPr>
            <a:spLocks noGrp="1"/>
          </p:cNvSpPr>
          <p:nvPr>
            <p:ph type="title"/>
          </p:nvPr>
        </p:nvSpPr>
        <p:spPr/>
        <p:txBody>
          <a:bodyPr/>
          <a:lstStyle/>
          <a:p>
            <a:r>
              <a:rPr lang="en-US" dirty="0"/>
              <a:t>Masking</a:t>
            </a:r>
          </a:p>
        </p:txBody>
      </p:sp>
      <p:sp>
        <p:nvSpPr>
          <p:cNvPr id="3" name="Content Placeholder 2">
            <a:extLst>
              <a:ext uri="{FF2B5EF4-FFF2-40B4-BE49-F238E27FC236}">
                <a16:creationId xmlns:a16="http://schemas.microsoft.com/office/drawing/2014/main" id="{466AA5EC-39B0-4FEF-8319-A402E2887BEC}"/>
              </a:ext>
            </a:extLst>
          </p:cNvPr>
          <p:cNvSpPr>
            <a:spLocks noGrp="1"/>
          </p:cNvSpPr>
          <p:nvPr>
            <p:ph idx="1"/>
          </p:nvPr>
        </p:nvSpPr>
        <p:spPr/>
        <p:txBody>
          <a:bodyPr>
            <a:normAutofit/>
          </a:bodyPr>
          <a:lstStyle/>
          <a:p>
            <a:pPr marL="0" indent="0">
              <a:buNone/>
            </a:pPr>
            <a:r>
              <a:rPr lang="en-US" dirty="0"/>
              <a:t>Starting with this:</a:t>
            </a:r>
          </a:p>
          <a:p>
            <a:pPr marL="0" indent="0">
              <a:buNone/>
            </a:pPr>
            <a:r>
              <a:rPr lang="en-US" dirty="0">
                <a:latin typeface="Consolas" panose="020B0609020204030204" pitchFamily="49" charset="0"/>
              </a:rPr>
              <a:t>XXXX YYYY XXXX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r>
              <a:rPr lang="en-US" dirty="0">
                <a:latin typeface="Consolas" panose="020B0609020204030204" pitchFamily="49" charset="0"/>
              </a:rPr>
              <a:t> </a:t>
            </a:r>
            <a:r>
              <a:rPr lang="en-US" dirty="0" err="1">
                <a:latin typeface="Consolas" panose="020B0609020204030204" pitchFamily="49" charset="0"/>
              </a:rPr>
              <a:t>XXXX</a:t>
            </a:r>
            <a:endParaRPr lang="en-US" dirty="0">
              <a:latin typeface="Consolas" panose="020B0609020204030204" pitchFamily="49" charset="0"/>
            </a:endParaRPr>
          </a:p>
          <a:p>
            <a:pPr marL="0" indent="0">
              <a:buNone/>
            </a:pPr>
            <a:r>
              <a:rPr lang="en-US" dirty="0"/>
              <a:t>AND</a:t>
            </a:r>
          </a:p>
          <a:p>
            <a:pPr marL="0" indent="0">
              <a:buNone/>
            </a:pPr>
            <a:r>
              <a:rPr lang="en-US" dirty="0">
                <a:latin typeface="Consolas" panose="020B0609020204030204" pitchFamily="49" charset="0"/>
              </a:rPr>
              <a:t>0000 1111 0000 0000 0000 0000 0000 0000 0000 </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0000 YYYY 0000 0000 0000 0000 0000 0000 0000 </a:t>
            </a:r>
          </a:p>
          <a:p>
            <a:pPr marL="0" indent="0">
              <a:buNone/>
            </a:pPr>
            <a:endParaRPr lang="en-US" dirty="0">
              <a:latin typeface="Consolas" panose="020B0609020204030204" pitchFamily="49" charset="0"/>
            </a:endParaRPr>
          </a:p>
          <a:p>
            <a:pPr marL="0" indent="0">
              <a:buNone/>
            </a:pPr>
            <a:r>
              <a:rPr lang="en-US" dirty="0"/>
              <a:t>Now we can shift the values appropriately (right </a:t>
            </a:r>
            <a:r>
              <a:rPr lang="en-US" dirty="0" smtClean="0"/>
              <a:t>28).</a:t>
            </a:r>
            <a:endParaRPr lang="en-US" dirty="0"/>
          </a:p>
        </p:txBody>
      </p:sp>
      <p:sp>
        <p:nvSpPr>
          <p:cNvPr id="4" name="Callout: Line 3">
            <a:extLst>
              <a:ext uri="{FF2B5EF4-FFF2-40B4-BE49-F238E27FC236}">
                <a16:creationId xmlns:a16="http://schemas.microsoft.com/office/drawing/2014/main" id="{AA668B28-F4F6-494A-A5D5-0B8B221981FE}"/>
              </a:ext>
            </a:extLst>
          </p:cNvPr>
          <p:cNvSpPr/>
          <p:nvPr/>
        </p:nvSpPr>
        <p:spPr>
          <a:xfrm>
            <a:off x="9663113" y="2628900"/>
            <a:ext cx="2414587" cy="671512"/>
          </a:xfrm>
          <a:prstGeom prst="borderCallout1">
            <a:avLst>
              <a:gd name="adj1" fmla="val 98897"/>
              <a:gd name="adj2" fmla="val 543"/>
              <a:gd name="adj3" fmla="val 114706"/>
              <a:gd name="adj4" fmla="val -81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This is a mask</a:t>
            </a:r>
          </a:p>
        </p:txBody>
      </p:sp>
    </p:spTree>
    <p:extLst>
      <p:ext uri="{BB962C8B-B14F-4D97-AF65-F5344CB8AC3E}">
        <p14:creationId xmlns:p14="http://schemas.microsoft.com/office/powerpoint/2010/main" val="25774026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6CB2-2700-4F87-88EE-DC6F81A14BA8}"/>
              </a:ext>
            </a:extLst>
          </p:cNvPr>
          <p:cNvSpPr>
            <a:spLocks noGrp="1"/>
          </p:cNvSpPr>
          <p:nvPr>
            <p:ph type="title"/>
          </p:nvPr>
        </p:nvSpPr>
        <p:spPr/>
        <p:txBody>
          <a:bodyPr/>
          <a:lstStyle/>
          <a:p>
            <a:r>
              <a:rPr lang="en-US" dirty="0"/>
              <a:t>Conversion from decimal </a:t>
            </a:r>
            <a:r>
              <a:rPr lang="en-US" dirty="0">
                <a:sym typeface="Wingdings" panose="05000000000000000000" pitchFamily="2" charset="2"/>
              </a:rPr>
              <a:t> hexadecimal</a:t>
            </a:r>
            <a:endParaRPr lang="en-US" dirty="0"/>
          </a:p>
        </p:txBody>
      </p:sp>
      <p:sp>
        <p:nvSpPr>
          <p:cNvPr id="3" name="Content Placeholder 2">
            <a:extLst>
              <a:ext uri="{FF2B5EF4-FFF2-40B4-BE49-F238E27FC236}">
                <a16:creationId xmlns:a16="http://schemas.microsoft.com/office/drawing/2014/main" id="{91B76A2F-070F-49BB-B126-97D3C2B6193D}"/>
              </a:ext>
            </a:extLst>
          </p:cNvPr>
          <p:cNvSpPr>
            <a:spLocks noGrp="1"/>
          </p:cNvSpPr>
          <p:nvPr>
            <p:ph idx="1"/>
          </p:nvPr>
        </p:nvSpPr>
        <p:spPr/>
        <p:txBody>
          <a:bodyPr/>
          <a:lstStyle/>
          <a:p>
            <a:pPr marL="0" indent="0">
              <a:buNone/>
            </a:pPr>
            <a:r>
              <a:rPr lang="en-US" dirty="0"/>
              <a:t>Remember the value of a column. In hex, each column is worth an increasing power of 16: 16</a:t>
            </a:r>
            <a:r>
              <a:rPr lang="en-US" baseline="30000" dirty="0"/>
              <a:t>0</a:t>
            </a:r>
            <a:r>
              <a:rPr lang="en-US" dirty="0"/>
              <a:t>, 16</a:t>
            </a:r>
            <a:r>
              <a:rPr lang="en-US" baseline="30000" dirty="0"/>
              <a:t>1</a:t>
            </a:r>
            <a:r>
              <a:rPr lang="en-US" dirty="0"/>
              <a:t>, 16</a:t>
            </a:r>
            <a:r>
              <a:rPr lang="en-US" baseline="30000" dirty="0"/>
              <a:t>2</a:t>
            </a:r>
            <a:r>
              <a:rPr lang="en-US" dirty="0"/>
              <a:t>, and so on </a:t>
            </a:r>
            <a:r>
              <a:rPr lang="en-US" dirty="0" smtClean="0"/>
              <a:t>as in </a:t>
            </a:r>
            <a:r>
              <a:rPr lang="en-US" dirty="0"/>
              <a:t>base 10.</a:t>
            </a:r>
          </a:p>
          <a:p>
            <a:pPr marL="0" indent="0">
              <a:buNone/>
            </a:pPr>
            <a:r>
              <a:rPr lang="en-US" dirty="0"/>
              <a:t>So 0x1234 = 1 X 16</a:t>
            </a:r>
            <a:r>
              <a:rPr lang="en-US" baseline="30000" dirty="0"/>
              <a:t>3</a:t>
            </a:r>
            <a:r>
              <a:rPr lang="en-US" dirty="0"/>
              <a:t> + 2 X 16</a:t>
            </a:r>
            <a:r>
              <a:rPr lang="en-US" baseline="30000" dirty="0"/>
              <a:t>2</a:t>
            </a:r>
            <a:r>
              <a:rPr lang="en-US" dirty="0"/>
              <a:t> + 3 X 16</a:t>
            </a:r>
            <a:r>
              <a:rPr lang="en-US" baseline="30000" dirty="0"/>
              <a:t>1</a:t>
            </a:r>
            <a:r>
              <a:rPr lang="en-US" dirty="0"/>
              <a:t> + 4 X 16</a:t>
            </a:r>
            <a:r>
              <a:rPr lang="en-US" baseline="30000" dirty="0"/>
              <a:t>0</a:t>
            </a:r>
          </a:p>
          <a:p>
            <a:pPr marL="0" indent="0">
              <a:buNone/>
            </a:pPr>
            <a:r>
              <a:rPr lang="en-US" dirty="0"/>
              <a:t>16</a:t>
            </a:r>
            <a:r>
              <a:rPr lang="en-US" baseline="30000" dirty="0"/>
              <a:t>3</a:t>
            </a:r>
            <a:r>
              <a:rPr lang="en-US" dirty="0"/>
              <a:t> = 4,096, 16</a:t>
            </a:r>
            <a:r>
              <a:rPr lang="en-US" baseline="30000" dirty="0"/>
              <a:t>2</a:t>
            </a:r>
            <a:r>
              <a:rPr lang="en-US" dirty="0"/>
              <a:t> = 256, 16</a:t>
            </a:r>
            <a:r>
              <a:rPr lang="en-US" baseline="30000" dirty="0"/>
              <a:t>1</a:t>
            </a:r>
            <a:r>
              <a:rPr lang="en-US" dirty="0"/>
              <a:t> = 16 and 16</a:t>
            </a:r>
            <a:r>
              <a:rPr lang="en-US" baseline="30000" dirty="0"/>
              <a:t>0</a:t>
            </a:r>
            <a:r>
              <a:rPr lang="en-US" dirty="0"/>
              <a:t> = 1</a:t>
            </a:r>
          </a:p>
          <a:p>
            <a:pPr marL="0" indent="0">
              <a:buNone/>
            </a:pPr>
            <a:endParaRPr lang="en-US" dirty="0"/>
          </a:p>
          <a:p>
            <a:pPr marL="0" indent="0">
              <a:buNone/>
            </a:pPr>
            <a:r>
              <a:rPr lang="en-US" dirty="0"/>
              <a:t>This becomes basic arithmetic at this point.</a:t>
            </a:r>
          </a:p>
          <a:p>
            <a:pPr marL="0" indent="0">
              <a:buNone/>
            </a:pPr>
            <a:r>
              <a:rPr lang="en-US" dirty="0"/>
              <a:t/>
            </a:r>
            <a:br>
              <a:rPr lang="en-US" dirty="0"/>
            </a:br>
            <a:endParaRPr lang="en-US" dirty="0"/>
          </a:p>
        </p:txBody>
      </p:sp>
    </p:spTree>
    <p:extLst>
      <p:ext uri="{BB962C8B-B14F-4D97-AF65-F5344CB8AC3E}">
        <p14:creationId xmlns:p14="http://schemas.microsoft.com/office/powerpoint/2010/main" val="37210143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030D-E388-4C1C-AEF4-32FB9465D06D}"/>
              </a:ext>
            </a:extLst>
          </p:cNvPr>
          <p:cNvSpPr>
            <a:spLocks noGrp="1"/>
          </p:cNvSpPr>
          <p:nvPr>
            <p:ph type="title"/>
          </p:nvPr>
        </p:nvSpPr>
        <p:spPr/>
        <p:txBody>
          <a:bodyPr/>
          <a:lstStyle/>
          <a:p>
            <a:r>
              <a:rPr lang="en-US" dirty="0"/>
              <a:t>Decimal to Hexadecimal</a:t>
            </a:r>
          </a:p>
        </p:txBody>
      </p:sp>
      <p:sp>
        <p:nvSpPr>
          <p:cNvPr id="3" name="Content Placeholder 2">
            <a:extLst>
              <a:ext uri="{FF2B5EF4-FFF2-40B4-BE49-F238E27FC236}">
                <a16:creationId xmlns:a16="http://schemas.microsoft.com/office/drawing/2014/main" id="{33D8950D-56DB-4D7E-8263-B03CF3EC7668}"/>
              </a:ext>
            </a:extLst>
          </p:cNvPr>
          <p:cNvSpPr>
            <a:spLocks noGrp="1"/>
          </p:cNvSpPr>
          <p:nvPr>
            <p:ph idx="1"/>
          </p:nvPr>
        </p:nvSpPr>
        <p:spPr>
          <a:xfrm>
            <a:off x="600075" y="1825625"/>
            <a:ext cx="10958513" cy="4351338"/>
          </a:xfrm>
        </p:spPr>
        <p:txBody>
          <a:bodyPr/>
          <a:lstStyle/>
          <a:p>
            <a:pPr marL="0" indent="0">
              <a:buNone/>
            </a:pPr>
            <a:r>
              <a:rPr lang="en-US" dirty="0"/>
              <a:t>If I have the decimal number 1,234, how do I convert that to hexadecimal?</a:t>
            </a:r>
          </a:p>
          <a:p>
            <a:pPr marL="0" indent="0">
              <a:buNone/>
            </a:pPr>
            <a:r>
              <a:rPr lang="en-US" dirty="0"/>
              <a:t>Clearly, there are 0 4,096’s in 1,234. There are 4 256’s.</a:t>
            </a:r>
          </a:p>
          <a:p>
            <a:pPr marL="0" indent="0">
              <a:buNone/>
            </a:pPr>
            <a:r>
              <a:rPr lang="en-US" dirty="0"/>
              <a:t>0x4</a:t>
            </a:r>
          </a:p>
          <a:p>
            <a:pPr marL="0" indent="0">
              <a:buNone/>
            </a:pPr>
            <a:r>
              <a:rPr lang="en-US" dirty="0"/>
              <a:t>Subtract those 4 256’s (1,024) from 1,234 and have 210 remaining.</a:t>
            </a:r>
          </a:p>
          <a:p>
            <a:pPr marL="0" indent="0">
              <a:buNone/>
            </a:pPr>
            <a:r>
              <a:rPr lang="en-US" dirty="0"/>
              <a:t>How many 16’s in 210? 13. 13 in hex is D.</a:t>
            </a:r>
          </a:p>
          <a:p>
            <a:pPr marL="0" indent="0">
              <a:buNone/>
            </a:pPr>
            <a:r>
              <a:rPr lang="en-US" dirty="0"/>
              <a:t>0x4D.</a:t>
            </a:r>
          </a:p>
          <a:p>
            <a:pPr marL="0" indent="0">
              <a:buNone/>
            </a:pPr>
            <a:r>
              <a:rPr lang="en-US" dirty="0"/>
              <a:t>Remove those 208 from 210 and 2 remain.</a:t>
            </a:r>
          </a:p>
          <a:p>
            <a:pPr marL="0" indent="0">
              <a:buNone/>
            </a:pPr>
            <a:r>
              <a:rPr lang="en-US" dirty="0"/>
              <a:t>0x4D2</a:t>
            </a:r>
          </a:p>
        </p:txBody>
      </p:sp>
    </p:spTree>
    <p:extLst>
      <p:ext uri="{BB962C8B-B14F-4D97-AF65-F5344CB8AC3E}">
        <p14:creationId xmlns:p14="http://schemas.microsoft.com/office/powerpoint/2010/main" val="28257308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DE94-4608-4DA4-88E7-63483D057B2C}"/>
              </a:ext>
            </a:extLst>
          </p:cNvPr>
          <p:cNvSpPr>
            <a:spLocks noGrp="1"/>
          </p:cNvSpPr>
          <p:nvPr>
            <p:ph type="title"/>
          </p:nvPr>
        </p:nvSpPr>
        <p:spPr/>
        <p:txBody>
          <a:bodyPr/>
          <a:lstStyle/>
          <a:p>
            <a:r>
              <a:rPr lang="en-US" dirty="0"/>
              <a:t>Hex </a:t>
            </a:r>
            <a:r>
              <a:rPr lang="en-US" dirty="0">
                <a:sym typeface="Wingdings" panose="05000000000000000000" pitchFamily="2" charset="2"/>
              </a:rPr>
              <a:t> Binary</a:t>
            </a:r>
            <a:endParaRPr lang="en-US" dirty="0"/>
          </a:p>
        </p:txBody>
      </p:sp>
      <p:sp>
        <p:nvSpPr>
          <p:cNvPr id="3" name="Content Placeholder 2">
            <a:extLst>
              <a:ext uri="{FF2B5EF4-FFF2-40B4-BE49-F238E27FC236}">
                <a16:creationId xmlns:a16="http://schemas.microsoft.com/office/drawing/2014/main" id="{A04552BB-09AC-4CD9-A83D-0E15702A064B}"/>
              </a:ext>
            </a:extLst>
          </p:cNvPr>
          <p:cNvSpPr>
            <a:spLocks noGrp="1"/>
          </p:cNvSpPr>
          <p:nvPr>
            <p:ph idx="1"/>
          </p:nvPr>
        </p:nvSpPr>
        <p:spPr/>
        <p:txBody>
          <a:bodyPr/>
          <a:lstStyle/>
          <a:p>
            <a:pPr marL="0" indent="0">
              <a:buNone/>
            </a:pPr>
            <a:r>
              <a:rPr lang="en-US" dirty="0"/>
              <a:t>Because base 16 is a multiple of base 2, this is super easy:</a:t>
            </a:r>
          </a:p>
          <a:p>
            <a:pPr marL="0" indent="0">
              <a:buNone/>
            </a:pPr>
            <a:r>
              <a:rPr lang="en-US" dirty="0"/>
              <a:t>From hex </a:t>
            </a:r>
            <a:r>
              <a:rPr lang="en-US" dirty="0">
                <a:sym typeface="Wingdings" panose="05000000000000000000" pitchFamily="2" charset="2"/>
              </a:rPr>
              <a:t> binary, take a single hex digit and look up the bits from the hexadecimal mapping slide.</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From binary  hex, make sure that you start on an even 4 bit boundary (left pad with 0’s if necessary), then look up the hex values for each set of 4 bits from the hexadecimal mapping slide.</a:t>
            </a:r>
            <a:endParaRPr lang="en-US" dirty="0"/>
          </a:p>
        </p:txBody>
      </p:sp>
    </p:spTree>
    <p:extLst>
      <p:ext uri="{BB962C8B-B14F-4D97-AF65-F5344CB8AC3E}">
        <p14:creationId xmlns:p14="http://schemas.microsoft.com/office/powerpoint/2010/main" val="25294358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D6209-B995-44B5-80AD-82C67A1F4335}"/>
              </a:ext>
            </a:extLst>
          </p:cNvPr>
          <p:cNvSpPr>
            <a:spLocks noGrp="1"/>
          </p:cNvSpPr>
          <p:nvPr>
            <p:ph type="title"/>
          </p:nvPr>
        </p:nvSpPr>
        <p:spPr/>
        <p:txBody>
          <a:bodyPr/>
          <a:lstStyle/>
          <a:p>
            <a:r>
              <a:rPr lang="en-US" dirty="0"/>
              <a:t>Floating Point in base 2</a:t>
            </a:r>
          </a:p>
        </p:txBody>
      </p:sp>
      <p:sp>
        <p:nvSpPr>
          <p:cNvPr id="3" name="Content Placeholder 2">
            <a:extLst>
              <a:ext uri="{FF2B5EF4-FFF2-40B4-BE49-F238E27FC236}">
                <a16:creationId xmlns:a16="http://schemas.microsoft.com/office/drawing/2014/main" id="{F70ABB2A-68C8-4D81-A54D-6F7D5149B1A7}"/>
              </a:ext>
            </a:extLst>
          </p:cNvPr>
          <p:cNvSpPr>
            <a:spLocks noGrp="1"/>
          </p:cNvSpPr>
          <p:nvPr>
            <p:ph idx="1"/>
          </p:nvPr>
        </p:nvSpPr>
        <p:spPr/>
        <p:txBody>
          <a:bodyPr/>
          <a:lstStyle/>
          <a:p>
            <a:pPr marL="0" indent="0">
              <a:buNone/>
            </a:pPr>
            <a:r>
              <a:rPr lang="en-US" dirty="0"/>
              <a:t>IEEE standard 754</a:t>
            </a:r>
          </a:p>
          <a:p>
            <a:pPr marL="0" indent="0">
              <a:buNone/>
            </a:pPr>
            <a:endParaRPr lang="en-US" dirty="0"/>
          </a:p>
          <a:p>
            <a:pPr marL="0" indent="0">
              <a:buNone/>
            </a:pPr>
            <a:r>
              <a:rPr lang="en-US" dirty="0"/>
              <a:t>A floating point number is represented as scientific notation (remember, 1.234 * 10</a:t>
            </a:r>
            <a:r>
              <a:rPr lang="en-US" baseline="30000" dirty="0"/>
              <a:t>3</a:t>
            </a:r>
            <a:r>
              <a:rPr lang="en-US" dirty="0"/>
              <a:t>)</a:t>
            </a:r>
          </a:p>
          <a:p>
            <a:pPr marL="0" indent="0">
              <a:buNone/>
            </a:pPr>
            <a:endParaRPr lang="en-US" dirty="0"/>
          </a:p>
          <a:p>
            <a:pPr marL="0" indent="0">
              <a:buNone/>
            </a:pPr>
            <a:r>
              <a:rPr lang="en-US" dirty="0"/>
              <a:t>EXCEPT that scientific notation uses a normalized notation of 1-10 on the left of the decimal and all other digits on the right</a:t>
            </a:r>
          </a:p>
        </p:txBody>
      </p:sp>
    </p:spTree>
    <p:extLst>
      <p:ext uri="{BB962C8B-B14F-4D97-AF65-F5344CB8AC3E}">
        <p14:creationId xmlns:p14="http://schemas.microsoft.com/office/powerpoint/2010/main" val="39103394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8BB35-D4B6-4FF0-83A0-977A802F96D6}"/>
              </a:ext>
            </a:extLst>
          </p:cNvPr>
          <p:cNvSpPr>
            <a:spLocks noGrp="1"/>
          </p:cNvSpPr>
          <p:nvPr>
            <p:ph type="title"/>
          </p:nvPr>
        </p:nvSpPr>
        <p:spPr/>
        <p:txBody>
          <a:bodyPr/>
          <a:lstStyle/>
          <a:p>
            <a:r>
              <a:rPr lang="en-US" dirty="0"/>
              <a:t>IEEE 754</a:t>
            </a:r>
          </a:p>
        </p:txBody>
      </p:sp>
      <p:sp>
        <p:nvSpPr>
          <p:cNvPr id="3" name="Content Placeholder 2">
            <a:extLst>
              <a:ext uri="{FF2B5EF4-FFF2-40B4-BE49-F238E27FC236}">
                <a16:creationId xmlns:a16="http://schemas.microsoft.com/office/drawing/2014/main" id="{5EE9060E-8E55-4909-880C-5A1DA331A788}"/>
              </a:ext>
            </a:extLst>
          </p:cNvPr>
          <p:cNvSpPr>
            <a:spLocks noGrp="1"/>
          </p:cNvSpPr>
          <p:nvPr>
            <p:ph idx="1"/>
          </p:nvPr>
        </p:nvSpPr>
        <p:spPr/>
        <p:txBody>
          <a:bodyPr/>
          <a:lstStyle/>
          <a:p>
            <a:pPr marL="0" indent="0">
              <a:buNone/>
            </a:pPr>
            <a:r>
              <a:rPr lang="en-US" dirty="0"/>
              <a:t>The significant digits are represented as a binary number, as are the exponent.</a:t>
            </a:r>
          </a:p>
          <a:p>
            <a:pPr marL="0" indent="0">
              <a:buNone/>
            </a:pPr>
            <a:r>
              <a:rPr lang="en-US" dirty="0"/>
              <a:t>1.234 </a:t>
            </a:r>
            <a:r>
              <a:rPr lang="en-US" dirty="0">
                <a:sym typeface="Wingdings" panose="05000000000000000000" pitchFamily="2" charset="2"/>
              </a:rPr>
              <a:t> 1234 * 10</a:t>
            </a:r>
            <a:r>
              <a:rPr lang="en-US" baseline="30000" dirty="0">
                <a:sym typeface="Wingdings" panose="05000000000000000000" pitchFamily="2" charset="2"/>
              </a:rPr>
              <a:t>-3 </a:t>
            </a:r>
            <a:r>
              <a:rPr lang="en-US" dirty="0">
                <a:sym typeface="Wingdings" panose="05000000000000000000" pitchFamily="2" charset="2"/>
              </a:rPr>
              <a:t>in IEEE754 decimal notation</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The number of digits depend on the size of the data type:</a:t>
            </a:r>
          </a:p>
          <a:p>
            <a:pPr marL="0" indent="0">
              <a:buNone/>
            </a:pPr>
            <a:r>
              <a:rPr lang="en-US" dirty="0">
                <a:sym typeface="Wingdings" panose="05000000000000000000" pitchFamily="2" charset="2"/>
              </a:rPr>
              <a:t>16 bits: 11 significant, 5 exponent (between -14  and 15)</a:t>
            </a:r>
          </a:p>
          <a:p>
            <a:pPr marL="0" indent="0">
              <a:buNone/>
            </a:pPr>
            <a:r>
              <a:rPr lang="en-US" dirty="0">
                <a:sym typeface="Wingdings" panose="05000000000000000000" pitchFamily="2" charset="2"/>
              </a:rPr>
              <a:t>32 bits: 24 significant, 8 exponent (between -126 and 127)</a:t>
            </a:r>
          </a:p>
          <a:p>
            <a:pPr marL="0" indent="0">
              <a:buNone/>
            </a:pPr>
            <a:r>
              <a:rPr lang="en-US" dirty="0">
                <a:sym typeface="Wingdings" panose="05000000000000000000" pitchFamily="2" charset="2"/>
              </a:rPr>
              <a:t>64 bits: 53 significant, 11 exponent (between -1022 and 1023)</a:t>
            </a:r>
            <a:endParaRPr lang="en-US" dirty="0"/>
          </a:p>
        </p:txBody>
      </p:sp>
    </p:spTree>
    <p:extLst>
      <p:ext uri="{BB962C8B-B14F-4D97-AF65-F5344CB8AC3E}">
        <p14:creationId xmlns:p14="http://schemas.microsoft.com/office/powerpoint/2010/main" val="16389835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7417E-2ED5-4424-A4D3-0021A8AAABDA}"/>
              </a:ext>
            </a:extLst>
          </p:cNvPr>
          <p:cNvSpPr>
            <a:spLocks noGrp="1"/>
          </p:cNvSpPr>
          <p:nvPr>
            <p:ph type="title"/>
          </p:nvPr>
        </p:nvSpPr>
        <p:spPr>
          <a:xfrm>
            <a:off x="655320" y="365125"/>
            <a:ext cx="5120114" cy="1692794"/>
          </a:xfrm>
        </p:spPr>
        <p:txBody>
          <a:bodyPr>
            <a:normAutofit/>
          </a:bodyPr>
          <a:lstStyle/>
          <a:p>
            <a:r>
              <a:rPr lang="en-US"/>
              <a:t>Strings</a:t>
            </a:r>
            <a:endParaRPr lang="en-US" dirty="0"/>
          </a:p>
        </p:txBody>
      </p:sp>
      <p:cxnSp>
        <p:nvCxnSpPr>
          <p:cNvPr id="135" name="Straight Arrow Connector 134">
            <a:extLst>
              <a:ext uri="{FF2B5EF4-FFF2-40B4-BE49-F238E27FC236}">
                <a16:creationId xmlns:a16="http://schemas.microsoft.com/office/drawing/2014/main" id="{E4A809D5-3600-46D4-A466-67F2349A54FB}"/>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C75E0D7-8D9B-4B23-B1A1-BB2874846077}"/>
              </a:ext>
            </a:extLst>
          </p:cNvPr>
          <p:cNvSpPr>
            <a:spLocks noGrp="1"/>
          </p:cNvSpPr>
          <p:nvPr>
            <p:ph idx="1"/>
          </p:nvPr>
        </p:nvSpPr>
        <p:spPr>
          <a:xfrm>
            <a:off x="175099" y="2316480"/>
            <a:ext cx="5600336" cy="4269146"/>
          </a:xfrm>
        </p:spPr>
        <p:txBody>
          <a:bodyPr>
            <a:normAutofit/>
          </a:bodyPr>
          <a:lstStyle/>
          <a:p>
            <a:pPr marL="0" indent="0">
              <a:buNone/>
            </a:pPr>
            <a:r>
              <a:rPr lang="en-US" sz="1800" dirty="0"/>
              <a:t>Strings can be stored in one of many formats.</a:t>
            </a:r>
          </a:p>
          <a:p>
            <a:pPr marL="0" indent="0">
              <a:buNone/>
            </a:pPr>
            <a:r>
              <a:rPr lang="en-US" sz="1800" dirty="0"/>
              <a:t>ASCII was the most common American format:</a:t>
            </a:r>
          </a:p>
          <a:p>
            <a:pPr marL="0" indent="0">
              <a:buNone/>
            </a:pPr>
            <a:r>
              <a:rPr lang="en-US" sz="1800" dirty="0"/>
              <a:t>American Standard Code for Information Interchange</a:t>
            </a:r>
          </a:p>
          <a:p>
            <a:pPr marL="0" indent="0">
              <a:buNone/>
            </a:pPr>
            <a:endParaRPr lang="en-US" sz="1800" dirty="0"/>
          </a:p>
          <a:p>
            <a:pPr marL="0" indent="0">
              <a:buNone/>
            </a:pPr>
            <a:r>
              <a:rPr lang="en-US" sz="1800" dirty="0"/>
              <a:t>Issues: </a:t>
            </a:r>
          </a:p>
          <a:p>
            <a:pPr marL="0" indent="0">
              <a:buNone/>
            </a:pPr>
            <a:r>
              <a:rPr lang="en-US" sz="1800" dirty="0"/>
              <a:t>	Doesn’t support other languages</a:t>
            </a:r>
          </a:p>
          <a:p>
            <a:pPr marL="0" indent="0">
              <a:buNone/>
            </a:pPr>
            <a:r>
              <a:rPr lang="en-US" sz="1800" dirty="0"/>
              <a:t>	Designed for teletypes </a:t>
            </a:r>
          </a:p>
          <a:p>
            <a:pPr marL="0" indent="0">
              <a:buNone/>
            </a:pPr>
            <a:r>
              <a:rPr lang="en-US" sz="1800" dirty="0"/>
              <a:t>Benefits:</a:t>
            </a:r>
          </a:p>
          <a:p>
            <a:pPr marL="0" indent="0">
              <a:buNone/>
            </a:pPr>
            <a:r>
              <a:rPr lang="en-US" sz="1800" dirty="0"/>
              <a:t>	Simple (all characters are 8 bits)</a:t>
            </a:r>
          </a:p>
          <a:p>
            <a:pPr marL="0" indent="0">
              <a:buNone/>
            </a:pPr>
            <a:r>
              <a:rPr lang="en-US" sz="1800" dirty="0"/>
              <a:t>	Small</a:t>
            </a:r>
          </a:p>
          <a:p>
            <a:pPr marL="0" indent="0">
              <a:buNone/>
            </a:pPr>
            <a:r>
              <a:rPr lang="en-US" sz="1800" dirty="0"/>
              <a:t>	Ubiquitous</a:t>
            </a:r>
          </a:p>
        </p:txBody>
      </p:sp>
      <p:pic>
        <p:nvPicPr>
          <p:cNvPr id="1026" name="Picture 2" descr="Image result for teletype">
            <a:extLst>
              <a:ext uri="{FF2B5EF4-FFF2-40B4-BE49-F238E27FC236}">
                <a16:creationId xmlns:a16="http://schemas.microsoft.com/office/drawing/2014/main" id="{1E264A4C-96C4-4B71-AE41-A1A2586349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795" r="24424"/>
          <a:stretch/>
        </p:blipFill>
        <p:spPr bwMode="auto">
          <a:xfrm>
            <a:off x="4961106" y="10"/>
            <a:ext cx="7230893"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59282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BCD0B-7CA2-4654-93A5-975A686FCB63}"/>
              </a:ext>
            </a:extLst>
          </p:cNvPr>
          <p:cNvSpPr>
            <a:spLocks noGrp="1"/>
          </p:cNvSpPr>
          <p:nvPr>
            <p:ph type="title"/>
          </p:nvPr>
        </p:nvSpPr>
        <p:spPr/>
        <p:txBody>
          <a:bodyPr/>
          <a:lstStyle/>
          <a:p>
            <a:r>
              <a:rPr lang="en-US" dirty="0"/>
              <a:t>Unicode</a:t>
            </a:r>
          </a:p>
        </p:txBody>
      </p:sp>
      <p:sp>
        <p:nvSpPr>
          <p:cNvPr id="3" name="Content Placeholder 2">
            <a:extLst>
              <a:ext uri="{FF2B5EF4-FFF2-40B4-BE49-F238E27FC236}">
                <a16:creationId xmlns:a16="http://schemas.microsoft.com/office/drawing/2014/main" id="{18A50EFF-4B34-404F-939C-3981F54E2ACC}"/>
              </a:ext>
            </a:extLst>
          </p:cNvPr>
          <p:cNvSpPr>
            <a:spLocks noGrp="1"/>
          </p:cNvSpPr>
          <p:nvPr>
            <p:ph idx="1"/>
          </p:nvPr>
        </p:nvSpPr>
        <p:spPr/>
        <p:txBody>
          <a:bodyPr/>
          <a:lstStyle/>
          <a:p>
            <a:pPr marL="0" indent="0">
              <a:buNone/>
            </a:pPr>
            <a:r>
              <a:rPr lang="en-US" dirty="0"/>
              <a:t>As computers became more popular/affordable outside of the US/UK/Australia, it became clear that ASCII wasn’t going to work.</a:t>
            </a:r>
          </a:p>
          <a:p>
            <a:pPr marL="0" indent="0">
              <a:buNone/>
            </a:pPr>
            <a:r>
              <a:rPr lang="en-US" dirty="0"/>
              <a:t>	Note – there were other encodings, too, especially in the USSR</a:t>
            </a:r>
          </a:p>
          <a:p>
            <a:pPr marL="0" indent="0">
              <a:buNone/>
            </a:pPr>
            <a:endParaRPr lang="en-US" dirty="0"/>
          </a:p>
          <a:p>
            <a:pPr marL="0" indent="0">
              <a:buNone/>
            </a:pPr>
            <a:r>
              <a:rPr lang="en-US" dirty="0"/>
              <a:t>Xerox and Apple set out to make a standard that would support every country, language and situation. NeXT, Microsoft and Sun joined later.</a:t>
            </a:r>
          </a:p>
          <a:p>
            <a:pPr marL="0" indent="0">
              <a:buNone/>
            </a:pPr>
            <a:endParaRPr lang="en-US" dirty="0"/>
          </a:p>
          <a:p>
            <a:pPr marL="0" indent="0">
              <a:buNone/>
            </a:pPr>
            <a:r>
              <a:rPr lang="en-US" dirty="0"/>
              <a:t>The first 256 characters of Unicode are the same as ASCII (to make conversion easy).</a:t>
            </a:r>
          </a:p>
        </p:txBody>
      </p:sp>
    </p:spTree>
    <p:extLst>
      <p:ext uri="{BB962C8B-B14F-4D97-AF65-F5344CB8AC3E}">
        <p14:creationId xmlns:p14="http://schemas.microsoft.com/office/powerpoint/2010/main" val="14038916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3FC93-246A-4F10-B612-E9DAD83D2C28}"/>
              </a:ext>
            </a:extLst>
          </p:cNvPr>
          <p:cNvSpPr>
            <a:spLocks noGrp="1"/>
          </p:cNvSpPr>
          <p:nvPr>
            <p:ph type="title"/>
          </p:nvPr>
        </p:nvSpPr>
        <p:spPr/>
        <p:txBody>
          <a:bodyPr/>
          <a:lstStyle/>
          <a:p>
            <a:r>
              <a:rPr lang="en-US" dirty="0"/>
              <a:t>Unicode Part 2</a:t>
            </a:r>
          </a:p>
        </p:txBody>
      </p:sp>
      <p:sp>
        <p:nvSpPr>
          <p:cNvPr id="3" name="Content Placeholder 2">
            <a:extLst>
              <a:ext uri="{FF2B5EF4-FFF2-40B4-BE49-F238E27FC236}">
                <a16:creationId xmlns:a16="http://schemas.microsoft.com/office/drawing/2014/main" id="{7C810EBA-EC87-4EB3-86AC-60BEB2BA1AD7}"/>
              </a:ext>
            </a:extLst>
          </p:cNvPr>
          <p:cNvSpPr>
            <a:spLocks noGrp="1"/>
          </p:cNvSpPr>
          <p:nvPr>
            <p:ph idx="1"/>
          </p:nvPr>
        </p:nvSpPr>
        <p:spPr/>
        <p:txBody>
          <a:bodyPr/>
          <a:lstStyle/>
          <a:p>
            <a:pPr marL="0" indent="0">
              <a:buNone/>
            </a:pPr>
            <a:r>
              <a:rPr lang="en-US" dirty="0"/>
              <a:t>Unicode is (basically), like ASCII, a mapping from numbers to letters</a:t>
            </a:r>
          </a:p>
          <a:p>
            <a:pPr marL="0" indent="0">
              <a:buNone/>
            </a:pPr>
            <a:endParaRPr lang="en-US" dirty="0"/>
          </a:p>
          <a:p>
            <a:pPr marL="0" indent="0">
              <a:buNone/>
            </a:pPr>
            <a:r>
              <a:rPr lang="en-US" dirty="0"/>
              <a:t>It does more, though. There are numerous line terminators beside \r and \n. Multiple space characters, too.</a:t>
            </a:r>
          </a:p>
          <a:p>
            <a:pPr marL="0" indent="0">
              <a:buNone/>
            </a:pPr>
            <a:endParaRPr lang="en-US" dirty="0"/>
          </a:p>
          <a:p>
            <a:pPr marL="0" indent="0">
              <a:buNone/>
            </a:pPr>
            <a:r>
              <a:rPr lang="en-US" dirty="0"/>
              <a:t>There are hundreds of thousands of characters in Unicode.</a:t>
            </a:r>
          </a:p>
          <a:p>
            <a:pPr marL="0" indent="0">
              <a:buNone/>
            </a:pPr>
            <a:endParaRPr lang="en-US" dirty="0"/>
          </a:p>
          <a:p>
            <a:pPr marL="0" indent="0">
              <a:buNone/>
            </a:pPr>
            <a:r>
              <a:rPr lang="en-US" dirty="0"/>
              <a:t>How do we represent all of these characters in memory/disk?</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302725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EA0E5-402E-4599-BD8D-6BFE31A1E11F}"/>
              </a:ext>
            </a:extLst>
          </p:cNvPr>
          <p:cNvSpPr>
            <a:spLocks noGrp="1"/>
          </p:cNvSpPr>
          <p:nvPr>
            <p:ph type="title"/>
          </p:nvPr>
        </p:nvSpPr>
        <p:spPr/>
        <p:txBody>
          <a:bodyPr/>
          <a:lstStyle/>
          <a:p>
            <a:r>
              <a:rPr lang="en-US" dirty="0"/>
              <a:t>Unicode Encoding</a:t>
            </a:r>
          </a:p>
        </p:txBody>
      </p:sp>
      <p:sp>
        <p:nvSpPr>
          <p:cNvPr id="3" name="Content Placeholder 2">
            <a:extLst>
              <a:ext uri="{FF2B5EF4-FFF2-40B4-BE49-F238E27FC236}">
                <a16:creationId xmlns:a16="http://schemas.microsoft.com/office/drawing/2014/main" id="{B04F228C-FC54-449F-95B4-C4E12A3A61A3}"/>
              </a:ext>
            </a:extLst>
          </p:cNvPr>
          <p:cNvSpPr>
            <a:spLocks noGrp="1"/>
          </p:cNvSpPr>
          <p:nvPr>
            <p:ph idx="1"/>
          </p:nvPr>
        </p:nvSpPr>
        <p:spPr/>
        <p:txBody>
          <a:bodyPr>
            <a:normAutofit/>
          </a:bodyPr>
          <a:lstStyle/>
          <a:p>
            <a:pPr marL="0" indent="0">
              <a:buNone/>
            </a:pPr>
            <a:r>
              <a:rPr lang="en-US" dirty="0"/>
              <a:t>The simplest is UTF-32 – a 32 bit fixed width encoding. Every character takes exactly 4 bytes. </a:t>
            </a:r>
          </a:p>
          <a:p>
            <a:pPr marL="0" indent="0">
              <a:buNone/>
            </a:pPr>
            <a:endParaRPr lang="en-US" dirty="0"/>
          </a:p>
          <a:p>
            <a:pPr marL="0" indent="0">
              <a:buNone/>
            </a:pPr>
            <a:r>
              <a:rPr lang="en-US" dirty="0"/>
              <a:t>4 bytes is a lot. We got by with 1 byte ASCII – can we do something else?</a:t>
            </a:r>
          </a:p>
          <a:p>
            <a:pPr marL="0" indent="0">
              <a:buNone/>
            </a:pPr>
            <a:endParaRPr lang="en-US" dirty="0"/>
          </a:p>
          <a:p>
            <a:pPr marL="0" indent="0">
              <a:buNone/>
            </a:pPr>
            <a:r>
              <a:rPr lang="en-US" dirty="0"/>
              <a:t>UTF-16 is a 16 bit variable width. If we need to represent a character &gt; 64K, we use a set value for the first 2 bytes indicating that a 32 bit character follows. Windows and OS X use UTF-16.</a:t>
            </a:r>
          </a:p>
        </p:txBody>
      </p:sp>
    </p:spTree>
    <p:extLst>
      <p:ext uri="{BB962C8B-B14F-4D97-AF65-F5344CB8AC3E}">
        <p14:creationId xmlns:p14="http://schemas.microsoft.com/office/powerpoint/2010/main" val="2336209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4B0E-2C8B-4996-8354-A59B522512AE}"/>
              </a:ext>
            </a:extLst>
          </p:cNvPr>
          <p:cNvSpPr>
            <a:spLocks noGrp="1"/>
          </p:cNvSpPr>
          <p:nvPr>
            <p:ph type="title"/>
          </p:nvPr>
        </p:nvSpPr>
        <p:spPr/>
        <p:txBody>
          <a:bodyPr/>
          <a:lstStyle/>
          <a:p>
            <a:r>
              <a:rPr lang="en-US" dirty="0"/>
              <a:t>UTF-16</a:t>
            </a:r>
          </a:p>
        </p:txBody>
      </p:sp>
      <p:sp>
        <p:nvSpPr>
          <p:cNvPr id="3" name="Content Placeholder 2">
            <a:extLst>
              <a:ext uri="{FF2B5EF4-FFF2-40B4-BE49-F238E27FC236}">
                <a16:creationId xmlns:a16="http://schemas.microsoft.com/office/drawing/2014/main" id="{8F8D7C8F-5519-4E07-915F-A8D0DF8EE46D}"/>
              </a:ext>
            </a:extLst>
          </p:cNvPr>
          <p:cNvSpPr>
            <a:spLocks noGrp="1"/>
          </p:cNvSpPr>
          <p:nvPr>
            <p:ph idx="1"/>
          </p:nvPr>
        </p:nvSpPr>
        <p:spPr/>
        <p:txBody>
          <a:bodyPr/>
          <a:lstStyle/>
          <a:p>
            <a:pPr marL="0" indent="0">
              <a:buNone/>
            </a:pPr>
            <a:r>
              <a:rPr lang="en-US" dirty="0"/>
              <a:t>Windows and Java use UTF-16, a compromise. </a:t>
            </a:r>
          </a:p>
          <a:p>
            <a:pPr marL="0" indent="0">
              <a:buNone/>
            </a:pPr>
            <a:endParaRPr lang="en-US" dirty="0"/>
          </a:p>
          <a:p>
            <a:pPr marL="0" indent="0">
              <a:buNone/>
            </a:pPr>
            <a:r>
              <a:rPr lang="en-US" dirty="0"/>
              <a:t>7 bit ASCII, as well as many languages (this is called the Basic Multilingual Plane) fit into a single UTF-16 16-bit number.</a:t>
            </a:r>
          </a:p>
          <a:p>
            <a:pPr marL="0" indent="0">
              <a:buNone/>
            </a:pPr>
            <a:endParaRPr lang="en-US" dirty="0"/>
          </a:p>
          <a:p>
            <a:pPr marL="0" indent="0">
              <a:buNone/>
            </a:pPr>
            <a:r>
              <a:rPr lang="en-US" dirty="0"/>
              <a:t>The byte range D800 – DFFF is reserved for values that don’t fit into 16 bits. For other characters, D800-DBFF is the first 16-bit word (giving 10 bits of the number) and the second word will be DC00-DFFF, giving 10 more bits. This allows for 1,112,064 characters to be referenced. </a:t>
            </a:r>
          </a:p>
        </p:txBody>
      </p:sp>
    </p:spTree>
    <p:extLst>
      <p:ext uri="{BB962C8B-B14F-4D97-AF65-F5344CB8AC3E}">
        <p14:creationId xmlns:p14="http://schemas.microsoft.com/office/powerpoint/2010/main" val="287776143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0696-DEF0-4B93-A5BD-803F6205A6BC}"/>
              </a:ext>
            </a:extLst>
          </p:cNvPr>
          <p:cNvSpPr>
            <a:spLocks noGrp="1"/>
          </p:cNvSpPr>
          <p:nvPr>
            <p:ph type="title"/>
          </p:nvPr>
        </p:nvSpPr>
        <p:spPr/>
        <p:txBody>
          <a:bodyPr/>
          <a:lstStyle/>
          <a:p>
            <a:r>
              <a:rPr lang="en-US" dirty="0"/>
              <a:t>Unicode Encoding – UTF-8</a:t>
            </a:r>
          </a:p>
        </p:txBody>
      </p:sp>
      <p:sp>
        <p:nvSpPr>
          <p:cNvPr id="3" name="Content Placeholder 2">
            <a:extLst>
              <a:ext uri="{FF2B5EF4-FFF2-40B4-BE49-F238E27FC236}">
                <a16:creationId xmlns:a16="http://schemas.microsoft.com/office/drawing/2014/main" id="{FC6CF374-C5C2-45BE-8BE5-56923B28D839}"/>
              </a:ext>
            </a:extLst>
          </p:cNvPr>
          <p:cNvSpPr>
            <a:spLocks noGrp="1"/>
          </p:cNvSpPr>
          <p:nvPr>
            <p:ph idx="1"/>
          </p:nvPr>
        </p:nvSpPr>
        <p:spPr/>
        <p:txBody>
          <a:bodyPr/>
          <a:lstStyle/>
          <a:p>
            <a:pPr marL="0" indent="0">
              <a:buNone/>
            </a:pPr>
            <a:r>
              <a:rPr lang="en-US" dirty="0"/>
              <a:t>2 bytes per character? Really? Most of our website is in English. Can’t we just use ASCII? It compresses better and we use less bandwidth…</a:t>
            </a:r>
          </a:p>
          <a:p>
            <a:pPr marL="0" indent="0">
              <a:buNone/>
            </a:pPr>
            <a:endParaRPr lang="en-US" dirty="0"/>
          </a:p>
          <a:p>
            <a:pPr marL="0" indent="0">
              <a:buNone/>
            </a:pPr>
            <a:r>
              <a:rPr lang="en-US" dirty="0"/>
              <a:t>UTF-8 is the solution for Internet and </a:t>
            </a:r>
            <a:r>
              <a:rPr lang="en-US" dirty="0" err="1"/>
              <a:t>Unixes</a:t>
            </a:r>
            <a:r>
              <a:rPr lang="en-US" dirty="0"/>
              <a:t>.</a:t>
            </a:r>
          </a:p>
          <a:p>
            <a:pPr marL="0" indent="0">
              <a:buNone/>
            </a:pPr>
            <a:r>
              <a:rPr lang="en-US" dirty="0"/>
              <a:t>Represent the first 128 characters (most common ASCII) as 8 bits. Otherwise, the byte tells us what the following bytes are (2 bytes for Unicode 129-65,535, 3 bytes for 65,536-16,777,215, otherwise 4 bytes.</a:t>
            </a:r>
          </a:p>
          <a:p>
            <a:pPr marL="0" indent="0">
              <a:buNone/>
            </a:pPr>
            <a:endParaRPr lang="en-US" dirty="0"/>
          </a:p>
          <a:p>
            <a:pPr marL="0" indent="0">
              <a:buNone/>
            </a:pPr>
            <a:r>
              <a:rPr lang="en-US" dirty="0"/>
              <a:t>Most space efficient, harder to parse than UTF-32. </a:t>
            </a:r>
          </a:p>
        </p:txBody>
      </p:sp>
    </p:spTree>
    <p:extLst>
      <p:ext uri="{BB962C8B-B14F-4D97-AF65-F5344CB8AC3E}">
        <p14:creationId xmlns:p14="http://schemas.microsoft.com/office/powerpoint/2010/main" val="35759873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61B39-B72D-40C7-9A4E-D2B49399FDF7}"/>
              </a:ext>
            </a:extLst>
          </p:cNvPr>
          <p:cNvSpPr>
            <a:spLocks noGrp="1"/>
          </p:cNvSpPr>
          <p:nvPr>
            <p:ph type="title"/>
          </p:nvPr>
        </p:nvSpPr>
        <p:spPr/>
        <p:txBody>
          <a:bodyPr/>
          <a:lstStyle/>
          <a:p>
            <a:r>
              <a:rPr lang="en-US" dirty="0"/>
              <a:t>How does that work?</a:t>
            </a:r>
          </a:p>
        </p:txBody>
      </p:sp>
      <p:sp>
        <p:nvSpPr>
          <p:cNvPr id="3" name="Content Placeholder 2">
            <a:extLst>
              <a:ext uri="{FF2B5EF4-FFF2-40B4-BE49-F238E27FC236}">
                <a16:creationId xmlns:a16="http://schemas.microsoft.com/office/drawing/2014/main" id="{4ABA0D06-D69C-48D7-8B04-30E637807EDC}"/>
              </a:ext>
            </a:extLst>
          </p:cNvPr>
          <p:cNvSpPr>
            <a:spLocks noGrp="1"/>
          </p:cNvSpPr>
          <p:nvPr>
            <p:ph idx="1"/>
          </p:nvPr>
        </p:nvSpPr>
        <p:spPr/>
        <p:txBody>
          <a:bodyPr/>
          <a:lstStyle/>
          <a:p>
            <a:pPr marL="0" indent="0">
              <a:buNone/>
            </a:pPr>
            <a:r>
              <a:rPr lang="en-US" dirty="0"/>
              <a:t>If you want to represent a number less than 128, you use one byte.</a:t>
            </a:r>
          </a:p>
          <a:p>
            <a:pPr marL="0" indent="0">
              <a:buNone/>
            </a:pPr>
            <a:r>
              <a:rPr lang="en-US" dirty="0"/>
              <a:t>If you want to represent a number from 128 to 64k, the first byte starts with 110[01] (the first 4 bits; C or D in hex). These 3 bits are the signal that there is another byte coming. The second byte must start with 8,9,A, or B in hex (the first 2 bits are 10). This gives us 11 bits of values – 5 from the first byte, 6 from the second.</a:t>
            </a:r>
          </a:p>
          <a:p>
            <a:pPr marL="0" indent="0">
              <a:buNone/>
            </a:pPr>
            <a:r>
              <a:rPr lang="en-US" dirty="0"/>
              <a:t>For 64k – 16million, the first byte begins with E (hex) and 3 bytes follow.</a:t>
            </a:r>
          </a:p>
          <a:p>
            <a:pPr marL="0" indent="0">
              <a:buNone/>
            </a:pPr>
            <a:r>
              <a:rPr lang="en-US" dirty="0"/>
              <a:t>For &gt; 16 million (including emojis!), the first byte begins with F (hex) and 4 bytes follow.</a:t>
            </a:r>
          </a:p>
        </p:txBody>
      </p:sp>
    </p:spTree>
    <p:extLst>
      <p:ext uri="{BB962C8B-B14F-4D97-AF65-F5344CB8AC3E}">
        <p14:creationId xmlns:p14="http://schemas.microsoft.com/office/powerpoint/2010/main" val="210607933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70ED4-10E0-4EC8-8F12-8322B9C541DA}"/>
              </a:ext>
            </a:extLst>
          </p:cNvPr>
          <p:cNvSpPr>
            <a:spLocks noGrp="1"/>
          </p:cNvSpPr>
          <p:nvPr>
            <p:ph type="title"/>
          </p:nvPr>
        </p:nvSpPr>
        <p:spPr/>
        <p:txBody>
          <a:bodyPr/>
          <a:lstStyle/>
          <a:p>
            <a:r>
              <a:rPr lang="en-US" dirty="0"/>
              <a:t>Some basic physics…</a:t>
            </a:r>
          </a:p>
        </p:txBody>
      </p:sp>
      <p:sp>
        <p:nvSpPr>
          <p:cNvPr id="3" name="Content Placeholder 2">
            <a:extLst>
              <a:ext uri="{FF2B5EF4-FFF2-40B4-BE49-F238E27FC236}">
                <a16:creationId xmlns:a16="http://schemas.microsoft.com/office/drawing/2014/main" id="{F3174537-1DC0-458A-9A2E-5E8EA2CBC6A7}"/>
              </a:ext>
            </a:extLst>
          </p:cNvPr>
          <p:cNvSpPr>
            <a:spLocks noGrp="1"/>
          </p:cNvSpPr>
          <p:nvPr>
            <p:ph idx="1"/>
          </p:nvPr>
        </p:nvSpPr>
        <p:spPr/>
        <p:txBody>
          <a:bodyPr/>
          <a:lstStyle/>
          <a:p>
            <a:pPr marL="0" indent="0">
              <a:buNone/>
            </a:pPr>
            <a:r>
              <a:rPr lang="en-US" dirty="0"/>
              <a:t>Electricity is the movement of electric charge through a medium.</a:t>
            </a:r>
          </a:p>
          <a:p>
            <a:pPr marL="0" indent="0">
              <a:buNone/>
            </a:pPr>
            <a:r>
              <a:rPr lang="en-US" dirty="0"/>
              <a:t>While not really accurate, I like the mental image of a tube full of ping pong balls. As you push balls in, they move through the tube.</a:t>
            </a:r>
          </a:p>
          <a:p>
            <a:pPr marL="0" indent="0">
              <a:buNone/>
            </a:pPr>
            <a:r>
              <a:rPr lang="en-US" dirty="0"/>
              <a:t>The medium has resistance (think of it as the balls rubbing against the inside of the tube). Resistance causes heat. </a:t>
            </a:r>
          </a:p>
          <a:p>
            <a:pPr marL="0" indent="0">
              <a:buNone/>
            </a:pPr>
            <a:r>
              <a:rPr lang="en-US" dirty="0"/>
              <a:t>We measure the voltage as the difference in potential – you can imagine it as the speed of the ping pong balls. </a:t>
            </a:r>
          </a:p>
        </p:txBody>
      </p:sp>
    </p:spTree>
    <p:extLst>
      <p:ext uri="{BB962C8B-B14F-4D97-AF65-F5344CB8AC3E}">
        <p14:creationId xmlns:p14="http://schemas.microsoft.com/office/powerpoint/2010/main" val="319419562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61DB3-8AC3-4F1D-A4C7-9F40489F8437}"/>
              </a:ext>
            </a:extLst>
          </p:cNvPr>
          <p:cNvSpPr>
            <a:spLocks noGrp="1"/>
          </p:cNvSpPr>
          <p:nvPr>
            <p:ph type="title"/>
          </p:nvPr>
        </p:nvSpPr>
        <p:spPr/>
        <p:txBody>
          <a:bodyPr/>
          <a:lstStyle/>
          <a:p>
            <a:r>
              <a:rPr lang="en-US" dirty="0"/>
              <a:t>Resistance and Heat		</a:t>
            </a:r>
          </a:p>
        </p:txBody>
      </p:sp>
      <p:sp>
        <p:nvSpPr>
          <p:cNvPr id="3" name="Content Placeholder 2">
            <a:extLst>
              <a:ext uri="{FF2B5EF4-FFF2-40B4-BE49-F238E27FC236}">
                <a16:creationId xmlns:a16="http://schemas.microsoft.com/office/drawing/2014/main" id="{3913A775-C2D9-47D3-A806-ED05B7ED08F0}"/>
              </a:ext>
            </a:extLst>
          </p:cNvPr>
          <p:cNvSpPr>
            <a:spLocks noGrp="1"/>
          </p:cNvSpPr>
          <p:nvPr>
            <p:ph idx="1"/>
          </p:nvPr>
        </p:nvSpPr>
        <p:spPr/>
        <p:txBody>
          <a:bodyPr/>
          <a:lstStyle/>
          <a:p>
            <a:pPr marL="0" indent="0">
              <a:buNone/>
            </a:pPr>
            <a:r>
              <a:rPr lang="en-US" dirty="0"/>
              <a:t>The faster you push the ping pong balls (the greater the voltage), the more the friction (Ohmic heating) is generated. </a:t>
            </a:r>
          </a:p>
          <a:p>
            <a:pPr marL="0" indent="0">
              <a:buNone/>
            </a:pPr>
            <a:r>
              <a:rPr lang="en-US" dirty="0"/>
              <a:t>This is a square relationship, unfortunately…</a:t>
            </a:r>
          </a:p>
          <a:p>
            <a:pPr marL="0" indent="0">
              <a:buNone/>
            </a:pPr>
            <a:endParaRPr lang="en-US" dirty="0"/>
          </a:p>
          <a:p>
            <a:pPr marL="0" indent="0">
              <a:buNone/>
            </a:pPr>
            <a:r>
              <a:rPr lang="en-US" dirty="0"/>
              <a:t>The biggest single limitation in computers today is heat generated by Ohmic heating…</a:t>
            </a:r>
          </a:p>
          <a:p>
            <a:pPr marL="0" indent="0">
              <a:buNone/>
            </a:pPr>
            <a:endParaRPr lang="en-US" dirty="0"/>
          </a:p>
        </p:txBody>
      </p:sp>
    </p:spTree>
    <p:extLst>
      <p:ext uri="{BB962C8B-B14F-4D97-AF65-F5344CB8AC3E}">
        <p14:creationId xmlns:p14="http://schemas.microsoft.com/office/powerpoint/2010/main" val="34628960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6822-AF45-4116-BA3E-BA6A4151EC88}"/>
              </a:ext>
            </a:extLst>
          </p:cNvPr>
          <p:cNvSpPr>
            <a:spLocks noGrp="1"/>
          </p:cNvSpPr>
          <p:nvPr>
            <p:ph type="title"/>
          </p:nvPr>
        </p:nvSpPr>
        <p:spPr/>
        <p:txBody>
          <a:bodyPr/>
          <a:lstStyle/>
          <a:p>
            <a:r>
              <a:rPr lang="en-US" dirty="0"/>
              <a:t>Why do we use base two?</a:t>
            </a:r>
          </a:p>
        </p:txBody>
      </p:sp>
      <p:sp>
        <p:nvSpPr>
          <p:cNvPr id="3" name="Content Placeholder 2">
            <a:extLst>
              <a:ext uri="{FF2B5EF4-FFF2-40B4-BE49-F238E27FC236}">
                <a16:creationId xmlns:a16="http://schemas.microsoft.com/office/drawing/2014/main" id="{FE273F82-4433-4C78-89CD-46A6E97C6E4D}"/>
              </a:ext>
            </a:extLst>
          </p:cNvPr>
          <p:cNvSpPr>
            <a:spLocks noGrp="1"/>
          </p:cNvSpPr>
          <p:nvPr>
            <p:ph idx="1"/>
          </p:nvPr>
        </p:nvSpPr>
        <p:spPr/>
        <p:txBody>
          <a:bodyPr/>
          <a:lstStyle/>
          <a:p>
            <a:pPr marL="0" indent="0">
              <a:buNone/>
            </a:pPr>
            <a:r>
              <a:rPr lang="en-US" dirty="0"/>
              <a:t>There were attempts at a computer that used varying voltages to indicate values. Think about a computer that used 1 volt for 1, 2 volts for 2.</a:t>
            </a:r>
          </a:p>
          <a:p>
            <a:pPr marL="0" indent="0">
              <a:buNone/>
            </a:pPr>
            <a:endParaRPr lang="en-US" dirty="0"/>
          </a:p>
          <a:p>
            <a:pPr marL="0" indent="0">
              <a:buNone/>
            </a:pPr>
            <a:r>
              <a:rPr lang="en-US" dirty="0"/>
              <a:t>What’s the problem with this?</a:t>
            </a:r>
          </a:p>
        </p:txBody>
      </p:sp>
    </p:spTree>
    <p:extLst>
      <p:ext uri="{BB962C8B-B14F-4D97-AF65-F5344CB8AC3E}">
        <p14:creationId xmlns:p14="http://schemas.microsoft.com/office/powerpoint/2010/main" val="36610751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6822-AF45-4116-BA3E-BA6A4151EC88}"/>
              </a:ext>
            </a:extLst>
          </p:cNvPr>
          <p:cNvSpPr>
            <a:spLocks noGrp="1"/>
          </p:cNvSpPr>
          <p:nvPr>
            <p:ph type="title"/>
          </p:nvPr>
        </p:nvSpPr>
        <p:spPr/>
        <p:txBody>
          <a:bodyPr/>
          <a:lstStyle/>
          <a:p>
            <a:r>
              <a:rPr lang="en-US" dirty="0"/>
              <a:t>Why do we use base two?</a:t>
            </a:r>
          </a:p>
        </p:txBody>
      </p:sp>
      <p:sp>
        <p:nvSpPr>
          <p:cNvPr id="3" name="Content Placeholder 2">
            <a:extLst>
              <a:ext uri="{FF2B5EF4-FFF2-40B4-BE49-F238E27FC236}">
                <a16:creationId xmlns:a16="http://schemas.microsoft.com/office/drawing/2014/main" id="{FE273F82-4433-4C78-89CD-46A6E97C6E4D}"/>
              </a:ext>
            </a:extLst>
          </p:cNvPr>
          <p:cNvSpPr>
            <a:spLocks noGrp="1"/>
          </p:cNvSpPr>
          <p:nvPr>
            <p:ph idx="1"/>
          </p:nvPr>
        </p:nvSpPr>
        <p:spPr>
          <a:xfrm>
            <a:off x="749643" y="1825625"/>
            <a:ext cx="10604157" cy="4351338"/>
          </a:xfrm>
        </p:spPr>
        <p:txBody>
          <a:bodyPr>
            <a:normAutofit/>
          </a:bodyPr>
          <a:lstStyle/>
          <a:p>
            <a:pPr marL="0" indent="0">
              <a:buNone/>
            </a:pPr>
            <a:r>
              <a:rPr lang="en-US" dirty="0"/>
              <a:t>There were attempts at a computer that used varying voltages to indicate values. Think about a computer that used 1 volt for 1, 2 volts for 2.</a:t>
            </a:r>
          </a:p>
          <a:p>
            <a:pPr marL="0" indent="0">
              <a:buNone/>
            </a:pPr>
            <a:endParaRPr lang="en-US" dirty="0"/>
          </a:p>
          <a:p>
            <a:pPr marL="0" indent="0">
              <a:buNone/>
            </a:pPr>
            <a:r>
              <a:rPr lang="en-US" dirty="0"/>
              <a:t>What’s the problem with this?</a:t>
            </a:r>
          </a:p>
          <a:p>
            <a:pPr marL="0" indent="0">
              <a:buNone/>
            </a:pPr>
            <a:endParaRPr lang="en-US" dirty="0"/>
          </a:p>
          <a:p>
            <a:pPr marL="0" indent="0">
              <a:buNone/>
            </a:pPr>
            <a:r>
              <a:rPr lang="en-US" dirty="0"/>
              <a:t>Resistance! Over time the voltage is reduced by resistance.</a:t>
            </a:r>
          </a:p>
          <a:p>
            <a:pPr marL="0" indent="0">
              <a:buNone/>
            </a:pPr>
            <a:endParaRPr lang="en-US" dirty="0"/>
          </a:p>
          <a:p>
            <a:pPr marL="0" indent="0">
              <a:buNone/>
            </a:pPr>
            <a:r>
              <a:rPr lang="en-US" dirty="0"/>
              <a:t>So, instead, we use a threshold – anything over (say) .5 volts is “on” or 1</a:t>
            </a:r>
          </a:p>
        </p:txBody>
      </p:sp>
    </p:spTree>
    <p:extLst>
      <p:ext uri="{BB962C8B-B14F-4D97-AF65-F5344CB8AC3E}">
        <p14:creationId xmlns:p14="http://schemas.microsoft.com/office/powerpoint/2010/main" val="177899723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6E8EF-7A10-437A-8674-6CF8001AEF58}"/>
              </a:ext>
            </a:extLst>
          </p:cNvPr>
          <p:cNvSpPr>
            <a:spLocks noGrp="1"/>
          </p:cNvSpPr>
          <p:nvPr>
            <p:ph type="title"/>
          </p:nvPr>
        </p:nvSpPr>
        <p:spPr/>
        <p:txBody>
          <a:bodyPr/>
          <a:lstStyle/>
          <a:p>
            <a:r>
              <a:rPr lang="en-US" dirty="0"/>
              <a:t>How do we turn all of this into a computer?</a:t>
            </a:r>
          </a:p>
        </p:txBody>
      </p:sp>
      <p:sp>
        <p:nvSpPr>
          <p:cNvPr id="3" name="Content Placeholder 2">
            <a:extLst>
              <a:ext uri="{FF2B5EF4-FFF2-40B4-BE49-F238E27FC236}">
                <a16:creationId xmlns:a16="http://schemas.microsoft.com/office/drawing/2014/main" id="{0FE3AEE1-4BDB-41A7-9616-C3B994A175B9}"/>
              </a:ext>
            </a:extLst>
          </p:cNvPr>
          <p:cNvSpPr>
            <a:spLocks noGrp="1"/>
          </p:cNvSpPr>
          <p:nvPr>
            <p:ph idx="1"/>
          </p:nvPr>
        </p:nvSpPr>
        <p:spPr/>
        <p:txBody>
          <a:bodyPr/>
          <a:lstStyle/>
          <a:p>
            <a:pPr marL="0" indent="0">
              <a:buNone/>
            </a:pPr>
            <a:r>
              <a:rPr lang="en-US" dirty="0"/>
              <a:t>It went in iterations…</a:t>
            </a:r>
          </a:p>
        </p:txBody>
      </p:sp>
    </p:spTree>
    <p:extLst>
      <p:ext uri="{BB962C8B-B14F-4D97-AF65-F5344CB8AC3E}">
        <p14:creationId xmlns:p14="http://schemas.microsoft.com/office/powerpoint/2010/main" val="51580966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5D08F-BAA6-44FB-9AC8-250ED9DB7175}"/>
              </a:ext>
            </a:extLst>
          </p:cNvPr>
          <p:cNvSpPr>
            <a:spLocks noGrp="1"/>
          </p:cNvSpPr>
          <p:nvPr>
            <p:ph type="title"/>
          </p:nvPr>
        </p:nvSpPr>
        <p:spPr>
          <a:xfrm>
            <a:off x="801099" y="1396289"/>
            <a:ext cx="5006336" cy="1325563"/>
          </a:xfrm>
        </p:spPr>
        <p:txBody>
          <a:bodyPr>
            <a:normAutofit/>
          </a:bodyPr>
          <a:lstStyle/>
          <a:p>
            <a:r>
              <a:rPr lang="en-US" dirty="0"/>
              <a:t>Konrad </a:t>
            </a:r>
            <a:r>
              <a:rPr lang="en-US" dirty="0" err="1"/>
              <a:t>Zuse</a:t>
            </a:r>
            <a:endParaRPr lang="en-US" dirty="0"/>
          </a:p>
        </p:txBody>
      </p:sp>
      <p:sp>
        <p:nvSpPr>
          <p:cNvPr id="3" name="Content Placeholder 2">
            <a:extLst>
              <a:ext uri="{FF2B5EF4-FFF2-40B4-BE49-F238E27FC236}">
                <a16:creationId xmlns:a16="http://schemas.microsoft.com/office/drawing/2014/main" id="{C3F4A56D-912C-4EFA-9CED-A9708753C77C}"/>
              </a:ext>
            </a:extLst>
          </p:cNvPr>
          <p:cNvSpPr>
            <a:spLocks noGrp="1"/>
          </p:cNvSpPr>
          <p:nvPr>
            <p:ph idx="1"/>
          </p:nvPr>
        </p:nvSpPr>
        <p:spPr>
          <a:xfrm>
            <a:off x="805543" y="2871982"/>
            <a:ext cx="5006336" cy="3181684"/>
          </a:xfrm>
        </p:spPr>
        <p:txBody>
          <a:bodyPr anchor="t">
            <a:normAutofit/>
          </a:bodyPr>
          <a:lstStyle/>
          <a:p>
            <a:pPr marL="0" indent="0">
              <a:buNone/>
            </a:pPr>
            <a:r>
              <a:rPr lang="en-US"/>
              <a:t>A Civil Engineer in 1930’s Germany, he needed to solve huge systems of linear equations. Doing it by hand was too slow, so he started to invent a machine to do the work.</a:t>
            </a:r>
          </a:p>
        </p:txBody>
      </p:sp>
      <p:sp>
        <p:nvSpPr>
          <p:cNvPr id="71" name="Freeform: Shape 70">
            <a:extLst>
              <a:ext uri="{FF2B5EF4-FFF2-40B4-BE49-F238E27FC236}">
                <a16:creationId xmlns:a16="http://schemas.microsoft.com/office/drawing/2014/main" id="{4F74D28C-3268-4E35-8EE1-D92CB4A85A7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19218"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4" name="Picture 2" descr="Image result for konrad zuse z1 computer">
            <a:extLst>
              <a:ext uri="{FF2B5EF4-FFF2-40B4-BE49-F238E27FC236}">
                <a16:creationId xmlns:a16="http://schemas.microsoft.com/office/drawing/2014/main" id="{B2A36A08-3561-4D9A-994C-C5F422811A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135" r="2" b="2"/>
          <a:stretch/>
        </p:blipFill>
        <p:spPr bwMode="auto">
          <a:xfrm>
            <a:off x="6167846" y="10"/>
            <a:ext cx="6024154" cy="6857990"/>
          </a:xfrm>
          <a:custGeom>
            <a:avLst/>
            <a:gdLst>
              <a:gd name="connsiteX0" fmla="*/ 70374 w 6024154"/>
              <a:gd name="connsiteY0" fmla="*/ 0 h 6858000"/>
              <a:gd name="connsiteX1" fmla="*/ 6024154 w 6024154"/>
              <a:gd name="connsiteY1" fmla="*/ 0 h 6858000"/>
              <a:gd name="connsiteX2" fmla="*/ 6024154 w 6024154"/>
              <a:gd name="connsiteY2" fmla="*/ 6858000 h 6858000"/>
              <a:gd name="connsiteX3" fmla="*/ 3587167 w 6024154"/>
              <a:gd name="connsiteY3" fmla="*/ 6858000 h 6858000"/>
              <a:gd name="connsiteX4" fmla="*/ 3474220 w 6024154"/>
              <a:gd name="connsiteY4" fmla="*/ 6800152 h 6858000"/>
              <a:gd name="connsiteX5" fmla="*/ 0 w 6024154"/>
              <a:gd name="connsiteY5" fmla="*/ 962844 h 6858000"/>
              <a:gd name="connsiteX6" fmla="*/ 34274 w 6024154"/>
              <a:gd name="connsiteY6" fmla="*/ 2840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70374" y="0"/>
                </a:moveTo>
                <a:lnTo>
                  <a:pt x="6024154" y="0"/>
                </a:lnTo>
                <a:lnTo>
                  <a:pt x="6024154" y="6858000"/>
                </a:lnTo>
                <a:lnTo>
                  <a:pt x="3587167" y="6858000"/>
                </a:lnTo>
                <a:lnTo>
                  <a:pt x="3474220" y="6800152"/>
                </a:lnTo>
                <a:cubicBezTo>
                  <a:pt x="1404818" y="5675986"/>
                  <a:pt x="0" y="3483472"/>
                  <a:pt x="0" y="962844"/>
                </a:cubicBezTo>
                <a:cubicBezTo>
                  <a:pt x="0" y="733696"/>
                  <a:pt x="11610" y="507260"/>
                  <a:pt x="34274" y="28409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40666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6C5FA50-8D52-4617-AF91-5C7B1C8352F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3D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2A9D4C-FD4A-4978-8A6E-A30C3BCBBA60}"/>
              </a:ext>
            </a:extLst>
          </p:cNvPr>
          <p:cNvSpPr>
            <a:spLocks noGrp="1"/>
          </p:cNvSpPr>
          <p:nvPr>
            <p:ph type="title"/>
          </p:nvPr>
        </p:nvSpPr>
        <p:spPr>
          <a:xfrm>
            <a:off x="9093496" y="618681"/>
            <a:ext cx="2613872" cy="4794567"/>
          </a:xfrm>
        </p:spPr>
        <p:txBody>
          <a:bodyPr vert="horz" lIns="91440" tIns="45720" rIns="91440" bIns="45720" rtlCol="0" anchor="ctr">
            <a:normAutofit/>
          </a:bodyPr>
          <a:lstStyle/>
          <a:p>
            <a:r>
              <a:rPr lang="en-US" sz="3600">
                <a:solidFill>
                  <a:srgbClr val="FFFFFF"/>
                </a:solidFill>
              </a:rPr>
              <a:t>Relays</a:t>
            </a:r>
          </a:p>
        </p:txBody>
      </p:sp>
      <p:sp>
        <p:nvSpPr>
          <p:cNvPr id="73" name="Rounded Rectangle 9">
            <a:extLst>
              <a:ext uri="{FF2B5EF4-FFF2-40B4-BE49-F238E27FC236}">
                <a16:creationId xmlns:a16="http://schemas.microsoft.com/office/drawing/2014/main" id="{E223798C-12AD-4B0C-A50C-D676347D67C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result for relay">
            <a:extLst>
              <a:ext uri="{FF2B5EF4-FFF2-40B4-BE49-F238E27FC236}">
                <a16:creationId xmlns:a16="http://schemas.microsoft.com/office/drawing/2014/main" id="{2AC57B35-00E8-4642-8CCB-C2AE03F13B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84" r="-2" b="-2"/>
          <a:stretch/>
        </p:blipFill>
        <p:spPr bwMode="auto">
          <a:xfrm>
            <a:off x="976251" y="942538"/>
            <a:ext cx="7163222" cy="480833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9750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data.mactechnews.de/501426.jpg">
            <a:extLst>
              <a:ext uri="{FF2B5EF4-FFF2-40B4-BE49-F238E27FC236}">
                <a16:creationId xmlns:a16="http://schemas.microsoft.com/office/drawing/2014/main" id="{6EAF7D5B-0262-47DB-AAA8-D4C80F043367}"/>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21914" y="0"/>
            <a:ext cx="97948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77551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4" name="Picture 4" descr="Image result for howard aiken mark 1 computer">
            <a:extLst>
              <a:ext uri="{FF2B5EF4-FFF2-40B4-BE49-F238E27FC236}">
                <a16:creationId xmlns:a16="http://schemas.microsoft.com/office/drawing/2014/main" id="{43635567-64C6-4985-BC77-29AED476E3C7}"/>
              </a:ext>
            </a:extLst>
          </p:cNvPr>
          <p:cNvPicPr>
            <a:picLocks noChangeAspect="1" noChangeArrowheads="1"/>
          </p:cNvPicPr>
          <p:nvPr/>
        </p:nvPicPr>
        <p:blipFill rotWithShape="1">
          <a:blip r:embed="rId2">
            <a:duotone>
              <a:prstClr val="black"/>
              <a:schemeClr val="tx2">
                <a:tint val="45000"/>
                <a:satMod val="400000"/>
              </a:schemeClr>
            </a:duotone>
            <a:alphaModFix amt="35000"/>
            <a:extLst>
              <a:ext uri="{28A0092B-C50C-407E-A947-70E740481C1C}">
                <a14:useLocalDpi xmlns:a14="http://schemas.microsoft.com/office/drawing/2010/main" val="0"/>
              </a:ext>
            </a:extLst>
          </a:blip>
          <a:srcRect r="5356"/>
          <a:stretch/>
        </p:blipFill>
        <p:spPr bwMode="auto">
          <a:xfrm>
            <a:off x="-17" y="10"/>
            <a:ext cx="12188952"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4688F2E-A2B2-4DAF-B108-39F974923874}"/>
              </a:ext>
            </a:extLst>
          </p:cNvPr>
          <p:cNvSpPr>
            <a:spLocks noGrp="1"/>
          </p:cNvSpPr>
          <p:nvPr>
            <p:ph type="title"/>
          </p:nvPr>
        </p:nvSpPr>
        <p:spPr>
          <a:xfrm>
            <a:off x="6819789" y="4715043"/>
            <a:ext cx="5314536" cy="663972"/>
          </a:xfrm>
        </p:spPr>
        <p:txBody>
          <a:bodyPr>
            <a:normAutofit fontScale="90000"/>
          </a:bodyPr>
          <a:lstStyle/>
          <a:p>
            <a:r>
              <a:rPr lang="en-US" dirty="0"/>
              <a:t>At the same time…</a:t>
            </a:r>
          </a:p>
        </p:txBody>
      </p:sp>
      <p:sp>
        <p:nvSpPr>
          <p:cNvPr id="5128" name="Freeform: Shape 74">
            <a:extLst>
              <a:ext uri="{FF2B5EF4-FFF2-40B4-BE49-F238E27FC236}">
                <a16:creationId xmlns:a16="http://schemas.microsoft.com/office/drawing/2014/main" id="{CF62D2A7-8207-488C-9F46-316BA81A16C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122" name="Picture 2" descr="Image result for howard aiken">
            <a:extLst>
              <a:ext uri="{FF2B5EF4-FFF2-40B4-BE49-F238E27FC236}">
                <a16:creationId xmlns:a16="http://schemas.microsoft.com/office/drawing/2014/main" id="{594C79D7-0046-4F12-AF9B-7AD1A1203C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27" r="9374" b="-3"/>
          <a:stretch/>
        </p:blipFill>
        <p:spPr bwMode="auto">
          <a:xfrm>
            <a:off x="-2317" y="-2"/>
            <a:ext cx="5441859" cy="5654940"/>
          </a:xfrm>
          <a:custGeom>
            <a:avLst/>
            <a:gdLst>
              <a:gd name="connsiteX0" fmla="*/ 0 w 5067519"/>
              <a:gd name="connsiteY0" fmla="*/ 0 h 5265942"/>
              <a:gd name="connsiteX1" fmla="*/ 4097786 w 5067519"/>
              <a:gd name="connsiteY1" fmla="*/ 0 h 5265942"/>
              <a:gd name="connsiteX2" fmla="*/ 4176264 w 5067519"/>
              <a:gd name="connsiteY2" fmla="*/ 71326 h 5265942"/>
              <a:gd name="connsiteX3" fmla="*/ 5067519 w 5067519"/>
              <a:gd name="connsiteY3" fmla="*/ 2223006 h 5265942"/>
              <a:gd name="connsiteX4" fmla="*/ 2024583 w 5067519"/>
              <a:gd name="connsiteY4" fmla="*/ 5265942 h 5265942"/>
              <a:gd name="connsiteX5" fmla="*/ 145914 w 5067519"/>
              <a:gd name="connsiteY5" fmla="*/ 4616926 h 5265942"/>
              <a:gd name="connsiteX6" fmla="*/ 0 w 5067519"/>
              <a:gd name="connsiteY6" fmla="*/ 4489006 h 526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7519" h="5265942">
                <a:moveTo>
                  <a:pt x="0" y="0"/>
                </a:moveTo>
                <a:lnTo>
                  <a:pt x="4097786" y="0"/>
                </a:lnTo>
                <a:lnTo>
                  <a:pt x="4176264" y="71326"/>
                </a:lnTo>
                <a:cubicBezTo>
                  <a:pt x="4726927" y="621989"/>
                  <a:pt x="5067519" y="1382723"/>
                  <a:pt x="5067519" y="2223006"/>
                </a:cubicBezTo>
                <a:cubicBezTo>
                  <a:pt x="5067519" y="3903573"/>
                  <a:pt x="3705150" y="5265942"/>
                  <a:pt x="2024583" y="5265942"/>
                </a:cubicBezTo>
                <a:cubicBezTo>
                  <a:pt x="1315594" y="5265942"/>
                  <a:pt x="663237" y="5023470"/>
                  <a:pt x="145914" y="4616926"/>
                </a:cubicBezTo>
                <a:lnTo>
                  <a:pt x="0" y="4489006"/>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54165D7-E98D-443C-8BD3-37762B2A642D}"/>
              </a:ext>
            </a:extLst>
          </p:cNvPr>
          <p:cNvSpPr>
            <a:spLocks noGrp="1"/>
          </p:cNvSpPr>
          <p:nvPr>
            <p:ph idx="1"/>
          </p:nvPr>
        </p:nvSpPr>
        <p:spPr>
          <a:xfrm>
            <a:off x="6819789" y="5433149"/>
            <a:ext cx="5314543" cy="1398035"/>
          </a:xfrm>
        </p:spPr>
        <p:txBody>
          <a:bodyPr anchor="t">
            <a:normAutofit/>
          </a:bodyPr>
          <a:lstStyle/>
          <a:p>
            <a:pPr marL="0" indent="0">
              <a:buNone/>
            </a:pPr>
            <a:r>
              <a:rPr lang="en-US" sz="1800" dirty="0"/>
              <a:t>Howard Aiken, a physicist at Harvard, needed to solve differential equations quickly for his thesis. So he invented a machine to do so – the Mark I. IBM helped fund it and it was built in Endicott, NY! It was later moved to Harvard.</a:t>
            </a:r>
          </a:p>
        </p:txBody>
      </p:sp>
    </p:spTree>
    <p:extLst>
      <p:ext uri="{BB962C8B-B14F-4D97-AF65-F5344CB8AC3E}">
        <p14:creationId xmlns:p14="http://schemas.microsoft.com/office/powerpoint/2010/main" val="379288389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9FE9A-D509-454F-84C3-D7CCAECC85C1}"/>
              </a:ext>
            </a:extLst>
          </p:cNvPr>
          <p:cNvSpPr>
            <a:spLocks noGrp="1"/>
          </p:cNvSpPr>
          <p:nvPr>
            <p:ph type="title"/>
          </p:nvPr>
        </p:nvSpPr>
        <p:spPr/>
        <p:txBody>
          <a:bodyPr/>
          <a:lstStyle/>
          <a:p>
            <a:r>
              <a:rPr lang="en-US" dirty="0"/>
              <a:t>Both men were interrupted by World War 2</a:t>
            </a:r>
          </a:p>
        </p:txBody>
      </p:sp>
      <p:sp>
        <p:nvSpPr>
          <p:cNvPr id="3" name="Content Placeholder 2">
            <a:extLst>
              <a:ext uri="{FF2B5EF4-FFF2-40B4-BE49-F238E27FC236}">
                <a16:creationId xmlns:a16="http://schemas.microsoft.com/office/drawing/2014/main" id="{0F34EF13-BFA8-414A-9AE4-75411711F692}"/>
              </a:ext>
            </a:extLst>
          </p:cNvPr>
          <p:cNvSpPr>
            <a:spLocks noGrp="1"/>
          </p:cNvSpPr>
          <p:nvPr>
            <p:ph idx="1"/>
          </p:nvPr>
        </p:nvSpPr>
        <p:spPr/>
        <p:txBody>
          <a:bodyPr/>
          <a:lstStyle/>
          <a:p>
            <a:pPr marL="0" indent="0">
              <a:buNone/>
            </a:pPr>
            <a:r>
              <a:rPr lang="en-US" dirty="0"/>
              <a:t>Of course, during this time, Colossus was created by Alan Turing. If you haven’t seen The Imitation Game, it is a decent movie about Turing’s life.</a:t>
            </a:r>
          </a:p>
          <a:p>
            <a:pPr marL="0" indent="0">
              <a:buNone/>
            </a:pPr>
            <a:endParaRPr lang="en-US" dirty="0"/>
          </a:p>
          <a:p>
            <a:pPr marL="0" indent="0">
              <a:buNone/>
            </a:pPr>
            <a:r>
              <a:rPr lang="en-US" dirty="0"/>
              <a:t>After World War 2, the pace picked up!</a:t>
            </a:r>
          </a:p>
          <a:p>
            <a:pPr marL="0" indent="0">
              <a:buNone/>
            </a:pPr>
            <a:endParaRPr lang="en-US" dirty="0"/>
          </a:p>
        </p:txBody>
      </p:sp>
    </p:spTree>
    <p:extLst>
      <p:ext uri="{BB962C8B-B14F-4D97-AF65-F5344CB8AC3E}">
        <p14:creationId xmlns:p14="http://schemas.microsoft.com/office/powerpoint/2010/main" val="29514017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7A33-2909-42F7-99EB-944CE738680C}"/>
              </a:ext>
            </a:extLst>
          </p:cNvPr>
          <p:cNvSpPr>
            <a:spLocks noGrp="1"/>
          </p:cNvSpPr>
          <p:nvPr>
            <p:ph type="title"/>
          </p:nvPr>
        </p:nvSpPr>
        <p:spPr>
          <a:xfrm>
            <a:off x="801099" y="1396289"/>
            <a:ext cx="5006336" cy="1325563"/>
          </a:xfrm>
        </p:spPr>
        <p:txBody>
          <a:bodyPr>
            <a:normAutofit/>
          </a:bodyPr>
          <a:lstStyle/>
          <a:p>
            <a:r>
              <a:rPr lang="en-US" dirty="0"/>
              <a:t>Vacuum Tubes</a:t>
            </a:r>
          </a:p>
        </p:txBody>
      </p:sp>
      <p:sp>
        <p:nvSpPr>
          <p:cNvPr id="3" name="Content Placeholder 2">
            <a:extLst>
              <a:ext uri="{FF2B5EF4-FFF2-40B4-BE49-F238E27FC236}">
                <a16:creationId xmlns:a16="http://schemas.microsoft.com/office/drawing/2014/main" id="{89BFD9A1-A9B5-4097-B1B6-B371E26F5F4E}"/>
              </a:ext>
            </a:extLst>
          </p:cNvPr>
          <p:cNvSpPr>
            <a:spLocks noGrp="1"/>
          </p:cNvSpPr>
          <p:nvPr>
            <p:ph idx="1"/>
          </p:nvPr>
        </p:nvSpPr>
        <p:spPr>
          <a:xfrm>
            <a:off x="805543" y="2871982"/>
            <a:ext cx="5006336" cy="3181684"/>
          </a:xfrm>
        </p:spPr>
        <p:txBody>
          <a:bodyPr anchor="t">
            <a:normAutofit/>
          </a:bodyPr>
          <a:lstStyle/>
          <a:p>
            <a:pPr marL="0" indent="0">
              <a:buNone/>
            </a:pPr>
            <a:r>
              <a:rPr lang="en-US" sz="2400" dirty="0"/>
              <a:t>Simple switches which used the thermionic effect (heated metal radiating ions) to create a switch. Because these were not mechanical (had no moving parts) they were faster and failed less frequently than relays. The famous  ENIAC used them. They still failed, though, and the search for a better solution was ongoing…</a:t>
            </a:r>
          </a:p>
        </p:txBody>
      </p:sp>
      <p:sp>
        <p:nvSpPr>
          <p:cNvPr id="71" name="Freeform: Shape 70">
            <a:extLst>
              <a:ext uri="{FF2B5EF4-FFF2-40B4-BE49-F238E27FC236}">
                <a16:creationId xmlns:a16="http://schemas.microsoft.com/office/drawing/2014/main" id="{4F74D28C-3268-4E35-8EE1-D92CB4A85A7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19218"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146" name="Picture 2" descr="https://upload.wikimedia.org/wikipedia/commons/thumb/b/b4/Audion_tube.jpg/800px-Audion_tube.jpg">
            <a:extLst>
              <a:ext uri="{FF2B5EF4-FFF2-40B4-BE49-F238E27FC236}">
                <a16:creationId xmlns:a16="http://schemas.microsoft.com/office/drawing/2014/main" id="{674D823E-4411-4719-9276-8D3DD3ECBA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743" r="-1" b="20197"/>
          <a:stretch/>
        </p:blipFill>
        <p:spPr bwMode="auto">
          <a:xfrm>
            <a:off x="6167846" y="10"/>
            <a:ext cx="6024154" cy="6857990"/>
          </a:xfrm>
          <a:custGeom>
            <a:avLst/>
            <a:gdLst>
              <a:gd name="connsiteX0" fmla="*/ 70374 w 6024154"/>
              <a:gd name="connsiteY0" fmla="*/ 0 h 6858000"/>
              <a:gd name="connsiteX1" fmla="*/ 6024154 w 6024154"/>
              <a:gd name="connsiteY1" fmla="*/ 0 h 6858000"/>
              <a:gd name="connsiteX2" fmla="*/ 6024154 w 6024154"/>
              <a:gd name="connsiteY2" fmla="*/ 6858000 h 6858000"/>
              <a:gd name="connsiteX3" fmla="*/ 3587167 w 6024154"/>
              <a:gd name="connsiteY3" fmla="*/ 6858000 h 6858000"/>
              <a:gd name="connsiteX4" fmla="*/ 3474220 w 6024154"/>
              <a:gd name="connsiteY4" fmla="*/ 6800152 h 6858000"/>
              <a:gd name="connsiteX5" fmla="*/ 0 w 6024154"/>
              <a:gd name="connsiteY5" fmla="*/ 962844 h 6858000"/>
              <a:gd name="connsiteX6" fmla="*/ 34274 w 6024154"/>
              <a:gd name="connsiteY6" fmla="*/ 2840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70374" y="0"/>
                </a:moveTo>
                <a:lnTo>
                  <a:pt x="6024154" y="0"/>
                </a:lnTo>
                <a:lnTo>
                  <a:pt x="6024154" y="6858000"/>
                </a:lnTo>
                <a:lnTo>
                  <a:pt x="3587167" y="6858000"/>
                </a:lnTo>
                <a:lnTo>
                  <a:pt x="3474220" y="6800152"/>
                </a:lnTo>
                <a:cubicBezTo>
                  <a:pt x="1404818" y="5675986"/>
                  <a:pt x="0" y="3483472"/>
                  <a:pt x="0" y="962844"/>
                </a:cubicBezTo>
                <a:cubicBezTo>
                  <a:pt x="0" y="733696"/>
                  <a:pt x="11610" y="507260"/>
                  <a:pt x="34274" y="28409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34893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B6B0E-2D3D-4013-8CFA-C041E1A94708}"/>
              </a:ext>
            </a:extLst>
          </p:cNvPr>
          <p:cNvSpPr>
            <a:spLocks noGrp="1"/>
          </p:cNvSpPr>
          <p:nvPr>
            <p:ph type="title"/>
          </p:nvPr>
        </p:nvSpPr>
        <p:spPr>
          <a:xfrm>
            <a:off x="801098" y="1396289"/>
            <a:ext cx="6387102" cy="1325563"/>
          </a:xfrm>
        </p:spPr>
        <p:txBody>
          <a:bodyPr>
            <a:normAutofit/>
          </a:bodyPr>
          <a:lstStyle/>
          <a:p>
            <a:r>
              <a:rPr lang="en-US" dirty="0"/>
              <a:t>The Transistor!</a:t>
            </a:r>
          </a:p>
        </p:txBody>
      </p:sp>
      <p:sp>
        <p:nvSpPr>
          <p:cNvPr id="3" name="Content Placeholder 2">
            <a:extLst>
              <a:ext uri="{FF2B5EF4-FFF2-40B4-BE49-F238E27FC236}">
                <a16:creationId xmlns:a16="http://schemas.microsoft.com/office/drawing/2014/main" id="{C1E5C87C-F1CE-4768-8094-C142DA51135F}"/>
              </a:ext>
            </a:extLst>
          </p:cNvPr>
          <p:cNvSpPr>
            <a:spLocks noGrp="1"/>
          </p:cNvSpPr>
          <p:nvPr>
            <p:ph idx="1"/>
          </p:nvPr>
        </p:nvSpPr>
        <p:spPr>
          <a:xfrm>
            <a:off x="805542" y="2871982"/>
            <a:ext cx="6382657" cy="3181684"/>
          </a:xfrm>
        </p:spPr>
        <p:txBody>
          <a:bodyPr anchor="t">
            <a:normAutofit/>
          </a:bodyPr>
          <a:lstStyle/>
          <a:p>
            <a:pPr marL="0" indent="0">
              <a:buNone/>
            </a:pPr>
            <a:r>
              <a:rPr lang="en-US" sz="1800" dirty="0"/>
              <a:t>Tubes switched slowly and had to warm up before they worked.</a:t>
            </a:r>
          </a:p>
          <a:p>
            <a:pPr marL="0" indent="0">
              <a:buNone/>
            </a:pPr>
            <a:r>
              <a:rPr lang="en-US" sz="1800" dirty="0"/>
              <a:t>Developed at Bell Labs, but others were working on it at the same time (Late 1947/Early 1948)</a:t>
            </a:r>
          </a:p>
          <a:p>
            <a:pPr marL="0" indent="0">
              <a:buNone/>
            </a:pPr>
            <a:endParaRPr lang="en-US" sz="1800" dirty="0"/>
          </a:p>
          <a:p>
            <a:pPr marL="0" indent="0">
              <a:buNone/>
            </a:pPr>
            <a:r>
              <a:rPr lang="en-US" sz="1800" dirty="0"/>
              <a:t>Improvements in transistors continued through the 1950’s and 1960’s; IBM built the 7070 (1958) and 7090 </a:t>
            </a:r>
            <a:r>
              <a:rPr lang="en-US" sz="1800"/>
              <a:t>(</a:t>
            </a:r>
            <a:r>
              <a:rPr lang="en-US" sz="1800" smtClean="0"/>
              <a:t>1960</a:t>
            </a:r>
            <a:r>
              <a:rPr lang="en-US" sz="1800" dirty="0"/>
              <a:t>) computers with transistors.</a:t>
            </a:r>
          </a:p>
          <a:p>
            <a:pPr marL="0" indent="0">
              <a:buNone/>
            </a:pPr>
            <a:endParaRPr lang="en-US" sz="1800" dirty="0"/>
          </a:p>
        </p:txBody>
      </p:sp>
      <p:sp>
        <p:nvSpPr>
          <p:cNvPr id="76" name="Freeform: Shape 75">
            <a:extLst>
              <a:ext uri="{FF2B5EF4-FFF2-40B4-BE49-F238E27FC236}">
                <a16:creationId xmlns:a16="http://schemas.microsoft.com/office/drawing/2014/main" id="{2C6A2225-94AF-4BC4-98F4-77746E7B10A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5108" y="1"/>
            <a:ext cx="4666892" cy="3612937"/>
          </a:xfrm>
          <a:custGeom>
            <a:avLst/>
            <a:gdLst>
              <a:gd name="connsiteX0" fmla="*/ 192227 w 4666892"/>
              <a:gd name="connsiteY0" fmla="*/ 0 h 3612937"/>
              <a:gd name="connsiteX1" fmla="*/ 4666892 w 4666892"/>
              <a:gd name="connsiteY1" fmla="*/ 0 h 3612937"/>
              <a:gd name="connsiteX2" fmla="*/ 4666892 w 4666892"/>
              <a:gd name="connsiteY2" fmla="*/ 2643684 h 3612937"/>
              <a:gd name="connsiteX3" fmla="*/ 4657487 w 4666892"/>
              <a:gd name="connsiteY3" fmla="*/ 2656262 h 3612937"/>
              <a:gd name="connsiteX4" fmla="*/ 2628900 w 4666892"/>
              <a:gd name="connsiteY4" fmla="*/ 3612937 h 3612937"/>
              <a:gd name="connsiteX5" fmla="*/ 0 w 4666892"/>
              <a:gd name="connsiteY5" fmla="*/ 984037 h 3612937"/>
              <a:gd name="connsiteX6" fmla="*/ 118190 w 4666892"/>
              <a:gd name="connsiteY6" fmla="*/ 202283 h 361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6892" h="3612937">
                <a:moveTo>
                  <a:pt x="192227" y="0"/>
                </a:moveTo>
                <a:lnTo>
                  <a:pt x="4666892" y="0"/>
                </a:lnTo>
                <a:lnTo>
                  <a:pt x="4666892" y="2643684"/>
                </a:lnTo>
                <a:lnTo>
                  <a:pt x="4657487" y="2656262"/>
                </a:lnTo>
                <a:cubicBezTo>
                  <a:pt x="4175308" y="3240527"/>
                  <a:pt x="3445594" y="3612937"/>
                  <a:pt x="2628900" y="3612937"/>
                </a:cubicBezTo>
                <a:cubicBezTo>
                  <a:pt x="1176999" y="3612937"/>
                  <a:pt x="0" y="2435938"/>
                  <a:pt x="0" y="984037"/>
                </a:cubicBezTo>
                <a:cubicBezTo>
                  <a:pt x="0" y="711806"/>
                  <a:pt x="41379" y="449239"/>
                  <a:pt x="118190" y="2022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172" name="Picture 4" descr="https://upload.wikimedia.org/wikipedia/commons/b/bf/Replica-of-first-transistor.jpg">
            <a:extLst>
              <a:ext uri="{FF2B5EF4-FFF2-40B4-BE49-F238E27FC236}">
                <a16:creationId xmlns:a16="http://schemas.microsoft.com/office/drawing/2014/main" id="{57436C63-10AD-4CDA-AADB-DE1209387E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425" r="-4" b="-4"/>
          <a:stretch/>
        </p:blipFill>
        <p:spPr bwMode="auto">
          <a:xfrm>
            <a:off x="7689829" y="10"/>
            <a:ext cx="4502173" cy="3448209"/>
          </a:xfrm>
          <a:custGeom>
            <a:avLst/>
            <a:gdLst>
              <a:gd name="connsiteX0" fmla="*/ 205627 w 4502173"/>
              <a:gd name="connsiteY0" fmla="*/ 0 h 3448219"/>
              <a:gd name="connsiteX1" fmla="*/ 4502173 w 4502173"/>
              <a:gd name="connsiteY1" fmla="*/ 0 h 3448219"/>
              <a:gd name="connsiteX2" fmla="*/ 4502173 w 4502173"/>
              <a:gd name="connsiteY2" fmla="*/ 2368934 h 3448219"/>
              <a:gd name="connsiteX3" fmla="*/ 4365663 w 4502173"/>
              <a:gd name="connsiteY3" fmla="*/ 2551486 h 3448219"/>
              <a:gd name="connsiteX4" fmla="*/ 2464181 w 4502173"/>
              <a:gd name="connsiteY4" fmla="*/ 3448219 h 3448219"/>
              <a:gd name="connsiteX5" fmla="*/ 0 w 4502173"/>
              <a:gd name="connsiteY5" fmla="*/ 984038 h 3448219"/>
              <a:gd name="connsiteX6" fmla="*/ 193648 w 4502173"/>
              <a:gd name="connsiteY6" fmla="*/ 24867 h 3448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73" h="3448219">
                <a:moveTo>
                  <a:pt x="205627" y="0"/>
                </a:moveTo>
                <a:lnTo>
                  <a:pt x="4502173" y="0"/>
                </a:lnTo>
                <a:lnTo>
                  <a:pt x="4502173" y="2368934"/>
                </a:lnTo>
                <a:lnTo>
                  <a:pt x="4365663" y="2551486"/>
                </a:lnTo>
                <a:cubicBezTo>
                  <a:pt x="3913696" y="3099144"/>
                  <a:pt x="3229704" y="3448219"/>
                  <a:pt x="2464181" y="3448219"/>
                </a:cubicBezTo>
                <a:cubicBezTo>
                  <a:pt x="1103251" y="3448219"/>
                  <a:pt x="0" y="2344968"/>
                  <a:pt x="0" y="984038"/>
                </a:cubicBezTo>
                <a:cubicBezTo>
                  <a:pt x="0" y="643806"/>
                  <a:pt x="68954" y="319678"/>
                  <a:pt x="193648" y="24867"/>
                </a:cubicBezTo>
                <a:close/>
              </a:path>
            </a:pathLst>
          </a:custGeom>
          <a:noFill/>
          <a:extLst>
            <a:ext uri="{909E8E84-426E-40DD-AFC4-6F175D3DCCD1}">
              <a14:hiddenFill xmlns:a14="http://schemas.microsoft.com/office/drawing/2010/main">
                <a:solidFill>
                  <a:srgbClr val="FFFFFF"/>
                </a:solidFill>
              </a14:hiddenFill>
            </a:ext>
          </a:extLst>
        </p:spPr>
      </p:pic>
      <p:sp>
        <p:nvSpPr>
          <p:cNvPr id="77" name="Freeform: Shape 76">
            <a:extLst>
              <a:ext uri="{FF2B5EF4-FFF2-40B4-BE49-F238E27FC236}">
                <a16:creationId xmlns:a16="http://schemas.microsoft.com/office/drawing/2014/main" id="{648F5915-2CE1-4F74-88C5-D4366893D2D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4737" y="3918051"/>
            <a:ext cx="3587263" cy="2939948"/>
          </a:xfrm>
          <a:custGeom>
            <a:avLst/>
            <a:gdLst>
              <a:gd name="connsiteX0" fmla="*/ 2070613 w 3587263"/>
              <a:gd name="connsiteY0" fmla="*/ 0 h 2939948"/>
              <a:gd name="connsiteX1" fmla="*/ 3534758 w 3587263"/>
              <a:gd name="connsiteY1" fmla="*/ 606469 h 2939948"/>
              <a:gd name="connsiteX2" fmla="*/ 3587263 w 3587263"/>
              <a:gd name="connsiteY2" fmla="*/ 664240 h 2939948"/>
              <a:gd name="connsiteX3" fmla="*/ 3587263 w 3587263"/>
              <a:gd name="connsiteY3" fmla="*/ 2939948 h 2939948"/>
              <a:gd name="connsiteX4" fmla="*/ 193241 w 3587263"/>
              <a:gd name="connsiteY4" fmla="*/ 2939948 h 2939948"/>
              <a:gd name="connsiteX5" fmla="*/ 162719 w 3587263"/>
              <a:gd name="connsiteY5" fmla="*/ 2876589 h 2939948"/>
              <a:gd name="connsiteX6" fmla="*/ 0 w 3587263"/>
              <a:gd name="connsiteY6" fmla="*/ 2070613 h 2939948"/>
              <a:gd name="connsiteX7" fmla="*/ 2070613 w 3587263"/>
              <a:gd name="connsiteY7" fmla="*/ 0 h 2939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7263" h="2939948">
                <a:moveTo>
                  <a:pt x="2070613" y="0"/>
                </a:moveTo>
                <a:cubicBezTo>
                  <a:pt x="2642397" y="0"/>
                  <a:pt x="3160050" y="231761"/>
                  <a:pt x="3534758" y="606469"/>
                </a:cubicBezTo>
                <a:lnTo>
                  <a:pt x="3587263" y="664240"/>
                </a:lnTo>
                <a:lnTo>
                  <a:pt x="3587263" y="2939948"/>
                </a:lnTo>
                <a:lnTo>
                  <a:pt x="193241" y="2939948"/>
                </a:lnTo>
                <a:lnTo>
                  <a:pt x="162719" y="2876589"/>
                </a:lnTo>
                <a:cubicBezTo>
                  <a:pt x="57940" y="2628865"/>
                  <a:pt x="0" y="2356505"/>
                  <a:pt x="0" y="2070613"/>
                </a:cubicBezTo>
                <a:cubicBezTo>
                  <a:pt x="0" y="927045"/>
                  <a:pt x="927045" y="0"/>
                  <a:pt x="2070613"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170" name="Picture 2" descr="https://upload.wikimedia.org/wikipedia/commons/c/c2/Bardeen_Shockley_Brattain_1948.JPG">
            <a:extLst>
              <a:ext uri="{FF2B5EF4-FFF2-40B4-BE49-F238E27FC236}">
                <a16:creationId xmlns:a16="http://schemas.microsoft.com/office/drawing/2014/main" id="{9CDCB7B7-F3A0-4A37-B104-B21E4444FC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52" r="408" b="-1"/>
          <a:stretch/>
        </p:blipFill>
        <p:spPr bwMode="auto">
          <a:xfrm>
            <a:off x="8768827" y="4082141"/>
            <a:ext cx="3423175" cy="2775859"/>
          </a:xfrm>
          <a:custGeom>
            <a:avLst/>
            <a:gdLst>
              <a:gd name="connsiteX0" fmla="*/ 1906524 w 3423175"/>
              <a:gd name="connsiteY0" fmla="*/ 0 h 2775859"/>
              <a:gd name="connsiteX1" fmla="*/ 3377691 w 3423175"/>
              <a:gd name="connsiteY1" fmla="*/ 693798 h 2775859"/>
              <a:gd name="connsiteX2" fmla="*/ 3423175 w 3423175"/>
              <a:gd name="connsiteY2" fmla="*/ 754624 h 2775859"/>
              <a:gd name="connsiteX3" fmla="*/ 3423175 w 3423175"/>
              <a:gd name="connsiteY3" fmla="*/ 2775859 h 2775859"/>
              <a:gd name="connsiteX4" fmla="*/ 211114 w 3423175"/>
              <a:gd name="connsiteY4" fmla="*/ 2775859 h 2775859"/>
              <a:gd name="connsiteX5" fmla="*/ 149824 w 3423175"/>
              <a:gd name="connsiteY5" fmla="*/ 2648629 h 2775859"/>
              <a:gd name="connsiteX6" fmla="*/ 0 w 3423175"/>
              <a:gd name="connsiteY6" fmla="*/ 1906524 h 2775859"/>
              <a:gd name="connsiteX7" fmla="*/ 1906524 w 3423175"/>
              <a:gd name="connsiteY7" fmla="*/ 0 h 277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3175" h="2775859">
                <a:moveTo>
                  <a:pt x="1906524" y="0"/>
                </a:moveTo>
                <a:cubicBezTo>
                  <a:pt x="2498805" y="0"/>
                  <a:pt x="3028006" y="270078"/>
                  <a:pt x="3377691" y="693798"/>
                </a:cubicBezTo>
                <a:lnTo>
                  <a:pt x="3423175" y="754624"/>
                </a:lnTo>
                <a:lnTo>
                  <a:pt x="3423175" y="2775859"/>
                </a:lnTo>
                <a:lnTo>
                  <a:pt x="211114" y="2775859"/>
                </a:lnTo>
                <a:lnTo>
                  <a:pt x="149824" y="2648629"/>
                </a:lnTo>
                <a:cubicBezTo>
                  <a:pt x="53349" y="2420536"/>
                  <a:pt x="0" y="2169760"/>
                  <a:pt x="0" y="1906524"/>
                </a:cubicBezTo>
                <a:cubicBezTo>
                  <a:pt x="0" y="853580"/>
                  <a:pt x="853580" y="0"/>
                  <a:pt x="1906524"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99581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F9BD8-2723-44C7-AAB5-17081D7F978F}"/>
              </a:ext>
            </a:extLst>
          </p:cNvPr>
          <p:cNvSpPr>
            <a:spLocks noGrp="1"/>
          </p:cNvSpPr>
          <p:nvPr>
            <p:ph type="title"/>
          </p:nvPr>
        </p:nvSpPr>
        <p:spPr>
          <a:xfrm>
            <a:off x="801098" y="1396289"/>
            <a:ext cx="5277333" cy="1325563"/>
          </a:xfrm>
        </p:spPr>
        <p:txBody>
          <a:bodyPr>
            <a:normAutofit/>
          </a:bodyPr>
          <a:lstStyle/>
          <a:p>
            <a:r>
              <a:rPr lang="en-US" dirty="0"/>
              <a:t>Integrated Circuits</a:t>
            </a:r>
          </a:p>
        </p:txBody>
      </p:sp>
      <p:sp>
        <p:nvSpPr>
          <p:cNvPr id="3" name="Content Placeholder 2">
            <a:extLst>
              <a:ext uri="{FF2B5EF4-FFF2-40B4-BE49-F238E27FC236}">
                <a16:creationId xmlns:a16="http://schemas.microsoft.com/office/drawing/2014/main" id="{D74FE9FE-759B-4996-8EA6-B8AE2AB66CB8}"/>
              </a:ext>
            </a:extLst>
          </p:cNvPr>
          <p:cNvSpPr>
            <a:spLocks noGrp="1"/>
          </p:cNvSpPr>
          <p:nvPr>
            <p:ph idx="1"/>
          </p:nvPr>
        </p:nvSpPr>
        <p:spPr>
          <a:xfrm>
            <a:off x="805543" y="2871982"/>
            <a:ext cx="5272888" cy="3181684"/>
          </a:xfrm>
        </p:spPr>
        <p:txBody>
          <a:bodyPr anchor="t">
            <a:normAutofit/>
          </a:bodyPr>
          <a:lstStyle/>
          <a:p>
            <a:pPr marL="0" indent="0">
              <a:buNone/>
            </a:pPr>
            <a:r>
              <a:rPr lang="en-US" sz="2400" dirty="0"/>
              <a:t>A transistor is tiny, compared to a tube, but is still too big and requires a lot of work to assemble into a useful device. The IC integrates transistors into a single, integrated package. It was invented by Jack Kilby at Texas Instruments although many others were trying at the same time.</a:t>
            </a:r>
          </a:p>
        </p:txBody>
      </p:sp>
      <p:sp>
        <p:nvSpPr>
          <p:cNvPr id="71" name="Freeform 49">
            <a:extLst>
              <a:ext uri="{FF2B5EF4-FFF2-40B4-BE49-F238E27FC236}">
                <a16:creationId xmlns:a16="http://schemas.microsoft.com/office/drawing/2014/main" id="{EF9B8DF2-C3F5-49A2-94D2-F7B65A0F1F1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4" y="581159"/>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alpha val="8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194" name="Picture 2" descr="Image result for jack kilby integrated circuit">
            <a:extLst>
              <a:ext uri="{FF2B5EF4-FFF2-40B4-BE49-F238E27FC236}">
                <a16:creationId xmlns:a16="http://schemas.microsoft.com/office/drawing/2014/main" id="{534216C5-6474-4262-A892-9FDAFD9DD0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702" r="8955" b="2"/>
          <a:stretch/>
        </p:blipFill>
        <p:spPr bwMode="auto">
          <a:xfrm>
            <a:off x="6893317" y="760562"/>
            <a:ext cx="5298683" cy="6097438"/>
          </a:xfrm>
          <a:custGeom>
            <a:avLst/>
            <a:gdLst>
              <a:gd name="connsiteX0" fmla="*/ 3120528 w 5298683"/>
              <a:gd name="connsiteY0" fmla="*/ 0 h 6097438"/>
              <a:gd name="connsiteX1" fmla="*/ 5105473 w 5298683"/>
              <a:gd name="connsiteY1" fmla="*/ 712577 h 6097438"/>
              <a:gd name="connsiteX2" fmla="*/ 5298683 w 5298683"/>
              <a:gd name="connsiteY2" fmla="*/ 888178 h 6097438"/>
              <a:gd name="connsiteX3" fmla="*/ 5298683 w 5298683"/>
              <a:gd name="connsiteY3" fmla="*/ 5352876 h 6097438"/>
              <a:gd name="connsiteX4" fmla="*/ 5105473 w 5298683"/>
              <a:gd name="connsiteY4" fmla="*/ 5528477 h 6097438"/>
              <a:gd name="connsiteX5" fmla="*/ 4335177 w 5298683"/>
              <a:gd name="connsiteY5" fmla="*/ 5995828 h 6097438"/>
              <a:gd name="connsiteX6" fmla="*/ 4057556 w 5298683"/>
              <a:gd name="connsiteY6" fmla="*/ 6097438 h 6097438"/>
              <a:gd name="connsiteX7" fmla="*/ 2183499 w 5298683"/>
              <a:gd name="connsiteY7" fmla="*/ 6097438 h 6097438"/>
              <a:gd name="connsiteX8" fmla="*/ 1905878 w 5298683"/>
              <a:gd name="connsiteY8" fmla="*/ 5995828 h 6097438"/>
              <a:gd name="connsiteX9" fmla="*/ 0 w 5298683"/>
              <a:gd name="connsiteY9" fmla="*/ 3120527 h 6097438"/>
              <a:gd name="connsiteX10" fmla="*/ 3120528 w 5298683"/>
              <a:gd name="connsiteY10" fmla="*/ 0 h 609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58089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1AC74-49D1-44C0-9E14-FAF8B4C7F48B}"/>
              </a:ext>
            </a:extLst>
          </p:cNvPr>
          <p:cNvSpPr>
            <a:spLocks noGrp="1"/>
          </p:cNvSpPr>
          <p:nvPr>
            <p:ph type="title"/>
          </p:nvPr>
        </p:nvSpPr>
        <p:spPr/>
        <p:txBody>
          <a:bodyPr/>
          <a:lstStyle/>
          <a:p>
            <a:r>
              <a:rPr lang="en-US" dirty="0"/>
              <a:t>The First Processor</a:t>
            </a:r>
          </a:p>
        </p:txBody>
      </p:sp>
      <p:sp>
        <p:nvSpPr>
          <p:cNvPr id="3" name="Content Placeholder 2">
            <a:extLst>
              <a:ext uri="{FF2B5EF4-FFF2-40B4-BE49-F238E27FC236}">
                <a16:creationId xmlns:a16="http://schemas.microsoft.com/office/drawing/2014/main" id="{017842DE-E47D-4F36-BEFC-382F4C7E9BD8}"/>
              </a:ext>
            </a:extLst>
          </p:cNvPr>
          <p:cNvSpPr>
            <a:spLocks noGrp="1"/>
          </p:cNvSpPr>
          <p:nvPr>
            <p:ph idx="1"/>
          </p:nvPr>
        </p:nvSpPr>
        <p:spPr/>
        <p:txBody>
          <a:bodyPr/>
          <a:lstStyle/>
          <a:p>
            <a:pPr marL="0" indent="0">
              <a:buNone/>
            </a:pPr>
            <a:r>
              <a:rPr lang="en-US" dirty="0"/>
              <a:t>While there were a few other chips that were contemporaneous, the first commercially available processor was the Intel 4004. It ran at 740 </a:t>
            </a:r>
            <a:r>
              <a:rPr lang="en-US" dirty="0" err="1"/>
              <a:t>khz</a:t>
            </a:r>
            <a:r>
              <a:rPr lang="en-US" dirty="0"/>
              <a:t>, was comprised of 2,300 transistors and had 12 address pins (640 bytes of addressable RAM and 4,096 bytes of ROM). </a:t>
            </a:r>
          </a:p>
          <a:p>
            <a:pPr marL="0" indent="0">
              <a:buNone/>
            </a:pPr>
            <a:endParaRPr lang="en-US" dirty="0"/>
          </a:p>
          <a:p>
            <a:pPr marL="0" indent="0">
              <a:buNone/>
            </a:pPr>
            <a:r>
              <a:rPr lang="en-US" dirty="0"/>
              <a:t>It was followed by the 8008, then the 8080, then the 8086, then the 80286, 80386, 80486, Pentium, </a:t>
            </a:r>
            <a:r>
              <a:rPr lang="en-US" dirty="0" err="1"/>
              <a:t>etc</a:t>
            </a:r>
            <a:r>
              <a:rPr lang="en-US" dirty="0"/>
              <a:t>…</a:t>
            </a:r>
          </a:p>
        </p:txBody>
      </p:sp>
    </p:spTree>
    <p:extLst>
      <p:ext uri="{BB962C8B-B14F-4D97-AF65-F5344CB8AC3E}">
        <p14:creationId xmlns:p14="http://schemas.microsoft.com/office/powerpoint/2010/main" val="16328838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F2CC8-4FA7-441C-BC85-DEA5CC20CAA8}"/>
              </a:ext>
            </a:extLst>
          </p:cNvPr>
          <p:cNvSpPr>
            <a:spLocks noGrp="1"/>
          </p:cNvSpPr>
          <p:nvPr>
            <p:ph type="title"/>
          </p:nvPr>
        </p:nvSpPr>
        <p:spPr/>
        <p:txBody>
          <a:bodyPr/>
          <a:lstStyle/>
          <a:p>
            <a:r>
              <a:rPr lang="en-US" dirty="0"/>
              <a:t>Enough history… More review…</a:t>
            </a:r>
          </a:p>
        </p:txBody>
      </p:sp>
      <p:sp>
        <p:nvSpPr>
          <p:cNvPr id="3" name="Content Placeholder 2">
            <a:extLst>
              <a:ext uri="{FF2B5EF4-FFF2-40B4-BE49-F238E27FC236}">
                <a16:creationId xmlns:a16="http://schemas.microsoft.com/office/drawing/2014/main" id="{B026EBC0-2A2A-42BB-BB4D-AA481C22748C}"/>
              </a:ext>
            </a:extLst>
          </p:cNvPr>
          <p:cNvSpPr>
            <a:spLocks noGrp="1"/>
          </p:cNvSpPr>
          <p:nvPr>
            <p:ph idx="1"/>
          </p:nvPr>
        </p:nvSpPr>
        <p:spPr/>
        <p:txBody>
          <a:bodyPr/>
          <a:lstStyle/>
          <a:p>
            <a:pPr marL="0" indent="0">
              <a:buNone/>
            </a:pPr>
            <a:r>
              <a:rPr lang="en-US" dirty="0"/>
              <a:t>If we have a Boolean function that takes two parameters: z = f(</a:t>
            </a:r>
            <a:r>
              <a:rPr lang="en-US" dirty="0" err="1"/>
              <a:t>x,y</a:t>
            </a:r>
            <a:r>
              <a:rPr lang="en-US" dirty="0"/>
              <a:t>)</a:t>
            </a:r>
          </a:p>
          <a:p>
            <a:pPr marL="0" indent="0">
              <a:buNone/>
            </a:pPr>
            <a:r>
              <a:rPr lang="en-US" dirty="0"/>
              <a:t>How many different functions are possible in this form?</a:t>
            </a:r>
          </a:p>
        </p:txBody>
      </p:sp>
    </p:spTree>
    <p:extLst>
      <p:ext uri="{BB962C8B-B14F-4D97-AF65-F5344CB8AC3E}">
        <p14:creationId xmlns:p14="http://schemas.microsoft.com/office/powerpoint/2010/main" val="27327292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7AB7F32-7F82-4A72-969E-C7963E11FB79}"/>
              </a:ext>
            </a:extLst>
          </p:cNvPr>
          <p:cNvGraphicFramePr>
            <a:graphicFrameLocks noGrp="1"/>
          </p:cNvGraphicFramePr>
          <p:nvPr>
            <p:extLst>
              <p:ext uri="{D42A27DB-BD31-4B8C-83A1-F6EECF244321}">
                <p14:modId xmlns:p14="http://schemas.microsoft.com/office/powerpoint/2010/main" val="3350400537"/>
              </p:ext>
            </p:extLst>
          </p:nvPr>
        </p:nvGraphicFramePr>
        <p:xfrm>
          <a:off x="1990810" y="250109"/>
          <a:ext cx="7389090" cy="1854200"/>
        </p:xfrm>
        <a:graphic>
          <a:graphicData uri="http://schemas.openxmlformats.org/drawingml/2006/table">
            <a:tbl>
              <a:tblPr firstRow="1" bandRow="1">
                <a:tableStyleId>{5940675A-B579-460E-94D1-54222C63F5DA}</a:tableStyleId>
              </a:tblPr>
              <a:tblGrid>
                <a:gridCol w="738909">
                  <a:extLst>
                    <a:ext uri="{9D8B030D-6E8A-4147-A177-3AD203B41FA5}">
                      <a16:colId xmlns:a16="http://schemas.microsoft.com/office/drawing/2014/main" val="1598488362"/>
                    </a:ext>
                  </a:extLst>
                </a:gridCol>
                <a:gridCol w="738909">
                  <a:extLst>
                    <a:ext uri="{9D8B030D-6E8A-4147-A177-3AD203B41FA5}">
                      <a16:colId xmlns:a16="http://schemas.microsoft.com/office/drawing/2014/main" val="2604930034"/>
                    </a:ext>
                  </a:extLst>
                </a:gridCol>
                <a:gridCol w="738909">
                  <a:extLst>
                    <a:ext uri="{9D8B030D-6E8A-4147-A177-3AD203B41FA5}">
                      <a16:colId xmlns:a16="http://schemas.microsoft.com/office/drawing/2014/main" val="2305209078"/>
                    </a:ext>
                  </a:extLst>
                </a:gridCol>
                <a:gridCol w="738909">
                  <a:extLst>
                    <a:ext uri="{9D8B030D-6E8A-4147-A177-3AD203B41FA5}">
                      <a16:colId xmlns:a16="http://schemas.microsoft.com/office/drawing/2014/main" val="3767606530"/>
                    </a:ext>
                  </a:extLst>
                </a:gridCol>
                <a:gridCol w="738909">
                  <a:extLst>
                    <a:ext uri="{9D8B030D-6E8A-4147-A177-3AD203B41FA5}">
                      <a16:colId xmlns:a16="http://schemas.microsoft.com/office/drawing/2014/main" val="975994604"/>
                    </a:ext>
                  </a:extLst>
                </a:gridCol>
                <a:gridCol w="738909">
                  <a:extLst>
                    <a:ext uri="{9D8B030D-6E8A-4147-A177-3AD203B41FA5}">
                      <a16:colId xmlns:a16="http://schemas.microsoft.com/office/drawing/2014/main" val="4105325996"/>
                    </a:ext>
                  </a:extLst>
                </a:gridCol>
                <a:gridCol w="738909">
                  <a:extLst>
                    <a:ext uri="{9D8B030D-6E8A-4147-A177-3AD203B41FA5}">
                      <a16:colId xmlns:a16="http://schemas.microsoft.com/office/drawing/2014/main" val="3748094240"/>
                    </a:ext>
                  </a:extLst>
                </a:gridCol>
                <a:gridCol w="738909">
                  <a:extLst>
                    <a:ext uri="{9D8B030D-6E8A-4147-A177-3AD203B41FA5}">
                      <a16:colId xmlns:a16="http://schemas.microsoft.com/office/drawing/2014/main" val="3852276109"/>
                    </a:ext>
                  </a:extLst>
                </a:gridCol>
                <a:gridCol w="738909">
                  <a:extLst>
                    <a:ext uri="{9D8B030D-6E8A-4147-A177-3AD203B41FA5}">
                      <a16:colId xmlns:a16="http://schemas.microsoft.com/office/drawing/2014/main" val="195021739"/>
                    </a:ext>
                  </a:extLst>
                </a:gridCol>
                <a:gridCol w="738909">
                  <a:extLst>
                    <a:ext uri="{9D8B030D-6E8A-4147-A177-3AD203B41FA5}">
                      <a16:colId xmlns:a16="http://schemas.microsoft.com/office/drawing/2014/main" val="257637132"/>
                    </a:ext>
                  </a:extLst>
                </a:gridCol>
              </a:tblGrid>
              <a:tr h="370840">
                <a:tc>
                  <a:txBody>
                    <a:bodyPr/>
                    <a:lstStyle/>
                    <a:p>
                      <a:r>
                        <a:rPr lang="en-US" dirty="0"/>
                        <a:t>X</a:t>
                      </a:r>
                    </a:p>
                  </a:txBody>
                  <a:tcPr>
                    <a:solidFill>
                      <a:schemeClr val="accent4">
                        <a:lumMod val="20000"/>
                        <a:lumOff val="80000"/>
                      </a:schemeClr>
                    </a:solidFill>
                  </a:tcPr>
                </a:tc>
                <a:tc>
                  <a:txBody>
                    <a:bodyPr/>
                    <a:lstStyle/>
                    <a:p>
                      <a:r>
                        <a:rPr lang="en-US" dirty="0"/>
                        <a:t>Y</a:t>
                      </a:r>
                    </a:p>
                  </a:txBody>
                  <a:tcPr>
                    <a:solidFill>
                      <a:schemeClr val="accent4">
                        <a:lumMod val="20000"/>
                        <a:lumOff val="80000"/>
                      </a:schemeClr>
                    </a:solidFill>
                  </a:tcPr>
                </a:tc>
                <a:tc>
                  <a:txBody>
                    <a:bodyPr/>
                    <a:lstStyle/>
                    <a:p>
                      <a:r>
                        <a:rPr lang="en-US" dirty="0"/>
                        <a:t>F0</a:t>
                      </a:r>
                    </a:p>
                  </a:txBody>
                  <a:tcPr/>
                </a:tc>
                <a:tc>
                  <a:txBody>
                    <a:bodyPr/>
                    <a:lstStyle/>
                    <a:p>
                      <a:r>
                        <a:rPr lang="en-US" dirty="0"/>
                        <a:t>F1</a:t>
                      </a:r>
                    </a:p>
                  </a:txBody>
                  <a:tcPr>
                    <a:solidFill>
                      <a:schemeClr val="bg1">
                        <a:lumMod val="95000"/>
                      </a:schemeClr>
                    </a:solidFill>
                  </a:tcPr>
                </a:tc>
                <a:tc>
                  <a:txBody>
                    <a:bodyPr/>
                    <a:lstStyle/>
                    <a:p>
                      <a:r>
                        <a:rPr lang="en-US" dirty="0"/>
                        <a:t>F2</a:t>
                      </a:r>
                    </a:p>
                  </a:txBody>
                  <a:tcPr/>
                </a:tc>
                <a:tc>
                  <a:txBody>
                    <a:bodyPr/>
                    <a:lstStyle/>
                    <a:p>
                      <a:pPr marL="0" algn="l" defTabSz="914400" rtl="0" eaLnBrk="1" latinLnBrk="0" hangingPunct="1"/>
                      <a:r>
                        <a:rPr lang="en-US" sz="1800" kern="1200" dirty="0">
                          <a:solidFill>
                            <a:schemeClr val="tx1"/>
                          </a:solidFill>
                          <a:latin typeface="+mn-lt"/>
                          <a:ea typeface="+mn-ea"/>
                          <a:cs typeface="+mn-cs"/>
                        </a:rPr>
                        <a:t>F3</a:t>
                      </a:r>
                    </a:p>
                  </a:txBody>
                  <a:tcPr>
                    <a:solidFill>
                      <a:schemeClr val="bg1">
                        <a:lumMod val="95000"/>
                      </a:schemeClr>
                    </a:solidFill>
                  </a:tcPr>
                </a:tc>
                <a:tc>
                  <a:txBody>
                    <a:bodyPr/>
                    <a:lstStyle/>
                    <a:p>
                      <a:r>
                        <a:rPr lang="en-US" dirty="0"/>
                        <a:t>F4</a:t>
                      </a:r>
                    </a:p>
                  </a:txBody>
                  <a:tcPr/>
                </a:tc>
                <a:tc>
                  <a:txBody>
                    <a:bodyPr/>
                    <a:lstStyle/>
                    <a:p>
                      <a:pPr marL="0" algn="l" defTabSz="914400" rtl="0" eaLnBrk="1" latinLnBrk="0" hangingPunct="1"/>
                      <a:r>
                        <a:rPr lang="en-US" sz="1800" kern="1200" dirty="0">
                          <a:solidFill>
                            <a:schemeClr val="tx1"/>
                          </a:solidFill>
                          <a:latin typeface="+mn-lt"/>
                          <a:ea typeface="+mn-ea"/>
                          <a:cs typeface="+mn-cs"/>
                        </a:rPr>
                        <a:t>F5</a:t>
                      </a:r>
                    </a:p>
                  </a:txBody>
                  <a:tcPr>
                    <a:solidFill>
                      <a:schemeClr val="bg1">
                        <a:lumMod val="95000"/>
                      </a:schemeClr>
                    </a:solidFill>
                  </a:tcPr>
                </a:tc>
                <a:tc>
                  <a:txBody>
                    <a:bodyPr/>
                    <a:lstStyle/>
                    <a:p>
                      <a:r>
                        <a:rPr lang="en-US" dirty="0"/>
                        <a:t>F6</a:t>
                      </a:r>
                    </a:p>
                  </a:txBody>
                  <a:tcPr/>
                </a:tc>
                <a:tc>
                  <a:txBody>
                    <a:bodyPr/>
                    <a:lstStyle/>
                    <a:p>
                      <a:r>
                        <a:rPr lang="en-US" dirty="0"/>
                        <a:t>F7</a:t>
                      </a:r>
                    </a:p>
                  </a:txBody>
                  <a:tcPr>
                    <a:solidFill>
                      <a:schemeClr val="bg1">
                        <a:lumMod val="95000"/>
                      </a:schemeClr>
                    </a:solidFill>
                  </a:tcPr>
                </a:tc>
                <a:extLst>
                  <a:ext uri="{0D108BD9-81ED-4DB2-BD59-A6C34878D82A}">
                    <a16:rowId xmlns:a16="http://schemas.microsoft.com/office/drawing/2014/main" val="2704931222"/>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solidFill>
                      <a:schemeClr val="bg1">
                        <a:lumMod val="95000"/>
                      </a:schemeClr>
                    </a:solidFill>
                  </a:tcPr>
                </a:tc>
                <a:tc>
                  <a:txBody>
                    <a:bodyPr/>
                    <a:lstStyle/>
                    <a:p>
                      <a:r>
                        <a:rPr lang="en-US" dirty="0"/>
                        <a:t>0</a:t>
                      </a:r>
                    </a:p>
                  </a:txBody>
                  <a:tcPr/>
                </a:tc>
                <a:tc>
                  <a:txBody>
                    <a:bodyPr/>
                    <a:lstStyle/>
                    <a:p>
                      <a:pPr marL="0" algn="l" defTabSz="914400" rtl="0" eaLnBrk="1" latinLnBrk="0" hangingPunct="1"/>
                      <a:r>
                        <a:rPr lang="en-US" sz="1800" kern="1200" dirty="0">
                          <a:solidFill>
                            <a:schemeClr val="tx1"/>
                          </a:solidFill>
                          <a:latin typeface="+mn-lt"/>
                          <a:ea typeface="+mn-ea"/>
                          <a:cs typeface="+mn-cs"/>
                        </a:rPr>
                        <a:t>0</a:t>
                      </a:r>
                    </a:p>
                  </a:txBody>
                  <a:tcPr>
                    <a:solidFill>
                      <a:schemeClr val="bg1">
                        <a:lumMod val="95000"/>
                      </a:schemeClr>
                    </a:solidFill>
                  </a:tcPr>
                </a:tc>
                <a:tc>
                  <a:txBody>
                    <a:bodyPr/>
                    <a:lstStyle/>
                    <a:p>
                      <a:r>
                        <a:rPr lang="en-US" dirty="0"/>
                        <a:t>0</a:t>
                      </a:r>
                    </a:p>
                  </a:txBody>
                  <a:tcPr/>
                </a:tc>
                <a:tc>
                  <a:txBody>
                    <a:bodyPr/>
                    <a:lstStyle/>
                    <a:p>
                      <a:pPr marL="0" algn="l" defTabSz="914400" rtl="0" eaLnBrk="1" latinLnBrk="0" hangingPunct="1"/>
                      <a:r>
                        <a:rPr lang="en-US" sz="1800" kern="1200" dirty="0">
                          <a:solidFill>
                            <a:schemeClr val="tx1"/>
                          </a:solidFill>
                          <a:latin typeface="+mn-lt"/>
                          <a:ea typeface="+mn-ea"/>
                          <a:cs typeface="+mn-cs"/>
                        </a:rPr>
                        <a:t>0</a:t>
                      </a:r>
                    </a:p>
                  </a:txBody>
                  <a:tcPr>
                    <a:solidFill>
                      <a:schemeClr val="bg1">
                        <a:lumMod val="95000"/>
                      </a:schemeClr>
                    </a:solidFill>
                  </a:tcPr>
                </a:tc>
                <a:tc>
                  <a:txBody>
                    <a:bodyPr/>
                    <a:lstStyle/>
                    <a:p>
                      <a:r>
                        <a:rPr lang="en-US" dirty="0"/>
                        <a:t>0</a:t>
                      </a:r>
                    </a:p>
                  </a:txBody>
                  <a:tcPr/>
                </a:tc>
                <a:tc>
                  <a:txBody>
                    <a:bodyPr/>
                    <a:lstStyle/>
                    <a:p>
                      <a:r>
                        <a:rPr lang="en-US" dirty="0"/>
                        <a:t>0</a:t>
                      </a:r>
                    </a:p>
                  </a:txBody>
                  <a:tcPr>
                    <a:solidFill>
                      <a:schemeClr val="bg1">
                        <a:lumMod val="95000"/>
                      </a:schemeClr>
                    </a:solidFill>
                  </a:tcPr>
                </a:tc>
                <a:extLst>
                  <a:ext uri="{0D108BD9-81ED-4DB2-BD59-A6C34878D82A}">
                    <a16:rowId xmlns:a16="http://schemas.microsoft.com/office/drawing/2014/main" val="2172711723"/>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solidFill>
                      <a:schemeClr val="bg1">
                        <a:lumMod val="95000"/>
                      </a:schemeClr>
                    </a:solidFill>
                  </a:tcPr>
                </a:tc>
                <a:tc>
                  <a:txBody>
                    <a:bodyPr/>
                    <a:lstStyle/>
                    <a:p>
                      <a:r>
                        <a:rPr lang="en-US" dirty="0"/>
                        <a:t>0</a:t>
                      </a:r>
                    </a:p>
                  </a:txBody>
                  <a:tcPr/>
                </a:tc>
                <a:tc>
                  <a:txBody>
                    <a:bodyPr/>
                    <a:lstStyle/>
                    <a:p>
                      <a:pPr marL="0" algn="l" defTabSz="914400" rtl="0" eaLnBrk="1" latinLnBrk="0" hangingPunct="1"/>
                      <a:r>
                        <a:rPr lang="en-US" sz="1800" kern="1200" dirty="0">
                          <a:solidFill>
                            <a:schemeClr val="tx1"/>
                          </a:solidFill>
                          <a:latin typeface="+mn-lt"/>
                          <a:ea typeface="+mn-ea"/>
                          <a:cs typeface="+mn-cs"/>
                        </a:rPr>
                        <a:t>0</a:t>
                      </a:r>
                    </a:p>
                  </a:txBody>
                  <a:tcPr>
                    <a:solidFill>
                      <a:schemeClr val="bg1">
                        <a:lumMod val="95000"/>
                      </a:schemeClr>
                    </a:solidFill>
                  </a:tcPr>
                </a:tc>
                <a:tc>
                  <a:txBody>
                    <a:bodyPr/>
                    <a:lstStyle/>
                    <a:p>
                      <a:r>
                        <a:rPr lang="en-US" dirty="0"/>
                        <a:t>1</a:t>
                      </a:r>
                    </a:p>
                  </a:txBody>
                  <a:tcPr/>
                </a:tc>
                <a:tc>
                  <a:txBody>
                    <a:bodyPr/>
                    <a:lstStyle/>
                    <a:p>
                      <a:pPr marL="0" algn="l" defTabSz="914400" rtl="0" eaLnBrk="1" latinLnBrk="0" hangingPunct="1"/>
                      <a:r>
                        <a:rPr lang="en-US" sz="1800" kern="1200" dirty="0">
                          <a:solidFill>
                            <a:schemeClr val="tx1"/>
                          </a:solidFill>
                          <a:latin typeface="+mn-lt"/>
                          <a:ea typeface="+mn-ea"/>
                          <a:cs typeface="+mn-cs"/>
                        </a:rPr>
                        <a:t>1</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extLst>
                  <a:ext uri="{0D108BD9-81ED-4DB2-BD59-A6C34878D82A}">
                    <a16:rowId xmlns:a16="http://schemas.microsoft.com/office/drawing/2014/main" val="261737747"/>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solidFill>
                      <a:schemeClr val="bg1">
                        <a:lumMod val="95000"/>
                      </a:schemeClr>
                    </a:solidFill>
                  </a:tcPr>
                </a:tc>
                <a:tc>
                  <a:txBody>
                    <a:bodyPr/>
                    <a:lstStyle/>
                    <a:p>
                      <a:r>
                        <a:rPr lang="en-US" dirty="0"/>
                        <a:t>1</a:t>
                      </a:r>
                    </a:p>
                  </a:txBody>
                  <a:tcPr/>
                </a:tc>
                <a:tc>
                  <a:txBody>
                    <a:bodyPr/>
                    <a:lstStyle/>
                    <a:p>
                      <a:pPr marL="0" algn="l" defTabSz="914400" rtl="0" eaLnBrk="1" latinLnBrk="0" hangingPunct="1"/>
                      <a:r>
                        <a:rPr lang="en-US" sz="1800" kern="1200" dirty="0">
                          <a:solidFill>
                            <a:schemeClr val="tx1"/>
                          </a:solidFill>
                          <a:latin typeface="+mn-lt"/>
                          <a:ea typeface="+mn-ea"/>
                          <a:cs typeface="+mn-cs"/>
                        </a:rPr>
                        <a:t>1</a:t>
                      </a:r>
                    </a:p>
                  </a:txBody>
                  <a:tcPr>
                    <a:solidFill>
                      <a:schemeClr val="bg1">
                        <a:lumMod val="95000"/>
                      </a:schemeClr>
                    </a:solidFill>
                  </a:tcPr>
                </a:tc>
                <a:tc>
                  <a:txBody>
                    <a:bodyPr/>
                    <a:lstStyle/>
                    <a:p>
                      <a:r>
                        <a:rPr lang="en-US" dirty="0"/>
                        <a:t>0</a:t>
                      </a:r>
                    </a:p>
                  </a:txBody>
                  <a:tcPr/>
                </a:tc>
                <a:tc>
                  <a:txBody>
                    <a:bodyPr/>
                    <a:lstStyle/>
                    <a:p>
                      <a:pPr marL="0" algn="l" defTabSz="914400" rtl="0" eaLnBrk="1" latinLnBrk="0" hangingPunct="1"/>
                      <a:r>
                        <a:rPr lang="en-US" sz="1800" kern="1200" dirty="0">
                          <a:solidFill>
                            <a:schemeClr val="tx1"/>
                          </a:solidFill>
                          <a:latin typeface="+mn-lt"/>
                          <a:ea typeface="+mn-ea"/>
                          <a:cs typeface="+mn-cs"/>
                        </a:rPr>
                        <a:t>0</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extLst>
                  <a:ext uri="{0D108BD9-81ED-4DB2-BD59-A6C34878D82A}">
                    <a16:rowId xmlns:a16="http://schemas.microsoft.com/office/drawing/2014/main" val="735673662"/>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1</a:t>
                      </a:r>
                    </a:p>
                  </a:txBody>
                  <a:tcPr>
                    <a:solidFill>
                      <a:schemeClr val="bg1">
                        <a:lumMod val="95000"/>
                      </a:schemeClr>
                    </a:solidFill>
                  </a:tcPr>
                </a:tc>
                <a:tc>
                  <a:txBody>
                    <a:bodyPr/>
                    <a:lstStyle/>
                    <a:p>
                      <a:r>
                        <a:rPr lang="en-US" dirty="0"/>
                        <a:t>0</a:t>
                      </a:r>
                    </a:p>
                  </a:txBody>
                  <a:tcPr/>
                </a:tc>
                <a:tc>
                  <a:txBody>
                    <a:bodyPr/>
                    <a:lstStyle/>
                    <a:p>
                      <a:pPr marL="0" algn="l" defTabSz="914400" rtl="0" eaLnBrk="1" latinLnBrk="0" hangingPunct="1"/>
                      <a:r>
                        <a:rPr lang="en-US" sz="1800" kern="1200" dirty="0">
                          <a:solidFill>
                            <a:schemeClr val="tx1"/>
                          </a:solidFill>
                          <a:latin typeface="+mn-lt"/>
                          <a:ea typeface="+mn-ea"/>
                          <a:cs typeface="+mn-cs"/>
                        </a:rPr>
                        <a:t>1</a:t>
                      </a:r>
                    </a:p>
                  </a:txBody>
                  <a:tcPr>
                    <a:solidFill>
                      <a:schemeClr val="bg1">
                        <a:lumMod val="95000"/>
                      </a:schemeClr>
                    </a:solidFill>
                  </a:tcPr>
                </a:tc>
                <a:tc>
                  <a:txBody>
                    <a:bodyPr/>
                    <a:lstStyle/>
                    <a:p>
                      <a:r>
                        <a:rPr lang="en-US" dirty="0"/>
                        <a:t>0</a:t>
                      </a:r>
                    </a:p>
                  </a:txBody>
                  <a:tcPr/>
                </a:tc>
                <a:tc>
                  <a:txBody>
                    <a:bodyPr/>
                    <a:lstStyle/>
                    <a:p>
                      <a:pPr marL="0" algn="l" defTabSz="914400" rtl="0" eaLnBrk="1" latinLnBrk="0" hangingPunct="1"/>
                      <a:r>
                        <a:rPr lang="en-US" sz="1800" kern="1200" dirty="0">
                          <a:solidFill>
                            <a:schemeClr val="tx1"/>
                          </a:solidFill>
                          <a:latin typeface="+mn-lt"/>
                          <a:ea typeface="+mn-ea"/>
                          <a:cs typeface="+mn-cs"/>
                        </a:rPr>
                        <a:t>1</a:t>
                      </a:r>
                    </a:p>
                  </a:txBody>
                  <a:tcPr>
                    <a:solidFill>
                      <a:schemeClr val="bg1">
                        <a:lumMod val="95000"/>
                      </a:schemeClr>
                    </a:solidFill>
                  </a:tcPr>
                </a:tc>
                <a:tc>
                  <a:txBody>
                    <a:bodyPr/>
                    <a:lstStyle/>
                    <a:p>
                      <a:r>
                        <a:rPr lang="en-US" dirty="0"/>
                        <a:t>0</a:t>
                      </a:r>
                    </a:p>
                  </a:txBody>
                  <a:tcPr/>
                </a:tc>
                <a:tc>
                  <a:txBody>
                    <a:bodyPr/>
                    <a:lstStyle/>
                    <a:p>
                      <a:r>
                        <a:rPr lang="en-US" dirty="0"/>
                        <a:t>1</a:t>
                      </a:r>
                    </a:p>
                  </a:txBody>
                  <a:tcPr>
                    <a:solidFill>
                      <a:schemeClr val="bg1">
                        <a:lumMod val="95000"/>
                      </a:schemeClr>
                    </a:solidFill>
                  </a:tcPr>
                </a:tc>
                <a:extLst>
                  <a:ext uri="{0D108BD9-81ED-4DB2-BD59-A6C34878D82A}">
                    <a16:rowId xmlns:a16="http://schemas.microsoft.com/office/drawing/2014/main" val="227055824"/>
                  </a:ext>
                </a:extLst>
              </a:tr>
            </a:tbl>
          </a:graphicData>
        </a:graphic>
      </p:graphicFrame>
      <p:graphicFrame>
        <p:nvGraphicFramePr>
          <p:cNvPr id="5" name="Table 4">
            <a:extLst>
              <a:ext uri="{FF2B5EF4-FFF2-40B4-BE49-F238E27FC236}">
                <a16:creationId xmlns:a16="http://schemas.microsoft.com/office/drawing/2014/main" id="{F7811662-DC3B-43E9-ADC0-F33C7D19F5CB}"/>
              </a:ext>
            </a:extLst>
          </p:cNvPr>
          <p:cNvGraphicFramePr>
            <a:graphicFrameLocks noGrp="1"/>
          </p:cNvGraphicFramePr>
          <p:nvPr>
            <p:extLst>
              <p:ext uri="{D42A27DB-BD31-4B8C-83A1-F6EECF244321}">
                <p14:modId xmlns:p14="http://schemas.microsoft.com/office/powerpoint/2010/main" val="2652542744"/>
              </p:ext>
            </p:extLst>
          </p:nvPr>
        </p:nvGraphicFramePr>
        <p:xfrm>
          <a:off x="1990810" y="2501900"/>
          <a:ext cx="7389090" cy="1854200"/>
        </p:xfrm>
        <a:graphic>
          <a:graphicData uri="http://schemas.openxmlformats.org/drawingml/2006/table">
            <a:tbl>
              <a:tblPr firstRow="1" bandRow="1">
                <a:tableStyleId>{5940675A-B579-460E-94D1-54222C63F5DA}</a:tableStyleId>
              </a:tblPr>
              <a:tblGrid>
                <a:gridCol w="738909">
                  <a:extLst>
                    <a:ext uri="{9D8B030D-6E8A-4147-A177-3AD203B41FA5}">
                      <a16:colId xmlns:a16="http://schemas.microsoft.com/office/drawing/2014/main" val="1598488362"/>
                    </a:ext>
                  </a:extLst>
                </a:gridCol>
                <a:gridCol w="738909">
                  <a:extLst>
                    <a:ext uri="{9D8B030D-6E8A-4147-A177-3AD203B41FA5}">
                      <a16:colId xmlns:a16="http://schemas.microsoft.com/office/drawing/2014/main" val="2604930034"/>
                    </a:ext>
                  </a:extLst>
                </a:gridCol>
                <a:gridCol w="738909">
                  <a:extLst>
                    <a:ext uri="{9D8B030D-6E8A-4147-A177-3AD203B41FA5}">
                      <a16:colId xmlns:a16="http://schemas.microsoft.com/office/drawing/2014/main" val="2305209078"/>
                    </a:ext>
                  </a:extLst>
                </a:gridCol>
                <a:gridCol w="738909">
                  <a:extLst>
                    <a:ext uri="{9D8B030D-6E8A-4147-A177-3AD203B41FA5}">
                      <a16:colId xmlns:a16="http://schemas.microsoft.com/office/drawing/2014/main" val="3767606530"/>
                    </a:ext>
                  </a:extLst>
                </a:gridCol>
                <a:gridCol w="738909">
                  <a:extLst>
                    <a:ext uri="{9D8B030D-6E8A-4147-A177-3AD203B41FA5}">
                      <a16:colId xmlns:a16="http://schemas.microsoft.com/office/drawing/2014/main" val="975994604"/>
                    </a:ext>
                  </a:extLst>
                </a:gridCol>
                <a:gridCol w="738909">
                  <a:extLst>
                    <a:ext uri="{9D8B030D-6E8A-4147-A177-3AD203B41FA5}">
                      <a16:colId xmlns:a16="http://schemas.microsoft.com/office/drawing/2014/main" val="4105325996"/>
                    </a:ext>
                  </a:extLst>
                </a:gridCol>
                <a:gridCol w="738909">
                  <a:extLst>
                    <a:ext uri="{9D8B030D-6E8A-4147-A177-3AD203B41FA5}">
                      <a16:colId xmlns:a16="http://schemas.microsoft.com/office/drawing/2014/main" val="3748094240"/>
                    </a:ext>
                  </a:extLst>
                </a:gridCol>
                <a:gridCol w="738909">
                  <a:extLst>
                    <a:ext uri="{9D8B030D-6E8A-4147-A177-3AD203B41FA5}">
                      <a16:colId xmlns:a16="http://schemas.microsoft.com/office/drawing/2014/main" val="3852276109"/>
                    </a:ext>
                  </a:extLst>
                </a:gridCol>
                <a:gridCol w="738909">
                  <a:extLst>
                    <a:ext uri="{9D8B030D-6E8A-4147-A177-3AD203B41FA5}">
                      <a16:colId xmlns:a16="http://schemas.microsoft.com/office/drawing/2014/main" val="195021739"/>
                    </a:ext>
                  </a:extLst>
                </a:gridCol>
                <a:gridCol w="738909">
                  <a:extLst>
                    <a:ext uri="{9D8B030D-6E8A-4147-A177-3AD203B41FA5}">
                      <a16:colId xmlns:a16="http://schemas.microsoft.com/office/drawing/2014/main" val="257637132"/>
                    </a:ext>
                  </a:extLst>
                </a:gridCol>
              </a:tblGrid>
              <a:tr h="370840">
                <a:tc>
                  <a:txBody>
                    <a:bodyPr/>
                    <a:lstStyle/>
                    <a:p>
                      <a:r>
                        <a:rPr lang="en-US" dirty="0"/>
                        <a:t>X</a:t>
                      </a:r>
                    </a:p>
                  </a:txBody>
                  <a:tcPr>
                    <a:solidFill>
                      <a:schemeClr val="accent4">
                        <a:lumMod val="20000"/>
                        <a:lumOff val="80000"/>
                      </a:schemeClr>
                    </a:solidFill>
                  </a:tcPr>
                </a:tc>
                <a:tc>
                  <a:txBody>
                    <a:bodyPr/>
                    <a:lstStyle/>
                    <a:p>
                      <a:r>
                        <a:rPr lang="en-US" dirty="0"/>
                        <a:t>Y</a:t>
                      </a:r>
                    </a:p>
                  </a:txBody>
                  <a:tcPr>
                    <a:solidFill>
                      <a:schemeClr val="accent4">
                        <a:lumMod val="20000"/>
                        <a:lumOff val="80000"/>
                      </a:schemeClr>
                    </a:solidFill>
                  </a:tcPr>
                </a:tc>
                <a:tc>
                  <a:txBody>
                    <a:bodyPr/>
                    <a:lstStyle/>
                    <a:p>
                      <a:r>
                        <a:rPr lang="en-US" dirty="0"/>
                        <a:t>F8</a:t>
                      </a:r>
                    </a:p>
                  </a:txBody>
                  <a:tcPr/>
                </a:tc>
                <a:tc>
                  <a:txBody>
                    <a:bodyPr/>
                    <a:lstStyle/>
                    <a:p>
                      <a:r>
                        <a:rPr lang="en-US" dirty="0"/>
                        <a:t>F9</a:t>
                      </a:r>
                    </a:p>
                  </a:txBody>
                  <a:tcPr>
                    <a:solidFill>
                      <a:schemeClr val="bg1">
                        <a:lumMod val="95000"/>
                      </a:schemeClr>
                    </a:solidFill>
                  </a:tcPr>
                </a:tc>
                <a:tc>
                  <a:txBody>
                    <a:bodyPr/>
                    <a:lstStyle/>
                    <a:p>
                      <a:r>
                        <a:rPr lang="en-US" dirty="0"/>
                        <a:t>F10</a:t>
                      </a:r>
                    </a:p>
                  </a:txBody>
                  <a:tcPr/>
                </a:tc>
                <a:tc>
                  <a:txBody>
                    <a:bodyPr/>
                    <a:lstStyle/>
                    <a:p>
                      <a:r>
                        <a:rPr lang="en-US" dirty="0"/>
                        <a:t>F11</a:t>
                      </a:r>
                    </a:p>
                  </a:txBody>
                  <a:tcPr>
                    <a:solidFill>
                      <a:schemeClr val="bg1">
                        <a:lumMod val="95000"/>
                      </a:schemeClr>
                    </a:solidFill>
                  </a:tcPr>
                </a:tc>
                <a:tc>
                  <a:txBody>
                    <a:bodyPr/>
                    <a:lstStyle/>
                    <a:p>
                      <a:r>
                        <a:rPr lang="en-US" dirty="0"/>
                        <a:t>F12</a:t>
                      </a:r>
                    </a:p>
                  </a:txBody>
                  <a:tcPr/>
                </a:tc>
                <a:tc>
                  <a:txBody>
                    <a:bodyPr/>
                    <a:lstStyle/>
                    <a:p>
                      <a:r>
                        <a:rPr lang="en-US" dirty="0"/>
                        <a:t>F13</a:t>
                      </a:r>
                    </a:p>
                  </a:txBody>
                  <a:tcPr>
                    <a:solidFill>
                      <a:schemeClr val="bg1">
                        <a:lumMod val="95000"/>
                      </a:schemeClr>
                    </a:solidFill>
                  </a:tcPr>
                </a:tc>
                <a:tc>
                  <a:txBody>
                    <a:bodyPr/>
                    <a:lstStyle/>
                    <a:p>
                      <a:r>
                        <a:rPr lang="en-US" dirty="0"/>
                        <a:t>F14</a:t>
                      </a:r>
                    </a:p>
                  </a:txBody>
                  <a:tcPr/>
                </a:tc>
                <a:tc>
                  <a:txBody>
                    <a:bodyPr/>
                    <a:lstStyle/>
                    <a:p>
                      <a:r>
                        <a:rPr lang="en-US" dirty="0"/>
                        <a:t>F15</a:t>
                      </a:r>
                    </a:p>
                  </a:txBody>
                  <a:tcPr>
                    <a:solidFill>
                      <a:schemeClr val="bg1">
                        <a:lumMod val="95000"/>
                      </a:schemeClr>
                    </a:solidFill>
                  </a:tcPr>
                </a:tc>
                <a:extLst>
                  <a:ext uri="{0D108BD9-81ED-4DB2-BD59-A6C34878D82A}">
                    <a16:rowId xmlns:a16="http://schemas.microsoft.com/office/drawing/2014/main" val="2704931222"/>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extLst>
                  <a:ext uri="{0D108BD9-81ED-4DB2-BD59-A6C34878D82A}">
                    <a16:rowId xmlns:a16="http://schemas.microsoft.com/office/drawing/2014/main" val="2172711723"/>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solidFill>
                      <a:schemeClr val="bg1">
                        <a:lumMod val="95000"/>
                      </a:schemeClr>
                    </a:solidFill>
                  </a:tcPr>
                </a:tc>
                <a:tc>
                  <a:txBody>
                    <a:bodyPr/>
                    <a:lstStyle/>
                    <a:p>
                      <a:r>
                        <a:rPr lang="en-US" dirty="0"/>
                        <a:t>0</a:t>
                      </a:r>
                    </a:p>
                  </a:txBody>
                  <a:tcPr/>
                </a:tc>
                <a:tc>
                  <a:txBody>
                    <a:bodyPr/>
                    <a:lstStyle/>
                    <a:p>
                      <a:r>
                        <a:rPr lang="en-US" dirty="0"/>
                        <a:t>0</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extLst>
                  <a:ext uri="{0D108BD9-81ED-4DB2-BD59-A6C34878D82A}">
                    <a16:rowId xmlns:a16="http://schemas.microsoft.com/office/drawing/2014/main" val="261737747"/>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tc>
                  <a:txBody>
                    <a:bodyPr/>
                    <a:lstStyle/>
                    <a:p>
                      <a:r>
                        <a:rPr lang="en-US" dirty="0"/>
                        <a:t>0</a:t>
                      </a:r>
                    </a:p>
                  </a:txBody>
                  <a:tcPr/>
                </a:tc>
                <a:tc>
                  <a:txBody>
                    <a:bodyPr/>
                    <a:lstStyle/>
                    <a:p>
                      <a:r>
                        <a:rPr lang="en-US" dirty="0"/>
                        <a:t>0</a:t>
                      </a:r>
                    </a:p>
                  </a:txBody>
                  <a:tcPr>
                    <a:solidFill>
                      <a:schemeClr val="bg1">
                        <a:lumMod val="95000"/>
                      </a:schemeClr>
                    </a:solidFill>
                  </a:tcPr>
                </a:tc>
                <a:tc>
                  <a:txBody>
                    <a:bodyPr/>
                    <a:lstStyle/>
                    <a:p>
                      <a:r>
                        <a:rPr lang="en-US" dirty="0"/>
                        <a:t>1</a:t>
                      </a:r>
                    </a:p>
                  </a:txBody>
                  <a:tcPr/>
                </a:tc>
                <a:tc>
                  <a:txBody>
                    <a:bodyPr/>
                    <a:lstStyle/>
                    <a:p>
                      <a:r>
                        <a:rPr lang="en-US" dirty="0"/>
                        <a:t>1</a:t>
                      </a:r>
                    </a:p>
                  </a:txBody>
                  <a:tcPr>
                    <a:solidFill>
                      <a:schemeClr val="bg1">
                        <a:lumMod val="95000"/>
                      </a:schemeClr>
                    </a:solidFill>
                  </a:tcPr>
                </a:tc>
                <a:extLst>
                  <a:ext uri="{0D108BD9-81ED-4DB2-BD59-A6C34878D82A}">
                    <a16:rowId xmlns:a16="http://schemas.microsoft.com/office/drawing/2014/main" val="735673662"/>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1</a:t>
                      </a:r>
                    </a:p>
                  </a:txBody>
                  <a:tcPr>
                    <a:solidFill>
                      <a:schemeClr val="bg1">
                        <a:lumMod val="95000"/>
                      </a:schemeClr>
                    </a:solidFill>
                  </a:tcPr>
                </a:tc>
                <a:tc>
                  <a:txBody>
                    <a:bodyPr/>
                    <a:lstStyle/>
                    <a:p>
                      <a:r>
                        <a:rPr lang="en-US" dirty="0"/>
                        <a:t>0</a:t>
                      </a:r>
                    </a:p>
                  </a:txBody>
                  <a:tcPr/>
                </a:tc>
                <a:tc>
                  <a:txBody>
                    <a:bodyPr/>
                    <a:lstStyle/>
                    <a:p>
                      <a:r>
                        <a:rPr lang="en-US" dirty="0"/>
                        <a:t>1</a:t>
                      </a:r>
                    </a:p>
                  </a:txBody>
                  <a:tcPr>
                    <a:solidFill>
                      <a:schemeClr val="bg1">
                        <a:lumMod val="95000"/>
                      </a:schemeClr>
                    </a:solidFill>
                  </a:tcPr>
                </a:tc>
                <a:tc>
                  <a:txBody>
                    <a:bodyPr/>
                    <a:lstStyle/>
                    <a:p>
                      <a:r>
                        <a:rPr lang="en-US" dirty="0"/>
                        <a:t>0</a:t>
                      </a:r>
                    </a:p>
                  </a:txBody>
                  <a:tcPr/>
                </a:tc>
                <a:tc>
                  <a:txBody>
                    <a:bodyPr/>
                    <a:lstStyle/>
                    <a:p>
                      <a:r>
                        <a:rPr lang="en-US" dirty="0"/>
                        <a:t>1</a:t>
                      </a:r>
                    </a:p>
                  </a:txBody>
                  <a:tcPr>
                    <a:solidFill>
                      <a:schemeClr val="bg1">
                        <a:lumMod val="95000"/>
                      </a:schemeClr>
                    </a:solidFill>
                  </a:tcPr>
                </a:tc>
                <a:tc>
                  <a:txBody>
                    <a:bodyPr/>
                    <a:lstStyle/>
                    <a:p>
                      <a:r>
                        <a:rPr lang="en-US" dirty="0"/>
                        <a:t>0</a:t>
                      </a:r>
                    </a:p>
                  </a:txBody>
                  <a:tcPr/>
                </a:tc>
                <a:tc>
                  <a:txBody>
                    <a:bodyPr/>
                    <a:lstStyle/>
                    <a:p>
                      <a:r>
                        <a:rPr lang="en-US" dirty="0"/>
                        <a:t>1</a:t>
                      </a:r>
                    </a:p>
                  </a:txBody>
                  <a:tcPr>
                    <a:solidFill>
                      <a:schemeClr val="bg1">
                        <a:lumMod val="95000"/>
                      </a:schemeClr>
                    </a:solidFill>
                  </a:tcPr>
                </a:tc>
                <a:extLst>
                  <a:ext uri="{0D108BD9-81ED-4DB2-BD59-A6C34878D82A}">
                    <a16:rowId xmlns:a16="http://schemas.microsoft.com/office/drawing/2014/main" val="227055824"/>
                  </a:ext>
                </a:extLst>
              </a:tr>
            </a:tbl>
          </a:graphicData>
        </a:graphic>
      </p:graphicFrame>
      <p:sp>
        <p:nvSpPr>
          <p:cNvPr id="6" name="TextBox 5">
            <a:extLst>
              <a:ext uri="{FF2B5EF4-FFF2-40B4-BE49-F238E27FC236}">
                <a16:creationId xmlns:a16="http://schemas.microsoft.com/office/drawing/2014/main" id="{EC16F989-0B55-49E6-A143-C38AF47E9BEF}"/>
              </a:ext>
            </a:extLst>
          </p:cNvPr>
          <p:cNvSpPr txBox="1"/>
          <p:nvPr/>
        </p:nvSpPr>
        <p:spPr>
          <a:xfrm>
            <a:off x="2776151" y="5033319"/>
            <a:ext cx="4386201" cy="1477328"/>
          </a:xfrm>
          <a:prstGeom prst="rect">
            <a:avLst/>
          </a:prstGeom>
          <a:noFill/>
        </p:spPr>
        <p:txBody>
          <a:bodyPr wrap="none" rtlCol="0">
            <a:spAutoFit/>
          </a:bodyPr>
          <a:lstStyle/>
          <a:p>
            <a:r>
              <a:rPr lang="en-US" dirty="0"/>
              <a:t>You might notice some old friends in there – </a:t>
            </a:r>
          </a:p>
          <a:p>
            <a:r>
              <a:rPr lang="en-US" dirty="0"/>
              <a:t>F1 is AND		F14 is NAND</a:t>
            </a:r>
          </a:p>
          <a:p>
            <a:r>
              <a:rPr lang="en-US" dirty="0"/>
              <a:t>F7 is OR		F8 is NOR</a:t>
            </a:r>
          </a:p>
          <a:p>
            <a:r>
              <a:rPr lang="en-US" dirty="0"/>
              <a:t>F12 is NOT (X)	F10 is NOT (Y)</a:t>
            </a:r>
          </a:p>
          <a:p>
            <a:r>
              <a:rPr lang="en-US" dirty="0"/>
              <a:t>F6 is XOR		F9 is XNOR</a:t>
            </a:r>
          </a:p>
        </p:txBody>
      </p:sp>
    </p:spTree>
    <p:extLst>
      <p:ext uri="{BB962C8B-B14F-4D97-AF65-F5344CB8AC3E}">
        <p14:creationId xmlns:p14="http://schemas.microsoft.com/office/powerpoint/2010/main" val="110647060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09102-30E4-4416-95D5-C3403B551056}"/>
              </a:ext>
            </a:extLst>
          </p:cNvPr>
          <p:cNvSpPr>
            <a:spLocks noGrp="1"/>
          </p:cNvSpPr>
          <p:nvPr>
            <p:ph type="title"/>
          </p:nvPr>
        </p:nvSpPr>
        <p:spPr>
          <a:xfrm>
            <a:off x="652750" y="657922"/>
            <a:ext cx="4806184" cy="4281913"/>
          </a:xfrm>
          <a:noFill/>
        </p:spPr>
        <p:txBody>
          <a:bodyPr vert="horz" lIns="91440" tIns="45720" rIns="91440" bIns="45720" rtlCol="0" anchor="b">
            <a:normAutofit/>
          </a:bodyPr>
          <a:lstStyle/>
          <a:p>
            <a:r>
              <a:rPr lang="en-US" sz="5000"/>
              <a:t>Circuit Diagrams</a:t>
            </a:r>
          </a:p>
        </p:txBody>
      </p:sp>
      <p:pic>
        <p:nvPicPr>
          <p:cNvPr id="7" name="Picture 6" descr="A close up of text on a white background&#10;&#10;Description generated with very high confidence">
            <a:extLst>
              <a:ext uri="{FF2B5EF4-FFF2-40B4-BE49-F238E27FC236}">
                <a16:creationId xmlns:a16="http://schemas.microsoft.com/office/drawing/2014/main" id="{FF28998A-78E2-42F1-B7F6-623F69C36921}"/>
              </a:ext>
            </a:extLst>
          </p:cNvPr>
          <p:cNvPicPr>
            <a:picLocks noChangeAspect="1"/>
          </p:cNvPicPr>
          <p:nvPr/>
        </p:nvPicPr>
        <p:blipFill rotWithShape="1">
          <a:blip r:embed="rId2">
            <a:extLst>
              <a:ext uri="{28A0092B-C50C-407E-A947-70E740481C1C}">
                <a14:useLocalDpi xmlns:a14="http://schemas.microsoft.com/office/drawing/2010/main" val="0"/>
              </a:ext>
            </a:extLst>
          </a:blip>
          <a:srcRect l="3039" r="20032" b="3384"/>
          <a:stretch/>
        </p:blipFill>
        <p:spPr>
          <a:xfrm>
            <a:off x="6516812" y="238281"/>
            <a:ext cx="5447490" cy="6381437"/>
          </a:xfrm>
          <a:prstGeom prst="rect">
            <a:avLst/>
          </a:prstGeom>
        </p:spPr>
      </p:pic>
    </p:spTree>
    <p:extLst>
      <p:ext uri="{BB962C8B-B14F-4D97-AF65-F5344CB8AC3E}">
        <p14:creationId xmlns:p14="http://schemas.microsoft.com/office/powerpoint/2010/main" val="7510775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90D31-1EB0-4E9D-90A5-A6595A1B0EE8}"/>
              </a:ext>
            </a:extLst>
          </p:cNvPr>
          <p:cNvSpPr>
            <a:spLocks noGrp="1"/>
          </p:cNvSpPr>
          <p:nvPr>
            <p:ph type="title"/>
          </p:nvPr>
        </p:nvSpPr>
        <p:spPr/>
        <p:txBody>
          <a:bodyPr/>
          <a:lstStyle/>
          <a:p>
            <a:r>
              <a:rPr lang="en-US" dirty="0"/>
              <a:t>Different Representations of the same thing</a:t>
            </a:r>
          </a:p>
        </p:txBody>
      </p:sp>
      <p:sp>
        <p:nvSpPr>
          <p:cNvPr id="3" name="Content Placeholder 2">
            <a:extLst>
              <a:ext uri="{FF2B5EF4-FFF2-40B4-BE49-F238E27FC236}">
                <a16:creationId xmlns:a16="http://schemas.microsoft.com/office/drawing/2014/main" id="{C1B94439-2415-416F-8429-3BFAF15FCD04}"/>
              </a:ext>
            </a:extLst>
          </p:cNvPr>
          <p:cNvSpPr>
            <a:spLocks noGrp="1"/>
          </p:cNvSpPr>
          <p:nvPr>
            <p:ph idx="1"/>
          </p:nvPr>
        </p:nvSpPr>
        <p:spPr>
          <a:xfrm>
            <a:off x="838200" y="1825625"/>
            <a:ext cx="10365259" cy="1325563"/>
          </a:xfrm>
        </p:spPr>
        <p:txBody>
          <a:bodyPr/>
          <a:lstStyle/>
          <a:p>
            <a:pPr marL="0" indent="0">
              <a:buNone/>
            </a:pPr>
            <a:r>
              <a:rPr lang="en-US" dirty="0"/>
              <a:t>z = </a:t>
            </a:r>
            <a:r>
              <a:rPr lang="en-US"/>
              <a:t>x &amp; </a:t>
            </a:r>
            <a:r>
              <a:rPr lang="en-US" dirty="0"/>
              <a:t>(</a:t>
            </a:r>
            <a:r>
              <a:rPr lang="en-US"/>
              <a:t>y | </a:t>
            </a:r>
            <a:r>
              <a:rPr lang="en-US" dirty="0"/>
              <a:t>a);</a:t>
            </a:r>
          </a:p>
        </p:txBody>
      </p:sp>
      <p:pic>
        <p:nvPicPr>
          <p:cNvPr id="5" name="Picture 4" descr="A close up of a logo&#10;&#10;Description generated with very high confidence">
            <a:extLst>
              <a:ext uri="{FF2B5EF4-FFF2-40B4-BE49-F238E27FC236}">
                <a16:creationId xmlns:a16="http://schemas.microsoft.com/office/drawing/2014/main" id="{9FCA2B1E-2061-4755-BF74-BA1F45FB9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372" y="3140887"/>
            <a:ext cx="5258534" cy="2962688"/>
          </a:xfrm>
          <a:prstGeom prst="rect">
            <a:avLst/>
          </a:prstGeom>
        </p:spPr>
      </p:pic>
    </p:spTree>
    <p:extLst>
      <p:ext uri="{BB962C8B-B14F-4D97-AF65-F5344CB8AC3E}">
        <p14:creationId xmlns:p14="http://schemas.microsoft.com/office/powerpoint/2010/main" val="90419468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E6B5D-EC39-4117-B03F-18AA4A9BD85F}"/>
              </a:ext>
            </a:extLst>
          </p:cNvPr>
          <p:cNvSpPr>
            <a:spLocks noGrp="1"/>
          </p:cNvSpPr>
          <p:nvPr>
            <p:ph type="title"/>
          </p:nvPr>
        </p:nvSpPr>
        <p:spPr/>
        <p:txBody>
          <a:bodyPr/>
          <a:lstStyle/>
          <a:p>
            <a:r>
              <a:rPr lang="en-US" dirty="0"/>
              <a:t>Adding Two Numbers</a:t>
            </a:r>
          </a:p>
        </p:txBody>
      </p:sp>
      <p:sp>
        <p:nvSpPr>
          <p:cNvPr id="3" name="Content Placeholder 2">
            <a:extLst>
              <a:ext uri="{FF2B5EF4-FFF2-40B4-BE49-F238E27FC236}">
                <a16:creationId xmlns:a16="http://schemas.microsoft.com/office/drawing/2014/main" id="{C6177CCC-26B8-4398-A01E-F8762EF4FCDD}"/>
              </a:ext>
            </a:extLst>
          </p:cNvPr>
          <p:cNvSpPr>
            <a:spLocks noGrp="1"/>
          </p:cNvSpPr>
          <p:nvPr>
            <p:ph idx="1"/>
          </p:nvPr>
        </p:nvSpPr>
        <p:spPr/>
        <p:txBody>
          <a:bodyPr/>
          <a:lstStyle/>
          <a:p>
            <a:pPr marL="0" indent="0">
              <a:buNone/>
            </a:pPr>
            <a:r>
              <a:rPr lang="en-US" dirty="0"/>
              <a:t>Let’s think about a truth table for adding two binary numbers:</a:t>
            </a:r>
          </a:p>
          <a:p>
            <a:pPr marL="0" indent="0">
              <a:buNone/>
            </a:pPr>
            <a:r>
              <a:rPr lang="en-US" dirty="0"/>
              <a:t>This should look a lot like one of the functions from</a:t>
            </a:r>
          </a:p>
          <a:p>
            <a:pPr marL="0" indent="0">
              <a:buNone/>
            </a:pPr>
            <a:r>
              <a:rPr lang="en-US" dirty="0"/>
              <a:t>our previous slide. </a:t>
            </a:r>
          </a:p>
          <a:p>
            <a:pPr marL="0" indent="0">
              <a:buNone/>
            </a:pPr>
            <a:endParaRPr lang="en-US" dirty="0"/>
          </a:p>
        </p:txBody>
      </p:sp>
      <p:graphicFrame>
        <p:nvGraphicFramePr>
          <p:cNvPr id="4" name="Table 3">
            <a:extLst>
              <a:ext uri="{FF2B5EF4-FFF2-40B4-BE49-F238E27FC236}">
                <a16:creationId xmlns:a16="http://schemas.microsoft.com/office/drawing/2014/main" id="{D15BBB7F-A50F-4AFF-BAE4-FA13B0D54A44}"/>
              </a:ext>
            </a:extLst>
          </p:cNvPr>
          <p:cNvGraphicFramePr>
            <a:graphicFrameLocks noGrp="1"/>
          </p:cNvGraphicFramePr>
          <p:nvPr>
            <p:extLst>
              <p:ext uri="{D42A27DB-BD31-4B8C-83A1-F6EECF244321}">
                <p14:modId xmlns:p14="http://schemas.microsoft.com/office/powerpoint/2010/main" val="3350134640"/>
              </p:ext>
            </p:extLst>
          </p:nvPr>
        </p:nvGraphicFramePr>
        <p:xfrm>
          <a:off x="8878330" y="2435226"/>
          <a:ext cx="2216727" cy="1854200"/>
        </p:xfrm>
        <a:graphic>
          <a:graphicData uri="http://schemas.openxmlformats.org/drawingml/2006/table">
            <a:tbl>
              <a:tblPr firstRow="1" bandRow="1">
                <a:tableStyleId>{5940675A-B579-460E-94D1-54222C63F5DA}</a:tableStyleId>
              </a:tblPr>
              <a:tblGrid>
                <a:gridCol w="738909">
                  <a:extLst>
                    <a:ext uri="{9D8B030D-6E8A-4147-A177-3AD203B41FA5}">
                      <a16:colId xmlns:a16="http://schemas.microsoft.com/office/drawing/2014/main" val="4036434345"/>
                    </a:ext>
                  </a:extLst>
                </a:gridCol>
                <a:gridCol w="738909">
                  <a:extLst>
                    <a:ext uri="{9D8B030D-6E8A-4147-A177-3AD203B41FA5}">
                      <a16:colId xmlns:a16="http://schemas.microsoft.com/office/drawing/2014/main" val="732482826"/>
                    </a:ext>
                  </a:extLst>
                </a:gridCol>
                <a:gridCol w="738909">
                  <a:extLst>
                    <a:ext uri="{9D8B030D-6E8A-4147-A177-3AD203B41FA5}">
                      <a16:colId xmlns:a16="http://schemas.microsoft.com/office/drawing/2014/main" val="4276389829"/>
                    </a:ext>
                  </a:extLst>
                </a:gridCol>
              </a:tblGrid>
              <a:tr h="370840">
                <a:tc>
                  <a:txBody>
                    <a:bodyPr/>
                    <a:lstStyle/>
                    <a:p>
                      <a:r>
                        <a:rPr lang="en-US" dirty="0"/>
                        <a:t>X</a:t>
                      </a:r>
                    </a:p>
                  </a:txBody>
                  <a:tcPr>
                    <a:solidFill>
                      <a:schemeClr val="accent4">
                        <a:lumMod val="20000"/>
                        <a:lumOff val="80000"/>
                      </a:schemeClr>
                    </a:solidFill>
                  </a:tcPr>
                </a:tc>
                <a:tc>
                  <a:txBody>
                    <a:bodyPr/>
                    <a:lstStyle/>
                    <a:p>
                      <a:r>
                        <a:rPr lang="en-US" dirty="0"/>
                        <a:t>Y</a:t>
                      </a:r>
                    </a:p>
                  </a:txBody>
                  <a:tcPr>
                    <a:solidFill>
                      <a:schemeClr val="accent4">
                        <a:lumMod val="20000"/>
                        <a:lumOff val="80000"/>
                      </a:schemeClr>
                    </a:solidFill>
                  </a:tcPr>
                </a:tc>
                <a:tc>
                  <a:txBody>
                    <a:bodyPr/>
                    <a:lstStyle/>
                    <a:p>
                      <a:r>
                        <a:rPr lang="en-US" dirty="0"/>
                        <a:t>Add</a:t>
                      </a:r>
                    </a:p>
                  </a:txBody>
                  <a:tcPr/>
                </a:tc>
                <a:extLst>
                  <a:ext uri="{0D108BD9-81ED-4DB2-BD59-A6C34878D82A}">
                    <a16:rowId xmlns:a16="http://schemas.microsoft.com/office/drawing/2014/main" val="606245292"/>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extLst>
                  <a:ext uri="{0D108BD9-81ED-4DB2-BD59-A6C34878D82A}">
                    <a16:rowId xmlns:a16="http://schemas.microsoft.com/office/drawing/2014/main" val="3814202963"/>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tc>
                <a:extLst>
                  <a:ext uri="{0D108BD9-81ED-4DB2-BD59-A6C34878D82A}">
                    <a16:rowId xmlns:a16="http://schemas.microsoft.com/office/drawing/2014/main" val="3162668005"/>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tc>
                <a:extLst>
                  <a:ext uri="{0D108BD9-81ED-4DB2-BD59-A6C34878D82A}">
                    <a16:rowId xmlns:a16="http://schemas.microsoft.com/office/drawing/2014/main" val="1051720396"/>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r>
                        <a:rPr lang="en-US" baseline="30000" dirty="0"/>
                        <a:t>*</a:t>
                      </a:r>
                    </a:p>
                  </a:txBody>
                  <a:tcPr/>
                </a:tc>
                <a:extLst>
                  <a:ext uri="{0D108BD9-81ED-4DB2-BD59-A6C34878D82A}">
                    <a16:rowId xmlns:a16="http://schemas.microsoft.com/office/drawing/2014/main" val="1382451815"/>
                  </a:ext>
                </a:extLst>
              </a:tr>
            </a:tbl>
          </a:graphicData>
        </a:graphic>
      </p:graphicFrame>
    </p:spTree>
    <p:extLst>
      <p:ext uri="{BB962C8B-B14F-4D97-AF65-F5344CB8AC3E}">
        <p14:creationId xmlns:p14="http://schemas.microsoft.com/office/powerpoint/2010/main" val="183129739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7D377-1984-49C5-9E92-3FCADC249819}"/>
              </a:ext>
            </a:extLst>
          </p:cNvPr>
          <p:cNvSpPr>
            <a:spLocks noGrp="1"/>
          </p:cNvSpPr>
          <p:nvPr>
            <p:ph type="title"/>
          </p:nvPr>
        </p:nvSpPr>
        <p:spPr/>
        <p:txBody>
          <a:bodyPr/>
          <a:lstStyle/>
          <a:p>
            <a:r>
              <a:rPr lang="en-US" dirty="0"/>
              <a:t>A 1 bit adder is just an XOR</a:t>
            </a:r>
          </a:p>
        </p:txBody>
      </p:sp>
      <p:pic>
        <p:nvPicPr>
          <p:cNvPr id="5" name="Picture 4">
            <a:extLst>
              <a:ext uri="{FF2B5EF4-FFF2-40B4-BE49-F238E27FC236}">
                <a16:creationId xmlns:a16="http://schemas.microsoft.com/office/drawing/2014/main" id="{C8D307C5-8C0F-4EEB-8FD2-188A64A79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4124" y="2216740"/>
            <a:ext cx="3067478" cy="2191056"/>
          </a:xfrm>
          <a:prstGeom prst="rect">
            <a:avLst/>
          </a:prstGeom>
        </p:spPr>
      </p:pic>
    </p:spTree>
    <p:extLst>
      <p:ext uri="{BB962C8B-B14F-4D97-AF65-F5344CB8AC3E}">
        <p14:creationId xmlns:p14="http://schemas.microsoft.com/office/powerpoint/2010/main" val="34126944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360EE-CE76-4A54-9340-67C700BF3562}"/>
              </a:ext>
            </a:extLst>
          </p:cNvPr>
          <p:cNvSpPr>
            <a:spLocks noGrp="1"/>
          </p:cNvSpPr>
          <p:nvPr>
            <p:ph type="title"/>
          </p:nvPr>
        </p:nvSpPr>
        <p:spPr/>
        <p:txBody>
          <a:bodyPr/>
          <a:lstStyle/>
          <a:p>
            <a:r>
              <a:rPr lang="en-US" dirty="0"/>
              <a:t>Let’s make it a 2 bit adder. </a:t>
            </a:r>
            <a:br>
              <a:rPr lang="en-US" dirty="0"/>
            </a:br>
            <a:r>
              <a:rPr lang="en-US" dirty="0"/>
              <a:t>First, the truth table:</a:t>
            </a:r>
          </a:p>
        </p:txBody>
      </p:sp>
      <p:graphicFrame>
        <p:nvGraphicFramePr>
          <p:cNvPr id="4" name="Table 3">
            <a:extLst>
              <a:ext uri="{FF2B5EF4-FFF2-40B4-BE49-F238E27FC236}">
                <a16:creationId xmlns:a16="http://schemas.microsoft.com/office/drawing/2014/main" id="{69FC0383-F1F3-4C3C-BEC1-9F88570C4F41}"/>
              </a:ext>
            </a:extLst>
          </p:cNvPr>
          <p:cNvGraphicFramePr>
            <a:graphicFrameLocks noGrp="1"/>
          </p:cNvGraphicFramePr>
          <p:nvPr>
            <p:extLst>
              <p:ext uri="{D42A27DB-BD31-4B8C-83A1-F6EECF244321}">
                <p14:modId xmlns:p14="http://schemas.microsoft.com/office/powerpoint/2010/main" val="3263632217"/>
              </p:ext>
            </p:extLst>
          </p:nvPr>
        </p:nvGraphicFramePr>
        <p:xfrm>
          <a:off x="838199" y="1825625"/>
          <a:ext cx="2975922" cy="3337560"/>
        </p:xfrm>
        <a:graphic>
          <a:graphicData uri="http://schemas.openxmlformats.org/drawingml/2006/table">
            <a:tbl>
              <a:tblPr firstRow="1" bandRow="1">
                <a:tableStyleId>{5940675A-B579-460E-94D1-54222C63F5DA}</a:tableStyleId>
              </a:tblPr>
              <a:tblGrid>
                <a:gridCol w="495987">
                  <a:extLst>
                    <a:ext uri="{9D8B030D-6E8A-4147-A177-3AD203B41FA5}">
                      <a16:colId xmlns:a16="http://schemas.microsoft.com/office/drawing/2014/main" val="4036434345"/>
                    </a:ext>
                  </a:extLst>
                </a:gridCol>
                <a:gridCol w="495987">
                  <a:extLst>
                    <a:ext uri="{9D8B030D-6E8A-4147-A177-3AD203B41FA5}">
                      <a16:colId xmlns:a16="http://schemas.microsoft.com/office/drawing/2014/main" val="140913450"/>
                    </a:ext>
                  </a:extLst>
                </a:gridCol>
                <a:gridCol w="495987">
                  <a:extLst>
                    <a:ext uri="{9D8B030D-6E8A-4147-A177-3AD203B41FA5}">
                      <a16:colId xmlns:a16="http://schemas.microsoft.com/office/drawing/2014/main" val="732482826"/>
                    </a:ext>
                  </a:extLst>
                </a:gridCol>
                <a:gridCol w="495987">
                  <a:extLst>
                    <a:ext uri="{9D8B030D-6E8A-4147-A177-3AD203B41FA5}">
                      <a16:colId xmlns:a16="http://schemas.microsoft.com/office/drawing/2014/main" val="2631309816"/>
                    </a:ext>
                  </a:extLst>
                </a:gridCol>
                <a:gridCol w="495987">
                  <a:extLst>
                    <a:ext uri="{9D8B030D-6E8A-4147-A177-3AD203B41FA5}">
                      <a16:colId xmlns:a16="http://schemas.microsoft.com/office/drawing/2014/main" val="4276389829"/>
                    </a:ext>
                  </a:extLst>
                </a:gridCol>
                <a:gridCol w="495987">
                  <a:extLst>
                    <a:ext uri="{9D8B030D-6E8A-4147-A177-3AD203B41FA5}">
                      <a16:colId xmlns:a16="http://schemas.microsoft.com/office/drawing/2014/main" val="1007525634"/>
                    </a:ext>
                  </a:extLst>
                </a:gridCol>
              </a:tblGrid>
              <a:tr h="370840">
                <a:tc>
                  <a:txBody>
                    <a:bodyPr/>
                    <a:lstStyle/>
                    <a:p>
                      <a:r>
                        <a:rPr lang="en-US" dirty="0"/>
                        <a:t>X1</a:t>
                      </a:r>
                    </a:p>
                  </a:txBody>
                  <a:tcPr>
                    <a:solidFill>
                      <a:schemeClr val="accent4">
                        <a:lumMod val="20000"/>
                        <a:lumOff val="80000"/>
                      </a:schemeClr>
                    </a:solidFill>
                  </a:tcPr>
                </a:tc>
                <a:tc>
                  <a:txBody>
                    <a:bodyPr/>
                    <a:lstStyle/>
                    <a:p>
                      <a:r>
                        <a:rPr lang="en-US" dirty="0"/>
                        <a:t>X2</a:t>
                      </a:r>
                    </a:p>
                  </a:txBody>
                  <a:tcPr>
                    <a:solidFill>
                      <a:schemeClr val="accent4">
                        <a:lumMod val="20000"/>
                        <a:lumOff val="80000"/>
                      </a:schemeClr>
                    </a:solidFill>
                  </a:tcPr>
                </a:tc>
                <a:tc>
                  <a:txBody>
                    <a:bodyPr/>
                    <a:lstStyle/>
                    <a:p>
                      <a:r>
                        <a:rPr lang="en-US" dirty="0"/>
                        <a:t>Y1</a:t>
                      </a:r>
                    </a:p>
                  </a:txBody>
                  <a:tcPr>
                    <a:solidFill>
                      <a:schemeClr val="accent4">
                        <a:lumMod val="20000"/>
                        <a:lumOff val="80000"/>
                      </a:schemeClr>
                    </a:solidFill>
                  </a:tcPr>
                </a:tc>
                <a:tc>
                  <a:txBody>
                    <a:bodyPr/>
                    <a:lstStyle/>
                    <a:p>
                      <a:r>
                        <a:rPr lang="en-US" dirty="0"/>
                        <a:t>Y2</a:t>
                      </a:r>
                    </a:p>
                  </a:txBody>
                  <a:tcPr>
                    <a:solidFill>
                      <a:schemeClr val="accent4">
                        <a:lumMod val="20000"/>
                        <a:lumOff val="80000"/>
                      </a:schemeClr>
                    </a:solidFill>
                  </a:tcPr>
                </a:tc>
                <a:tc>
                  <a:txBody>
                    <a:bodyPr/>
                    <a:lstStyle/>
                    <a:p>
                      <a:r>
                        <a:rPr lang="en-US" dirty="0"/>
                        <a:t>A1</a:t>
                      </a:r>
                    </a:p>
                  </a:txBody>
                  <a:tcPr/>
                </a:tc>
                <a:tc>
                  <a:txBody>
                    <a:bodyPr/>
                    <a:lstStyle/>
                    <a:p>
                      <a:r>
                        <a:rPr lang="en-US" dirty="0"/>
                        <a:t>A2</a:t>
                      </a:r>
                    </a:p>
                  </a:txBody>
                  <a:tcPr/>
                </a:tc>
                <a:extLst>
                  <a:ext uri="{0D108BD9-81ED-4DB2-BD59-A6C34878D82A}">
                    <a16:rowId xmlns:a16="http://schemas.microsoft.com/office/drawing/2014/main" val="606245292"/>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3814202963"/>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3162668005"/>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51720396"/>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382451815"/>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761759665"/>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3576085627"/>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2317073334"/>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446558782"/>
                  </a:ext>
                </a:extLst>
              </a:tr>
            </a:tbl>
          </a:graphicData>
        </a:graphic>
      </p:graphicFrame>
      <p:graphicFrame>
        <p:nvGraphicFramePr>
          <p:cNvPr id="5" name="Table 4">
            <a:extLst>
              <a:ext uri="{FF2B5EF4-FFF2-40B4-BE49-F238E27FC236}">
                <a16:creationId xmlns:a16="http://schemas.microsoft.com/office/drawing/2014/main" id="{79AD891B-C5C8-4048-ADFE-A55B1AC1D987}"/>
              </a:ext>
            </a:extLst>
          </p:cNvPr>
          <p:cNvGraphicFramePr>
            <a:graphicFrameLocks noGrp="1"/>
          </p:cNvGraphicFramePr>
          <p:nvPr>
            <p:extLst>
              <p:ext uri="{D42A27DB-BD31-4B8C-83A1-F6EECF244321}">
                <p14:modId xmlns:p14="http://schemas.microsoft.com/office/powerpoint/2010/main" val="3474427915"/>
              </p:ext>
            </p:extLst>
          </p:nvPr>
        </p:nvGraphicFramePr>
        <p:xfrm>
          <a:off x="5990967" y="1793618"/>
          <a:ext cx="2975922" cy="3337560"/>
        </p:xfrm>
        <a:graphic>
          <a:graphicData uri="http://schemas.openxmlformats.org/drawingml/2006/table">
            <a:tbl>
              <a:tblPr firstRow="1" bandRow="1">
                <a:tableStyleId>{5940675A-B579-460E-94D1-54222C63F5DA}</a:tableStyleId>
              </a:tblPr>
              <a:tblGrid>
                <a:gridCol w="495987">
                  <a:extLst>
                    <a:ext uri="{9D8B030D-6E8A-4147-A177-3AD203B41FA5}">
                      <a16:colId xmlns:a16="http://schemas.microsoft.com/office/drawing/2014/main" val="4036434345"/>
                    </a:ext>
                  </a:extLst>
                </a:gridCol>
                <a:gridCol w="495987">
                  <a:extLst>
                    <a:ext uri="{9D8B030D-6E8A-4147-A177-3AD203B41FA5}">
                      <a16:colId xmlns:a16="http://schemas.microsoft.com/office/drawing/2014/main" val="140913450"/>
                    </a:ext>
                  </a:extLst>
                </a:gridCol>
                <a:gridCol w="495987">
                  <a:extLst>
                    <a:ext uri="{9D8B030D-6E8A-4147-A177-3AD203B41FA5}">
                      <a16:colId xmlns:a16="http://schemas.microsoft.com/office/drawing/2014/main" val="732482826"/>
                    </a:ext>
                  </a:extLst>
                </a:gridCol>
                <a:gridCol w="495987">
                  <a:extLst>
                    <a:ext uri="{9D8B030D-6E8A-4147-A177-3AD203B41FA5}">
                      <a16:colId xmlns:a16="http://schemas.microsoft.com/office/drawing/2014/main" val="2631309816"/>
                    </a:ext>
                  </a:extLst>
                </a:gridCol>
                <a:gridCol w="495987">
                  <a:extLst>
                    <a:ext uri="{9D8B030D-6E8A-4147-A177-3AD203B41FA5}">
                      <a16:colId xmlns:a16="http://schemas.microsoft.com/office/drawing/2014/main" val="4276389829"/>
                    </a:ext>
                  </a:extLst>
                </a:gridCol>
                <a:gridCol w="495987">
                  <a:extLst>
                    <a:ext uri="{9D8B030D-6E8A-4147-A177-3AD203B41FA5}">
                      <a16:colId xmlns:a16="http://schemas.microsoft.com/office/drawing/2014/main" val="1007525634"/>
                    </a:ext>
                  </a:extLst>
                </a:gridCol>
              </a:tblGrid>
              <a:tr h="370840">
                <a:tc>
                  <a:txBody>
                    <a:bodyPr/>
                    <a:lstStyle/>
                    <a:p>
                      <a:r>
                        <a:rPr lang="en-US" dirty="0"/>
                        <a:t>X1</a:t>
                      </a:r>
                    </a:p>
                  </a:txBody>
                  <a:tcPr>
                    <a:solidFill>
                      <a:schemeClr val="accent4">
                        <a:lumMod val="20000"/>
                        <a:lumOff val="80000"/>
                      </a:schemeClr>
                    </a:solidFill>
                  </a:tcPr>
                </a:tc>
                <a:tc>
                  <a:txBody>
                    <a:bodyPr/>
                    <a:lstStyle/>
                    <a:p>
                      <a:r>
                        <a:rPr lang="en-US" dirty="0"/>
                        <a:t>X2</a:t>
                      </a:r>
                    </a:p>
                  </a:txBody>
                  <a:tcPr>
                    <a:solidFill>
                      <a:schemeClr val="accent4">
                        <a:lumMod val="20000"/>
                        <a:lumOff val="80000"/>
                      </a:schemeClr>
                    </a:solidFill>
                  </a:tcPr>
                </a:tc>
                <a:tc>
                  <a:txBody>
                    <a:bodyPr/>
                    <a:lstStyle/>
                    <a:p>
                      <a:r>
                        <a:rPr lang="en-US" dirty="0"/>
                        <a:t>Y1</a:t>
                      </a:r>
                    </a:p>
                  </a:txBody>
                  <a:tcPr>
                    <a:solidFill>
                      <a:schemeClr val="accent4">
                        <a:lumMod val="20000"/>
                        <a:lumOff val="80000"/>
                      </a:schemeClr>
                    </a:solidFill>
                  </a:tcPr>
                </a:tc>
                <a:tc>
                  <a:txBody>
                    <a:bodyPr/>
                    <a:lstStyle/>
                    <a:p>
                      <a:r>
                        <a:rPr lang="en-US" dirty="0"/>
                        <a:t>Y2</a:t>
                      </a:r>
                    </a:p>
                  </a:txBody>
                  <a:tcPr>
                    <a:solidFill>
                      <a:schemeClr val="accent4">
                        <a:lumMod val="20000"/>
                        <a:lumOff val="80000"/>
                      </a:schemeClr>
                    </a:solidFill>
                  </a:tcPr>
                </a:tc>
                <a:tc>
                  <a:txBody>
                    <a:bodyPr/>
                    <a:lstStyle/>
                    <a:p>
                      <a:r>
                        <a:rPr lang="en-US" dirty="0"/>
                        <a:t>A1</a:t>
                      </a:r>
                    </a:p>
                  </a:txBody>
                  <a:tcPr/>
                </a:tc>
                <a:tc>
                  <a:txBody>
                    <a:bodyPr/>
                    <a:lstStyle/>
                    <a:p>
                      <a:r>
                        <a:rPr lang="en-US" dirty="0"/>
                        <a:t>A2</a:t>
                      </a:r>
                    </a:p>
                  </a:txBody>
                  <a:tcPr/>
                </a:tc>
                <a:extLst>
                  <a:ext uri="{0D108BD9-81ED-4DB2-BD59-A6C34878D82A}">
                    <a16:rowId xmlns:a16="http://schemas.microsoft.com/office/drawing/2014/main" val="606245292"/>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3814202963"/>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3162668005"/>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51720396"/>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smtClean="0"/>
                        <a:t>0</a:t>
                      </a:r>
                      <a:endParaRPr lang="en-US" dirty="0"/>
                    </a:p>
                  </a:txBody>
                  <a:tcPr/>
                </a:tc>
                <a:tc>
                  <a:txBody>
                    <a:bodyPr/>
                    <a:lstStyle/>
                    <a:p>
                      <a:r>
                        <a:rPr lang="en-US" dirty="0"/>
                        <a:t>1</a:t>
                      </a:r>
                    </a:p>
                  </a:txBody>
                  <a:tcPr/>
                </a:tc>
                <a:extLst>
                  <a:ext uri="{0D108BD9-81ED-4DB2-BD59-A6C34878D82A}">
                    <a16:rowId xmlns:a16="http://schemas.microsoft.com/office/drawing/2014/main" val="1382451815"/>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2761759665"/>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3576085627"/>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317073334"/>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446558782"/>
                  </a:ext>
                </a:extLst>
              </a:tr>
            </a:tbl>
          </a:graphicData>
        </a:graphic>
      </p:graphicFrame>
    </p:spTree>
    <p:extLst>
      <p:ext uri="{BB962C8B-B14F-4D97-AF65-F5344CB8AC3E}">
        <p14:creationId xmlns:p14="http://schemas.microsoft.com/office/powerpoint/2010/main" val="349674005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85C94-7DC2-4896-A6B0-4BAA2702AF8E}"/>
              </a:ext>
            </a:extLst>
          </p:cNvPr>
          <p:cNvSpPr>
            <a:spLocks noGrp="1"/>
          </p:cNvSpPr>
          <p:nvPr>
            <p:ph type="title"/>
          </p:nvPr>
        </p:nvSpPr>
        <p:spPr/>
        <p:txBody>
          <a:bodyPr/>
          <a:lstStyle/>
          <a:p>
            <a:r>
              <a:rPr lang="en-US" dirty="0"/>
              <a:t>That’s a little … much</a:t>
            </a:r>
          </a:p>
        </p:txBody>
      </p:sp>
      <p:sp>
        <p:nvSpPr>
          <p:cNvPr id="3" name="Content Placeholder 2">
            <a:extLst>
              <a:ext uri="{FF2B5EF4-FFF2-40B4-BE49-F238E27FC236}">
                <a16:creationId xmlns:a16="http://schemas.microsoft.com/office/drawing/2014/main" id="{088B47EA-9747-4B72-BE4E-9C707750295F}"/>
              </a:ext>
            </a:extLst>
          </p:cNvPr>
          <p:cNvSpPr>
            <a:spLocks noGrp="1"/>
          </p:cNvSpPr>
          <p:nvPr>
            <p:ph idx="1"/>
          </p:nvPr>
        </p:nvSpPr>
        <p:spPr/>
        <p:txBody>
          <a:bodyPr/>
          <a:lstStyle/>
          <a:p>
            <a:pPr marL="0" indent="0">
              <a:buNone/>
            </a:pPr>
            <a:r>
              <a:rPr lang="en-US" dirty="0"/>
              <a:t>A2 is still X2 XOR Y2. That’s not so bad.</a:t>
            </a:r>
          </a:p>
          <a:p>
            <a:pPr marL="0" indent="0">
              <a:buNone/>
            </a:pPr>
            <a:r>
              <a:rPr lang="en-US" dirty="0"/>
              <a:t>But A1 is not just X1 XOR Y1. Because of carry. Just like when you add 9+5 and get 14 – that 1 is a carry.</a:t>
            </a:r>
          </a:p>
          <a:p>
            <a:pPr marL="0" indent="0">
              <a:buNone/>
            </a:pPr>
            <a:r>
              <a:rPr lang="en-US" dirty="0"/>
              <a:t>A1 = X1 XOR </a:t>
            </a:r>
            <a:r>
              <a:rPr lang="en-US" dirty="0" smtClean="0"/>
              <a:t>Y1 </a:t>
            </a:r>
            <a:r>
              <a:rPr lang="en-US" dirty="0"/>
              <a:t>XOR (X2 AND Y2)</a:t>
            </a:r>
          </a:p>
          <a:p>
            <a:pPr marL="0" indent="0">
              <a:buNone/>
            </a:pPr>
            <a:endParaRPr lang="en-US" dirty="0"/>
          </a:p>
          <a:p>
            <a:pPr marL="0" indent="0">
              <a:buNone/>
            </a:pPr>
            <a:r>
              <a:rPr lang="en-US" dirty="0"/>
              <a:t>Imagine doing this with 32 bit addition… Or 64…</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3507720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59D5E-8EA2-4D40-90F3-C402596A39E9}"/>
              </a:ext>
            </a:extLst>
          </p:cNvPr>
          <p:cNvSpPr>
            <a:spLocks noGrp="1"/>
          </p:cNvSpPr>
          <p:nvPr>
            <p:ph type="title"/>
          </p:nvPr>
        </p:nvSpPr>
        <p:spPr/>
        <p:txBody>
          <a:bodyPr/>
          <a:lstStyle/>
          <a:p>
            <a:r>
              <a:rPr lang="en-US" dirty="0"/>
              <a:t>An easier way!</a:t>
            </a:r>
          </a:p>
        </p:txBody>
      </p:sp>
      <p:sp>
        <p:nvSpPr>
          <p:cNvPr id="3" name="Content Placeholder 2">
            <a:extLst>
              <a:ext uri="{FF2B5EF4-FFF2-40B4-BE49-F238E27FC236}">
                <a16:creationId xmlns:a16="http://schemas.microsoft.com/office/drawing/2014/main" id="{FA636193-26DE-4AE5-BF1C-D63EF60D65DC}"/>
              </a:ext>
            </a:extLst>
          </p:cNvPr>
          <p:cNvSpPr>
            <a:spLocks noGrp="1"/>
          </p:cNvSpPr>
          <p:nvPr>
            <p:ph idx="1"/>
          </p:nvPr>
        </p:nvSpPr>
        <p:spPr/>
        <p:txBody>
          <a:bodyPr/>
          <a:lstStyle/>
          <a:p>
            <a:pPr marL="0" indent="0">
              <a:buNone/>
            </a:pPr>
            <a:r>
              <a:rPr lang="en-US" dirty="0"/>
              <a:t>Let’s consider a different approach.</a:t>
            </a:r>
          </a:p>
          <a:p>
            <a:pPr marL="0" indent="0">
              <a:buNone/>
            </a:pPr>
            <a:endParaRPr lang="en-US" dirty="0"/>
          </a:p>
          <a:p>
            <a:pPr marL="0" indent="0">
              <a:buNone/>
            </a:pPr>
            <a:r>
              <a:rPr lang="en-US" dirty="0"/>
              <a:t>What if we had a circuit of some sort that took carry into account. It had a carry input and a carry output.</a:t>
            </a:r>
          </a:p>
          <a:p>
            <a:pPr marL="0" indent="0">
              <a:buNone/>
            </a:pPr>
            <a:endParaRPr lang="en-US" dirty="0"/>
          </a:p>
          <a:p>
            <a:pPr marL="0" indent="0">
              <a:buNone/>
            </a:pPr>
            <a:r>
              <a:rPr lang="en-US" dirty="0"/>
              <a:t>Functionally, something like this:</a:t>
            </a:r>
          </a:p>
          <a:p>
            <a:pPr marL="0" indent="0">
              <a:buNone/>
            </a:pPr>
            <a:r>
              <a:rPr lang="en-US" dirty="0" err="1"/>
              <a:t>s,c</a:t>
            </a:r>
            <a:r>
              <a:rPr lang="en-US" baseline="-25000" dirty="0" err="1"/>
              <a:t>o</a:t>
            </a:r>
            <a:r>
              <a:rPr lang="en-US" dirty="0"/>
              <a:t> = add(</a:t>
            </a:r>
            <a:r>
              <a:rPr lang="en-US" dirty="0" err="1"/>
              <a:t>x,y,c</a:t>
            </a:r>
            <a:r>
              <a:rPr lang="en-US" baseline="-25000" dirty="0" err="1"/>
              <a:t>i</a:t>
            </a:r>
            <a:r>
              <a:rPr lang="en-US" dirty="0"/>
              <a:t>)</a:t>
            </a:r>
          </a:p>
          <a:p>
            <a:pPr marL="0" indent="0">
              <a:buNone/>
            </a:pPr>
            <a:r>
              <a:rPr lang="en-US" dirty="0"/>
              <a:t>(s = sum, c is carry in/out, x and y are inputs)</a:t>
            </a:r>
          </a:p>
        </p:txBody>
      </p:sp>
    </p:spTree>
    <p:extLst>
      <p:ext uri="{BB962C8B-B14F-4D97-AF65-F5344CB8AC3E}">
        <p14:creationId xmlns:p14="http://schemas.microsoft.com/office/powerpoint/2010/main" val="402393110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12D1D-6B60-422D-8B2D-DD8319228E94}"/>
              </a:ext>
            </a:extLst>
          </p:cNvPr>
          <p:cNvSpPr>
            <a:spLocks noGrp="1"/>
          </p:cNvSpPr>
          <p:nvPr>
            <p:ph type="title"/>
          </p:nvPr>
        </p:nvSpPr>
        <p:spPr/>
        <p:txBody>
          <a:bodyPr/>
          <a:lstStyle/>
          <a:p>
            <a:r>
              <a:rPr lang="en-US" dirty="0"/>
              <a:t>What would that truth table look like?</a:t>
            </a:r>
          </a:p>
        </p:txBody>
      </p:sp>
      <p:graphicFrame>
        <p:nvGraphicFramePr>
          <p:cNvPr id="4" name="Table 3">
            <a:extLst>
              <a:ext uri="{FF2B5EF4-FFF2-40B4-BE49-F238E27FC236}">
                <a16:creationId xmlns:a16="http://schemas.microsoft.com/office/drawing/2014/main" id="{45208215-D688-424A-9B38-AEE9514170A0}"/>
              </a:ext>
            </a:extLst>
          </p:cNvPr>
          <p:cNvGraphicFramePr>
            <a:graphicFrameLocks noGrp="1"/>
          </p:cNvGraphicFramePr>
          <p:nvPr>
            <p:extLst>
              <p:ext uri="{D42A27DB-BD31-4B8C-83A1-F6EECF244321}">
                <p14:modId xmlns:p14="http://schemas.microsoft.com/office/powerpoint/2010/main" val="429383330"/>
              </p:ext>
            </p:extLst>
          </p:nvPr>
        </p:nvGraphicFramePr>
        <p:xfrm>
          <a:off x="1595395" y="1690688"/>
          <a:ext cx="8128000" cy="3337560"/>
        </p:xfrm>
        <a:graphic>
          <a:graphicData uri="http://schemas.openxmlformats.org/drawingml/2006/table">
            <a:tbl>
              <a:tblPr firstRow="1" bandRow="1">
                <a:tableStyleId>{5940675A-B579-460E-94D1-54222C63F5DA}</a:tableStyleId>
              </a:tblPr>
              <a:tblGrid>
                <a:gridCol w="1625600">
                  <a:extLst>
                    <a:ext uri="{9D8B030D-6E8A-4147-A177-3AD203B41FA5}">
                      <a16:colId xmlns:a16="http://schemas.microsoft.com/office/drawing/2014/main" val="1864016587"/>
                    </a:ext>
                  </a:extLst>
                </a:gridCol>
                <a:gridCol w="1625600">
                  <a:extLst>
                    <a:ext uri="{9D8B030D-6E8A-4147-A177-3AD203B41FA5}">
                      <a16:colId xmlns:a16="http://schemas.microsoft.com/office/drawing/2014/main" val="1969807880"/>
                    </a:ext>
                  </a:extLst>
                </a:gridCol>
                <a:gridCol w="1625600">
                  <a:extLst>
                    <a:ext uri="{9D8B030D-6E8A-4147-A177-3AD203B41FA5}">
                      <a16:colId xmlns:a16="http://schemas.microsoft.com/office/drawing/2014/main" val="2149418816"/>
                    </a:ext>
                  </a:extLst>
                </a:gridCol>
                <a:gridCol w="1625600">
                  <a:extLst>
                    <a:ext uri="{9D8B030D-6E8A-4147-A177-3AD203B41FA5}">
                      <a16:colId xmlns:a16="http://schemas.microsoft.com/office/drawing/2014/main" val="3212976931"/>
                    </a:ext>
                  </a:extLst>
                </a:gridCol>
                <a:gridCol w="1625600">
                  <a:extLst>
                    <a:ext uri="{9D8B030D-6E8A-4147-A177-3AD203B41FA5}">
                      <a16:colId xmlns:a16="http://schemas.microsoft.com/office/drawing/2014/main" val="1186993943"/>
                    </a:ext>
                  </a:extLst>
                </a:gridCol>
              </a:tblGrid>
              <a:tr h="370840">
                <a:tc>
                  <a:txBody>
                    <a:bodyPr/>
                    <a:lstStyle/>
                    <a:p>
                      <a:r>
                        <a:rPr lang="en-US" dirty="0"/>
                        <a:t>X</a:t>
                      </a:r>
                    </a:p>
                  </a:txBody>
                  <a:tcPr>
                    <a:solidFill>
                      <a:schemeClr val="accent4">
                        <a:lumMod val="20000"/>
                        <a:lumOff val="80000"/>
                      </a:schemeClr>
                    </a:solidFill>
                  </a:tcPr>
                </a:tc>
                <a:tc>
                  <a:txBody>
                    <a:bodyPr/>
                    <a:lstStyle/>
                    <a:p>
                      <a:r>
                        <a:rPr lang="en-US" dirty="0"/>
                        <a:t>Y</a:t>
                      </a:r>
                    </a:p>
                  </a:txBody>
                  <a:tcPr>
                    <a:solidFill>
                      <a:schemeClr val="accent4">
                        <a:lumMod val="20000"/>
                        <a:lumOff val="80000"/>
                      </a:schemeClr>
                    </a:solidFill>
                  </a:tcPr>
                </a:tc>
                <a:tc>
                  <a:txBody>
                    <a:bodyPr/>
                    <a:lstStyle/>
                    <a:p>
                      <a:r>
                        <a:rPr lang="en-US" dirty="0" err="1"/>
                        <a:t>C</a:t>
                      </a:r>
                      <a:r>
                        <a:rPr lang="en-US" baseline="-25000" dirty="0" err="1"/>
                        <a:t>in</a:t>
                      </a:r>
                      <a:endParaRPr lang="en-US" baseline="-25000" dirty="0"/>
                    </a:p>
                  </a:txBody>
                  <a:tcPr>
                    <a:solidFill>
                      <a:schemeClr val="accent4">
                        <a:lumMod val="20000"/>
                        <a:lumOff val="80000"/>
                      </a:schemeClr>
                    </a:solidFill>
                  </a:tcPr>
                </a:tc>
                <a:tc>
                  <a:txBody>
                    <a:bodyPr/>
                    <a:lstStyle/>
                    <a:p>
                      <a:r>
                        <a:rPr lang="en-US" dirty="0"/>
                        <a:t>S</a:t>
                      </a:r>
                    </a:p>
                  </a:txBody>
                  <a:tcPr/>
                </a:tc>
                <a:tc>
                  <a:txBody>
                    <a:bodyPr/>
                    <a:lstStyle/>
                    <a:p>
                      <a:r>
                        <a:rPr lang="en-US" dirty="0" err="1"/>
                        <a:t>C</a:t>
                      </a:r>
                      <a:r>
                        <a:rPr lang="en-US" baseline="-25000" dirty="0" err="1"/>
                        <a:t>out</a:t>
                      </a:r>
                      <a:endParaRPr lang="en-US" baseline="-25000" dirty="0"/>
                    </a:p>
                  </a:txBody>
                  <a:tcPr/>
                </a:tc>
                <a:extLst>
                  <a:ext uri="{0D108BD9-81ED-4DB2-BD59-A6C34878D82A}">
                    <a16:rowId xmlns:a16="http://schemas.microsoft.com/office/drawing/2014/main" val="4267295946"/>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610486085"/>
                  </a:ext>
                </a:extLst>
              </a:tr>
              <a:tr h="370840">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596223502"/>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3230149780"/>
                  </a:ext>
                </a:extLst>
              </a:tr>
              <a:tr h="370840">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396205254"/>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3824549529"/>
                  </a:ext>
                </a:extLst>
              </a:tr>
              <a:tr h="370840">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902819061"/>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0</a:t>
                      </a:r>
                    </a:p>
                  </a:txBody>
                  <a:tcPr>
                    <a:solidFill>
                      <a:schemeClr val="accent4">
                        <a:lumMod val="20000"/>
                        <a:lumOff val="80000"/>
                      </a:schemeClr>
                    </a:solidFill>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327070973"/>
                  </a:ext>
                </a:extLst>
              </a:tr>
              <a:tr h="370840">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solidFill>
                      <a:schemeClr val="accent4">
                        <a:lumMod val="20000"/>
                        <a:lumOff val="80000"/>
                      </a:schemeClr>
                    </a:solidFill>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814267478"/>
                  </a:ext>
                </a:extLst>
              </a:tr>
            </a:tbl>
          </a:graphicData>
        </a:graphic>
      </p:graphicFrame>
    </p:spTree>
    <p:extLst>
      <p:ext uri="{BB962C8B-B14F-4D97-AF65-F5344CB8AC3E}">
        <p14:creationId xmlns:p14="http://schemas.microsoft.com/office/powerpoint/2010/main" val="367084856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5053D-CDAF-4523-9E81-39DAE1682F61}"/>
              </a:ext>
            </a:extLst>
          </p:cNvPr>
          <p:cNvSpPr>
            <a:spLocks noGrp="1"/>
          </p:cNvSpPr>
          <p:nvPr>
            <p:ph type="title"/>
          </p:nvPr>
        </p:nvSpPr>
        <p:spPr/>
        <p:txBody>
          <a:bodyPr/>
          <a:lstStyle/>
          <a:p>
            <a:r>
              <a:rPr lang="en-US" dirty="0"/>
              <a:t>Can we build that?</a:t>
            </a:r>
          </a:p>
        </p:txBody>
      </p:sp>
      <p:sp>
        <p:nvSpPr>
          <p:cNvPr id="3" name="Content Placeholder 2">
            <a:extLst>
              <a:ext uri="{FF2B5EF4-FFF2-40B4-BE49-F238E27FC236}">
                <a16:creationId xmlns:a16="http://schemas.microsoft.com/office/drawing/2014/main" id="{CF33ED0B-36D5-4BDB-9549-27F8080BE0EA}"/>
              </a:ext>
            </a:extLst>
          </p:cNvPr>
          <p:cNvSpPr>
            <a:spLocks noGrp="1"/>
          </p:cNvSpPr>
          <p:nvPr>
            <p:ph idx="1"/>
          </p:nvPr>
        </p:nvSpPr>
        <p:spPr/>
        <p:txBody>
          <a:bodyPr/>
          <a:lstStyle/>
          <a:p>
            <a:pPr marL="0" indent="0">
              <a:buNone/>
            </a:pPr>
            <a:r>
              <a:rPr lang="en-US" dirty="0"/>
              <a:t>YES!</a:t>
            </a:r>
          </a:p>
          <a:p>
            <a:pPr marL="0" indent="0">
              <a:buNone/>
            </a:pPr>
            <a:endParaRPr lang="en-US" dirty="0"/>
          </a:p>
          <a:p>
            <a:pPr marL="0" indent="0">
              <a:buNone/>
            </a:pPr>
            <a:r>
              <a:rPr lang="en-US" dirty="0"/>
              <a:t>S = X XOR Y XOR </a:t>
            </a:r>
            <a:r>
              <a:rPr lang="en-US" dirty="0" err="1"/>
              <a:t>C</a:t>
            </a:r>
            <a:r>
              <a:rPr lang="en-US" baseline="-25000" dirty="0" err="1"/>
              <a:t>in</a:t>
            </a:r>
            <a:endParaRPr lang="en-US" baseline="-25000" dirty="0"/>
          </a:p>
          <a:p>
            <a:pPr marL="0" indent="0">
              <a:buNone/>
            </a:pPr>
            <a:r>
              <a:rPr lang="en-US" dirty="0" err="1"/>
              <a:t>C</a:t>
            </a:r>
            <a:r>
              <a:rPr lang="en-US" baseline="-25000" dirty="0" err="1"/>
              <a:t>out</a:t>
            </a:r>
            <a:r>
              <a:rPr lang="en-US" dirty="0"/>
              <a:t> = X AND Y OR (( X XOR Y) AND </a:t>
            </a:r>
            <a:r>
              <a:rPr lang="en-US" dirty="0" err="1"/>
              <a:t>C</a:t>
            </a:r>
            <a:r>
              <a:rPr lang="en-US" baseline="-25000" dirty="0" err="1"/>
              <a:t>in</a:t>
            </a:r>
            <a:r>
              <a:rPr lang="en-US" dirty="0"/>
              <a:t>)</a:t>
            </a:r>
          </a:p>
        </p:txBody>
      </p:sp>
    </p:spTree>
    <p:extLst>
      <p:ext uri="{BB962C8B-B14F-4D97-AF65-F5344CB8AC3E}">
        <p14:creationId xmlns:p14="http://schemas.microsoft.com/office/powerpoint/2010/main" val="150574694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 up of text on a white background&#10;&#10;Description generated with high confidence">
            <a:extLst>
              <a:ext uri="{FF2B5EF4-FFF2-40B4-BE49-F238E27FC236}">
                <a16:creationId xmlns:a16="http://schemas.microsoft.com/office/drawing/2014/main" id="{80448D5B-F500-45C2-89A9-4213A8A76463}"/>
              </a:ext>
            </a:extLst>
          </p:cNvPr>
          <p:cNvPicPr>
            <a:picLocks noChangeAspect="1"/>
          </p:cNvPicPr>
          <p:nvPr/>
        </p:nvPicPr>
        <p:blipFill rotWithShape="1">
          <a:blip r:embed="rId2">
            <a:extLst>
              <a:ext uri="{28A0092B-C50C-407E-A947-70E740481C1C}">
                <a14:useLocalDpi xmlns:a14="http://schemas.microsoft.com/office/drawing/2010/main" val="0"/>
              </a:ext>
            </a:extLst>
          </a:blip>
          <a:srcRect l="1923" t="9012" r="5020" b="3927"/>
          <a:stretch/>
        </p:blipFill>
        <p:spPr>
          <a:xfrm>
            <a:off x="232941" y="447472"/>
            <a:ext cx="11613778" cy="6284068"/>
          </a:xfrm>
          <a:prstGeom prst="rect">
            <a:avLst/>
          </a:prstGeom>
        </p:spPr>
      </p:pic>
    </p:spTree>
    <p:extLst>
      <p:ext uri="{BB962C8B-B14F-4D97-AF65-F5344CB8AC3E}">
        <p14:creationId xmlns:p14="http://schemas.microsoft.com/office/powerpoint/2010/main" val="30105834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6306</TotalTime>
  <Words>3839</Words>
  <Application>Microsoft Office PowerPoint</Application>
  <PresentationFormat>Widescreen</PresentationFormat>
  <Paragraphs>732</Paragraphs>
  <Slides>66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Calibri Light</vt:lpstr>
      <vt:lpstr>Consolas</vt:lpstr>
      <vt:lpstr>Wingdings</vt:lpstr>
      <vt:lpstr>Office Theme</vt:lpstr>
      <vt:lpstr>Intro &amp; Refreshers</vt:lpstr>
      <vt:lpstr>What’s Expected From You</vt:lpstr>
      <vt:lpstr>Computer Architect</vt:lpstr>
      <vt:lpstr>This Course</vt:lpstr>
      <vt:lpstr>Abstractions</vt:lpstr>
      <vt:lpstr>Then why learn?</vt:lpstr>
      <vt:lpstr>Goals:</vt:lpstr>
      <vt:lpstr>Von Neumann Model</vt:lpstr>
      <vt:lpstr>How do we represent numbers in a computer?</vt:lpstr>
      <vt:lpstr>Integers in base 10</vt:lpstr>
      <vt:lpstr>Integers in base 2 (binary)</vt:lpstr>
      <vt:lpstr>Operations - Addition</vt:lpstr>
      <vt:lpstr>Operations - Subtraction</vt:lpstr>
      <vt:lpstr>Operations – Multiplication Special Case</vt:lpstr>
      <vt:lpstr>Operations - Multiplication</vt:lpstr>
      <vt:lpstr>How can we represent negative numbers?</vt:lpstr>
      <vt:lpstr>Two’s Complement</vt:lpstr>
      <vt:lpstr>One More Thing…</vt:lpstr>
      <vt:lpstr>Why do we care so much about base 2/binary?</vt:lpstr>
      <vt:lpstr>Binary Coded Decimal (BCD)</vt:lpstr>
      <vt:lpstr>Hexadecimal</vt:lpstr>
      <vt:lpstr>Hexadecimal Mapping</vt:lpstr>
      <vt:lpstr>Words</vt:lpstr>
      <vt:lpstr>Logic Operators</vt:lpstr>
      <vt:lpstr>Shifting &amp; Masking</vt:lpstr>
      <vt:lpstr>Shifting</vt:lpstr>
      <vt:lpstr>Masking</vt:lpstr>
      <vt:lpstr>Masking</vt:lpstr>
      <vt:lpstr>Conversion from decimal  hexadecimal</vt:lpstr>
      <vt:lpstr>Decimal to Hexadecimal</vt:lpstr>
      <vt:lpstr>Hex  Binary</vt:lpstr>
      <vt:lpstr>Floating Point in base 2</vt:lpstr>
      <vt:lpstr>IEEE 754</vt:lpstr>
      <vt:lpstr>Strings</vt:lpstr>
      <vt:lpstr>Unicode</vt:lpstr>
      <vt:lpstr>Unicode Part 2</vt:lpstr>
      <vt:lpstr>Unicode Encoding</vt:lpstr>
      <vt:lpstr>UTF-16</vt:lpstr>
      <vt:lpstr>Unicode Encoding – UTF-8</vt:lpstr>
      <vt:lpstr>How does that work?</vt:lpstr>
      <vt:lpstr>Some basic physics…</vt:lpstr>
      <vt:lpstr>Resistance and Heat  </vt:lpstr>
      <vt:lpstr>Why do we use base two?</vt:lpstr>
      <vt:lpstr>Why do we use base two?</vt:lpstr>
      <vt:lpstr>How do we turn all of this into a computer?</vt:lpstr>
      <vt:lpstr>Konrad Zuse</vt:lpstr>
      <vt:lpstr>Relays</vt:lpstr>
      <vt:lpstr>PowerPoint Presentation</vt:lpstr>
      <vt:lpstr>At the same time…</vt:lpstr>
      <vt:lpstr>Both men were interrupted by World War 2</vt:lpstr>
      <vt:lpstr>Vacuum Tubes</vt:lpstr>
      <vt:lpstr>The Transistor!</vt:lpstr>
      <vt:lpstr>Integrated Circuits</vt:lpstr>
      <vt:lpstr>The First Processor</vt:lpstr>
      <vt:lpstr>Enough history… More review…</vt:lpstr>
      <vt:lpstr>PowerPoint Presentation</vt:lpstr>
      <vt:lpstr>Circuit Diagrams</vt:lpstr>
      <vt:lpstr>Different Representations of the same thing</vt:lpstr>
      <vt:lpstr>Adding Two Numbers</vt:lpstr>
      <vt:lpstr>A 1 bit adder is just an XOR</vt:lpstr>
      <vt:lpstr>Let’s make it a 2 bit adder.  First, the truth table:</vt:lpstr>
      <vt:lpstr>That’s a little … much</vt:lpstr>
      <vt:lpstr>An easier way!</vt:lpstr>
      <vt:lpstr>What would that truth table look like?</vt:lpstr>
      <vt:lpstr>Can we build that?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Refreshers</dc:title>
  <dc:creator>Michael Phipps</dc:creator>
  <cp:lastModifiedBy>Phipps, Michael</cp:lastModifiedBy>
  <cp:revision>35</cp:revision>
  <dcterms:created xsi:type="dcterms:W3CDTF">2018-07-05T20:51:14Z</dcterms:created>
  <dcterms:modified xsi:type="dcterms:W3CDTF">2021-02-08T17:58:06Z</dcterms:modified>
</cp:coreProperties>
</file>