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9" r:id="rId3"/>
    <p:sldId id="257" r:id="rId4"/>
    <p:sldId id="268" r:id="rId5"/>
    <p:sldId id="258" r:id="rId6"/>
    <p:sldId id="259" r:id="rId7"/>
    <p:sldId id="260" r:id="rId8"/>
    <p:sldId id="261" r:id="rId9"/>
    <p:sldId id="327" r:id="rId10"/>
    <p:sldId id="262" r:id="rId11"/>
    <p:sldId id="263" r:id="rId12"/>
    <p:sldId id="264" r:id="rId13"/>
    <p:sldId id="265" r:id="rId14"/>
    <p:sldId id="266" r:id="rId15"/>
    <p:sldId id="267" r:id="rId16"/>
    <p:sldId id="271" r:id="rId17"/>
    <p:sldId id="308" r:id="rId18"/>
    <p:sldId id="269" r:id="rId19"/>
    <p:sldId id="288" r:id="rId20"/>
    <p:sldId id="289" r:id="rId21"/>
    <p:sldId id="290" r:id="rId22"/>
    <p:sldId id="291" r:id="rId23"/>
    <p:sldId id="321" r:id="rId24"/>
    <p:sldId id="32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7F53-BC42-43E1-B2D9-10EAA0997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17031-93C8-46CF-86FC-0CE2D8B6E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5470B-217E-489E-9C09-EA01045E2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92F0-9B5B-4BD1-9E6A-D20F2683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C1DCD-870C-481A-A476-5C631601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6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FA02D-36F8-41AA-A8C6-EAB5EF81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85D47-4E47-49D4-B10C-101B52A22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5AF94-AC75-4A0A-821B-33328DFE1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2FAD5-7CD0-4AB6-B823-1F50D690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526F6-637F-41C3-9A03-E5A784EA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2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9A6D-7920-4134-A14A-03DD0EE52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43214-FB86-434A-8F01-0BB4D379B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51D49-85D3-4C4E-9D50-FDA608E49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C6CE3-1E31-474B-8A59-EAF47B952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56BB9-6162-4C76-B825-77D92291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87AC-401E-4354-AE29-9A8E09B0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56762-0CAE-4AC6-9945-CE4CC9DDB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E5C93-B337-48D8-AF83-F6CEAC6E9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F3869-8180-4053-A11C-6C6705D5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AB09C-6266-4C93-8203-398718319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77CE9-E076-4A0B-AE71-378B9553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80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5AF9-E279-47C6-A2A1-CC8ACDB98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53EC7-1300-46ED-9CC8-4E96D88A8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8C2B-07A7-4F2B-AA9F-0568060D7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6F992E-53B4-4E7D-9CA1-929997C27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5011E-99F6-4AB9-BD67-201C29C1F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24628-34C8-45D4-9451-9041589E6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7C17AE-5273-45E5-9A84-F5875B9E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C12AE-BDB2-4BEE-AC86-313A2C67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9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BBF58-769C-4D71-BFBA-595B1F39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5F3D1-DEB3-40A8-8330-DD87D1E60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D985C-9F14-42A8-8681-44ACB592D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E413A-C09E-4A6F-B7AA-9BDB30F10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72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BD8A7D-B5A4-43AF-9074-C51AC8CA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CCCAA-C472-4ED6-9176-29E35BB7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C8AB1-09B6-450F-B92E-30DC8305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1FA8-7885-4B9C-9D6F-A9F749C01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5D362-20CB-4992-B46F-BBD8FC2F3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4005F-D452-4716-BD6E-526D5658F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F5314-EBB1-4731-AC2F-309697CC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6AECC-8391-41D5-AC4E-C335DE88B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79C19-3F62-4233-83A9-5ADC29464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28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3CE0-36E4-4772-87AD-BEF1FA1D3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D84A9B-F9F6-401E-8243-7343DB6D3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D5AA7-A254-427E-9466-53ADAC1D6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CBE8C-3DE3-404E-9FBD-16512121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1EFEA-0672-40B9-B217-65A85919F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CD0DB-2774-400E-A289-A7EFEC74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6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F883-2ABB-4A98-8E1B-555E6FF4E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9D6730-85D3-4755-88DF-0270E3DFC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0A53C-6AC0-40DB-B658-11229245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C8D7-C05E-4864-81A3-B41E88286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EC6D8-9F2D-409F-871F-562AC68B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8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17163F-351D-40CA-BECE-04D6D491F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3E5059-E0E6-4675-A657-DF0073DD8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537C9-96A3-4857-B093-400F7E09A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1AFC7-D4C3-4CD0-8B94-5FB04E49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30668-312D-4880-AB6D-B1DBA3E4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1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11BAAE-B84F-4E75-98DB-BC23A05CD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3177C-3100-4261-A1F3-58F254E5A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79EB4-9EAA-4680-91A1-456C17543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01780-FEA3-42A3-9289-F62CA76DB1FE}" type="datetimeFigureOut">
              <a:rPr lang="en-US" smtClean="0"/>
              <a:t>8/16/2018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FFBC4-01FB-457B-9178-4FD842014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0444-A384-45E7-AC6A-63FCFAEE5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08278-D634-4702-8963-8A1141F5D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53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alumni.media.mit.edu/~mcnerney/2009-4004/4004-masks-composite.jpg">
            <a:extLst>
              <a:ext uri="{FF2B5EF4-FFF2-40B4-BE49-F238E27FC236}">
                <a16:creationId xmlns:a16="http://schemas.microsoft.com/office/drawing/2014/main" id="{3BC0B07F-43DC-434C-B23F-FEFC9EA3C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74659" cy="686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E21804F-9C2A-402C-B763-A25760327F81}"/>
              </a:ext>
            </a:extLst>
          </p:cNvPr>
          <p:cNvSpPr/>
          <p:nvPr/>
        </p:nvSpPr>
        <p:spPr>
          <a:xfrm rot="16200000">
            <a:off x="9331694" y="1736674"/>
            <a:ext cx="2924432" cy="2838502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Circle">
              <a:avLst/>
            </a:prstTxWarp>
            <a:noAutofit/>
          </a:bodyPr>
          <a:lstStyle/>
          <a:p>
            <a:pPr algn="ctr"/>
            <a:r>
              <a:rPr lang="en-US" sz="48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 Micro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82714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C959-F510-4E54-A758-59DDBDD10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743"/>
            <a:ext cx="10515600" cy="1325563"/>
          </a:xfrm>
        </p:spPr>
        <p:txBody>
          <a:bodyPr/>
          <a:lstStyle/>
          <a:p>
            <a:r>
              <a:rPr lang="en-US" dirty="0"/>
              <a:t>Architecture: Von Neumann Vs Harvard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8836D-1A48-4996-9C44-283F7D777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7572" y="3668486"/>
            <a:ext cx="5181600" cy="2747963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Von Neumann </a:t>
            </a:r>
          </a:p>
          <a:p>
            <a:pPr marL="0" indent="0">
              <a:buNone/>
            </a:pPr>
            <a:r>
              <a:rPr lang="en-US" dirty="0"/>
              <a:t>All memory together</a:t>
            </a:r>
          </a:p>
          <a:p>
            <a:pPr marL="0" indent="0">
              <a:buNone/>
            </a:pPr>
            <a:r>
              <a:rPr lang="en-US" dirty="0"/>
              <a:t>Everything is in one address space</a:t>
            </a:r>
          </a:p>
          <a:p>
            <a:pPr marL="0" indent="0">
              <a:buNone/>
            </a:pPr>
            <a:r>
              <a:rPr lang="en-US" dirty="0"/>
              <a:t>Program, Data, who cares?</a:t>
            </a:r>
          </a:p>
          <a:p>
            <a:pPr marL="0" indent="0">
              <a:buNone/>
            </a:pPr>
            <a:r>
              <a:rPr lang="en-US" dirty="0"/>
              <a:t>No partitioning problem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07BE1F-8B7C-41AB-99A4-9EC5796B8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943" y="3668486"/>
            <a:ext cx="5181600" cy="3189514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Harvard (Howard Aiken)</a:t>
            </a:r>
          </a:p>
          <a:p>
            <a:pPr marL="0" indent="0">
              <a:buNone/>
            </a:pPr>
            <a:r>
              <a:rPr lang="en-US" dirty="0"/>
              <a:t>Program memory &amp; data memory</a:t>
            </a:r>
          </a:p>
          <a:p>
            <a:pPr marL="0" indent="0">
              <a:buNone/>
            </a:pPr>
            <a:r>
              <a:rPr lang="en-US" dirty="0"/>
              <a:t>2 different address spaces</a:t>
            </a:r>
          </a:p>
          <a:p>
            <a:pPr marL="0" indent="0">
              <a:buNone/>
            </a:pPr>
            <a:r>
              <a:rPr lang="en-US" dirty="0"/>
              <a:t>Programs in different memory</a:t>
            </a:r>
          </a:p>
          <a:p>
            <a:pPr marL="0" indent="0">
              <a:buNone/>
            </a:pPr>
            <a:r>
              <a:rPr lang="en-US" dirty="0"/>
              <a:t>Hard to debug </a:t>
            </a:r>
          </a:p>
          <a:p>
            <a:pPr marL="0" indent="0">
              <a:buNone/>
            </a:pPr>
            <a:r>
              <a:rPr lang="en-US" dirty="0"/>
              <a:t>Can’t JIT or self-modify code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266" name="Picture 2" descr="Aiken.jpeg">
            <a:extLst>
              <a:ext uri="{FF2B5EF4-FFF2-40B4-BE49-F238E27FC236}">
                <a16:creationId xmlns:a16="http://schemas.microsoft.com/office/drawing/2014/main" id="{D8FB7915-771A-4F27-A88E-C464D56BB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757" y="1538743"/>
            <a:ext cx="2163536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5C9889-2D2C-4DF0-A383-5F75B74F8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634" y="1544748"/>
            <a:ext cx="1543292" cy="201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76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B570-E101-4CDA-9877-4FA2D392E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CPU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15571-096D-4D2E-A6A4-F11A9620E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Integer Math (add, subtract, multiply, divide)/Logic  (and, or not, </a:t>
            </a:r>
            <a:r>
              <a:rPr lang="en-US" dirty="0" err="1"/>
              <a:t>xor</a:t>
            </a:r>
            <a:r>
              <a:rPr lang="en-US" dirty="0"/>
              <a:t>)</a:t>
            </a:r>
          </a:p>
          <a:p>
            <a:r>
              <a:rPr lang="en-US" dirty="0"/>
              <a:t>Data Transfer : Loads and Stores </a:t>
            </a:r>
            <a:r>
              <a:rPr lang="en-US" dirty="0">
                <a:sym typeface="Wingdings" panose="05000000000000000000" pitchFamily="2" charset="2"/>
              </a:rPr>
              <a:t> Memory</a:t>
            </a:r>
          </a:p>
          <a:p>
            <a:r>
              <a:rPr lang="en-US" dirty="0">
                <a:sym typeface="Wingdings" panose="05000000000000000000" pitchFamily="2" charset="2"/>
              </a:rPr>
              <a:t>Generate and handle interruptions</a:t>
            </a:r>
          </a:p>
          <a:p>
            <a:r>
              <a:rPr lang="en-US" dirty="0">
                <a:sym typeface="Wingdings" panose="05000000000000000000" pitchFamily="2" charset="2"/>
              </a:rPr>
              <a:t>Control: Branch, Jump, Call/Return</a:t>
            </a:r>
          </a:p>
          <a:p>
            <a:r>
              <a:rPr lang="en-US" dirty="0">
                <a:sym typeface="Wingdings" panose="05000000000000000000" pitchFamily="2" charset="2"/>
              </a:rPr>
              <a:t>System: Ring Changes, Virtual Memory Control</a:t>
            </a:r>
          </a:p>
          <a:p>
            <a:r>
              <a:rPr lang="en-US" dirty="0">
                <a:sym typeface="Wingdings" panose="05000000000000000000" pitchFamily="2" charset="2"/>
              </a:rPr>
              <a:t>Floating Point/Decimal: add, subtract, multiply, divide</a:t>
            </a:r>
          </a:p>
          <a:p>
            <a:r>
              <a:rPr lang="en-US" dirty="0">
                <a:sym typeface="Wingdings" panose="05000000000000000000" pitchFamily="2" charset="2"/>
              </a:rPr>
              <a:t>Special: String, Graphics, Other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2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4005C-B631-41CE-AC2C-32CDE471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ellipse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Instruction Use Frequency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5D7CA3-06B2-4251-BDAB-759381CE1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898" y="878203"/>
            <a:ext cx="7881566" cy="518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55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D12E2-53DF-480D-A13A-7A6B45B2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CPU do (alternate view)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0FD698-3C1E-4948-80B0-C0DED03F822D}"/>
              </a:ext>
            </a:extLst>
          </p:cNvPr>
          <p:cNvSpPr/>
          <p:nvPr/>
        </p:nvSpPr>
        <p:spPr>
          <a:xfrm>
            <a:off x="6794156" y="1588810"/>
            <a:ext cx="2792627" cy="1598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Fetch </a:t>
            </a:r>
            <a:br>
              <a:rPr lang="en-US" sz="3600" dirty="0"/>
            </a:br>
            <a:r>
              <a:rPr lang="en-US" sz="3600" dirty="0"/>
              <a:t>Instruction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8BD132-DF4D-412E-AF7B-62950AE12984}"/>
              </a:ext>
            </a:extLst>
          </p:cNvPr>
          <p:cNvSpPr/>
          <p:nvPr/>
        </p:nvSpPr>
        <p:spPr>
          <a:xfrm>
            <a:off x="6794158" y="4683212"/>
            <a:ext cx="2792627" cy="1598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Decode </a:t>
            </a:r>
            <a:br>
              <a:rPr lang="en-US" sz="3600" dirty="0"/>
            </a:br>
            <a:r>
              <a:rPr lang="en-US" sz="3600" dirty="0"/>
              <a:t>Instruction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254B83-95B3-46CD-A060-D87B76AD2DE1}"/>
              </a:ext>
            </a:extLst>
          </p:cNvPr>
          <p:cNvSpPr/>
          <p:nvPr/>
        </p:nvSpPr>
        <p:spPr>
          <a:xfrm>
            <a:off x="1208903" y="4683212"/>
            <a:ext cx="2792627" cy="1598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Execute</a:t>
            </a:r>
          </a:p>
          <a:p>
            <a:pPr algn="ctr"/>
            <a:r>
              <a:rPr lang="en-US" sz="3600" dirty="0"/>
              <a:t>Instruction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E21ABB9-82D0-4F92-9F6A-1272963C1362}"/>
              </a:ext>
            </a:extLst>
          </p:cNvPr>
          <p:cNvSpPr/>
          <p:nvPr/>
        </p:nvSpPr>
        <p:spPr>
          <a:xfrm>
            <a:off x="8066903" y="3453167"/>
            <a:ext cx="247135" cy="9638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B7A63BF-7965-48ED-87BB-29D1EEFDB2BE}"/>
              </a:ext>
            </a:extLst>
          </p:cNvPr>
          <p:cNvSpPr/>
          <p:nvPr/>
        </p:nvSpPr>
        <p:spPr>
          <a:xfrm rot="5400000">
            <a:off x="5301047" y="4275439"/>
            <a:ext cx="247135" cy="24136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90D19465-0DDB-4899-8614-4AE0CD9C1840}"/>
              </a:ext>
            </a:extLst>
          </p:cNvPr>
          <p:cNvSpPr/>
          <p:nvPr/>
        </p:nvSpPr>
        <p:spPr>
          <a:xfrm rot="10800000">
            <a:off x="2404801" y="3429000"/>
            <a:ext cx="247135" cy="9638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6BD14C-050E-45A8-8788-152281C3D17D}"/>
              </a:ext>
            </a:extLst>
          </p:cNvPr>
          <p:cNvSpPr/>
          <p:nvPr/>
        </p:nvSpPr>
        <p:spPr>
          <a:xfrm>
            <a:off x="1132056" y="1588810"/>
            <a:ext cx="2792627" cy="1598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Store Results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ABAC1B1-937A-4887-86ED-E28458C29FAD}"/>
              </a:ext>
            </a:extLst>
          </p:cNvPr>
          <p:cNvSpPr/>
          <p:nvPr/>
        </p:nvSpPr>
        <p:spPr>
          <a:xfrm rot="16200000">
            <a:off x="5301046" y="1108408"/>
            <a:ext cx="247135" cy="24136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99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A6B7-3DA2-4AB0-9498-06B1BD1B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C274D-37F3-43E8-84C7-8F0B2C1F0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Every CPU has a register called the PC or program counter.</a:t>
            </a:r>
          </a:p>
          <a:p>
            <a:pPr marL="0" indent="0">
              <a:buNone/>
            </a:pPr>
            <a:r>
              <a:rPr lang="en-US" dirty="0"/>
              <a:t>This CPU points to the address to fetch NEXT.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the fetch “phase”, the contents of PC is sent to the memory controller in a read request.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memory contents come in on the data bus and are stored in a register used only as a source/destination for memory access.</a:t>
            </a:r>
          </a:p>
        </p:txBody>
      </p:sp>
    </p:spTree>
    <p:extLst>
      <p:ext uri="{BB962C8B-B14F-4D97-AF65-F5344CB8AC3E}">
        <p14:creationId xmlns:p14="http://schemas.microsoft.com/office/powerpoint/2010/main" val="2080755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CDC2-3407-48EC-9B1C-5AF63141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 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5B23-6AC0-45A0-BBFE-ED2EC33B6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Decode steps depends on the instruction. Possibilities include:</a:t>
            </a:r>
          </a:p>
          <a:p>
            <a:pPr marL="0" indent="0">
              <a:buNone/>
            </a:pPr>
            <a:r>
              <a:rPr lang="en-US" dirty="0"/>
              <a:t>	Fetch memory</a:t>
            </a:r>
          </a:p>
          <a:p>
            <a:pPr marL="0" indent="0">
              <a:buNone/>
            </a:pPr>
            <a:r>
              <a:rPr lang="en-US" dirty="0"/>
              <a:t>	Break instruction into micro-operations</a:t>
            </a:r>
          </a:p>
          <a:p>
            <a:pPr marL="0" indent="0">
              <a:buNone/>
            </a:pPr>
            <a:r>
              <a:rPr lang="en-US" dirty="0"/>
              <a:t>	Schedule instructions (more on this later)</a:t>
            </a:r>
          </a:p>
          <a:p>
            <a:pPr marL="0" indent="0">
              <a:buNone/>
            </a:pPr>
            <a:r>
              <a:rPr lang="en-US" dirty="0"/>
              <a:t>	Setup data flow from memory/registers for execution</a:t>
            </a:r>
          </a:p>
          <a:p>
            <a:pPr marL="0" indent="0">
              <a:buNone/>
            </a:pPr>
            <a:r>
              <a:rPr lang="en-US" dirty="0"/>
              <a:t>	Increment PC – execution might overwrite</a:t>
            </a:r>
          </a:p>
        </p:txBody>
      </p:sp>
    </p:spTree>
    <p:extLst>
      <p:ext uri="{BB962C8B-B14F-4D97-AF65-F5344CB8AC3E}">
        <p14:creationId xmlns:p14="http://schemas.microsoft.com/office/powerpoint/2010/main" val="411733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F3A4-B569-4F17-8EE6-78E05364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82CF0-93C2-4F03-B847-A5C9FBC55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Execution, of course, depends on the particular instruction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Over the next few slides, we will look at some examples.</a:t>
            </a:r>
          </a:p>
        </p:txBody>
      </p:sp>
    </p:spTree>
    <p:extLst>
      <p:ext uri="{BB962C8B-B14F-4D97-AF65-F5344CB8AC3E}">
        <p14:creationId xmlns:p14="http://schemas.microsoft.com/office/powerpoint/2010/main" val="928877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D783-8784-4AA4-86AF-9FEB1BB9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D620F-9741-4873-8790-7A69A8E63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Update the state of the system with our results.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Registers or memory – if either is updated, this is the stage where that work is completed.</a:t>
            </a:r>
          </a:p>
        </p:txBody>
      </p:sp>
    </p:spTree>
    <p:extLst>
      <p:ext uri="{BB962C8B-B14F-4D97-AF65-F5344CB8AC3E}">
        <p14:creationId xmlns:p14="http://schemas.microsoft.com/office/powerpoint/2010/main" val="905047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B1003-33CB-4644-8F0B-403C12BDC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32194-504C-486C-9B6C-2045CD0FD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237" y="4170501"/>
            <a:ext cx="3657600" cy="152559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You already know ADD! The data (from the decode) is placed on the “bus” for a series of adders.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6DC95FB-7267-4351-B02D-22C8900E6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18" y="492573"/>
            <a:ext cx="4836953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50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D8111-FEE6-4AF5-A890-6E61B475C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3600" y="1396289"/>
            <a:ext cx="5006336" cy="1325563"/>
          </a:xfrm>
        </p:spPr>
        <p:txBody>
          <a:bodyPr>
            <a:normAutofit/>
          </a:bodyPr>
          <a:lstStyle/>
          <a:p>
            <a:r>
              <a:rPr lang="en-US" dirty="0"/>
              <a:t>Load</a:t>
            </a:r>
          </a:p>
        </p:txBody>
      </p:sp>
      <p:sp>
        <p:nvSpPr>
          <p:cNvPr id="15" name="Freeform: Shape 8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58D44E42-C462-4105-BC86-FE75B4E3C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024154" cy="6858000"/>
          </a:xfrm>
          <a:custGeom>
            <a:avLst/>
            <a:gdLst>
              <a:gd name="connsiteX0" fmla="*/ 70374 w 6024154"/>
              <a:gd name="connsiteY0" fmla="*/ 0 h 6858000"/>
              <a:gd name="connsiteX1" fmla="*/ 6024154 w 6024154"/>
              <a:gd name="connsiteY1" fmla="*/ 0 h 6858000"/>
              <a:gd name="connsiteX2" fmla="*/ 6024154 w 6024154"/>
              <a:gd name="connsiteY2" fmla="*/ 6858000 h 6858000"/>
              <a:gd name="connsiteX3" fmla="*/ 3587167 w 6024154"/>
              <a:gd name="connsiteY3" fmla="*/ 6858000 h 6858000"/>
              <a:gd name="connsiteX4" fmla="*/ 3474220 w 6024154"/>
              <a:gd name="connsiteY4" fmla="*/ 6800152 h 6858000"/>
              <a:gd name="connsiteX5" fmla="*/ 0 w 6024154"/>
              <a:gd name="connsiteY5" fmla="*/ 962844 h 6858000"/>
              <a:gd name="connsiteX6" fmla="*/ 34274 w 6024154"/>
              <a:gd name="connsiteY6" fmla="*/ 2840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70374" y="0"/>
                </a:moveTo>
                <a:lnTo>
                  <a:pt x="6024154" y="0"/>
                </a:lnTo>
                <a:lnTo>
                  <a:pt x="6024154" y="6858000"/>
                </a:lnTo>
                <a:lnTo>
                  <a:pt x="3587167" y="6858000"/>
                </a:lnTo>
                <a:lnTo>
                  <a:pt x="3474220" y="6800152"/>
                </a:lnTo>
                <a:cubicBezTo>
                  <a:pt x="1404818" y="5675986"/>
                  <a:pt x="0" y="3483472"/>
                  <a:pt x="0" y="962844"/>
                </a:cubicBezTo>
                <a:cubicBezTo>
                  <a:pt x="0" y="733696"/>
                  <a:pt x="11610" y="507260"/>
                  <a:pt x="34274" y="28409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94559D-3C69-416C-963A-105053045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12" y="286808"/>
            <a:ext cx="3818733" cy="48185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39E32-BBF1-46F4-9EC5-FE5F4AAF3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8044" y="2871982"/>
            <a:ext cx="5006336" cy="318168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/>
              <a:t>In the decode stage, the CPU requested the memory location that we are loading from.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Here, we need to copy the data from the memory transfer register to a register:</a:t>
            </a:r>
          </a:p>
        </p:txBody>
      </p:sp>
    </p:spTree>
    <p:extLst>
      <p:ext uri="{BB962C8B-B14F-4D97-AF65-F5344CB8AC3E}">
        <p14:creationId xmlns:p14="http://schemas.microsoft.com/office/powerpoint/2010/main" val="1850658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7FA33FF-088D-4F16-95A2-2C64D353D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76EFB1-01CF-419F-ABF1-2AF02BBFC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604" y="0"/>
            <a:ext cx="6141396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9DEA15-78BD-4750-AA18-B9F28A6D5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604" y="0"/>
            <a:ext cx="4319042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D8111-FEE6-4AF5-A890-6E61B475C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98" y="640263"/>
            <a:ext cx="5221266" cy="1344975"/>
          </a:xfrm>
        </p:spPr>
        <p:txBody>
          <a:bodyPr>
            <a:normAutofit/>
          </a:bodyPr>
          <a:lstStyle/>
          <a:p>
            <a:r>
              <a:rPr lang="en-US" sz="4000"/>
              <a:t>JUMP</a:t>
            </a:r>
          </a:p>
        </p:txBody>
      </p:sp>
      <p:pic>
        <p:nvPicPr>
          <p:cNvPr id="5" name="Picture 4" descr="A close up of a clock&#10;&#10;Description generated with high confidence">
            <a:extLst>
              <a:ext uri="{FF2B5EF4-FFF2-40B4-BE49-F238E27FC236}">
                <a16:creationId xmlns:a16="http://schemas.microsoft.com/office/drawing/2014/main" id="{54DA8863-A0AF-4197-84A4-27045D76D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15" y="484632"/>
            <a:ext cx="3740969" cy="57332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39E32-BBF1-46F4-9EC5-FE5F4AAF3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1903" y="2121763"/>
            <a:ext cx="5235490" cy="3773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In the decode stage, the CPU determined the memory location that we are jumping to.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If we think of PC as just another register…</a:t>
            </a:r>
          </a:p>
        </p:txBody>
      </p:sp>
    </p:spTree>
    <p:extLst>
      <p:ext uri="{BB962C8B-B14F-4D97-AF65-F5344CB8AC3E}">
        <p14:creationId xmlns:p14="http://schemas.microsoft.com/office/powerpoint/2010/main" val="40689510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6B25-9191-4463-9734-23BE4DE5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BB23F-4FCE-4C88-A60F-E39B60E0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6 branch types – this must be complex, right?</a:t>
            </a:r>
          </a:p>
          <a:p>
            <a:pPr marL="0" indent="0">
              <a:buNone/>
            </a:pPr>
            <a:r>
              <a:rPr lang="en-US" dirty="0"/>
              <a:t>BEQ, BNE, BGT, BLT, BGE, 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can the CPU tell if R1 &gt; R2?</a:t>
            </a:r>
          </a:p>
          <a:p>
            <a:pPr marL="0" indent="0">
              <a:buNone/>
            </a:pPr>
            <a:r>
              <a:rPr lang="en-US" dirty="0"/>
              <a:t>The CPU </a:t>
            </a:r>
            <a:r>
              <a:rPr lang="en-US" u="sng" dirty="0"/>
              <a:t>subtracts</a:t>
            </a:r>
            <a:r>
              <a:rPr lang="en-US" dirty="0"/>
              <a:t> R2 from R1. If the sign is positive, R1 &gt; R2.</a:t>
            </a:r>
          </a:p>
          <a:p>
            <a:pPr marL="0" indent="0">
              <a:buNone/>
            </a:pPr>
            <a:r>
              <a:rPr lang="en-US" dirty="0"/>
              <a:t>If they are equal, the result will be 0.</a:t>
            </a:r>
          </a:p>
          <a:p>
            <a:pPr marL="0" indent="0">
              <a:buNone/>
            </a:pPr>
            <a:r>
              <a:rPr lang="en-US" dirty="0"/>
              <a:t>If R2 is greater, the sign will be negative. </a:t>
            </a:r>
          </a:p>
          <a:p>
            <a:pPr marL="0" indent="0">
              <a:buNone/>
            </a:pPr>
            <a:r>
              <a:rPr lang="en-US" dirty="0"/>
              <a:t>How can we test for positive, negative and 0?</a:t>
            </a:r>
          </a:p>
        </p:txBody>
      </p:sp>
    </p:spTree>
    <p:extLst>
      <p:ext uri="{BB962C8B-B14F-4D97-AF65-F5344CB8AC3E}">
        <p14:creationId xmlns:p14="http://schemas.microsoft.com/office/powerpoint/2010/main" val="564697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9A37-634D-4734-B6D9-8DEC66264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78458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790DA5-B20E-4280-B33B-30CB34807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578458"/>
            <a:ext cx="11575776" cy="6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55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35A19-CFAD-410E-8756-7EE967EAD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Branch Block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3E547-DFFA-4405-BA89-CB66490EF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094" y="1435493"/>
            <a:ext cx="9704280" cy="53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05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E715-B5F6-4BBB-8D55-D4803DE76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compact way to express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CB313-0A4A-4087-B2A5-E6CAA018D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pretty pictures take up a lot of space and take time to draw. CPU architects use a different, almost pseudo-code approach.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load looks like this:</a:t>
            </a:r>
          </a:p>
          <a:p>
            <a:pPr marL="0" indent="0">
              <a:buNone/>
            </a:pPr>
            <a:r>
              <a:rPr lang="en-US" dirty="0"/>
              <a:t>Regs[rt]  </a:t>
            </a:r>
            <a:r>
              <a:rPr lang="en-US" dirty="0">
                <a:sym typeface="Wingdings" panose="05000000000000000000" pitchFamily="2" charset="2"/>
              </a:rPr>
              <a:t> Mem[</a:t>
            </a:r>
            <a:r>
              <a:rPr lang="en-US" dirty="0" err="1">
                <a:sym typeface="Wingdings" panose="05000000000000000000" pitchFamily="2" charset="2"/>
              </a:rPr>
              <a:t>rs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jump looks like this: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PC  </a:t>
            </a:r>
            <a:r>
              <a:rPr lang="en-US" dirty="0" err="1">
                <a:sym typeface="Wingdings" panose="05000000000000000000" pitchFamily="2" charset="2"/>
              </a:rPr>
              <a:t>Imm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We will use this notation from now on…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142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D6E5B-6DD0-494C-B8C5-2D0814B3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determines the clock speed?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A4687-7427-42D3-80AD-05D732780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time of the longest instruction in a single cycle machine.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Otherwise, there is a tradeoff – a 5ghz computer where every operation takes &gt; 10 cycles is not useful…</a:t>
            </a:r>
          </a:p>
        </p:txBody>
      </p:sp>
    </p:spTree>
    <p:extLst>
      <p:ext uri="{BB962C8B-B14F-4D97-AF65-F5344CB8AC3E}">
        <p14:creationId xmlns:p14="http://schemas.microsoft.com/office/powerpoint/2010/main" val="2291439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E6F322-F555-45F9-B3AD-954D4415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Performance Problem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17BB5F-B211-489A-B2F1-B6F1E001FA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60" r="1" b="20651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09FE9-3AF7-4F59-A8B4-6BC3A7DE4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Fetch takes a memory access</a:t>
            </a: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Decode and Execution take some time</a:t>
            </a: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The signal has to travel some distance within the CPU</a:t>
            </a:r>
          </a:p>
          <a:p>
            <a:pPr marL="0" indent="0">
              <a:buNone/>
            </a:pPr>
            <a:endParaRPr lang="en-US" sz="2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If we want a 10mhz computer, this is not a problem</a:t>
            </a:r>
          </a:p>
          <a:p>
            <a:pPr marL="0" indent="0">
              <a:buNone/>
            </a:pPr>
            <a:endParaRPr lang="en-US" sz="2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What if we want to increase our speed?</a:t>
            </a:r>
          </a:p>
        </p:txBody>
      </p:sp>
    </p:spTree>
    <p:extLst>
      <p:ext uri="{BB962C8B-B14F-4D97-AF65-F5344CB8AC3E}">
        <p14:creationId xmlns:p14="http://schemas.microsoft.com/office/powerpoint/2010/main" val="1991405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5E75B-E485-494E-9A48-172FDFE6A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do they design all of this?</a:t>
            </a:r>
          </a:p>
        </p:txBody>
      </p:sp>
      <p:pic>
        <p:nvPicPr>
          <p:cNvPr id="2050" name="Picture 2" descr="Image result for big brain">
            <a:extLst>
              <a:ext uri="{FF2B5EF4-FFF2-40B4-BE49-F238E27FC236}">
                <a16:creationId xmlns:a16="http://schemas.microsoft.com/office/drawing/2014/main" id="{C1C4F037-858D-4947-A9DB-0B7BC6BD43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9" r="29002" b="2"/>
          <a:stretch/>
        </p:blipFill>
        <p:spPr bwMode="auto">
          <a:xfrm>
            <a:off x="20" y="10"/>
            <a:ext cx="3008514" cy="4257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the leader">
            <a:extLst>
              <a:ext uri="{FF2B5EF4-FFF2-40B4-BE49-F238E27FC236}">
                <a16:creationId xmlns:a16="http://schemas.microsoft.com/office/drawing/2014/main" id="{B1FF550F-E8CD-4395-902C-7CD763FC00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4" r="5672" b="2"/>
          <a:stretch/>
        </p:blipFill>
        <p:spPr bwMode="auto">
          <a:xfrm>
            <a:off x="3061261" y="10"/>
            <a:ext cx="3008534" cy="426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mage result for brainiac">
            <a:extLst>
              <a:ext uri="{FF2B5EF4-FFF2-40B4-BE49-F238E27FC236}">
                <a16:creationId xmlns:a16="http://schemas.microsoft.com/office/drawing/2014/main" id="{24E02E38-AFF2-47D8-83B7-B0AE9F853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"/>
          <a:stretch/>
        </p:blipFill>
        <p:spPr bwMode="auto">
          <a:xfrm>
            <a:off x="6122522" y="10"/>
            <a:ext cx="3008376" cy="426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BAD6A72-88E8-42F7-88B9-CAF74453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2614" y="-680"/>
            <a:ext cx="0" cy="4242816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Image result for big brain">
            <a:extLst>
              <a:ext uri="{FF2B5EF4-FFF2-40B4-BE49-F238E27FC236}">
                <a16:creationId xmlns:a16="http://schemas.microsoft.com/office/drawing/2014/main" id="{E2B2A7F0-DC1A-422B-BD82-06099859A0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8" r="12579" b="2"/>
          <a:stretch/>
        </p:blipFill>
        <p:spPr bwMode="auto">
          <a:xfrm>
            <a:off x="9183624" y="10"/>
            <a:ext cx="3008376" cy="426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800968E-0A99-46C4-A9B2-6A63AC66F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2" y="4242136"/>
            <a:ext cx="12192002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627B73E-D784-4780-AA33-DCDFE7DA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27921" y="-680"/>
            <a:ext cx="0" cy="4242816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9FF1850-8D1E-4E84-BD9E-F2E906958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37307" y="-680"/>
            <a:ext cx="0" cy="4242816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4" descr="Image result for big brain">
            <a:extLst>
              <a:ext uri="{FF2B5EF4-FFF2-40B4-BE49-F238E27FC236}">
                <a16:creationId xmlns:a16="http://schemas.microsoft.com/office/drawing/2014/main" id="{5A309E1D-5821-4FD7-A593-7826B94414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27268" y="26701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82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63A8-3D75-469B-94C9-A1F42A32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of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CE8E5-B285-4B9F-A456-2ED03B0F2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Much like a software project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Different people work on different parts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build modules and reuse them (like an adder)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iterate on previous versions of the chip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203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B926-8ECB-4B3B-BACD-977940825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95487-2932-4B27-84B6-E1F39F5BA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9914" y="35482"/>
            <a:ext cx="4852086" cy="678703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module </a:t>
            </a:r>
            <a:r>
              <a:rPr lang="en-US" dirty="0" err="1"/>
              <a:t>toplevel</a:t>
            </a:r>
            <a:r>
              <a:rPr lang="en-US" dirty="0"/>
              <a:t>(</a:t>
            </a:r>
            <a:r>
              <a:rPr lang="en-US" dirty="0" err="1"/>
              <a:t>clock,reset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input clock;</a:t>
            </a:r>
          </a:p>
          <a:p>
            <a:pPr marL="0" indent="0">
              <a:buNone/>
            </a:pPr>
            <a:r>
              <a:rPr lang="en-US" dirty="0"/>
              <a:t>  input reset;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reg flop1;</a:t>
            </a:r>
          </a:p>
          <a:p>
            <a:pPr marL="0" indent="0">
              <a:buNone/>
            </a:pPr>
            <a:r>
              <a:rPr lang="en-US" dirty="0"/>
              <a:t>  reg flop2;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always @ (</a:t>
            </a:r>
            <a:r>
              <a:rPr lang="en-US" dirty="0" err="1"/>
              <a:t>posedge</a:t>
            </a:r>
            <a:r>
              <a:rPr lang="en-US" dirty="0"/>
              <a:t> reset or </a:t>
            </a:r>
            <a:r>
              <a:rPr lang="en-US" dirty="0" err="1"/>
              <a:t>posedge</a:t>
            </a:r>
            <a:r>
              <a:rPr lang="en-US" dirty="0"/>
              <a:t> clock)</a:t>
            </a:r>
          </a:p>
          <a:p>
            <a:pPr marL="0" indent="0">
              <a:buNone/>
            </a:pPr>
            <a:r>
              <a:rPr lang="en-US" dirty="0"/>
              <a:t>    if (reset)</a:t>
            </a:r>
          </a:p>
          <a:p>
            <a:pPr marL="0" indent="0">
              <a:buNone/>
            </a:pPr>
            <a:r>
              <a:rPr lang="en-US" dirty="0"/>
              <a:t>      begin</a:t>
            </a:r>
          </a:p>
          <a:p>
            <a:pPr marL="0" indent="0">
              <a:buNone/>
            </a:pPr>
            <a:r>
              <a:rPr lang="en-US" dirty="0"/>
              <a:t>        flop1 &lt;= 0;</a:t>
            </a:r>
          </a:p>
          <a:p>
            <a:pPr marL="0" indent="0">
              <a:buNone/>
            </a:pPr>
            <a:r>
              <a:rPr lang="en-US" dirty="0"/>
              <a:t>        flop2 &lt;= 1;</a:t>
            </a:r>
          </a:p>
          <a:p>
            <a:pPr marL="0" indent="0">
              <a:buNone/>
            </a:pPr>
            <a:r>
              <a:rPr lang="en-US" dirty="0"/>
              <a:t>      end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  begin</a:t>
            </a:r>
          </a:p>
          <a:p>
            <a:pPr marL="0" indent="0">
              <a:buNone/>
            </a:pPr>
            <a:r>
              <a:rPr lang="en-US" dirty="0"/>
              <a:t>        flop1 &lt;= flop2;</a:t>
            </a:r>
          </a:p>
          <a:p>
            <a:pPr marL="0" indent="0">
              <a:buNone/>
            </a:pPr>
            <a:r>
              <a:rPr lang="en-US" dirty="0"/>
              <a:t>        flop2 &lt;= flop1;</a:t>
            </a:r>
          </a:p>
          <a:p>
            <a:pPr marL="0" indent="0">
              <a:buNone/>
            </a:pPr>
            <a:r>
              <a:rPr lang="en-US" dirty="0"/>
              <a:t>      end</a:t>
            </a:r>
          </a:p>
          <a:p>
            <a:pPr marL="0" indent="0">
              <a:buNone/>
            </a:pPr>
            <a:r>
              <a:rPr lang="en-US" dirty="0" err="1"/>
              <a:t>endmodule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CC932-5AFA-4D7B-8165-FF66C4560D95}"/>
              </a:ext>
            </a:extLst>
          </p:cNvPr>
          <p:cNvSpPr txBox="1"/>
          <p:nvPr/>
        </p:nvSpPr>
        <p:spPr>
          <a:xfrm>
            <a:off x="288324" y="1809779"/>
            <a:ext cx="649965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Verilog is a hardware description language – a DSL.</a:t>
            </a:r>
          </a:p>
          <a:p>
            <a:endParaRPr lang="en-US" sz="2400" dirty="0"/>
          </a:p>
          <a:p>
            <a:r>
              <a:rPr lang="en-US" sz="2400" dirty="0"/>
              <a:t>Circuit designers can write Verilog, simulate and test it, then use synthesis software which will convert (compile?) it into a description using only AND, OR, NOT, etc. </a:t>
            </a:r>
          </a:p>
          <a:p>
            <a:endParaRPr lang="en-US" sz="2400" dirty="0"/>
          </a:p>
          <a:p>
            <a:r>
              <a:rPr lang="en-US" sz="2400" dirty="0"/>
              <a:t>That description, called a netlist, can then be processed and laid out on a mask which can be used to etch silicon.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91704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86F75-7038-42B9-8DF9-E5804632E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VHDL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8ACC8-154D-4C65-9F2D-B7B7746E9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1731" y="0"/>
            <a:ext cx="6153664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-- import </a:t>
            </a:r>
            <a:r>
              <a:rPr lang="en-US" dirty="0" err="1"/>
              <a:t>std_logic</a:t>
            </a:r>
            <a:r>
              <a:rPr lang="en-US" dirty="0"/>
              <a:t> from the IEEE library</a:t>
            </a:r>
          </a:p>
          <a:p>
            <a:pPr marL="0" indent="0">
              <a:buNone/>
            </a:pPr>
            <a:r>
              <a:rPr lang="en-US" dirty="0"/>
              <a:t>library IEEE;</a:t>
            </a:r>
          </a:p>
          <a:p>
            <a:pPr marL="0" indent="0">
              <a:buNone/>
            </a:pPr>
            <a:r>
              <a:rPr lang="en-US" dirty="0"/>
              <a:t>use IEEE.std_logic_1164.all;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-- this is the entity</a:t>
            </a:r>
          </a:p>
          <a:p>
            <a:pPr marL="0" indent="0">
              <a:buNone/>
            </a:pPr>
            <a:r>
              <a:rPr lang="en-US" dirty="0"/>
              <a:t>entity ANDGATE is</a:t>
            </a:r>
          </a:p>
          <a:p>
            <a:pPr marL="0" indent="0">
              <a:buNone/>
            </a:pPr>
            <a:r>
              <a:rPr lang="en-US" dirty="0"/>
              <a:t>  port ( </a:t>
            </a:r>
          </a:p>
          <a:p>
            <a:pPr marL="0" indent="0">
              <a:buNone/>
            </a:pPr>
            <a:r>
              <a:rPr lang="en-US" dirty="0"/>
              <a:t>    I1 : in </a:t>
            </a:r>
            <a:r>
              <a:rPr lang="en-US" dirty="0" err="1"/>
              <a:t>std_logic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I2 : in </a:t>
            </a:r>
            <a:r>
              <a:rPr lang="en-US" dirty="0" err="1"/>
              <a:t>std_logic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O  : out </a:t>
            </a:r>
            <a:r>
              <a:rPr lang="en-US" dirty="0" err="1"/>
              <a:t>std_logic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end entity ANDGATE;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-- this is the architecture</a:t>
            </a:r>
          </a:p>
          <a:p>
            <a:pPr marL="0" indent="0">
              <a:buNone/>
            </a:pPr>
            <a:r>
              <a:rPr lang="en-US" dirty="0"/>
              <a:t>architecture RTL of ANDGATE is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O &lt;= I1 and I2;</a:t>
            </a:r>
          </a:p>
          <a:p>
            <a:pPr marL="0" indent="0">
              <a:buNone/>
            </a:pPr>
            <a:r>
              <a:rPr lang="en-US" dirty="0"/>
              <a:t>end architecture RTL;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409F8-9675-4857-AEC3-381BFBDAC605}"/>
              </a:ext>
            </a:extLst>
          </p:cNvPr>
          <p:cNvSpPr txBox="1"/>
          <p:nvPr/>
        </p:nvSpPr>
        <p:spPr>
          <a:xfrm>
            <a:off x="436605" y="2306595"/>
            <a:ext cx="45409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Started with the US DOD in 1983. Now an </a:t>
            </a:r>
          </a:p>
          <a:p>
            <a:r>
              <a:rPr lang="en-US" dirty="0"/>
              <a:t>IEEE standard. Unlike Verilog, VHDL is strongly </a:t>
            </a:r>
          </a:p>
          <a:p>
            <a:r>
              <a:rPr lang="en-US" dirty="0"/>
              <a:t>typed. </a:t>
            </a:r>
          </a:p>
        </p:txBody>
      </p:sp>
    </p:spTree>
    <p:extLst>
      <p:ext uri="{BB962C8B-B14F-4D97-AF65-F5344CB8AC3E}">
        <p14:creationId xmlns:p14="http://schemas.microsoft.com/office/powerpoint/2010/main" val="1620832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7A58-506A-434A-8F9D-38346B8F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 in chip design?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035BF-8283-4B93-BA79-2B7526F5C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are coming to the end of smaller gates</a:t>
            </a:r>
          </a:p>
          <a:p>
            <a:pPr marL="0" indent="0">
              <a:buNone/>
            </a:pPr>
            <a:r>
              <a:rPr lang="en-US" dirty="0"/>
              <a:t>We are coming to the edge of how much heat we can remove</a:t>
            </a:r>
          </a:p>
          <a:p>
            <a:pPr marL="0" indent="0">
              <a:buNone/>
            </a:pPr>
            <a:r>
              <a:rPr lang="en-US" dirty="0"/>
              <a:t>We have removed all of the unnecessary distances</a:t>
            </a:r>
          </a:p>
          <a:p>
            <a:pPr marL="0" indent="0">
              <a:buNone/>
            </a:pPr>
            <a:r>
              <a:rPr lang="en-US" dirty="0"/>
              <a:t>We have gone to multicore</a:t>
            </a:r>
          </a:p>
          <a:p>
            <a:pPr marL="0" indent="0">
              <a:buNone/>
            </a:pPr>
            <a:r>
              <a:rPr lang="en-US" dirty="0"/>
              <a:t>We are close to the end of clock speed improvements</a:t>
            </a:r>
          </a:p>
          <a:p>
            <a:pPr marL="0" indent="0">
              <a:buNone/>
            </a:pPr>
            <a:r>
              <a:rPr lang="en-US" dirty="0"/>
              <a:t>We shut down cores not in use to save power/heat and overclock those in use</a:t>
            </a:r>
          </a:p>
          <a:p>
            <a:pPr marL="0" indent="0">
              <a:buNone/>
            </a:pPr>
            <a:r>
              <a:rPr lang="en-US" dirty="0"/>
              <a:t>We are putting a LOT more die space into caching then instruction improvements.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34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46B87-F987-4714-A3D1-E965AAA08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ideas…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D7E00-D42C-4A40-B868-83C63EE4E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25625"/>
            <a:ext cx="1169707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Specialized cores – we already do this with GPUs (and more)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Instruction set improvements – no one really has a better ISA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Quantum – weird, commercialization is questionable, solves different problems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Near-Memory Processing – merge CPU and RAM to reduce access time</a:t>
            </a:r>
          </a:p>
        </p:txBody>
      </p:sp>
    </p:spTree>
    <p:extLst>
      <p:ext uri="{BB962C8B-B14F-4D97-AF65-F5344CB8AC3E}">
        <p14:creationId xmlns:p14="http://schemas.microsoft.com/office/powerpoint/2010/main" val="380934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1030</Words>
  <Application>Microsoft Office PowerPoint</Application>
  <PresentationFormat>Widescreen</PresentationFormat>
  <Paragraphs>164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Architecture: Von Neumann Vs Harvard</vt:lpstr>
      <vt:lpstr>What Does a CPU Do?</vt:lpstr>
      <vt:lpstr>Instruction Use Frequency</vt:lpstr>
      <vt:lpstr>What does a CPU do (alternate view)</vt:lpstr>
      <vt:lpstr>Fetch Instruction</vt:lpstr>
      <vt:lpstr>Decode Instruction</vt:lpstr>
      <vt:lpstr>Execute Instruction</vt:lpstr>
      <vt:lpstr>Store Results</vt:lpstr>
      <vt:lpstr>ADD</vt:lpstr>
      <vt:lpstr>Load</vt:lpstr>
      <vt:lpstr>JUMP</vt:lpstr>
      <vt:lpstr>Branch</vt:lpstr>
      <vt:lpstr>Testing</vt:lpstr>
      <vt:lpstr>Branch Block Diagram</vt:lpstr>
      <vt:lpstr>A more compact way to express operations</vt:lpstr>
      <vt:lpstr>What determines the clock speed?</vt:lpstr>
      <vt:lpstr>Performance Problem</vt:lpstr>
      <vt:lpstr>How do they design all of this?</vt:lpstr>
      <vt:lpstr>Layers of Abstraction</vt:lpstr>
      <vt:lpstr>Verilog</vt:lpstr>
      <vt:lpstr>VHDL</vt:lpstr>
      <vt:lpstr>What’s next in chip design?</vt:lpstr>
      <vt:lpstr>A few ideas…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Phipps</dc:creator>
  <cp:lastModifiedBy>Michael Phipps</cp:lastModifiedBy>
  <cp:revision>19</cp:revision>
  <dcterms:created xsi:type="dcterms:W3CDTF">2018-07-20T17:14:21Z</dcterms:created>
  <dcterms:modified xsi:type="dcterms:W3CDTF">2018-08-16T18:48:20Z</dcterms:modified>
</cp:coreProperties>
</file>