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2" r:id="rId4"/>
    <p:sldId id="273" r:id="rId5"/>
    <p:sldId id="274" r:id="rId6"/>
    <p:sldId id="275" r:id="rId7"/>
    <p:sldId id="276" r:id="rId8"/>
    <p:sldId id="280" r:id="rId9"/>
    <p:sldId id="328" r:id="rId10"/>
    <p:sldId id="277" r:id="rId11"/>
    <p:sldId id="336" r:id="rId12"/>
    <p:sldId id="282" r:id="rId13"/>
    <p:sldId id="337" r:id="rId14"/>
    <p:sldId id="278" r:id="rId15"/>
    <p:sldId id="327" r:id="rId16"/>
    <p:sldId id="281" r:id="rId17"/>
    <p:sldId id="279" r:id="rId18"/>
    <p:sldId id="338" r:id="rId19"/>
    <p:sldId id="283" r:id="rId20"/>
    <p:sldId id="331" r:id="rId21"/>
    <p:sldId id="284" r:id="rId22"/>
    <p:sldId id="285" r:id="rId23"/>
    <p:sldId id="325" r:id="rId24"/>
    <p:sldId id="287" r:id="rId25"/>
    <p:sldId id="298" r:id="rId26"/>
    <p:sldId id="323" r:id="rId27"/>
    <p:sldId id="329" r:id="rId28"/>
    <p:sldId id="326" r:id="rId29"/>
    <p:sldId id="333" r:id="rId30"/>
    <p:sldId id="334" r:id="rId31"/>
    <p:sldId id="335" r:id="rId32"/>
    <p:sldId id="330" r:id="rId33"/>
    <p:sldId id="332" r:id="rId34"/>
    <p:sldId id="286" r:id="rId35"/>
    <p:sldId id="293" r:id="rId36"/>
    <p:sldId id="294" r:id="rId37"/>
    <p:sldId id="292" r:id="rId38"/>
    <p:sldId id="300" r:id="rId39"/>
    <p:sldId id="299" r:id="rId40"/>
    <p:sldId id="33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116" d="100"/>
          <a:sy n="116" d="100"/>
        </p:scale>
        <p:origin x="120"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86D0-A47B-456C-A592-2FF9528656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B70D8A-D77B-4BA8-9009-FD4C71FF74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2B9A1A-13FD-4728-9F92-E19FF3B858EC}"/>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5" name="Footer Placeholder 4">
            <a:extLst>
              <a:ext uri="{FF2B5EF4-FFF2-40B4-BE49-F238E27FC236}">
                <a16:creationId xmlns:a16="http://schemas.microsoft.com/office/drawing/2014/main" id="{A187C9DB-B913-4E1C-A806-82DE1128C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5DAB7-F79C-4050-82CA-441C94D687C5}"/>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867266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B571-3D07-4EEF-826E-849889982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25AE1-9E18-454B-AE4E-8FE9352230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299161-8E62-4DCF-82C5-6B39E832841C}"/>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5" name="Footer Placeholder 4">
            <a:extLst>
              <a:ext uri="{FF2B5EF4-FFF2-40B4-BE49-F238E27FC236}">
                <a16:creationId xmlns:a16="http://schemas.microsoft.com/office/drawing/2014/main" id="{068E9B97-9413-4E21-9635-DED98D13D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1F6D2-842D-4F58-B05F-2CA0BB3374DC}"/>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2611853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7886-91A9-4C82-B218-838D130090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9B91FA-F35B-46CC-A2DC-1706EFA478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377ECC4-C7D7-43AF-ACC8-78FE0C0A7EBE}"/>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5" name="Footer Placeholder 4">
            <a:extLst>
              <a:ext uri="{FF2B5EF4-FFF2-40B4-BE49-F238E27FC236}">
                <a16:creationId xmlns:a16="http://schemas.microsoft.com/office/drawing/2014/main" id="{FB5F3EAD-8424-45E7-9393-066FC7E36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132C5-E21A-43A3-9BE5-298955A9E77E}"/>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228981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3ED0C-ABDF-4010-A8C8-2F3070752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45646D-014A-4891-B544-8A29CFB03C7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F65057-A64B-4027-B9E9-F99E9D4BFFA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5968BE-2941-48BD-B5B4-84E48E84C4B1}"/>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6" name="Footer Placeholder 5">
            <a:extLst>
              <a:ext uri="{FF2B5EF4-FFF2-40B4-BE49-F238E27FC236}">
                <a16:creationId xmlns:a16="http://schemas.microsoft.com/office/drawing/2014/main" id="{126BA2C0-844D-4DD8-A499-D0D710BA00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CF5FFF-FFE3-4741-A09A-FED1ADBF6C8D}"/>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695112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C06E6-3B6B-472C-A174-5A7C3EC4D9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2136C1-8993-4890-8A72-F2EC99F67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241B14D-C8D3-4ABD-AC2E-18CB19A5589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0F5786-B0FA-4CB3-A5CF-E4B6CFE013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541C6B7-5AB3-4FB5-AFC2-45CF27619FA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6E64A8-F3D2-45B4-A522-38F1E072664F}"/>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8" name="Footer Placeholder 7">
            <a:extLst>
              <a:ext uri="{FF2B5EF4-FFF2-40B4-BE49-F238E27FC236}">
                <a16:creationId xmlns:a16="http://schemas.microsoft.com/office/drawing/2014/main" id="{D1816C76-EE1C-49FA-985E-ECB5A8DB51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70218B-CBF3-47B5-8A02-BDFFF53E3099}"/>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4272601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C1A3D-6A2D-4255-A037-02A6744667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F65978-6C03-4CFF-96D9-9A43173B2324}"/>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4" name="Footer Placeholder 3">
            <a:extLst>
              <a:ext uri="{FF2B5EF4-FFF2-40B4-BE49-F238E27FC236}">
                <a16:creationId xmlns:a16="http://schemas.microsoft.com/office/drawing/2014/main" id="{415BE92D-090C-4154-ACFE-174D61CA77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7E3CC7-F01E-4F41-8BA8-C258E4035600}"/>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1671813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E7E419-41D7-4C69-8ADF-8170CFBDB7C2}"/>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3" name="Footer Placeholder 2">
            <a:extLst>
              <a:ext uri="{FF2B5EF4-FFF2-40B4-BE49-F238E27FC236}">
                <a16:creationId xmlns:a16="http://schemas.microsoft.com/office/drawing/2014/main" id="{0B38821B-FF2E-44FF-84A5-80920D0B43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71CDB0-907F-45F8-A02D-A86384E83393}"/>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3498343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C497E-EFB2-4A1F-AD03-B6C8CBF931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AF5048-5601-4B02-9832-B757C15D52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560BFB-18FF-4CA9-93FD-417F3786CC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73E8A3A-CEAD-438C-9353-2D39662861EB}"/>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6" name="Footer Placeholder 5">
            <a:extLst>
              <a:ext uri="{FF2B5EF4-FFF2-40B4-BE49-F238E27FC236}">
                <a16:creationId xmlns:a16="http://schemas.microsoft.com/office/drawing/2014/main" id="{675FF3A4-730B-402A-9522-5C1ACF5D3E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2A123-A7F2-4D94-A65B-96A2CE65991A}"/>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292684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10CBD-D40D-4766-B6FC-02EE1DA605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6AA54D-AC76-46DD-8006-397DD51C75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65090A-011A-4DD6-B70E-8F17DD8FBA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E9FF726-D0B4-48A7-8139-DD4E099488F0}"/>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6" name="Footer Placeholder 5">
            <a:extLst>
              <a:ext uri="{FF2B5EF4-FFF2-40B4-BE49-F238E27FC236}">
                <a16:creationId xmlns:a16="http://schemas.microsoft.com/office/drawing/2014/main" id="{EBF83DE4-076E-4596-83C9-F89C857601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EC7D4A-F6F3-4BEB-86F6-BAEBFA64A122}"/>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3909951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D150-EC97-4744-A571-CAE86980B8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A6166F-F5FB-43CE-BE84-DABA33808E9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C72155-8657-4982-81A8-55A037050B47}"/>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5" name="Footer Placeholder 4">
            <a:extLst>
              <a:ext uri="{FF2B5EF4-FFF2-40B4-BE49-F238E27FC236}">
                <a16:creationId xmlns:a16="http://schemas.microsoft.com/office/drawing/2014/main" id="{3F7308A9-F0BC-4712-96D5-B09029824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6FA28-6B74-4DCB-957D-ED117435D686}"/>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222443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A7F812-EA69-4313-9791-96B8617B21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A0E007-0FD4-421D-8A70-C15148699C0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EEB4A-BF23-439F-829F-00A7FB62CF1E}"/>
              </a:ext>
            </a:extLst>
          </p:cNvPr>
          <p:cNvSpPr>
            <a:spLocks noGrp="1"/>
          </p:cNvSpPr>
          <p:nvPr>
            <p:ph type="dt" sz="half" idx="10"/>
          </p:nvPr>
        </p:nvSpPr>
        <p:spPr/>
        <p:txBody>
          <a:bodyPr/>
          <a:lstStyle/>
          <a:p>
            <a:fld id="{B8B8A689-8658-4231-A0A4-4C8D6000189C}" type="datetimeFigureOut">
              <a:rPr lang="en-US" smtClean="0"/>
              <a:t>10/8/2018</a:t>
            </a:fld>
            <a:endParaRPr lang="en-US"/>
          </a:p>
        </p:txBody>
      </p:sp>
      <p:sp>
        <p:nvSpPr>
          <p:cNvPr id="5" name="Footer Placeholder 4">
            <a:extLst>
              <a:ext uri="{FF2B5EF4-FFF2-40B4-BE49-F238E27FC236}">
                <a16:creationId xmlns:a16="http://schemas.microsoft.com/office/drawing/2014/main" id="{AA1DEB79-214B-466C-BAC8-644159FE0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15FD2B-55A1-4A39-8761-E08820AEF735}"/>
              </a:ext>
            </a:extLst>
          </p:cNvPr>
          <p:cNvSpPr>
            <a:spLocks noGrp="1"/>
          </p:cNvSpPr>
          <p:nvPr>
            <p:ph type="sldNum" sz="quarter" idx="12"/>
          </p:nvPr>
        </p:nvSpPr>
        <p:spPr/>
        <p:txBody>
          <a:bodyPr/>
          <a:lstStyle/>
          <a:p>
            <a:fld id="{49E36F8E-B2D1-4DF7-9181-BDF62FC09AA6}" type="slidenum">
              <a:rPr lang="en-US" smtClean="0"/>
              <a:t>‹#›</a:t>
            </a:fld>
            <a:endParaRPr lang="en-US"/>
          </a:p>
        </p:txBody>
      </p:sp>
    </p:spTree>
    <p:extLst>
      <p:ext uri="{BB962C8B-B14F-4D97-AF65-F5344CB8AC3E}">
        <p14:creationId xmlns:p14="http://schemas.microsoft.com/office/powerpoint/2010/main" val="3297384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1AADB4-63D5-4A93-AB4E-9D8F874946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16B0C5-00C1-469E-B0F8-AF6E840C33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C676B-E07F-4BEA-8CF4-74828A347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B8A689-8658-4231-A0A4-4C8D6000189C}" type="datetimeFigureOut">
              <a:rPr lang="en-US" smtClean="0"/>
              <a:t>10/8/2018</a:t>
            </a:fld>
            <a:endParaRPr lang="en-US"/>
          </a:p>
        </p:txBody>
      </p:sp>
      <p:sp>
        <p:nvSpPr>
          <p:cNvPr id="5" name="Footer Placeholder 4">
            <a:extLst>
              <a:ext uri="{FF2B5EF4-FFF2-40B4-BE49-F238E27FC236}">
                <a16:creationId xmlns:a16="http://schemas.microsoft.com/office/drawing/2014/main" id="{2CCF531E-FECB-474D-9126-BD48EFB12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688452-421B-4510-8241-096FD1E1B2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E36F8E-B2D1-4DF7-9181-BDF62FC09AA6}" type="slidenum">
              <a:rPr lang="en-US" smtClean="0"/>
              <a:t>‹#›</a:t>
            </a:fld>
            <a:endParaRPr lang="en-US"/>
          </a:p>
        </p:txBody>
      </p:sp>
    </p:spTree>
    <p:extLst>
      <p:ext uri="{BB962C8B-B14F-4D97-AF65-F5344CB8AC3E}">
        <p14:creationId xmlns:p14="http://schemas.microsoft.com/office/powerpoint/2010/main" val="3929343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3145-BD43-4E37-AC2C-26503C4A5162}"/>
              </a:ext>
            </a:extLst>
          </p:cNvPr>
          <p:cNvSpPr>
            <a:spLocks noGrp="1"/>
          </p:cNvSpPr>
          <p:nvPr>
            <p:ph type="ctrTitle"/>
          </p:nvPr>
        </p:nvSpPr>
        <p:spPr/>
        <p:txBody>
          <a:bodyPr/>
          <a:lstStyle/>
          <a:p>
            <a:r>
              <a:rPr lang="en-US" dirty="0"/>
              <a:t>Pipelining</a:t>
            </a:r>
          </a:p>
        </p:txBody>
      </p:sp>
      <p:sp>
        <p:nvSpPr>
          <p:cNvPr id="3" name="Subtitle 2">
            <a:extLst>
              <a:ext uri="{FF2B5EF4-FFF2-40B4-BE49-F238E27FC236}">
                <a16:creationId xmlns:a16="http://schemas.microsoft.com/office/drawing/2014/main" id="{D0FA73FA-5BFA-4902-92E6-D2DD5499A822}"/>
              </a:ext>
            </a:extLst>
          </p:cNvPr>
          <p:cNvSpPr>
            <a:spLocks noGrp="1"/>
          </p:cNvSpPr>
          <p:nvPr>
            <p:ph type="subTitle" idx="1"/>
          </p:nvPr>
        </p:nvSpPr>
        <p:spPr/>
        <p:txBody>
          <a:bodyPr/>
          <a:lstStyle/>
          <a:p>
            <a:r>
              <a:rPr lang="en-US" dirty="0"/>
              <a:t>Applying Henry Ford’s ideas to the CPU</a:t>
            </a:r>
          </a:p>
        </p:txBody>
      </p:sp>
    </p:spTree>
    <p:extLst>
      <p:ext uri="{BB962C8B-B14F-4D97-AF65-F5344CB8AC3E}">
        <p14:creationId xmlns:p14="http://schemas.microsoft.com/office/powerpoint/2010/main" val="352919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F0D10-07BF-4B46-BB27-539D56610A8D}"/>
              </a:ext>
            </a:extLst>
          </p:cNvPr>
          <p:cNvSpPr>
            <a:spLocks noGrp="1"/>
          </p:cNvSpPr>
          <p:nvPr>
            <p:ph type="title"/>
          </p:nvPr>
        </p:nvSpPr>
        <p:spPr>
          <a:xfrm>
            <a:off x="0" y="0"/>
            <a:ext cx="5987143" cy="1325563"/>
          </a:xfrm>
        </p:spPr>
        <p:txBody>
          <a:bodyPr/>
          <a:lstStyle/>
          <a:p>
            <a:r>
              <a:rPr lang="en-US" dirty="0"/>
              <a:t>How can we go faster?</a:t>
            </a:r>
          </a:p>
        </p:txBody>
      </p:sp>
      <p:sp>
        <p:nvSpPr>
          <p:cNvPr id="3" name="Content Placeholder 2">
            <a:extLst>
              <a:ext uri="{FF2B5EF4-FFF2-40B4-BE49-F238E27FC236}">
                <a16:creationId xmlns:a16="http://schemas.microsoft.com/office/drawing/2014/main" id="{5F09A2A7-AEA8-4DA3-B8E8-D51DBBA0F783}"/>
              </a:ext>
            </a:extLst>
          </p:cNvPr>
          <p:cNvSpPr>
            <a:spLocks noGrp="1"/>
          </p:cNvSpPr>
          <p:nvPr>
            <p:ph idx="1"/>
          </p:nvPr>
        </p:nvSpPr>
        <p:spPr>
          <a:xfrm>
            <a:off x="174172" y="3508148"/>
            <a:ext cx="10515600" cy="3164795"/>
          </a:xfrm>
        </p:spPr>
        <p:txBody>
          <a:bodyPr>
            <a:normAutofit/>
          </a:bodyPr>
          <a:lstStyle/>
          <a:p>
            <a:pPr marL="0" indent="0">
              <a:buNone/>
            </a:pPr>
            <a:r>
              <a:rPr lang="en-US" dirty="0"/>
              <a:t>Big Idea!</a:t>
            </a:r>
          </a:p>
          <a:p>
            <a:pPr marL="0" indent="0">
              <a:buNone/>
            </a:pPr>
            <a:endParaRPr lang="en-US" dirty="0"/>
          </a:p>
          <a:p>
            <a:pPr marL="0" indent="0">
              <a:buNone/>
            </a:pPr>
            <a:r>
              <a:rPr lang="en-US" dirty="0"/>
              <a:t>What if each functional area (fetch, dispatch, execute) gets a WHOLE clock tick instead of 1/3 of one? </a:t>
            </a:r>
          </a:p>
          <a:p>
            <a:pPr marL="0" indent="0">
              <a:buNone/>
            </a:pPr>
            <a:endParaRPr lang="en-US" dirty="0"/>
          </a:p>
          <a:p>
            <a:pPr marL="0" indent="0">
              <a:buNone/>
            </a:pPr>
            <a:r>
              <a:rPr lang="en-US" dirty="0"/>
              <a:t>Then we can make the clock ticks shorter (and the clock rate faster)!</a:t>
            </a:r>
          </a:p>
        </p:txBody>
      </p:sp>
      <p:pic>
        <p:nvPicPr>
          <p:cNvPr id="1026" name="Picture 2">
            <a:extLst>
              <a:ext uri="{FF2B5EF4-FFF2-40B4-BE49-F238E27FC236}">
                <a16:creationId xmlns:a16="http://schemas.microsoft.com/office/drawing/2014/main" id="{02563261-C1DA-4B89-8FED-5AB98DE413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40292" y="920415"/>
            <a:ext cx="7853738" cy="364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90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0638-7D1A-4F4D-895B-F1E78DB09101}"/>
              </a:ext>
            </a:extLst>
          </p:cNvPr>
          <p:cNvSpPr>
            <a:spLocks noGrp="1"/>
          </p:cNvSpPr>
          <p:nvPr>
            <p:ph type="title"/>
          </p:nvPr>
        </p:nvSpPr>
        <p:spPr/>
        <p:txBody>
          <a:bodyPr/>
          <a:lstStyle/>
          <a:p>
            <a:r>
              <a:rPr lang="en-US" dirty="0"/>
              <a:t>Pipelining</a:t>
            </a:r>
          </a:p>
        </p:txBody>
      </p:sp>
      <p:sp>
        <p:nvSpPr>
          <p:cNvPr id="4" name="TextBox 3">
            <a:extLst>
              <a:ext uri="{FF2B5EF4-FFF2-40B4-BE49-F238E27FC236}">
                <a16:creationId xmlns:a16="http://schemas.microsoft.com/office/drawing/2014/main" id="{854CDE69-C129-415D-A845-604B54021E64}"/>
              </a:ext>
            </a:extLst>
          </p:cNvPr>
          <p:cNvSpPr txBox="1"/>
          <p:nvPr/>
        </p:nvSpPr>
        <p:spPr>
          <a:xfrm>
            <a:off x="370703" y="3608175"/>
            <a:ext cx="1672281" cy="1200329"/>
          </a:xfrm>
          <a:prstGeom prst="rect">
            <a:avLst/>
          </a:prstGeom>
          <a:noFill/>
        </p:spPr>
        <p:txBody>
          <a:bodyPr wrap="square" rtlCol="0">
            <a:spAutoFit/>
          </a:bodyPr>
          <a:lstStyle/>
          <a:p>
            <a:r>
              <a:rPr lang="en-US" dirty="0"/>
              <a:t>Fetch</a:t>
            </a:r>
          </a:p>
          <a:p>
            <a:endParaRPr lang="en-US" dirty="0"/>
          </a:p>
          <a:p>
            <a:r>
              <a:rPr lang="en-US" dirty="0"/>
              <a:t>IR = Mem[PC]</a:t>
            </a:r>
          </a:p>
          <a:p>
            <a:r>
              <a:rPr lang="en-US" dirty="0" err="1"/>
              <a:t>NextPC</a:t>
            </a:r>
            <a:r>
              <a:rPr lang="en-US" dirty="0"/>
              <a:t> = IR + 4</a:t>
            </a:r>
          </a:p>
        </p:txBody>
      </p:sp>
      <p:sp>
        <p:nvSpPr>
          <p:cNvPr id="5" name="TextBox 4">
            <a:extLst>
              <a:ext uri="{FF2B5EF4-FFF2-40B4-BE49-F238E27FC236}">
                <a16:creationId xmlns:a16="http://schemas.microsoft.com/office/drawing/2014/main" id="{3DF60E22-27F7-41A2-B11F-9B12B9E5FF0A}"/>
              </a:ext>
            </a:extLst>
          </p:cNvPr>
          <p:cNvSpPr txBox="1"/>
          <p:nvPr/>
        </p:nvSpPr>
        <p:spPr>
          <a:xfrm>
            <a:off x="3269050" y="3608175"/>
            <a:ext cx="2244811" cy="3139321"/>
          </a:xfrm>
          <a:prstGeom prst="rect">
            <a:avLst/>
          </a:prstGeom>
          <a:noFill/>
        </p:spPr>
        <p:txBody>
          <a:bodyPr wrap="square" rtlCol="0">
            <a:spAutoFit/>
          </a:bodyPr>
          <a:lstStyle/>
          <a:p>
            <a:r>
              <a:rPr lang="en-US" dirty="0"/>
              <a:t>Decode</a:t>
            </a:r>
          </a:p>
          <a:p>
            <a:endParaRPr lang="en-US" dirty="0"/>
          </a:p>
          <a:p>
            <a:r>
              <a:rPr lang="en-US" dirty="0"/>
              <a:t>OP1 = Regs[op1 ] OR Immediate OR Mem[Regs[op1]]</a:t>
            </a:r>
          </a:p>
          <a:p>
            <a:endParaRPr lang="en-US" dirty="0"/>
          </a:p>
          <a:p>
            <a:r>
              <a:rPr lang="en-US" dirty="0"/>
              <a:t>OP2 = Regs[op2 ] OR Immediate OR Mem[Regs[op2]]</a:t>
            </a:r>
          </a:p>
          <a:p>
            <a:endParaRPr lang="en-US" dirty="0"/>
          </a:p>
          <a:p>
            <a:endParaRPr lang="en-US" dirty="0"/>
          </a:p>
        </p:txBody>
      </p:sp>
      <p:sp>
        <p:nvSpPr>
          <p:cNvPr id="6" name="Rectangle 5">
            <a:extLst>
              <a:ext uri="{FF2B5EF4-FFF2-40B4-BE49-F238E27FC236}">
                <a16:creationId xmlns:a16="http://schemas.microsoft.com/office/drawing/2014/main" id="{F340DACA-24E3-478E-84CB-A85C94207FE5}"/>
              </a:ext>
            </a:extLst>
          </p:cNvPr>
          <p:cNvSpPr/>
          <p:nvPr/>
        </p:nvSpPr>
        <p:spPr>
          <a:xfrm>
            <a:off x="2565401" y="3501083"/>
            <a:ext cx="181232"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568112-C5C4-43C7-801E-5FC48E281F3E}"/>
              </a:ext>
            </a:extLst>
          </p:cNvPr>
          <p:cNvSpPr/>
          <p:nvPr/>
        </p:nvSpPr>
        <p:spPr>
          <a:xfrm>
            <a:off x="6036275" y="3501082"/>
            <a:ext cx="181235"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FFD60A-688E-404F-AFDA-A4767BF8774A}"/>
              </a:ext>
            </a:extLst>
          </p:cNvPr>
          <p:cNvSpPr txBox="1"/>
          <p:nvPr/>
        </p:nvSpPr>
        <p:spPr>
          <a:xfrm>
            <a:off x="6739927" y="3624649"/>
            <a:ext cx="1705233" cy="2585323"/>
          </a:xfrm>
          <a:prstGeom prst="rect">
            <a:avLst/>
          </a:prstGeom>
          <a:noFill/>
        </p:spPr>
        <p:txBody>
          <a:bodyPr wrap="square" rtlCol="0">
            <a:spAutoFit/>
          </a:bodyPr>
          <a:lstStyle/>
          <a:p>
            <a:r>
              <a:rPr lang="en-US" dirty="0"/>
              <a:t>Execute</a:t>
            </a:r>
          </a:p>
          <a:p>
            <a:endParaRPr lang="en-US" dirty="0"/>
          </a:p>
          <a:p>
            <a:r>
              <a:rPr lang="en-US" dirty="0"/>
              <a:t>result = ALU </a:t>
            </a:r>
          </a:p>
          <a:p>
            <a:r>
              <a:rPr lang="en-US" dirty="0"/>
              <a:t>	OR</a:t>
            </a:r>
          </a:p>
          <a:p>
            <a:r>
              <a:rPr lang="en-US" dirty="0"/>
              <a:t>	FPU </a:t>
            </a:r>
          </a:p>
          <a:p>
            <a:r>
              <a:rPr lang="en-US" dirty="0"/>
              <a:t>	</a:t>
            </a:r>
          </a:p>
          <a:p>
            <a:r>
              <a:rPr lang="en-US" dirty="0"/>
              <a:t>	</a:t>
            </a:r>
          </a:p>
          <a:p>
            <a:endParaRPr lang="en-US" dirty="0"/>
          </a:p>
          <a:p>
            <a:endParaRPr lang="en-US" dirty="0"/>
          </a:p>
        </p:txBody>
      </p:sp>
      <p:sp>
        <p:nvSpPr>
          <p:cNvPr id="10" name="Rectangle 9">
            <a:extLst>
              <a:ext uri="{FF2B5EF4-FFF2-40B4-BE49-F238E27FC236}">
                <a16:creationId xmlns:a16="http://schemas.microsoft.com/office/drawing/2014/main" id="{6F84EA56-8F22-4D4C-8646-97239D8DE1C7}"/>
              </a:ext>
            </a:extLst>
          </p:cNvPr>
          <p:cNvSpPr/>
          <p:nvPr/>
        </p:nvSpPr>
        <p:spPr>
          <a:xfrm>
            <a:off x="8967574" y="3426942"/>
            <a:ext cx="181235" cy="287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5596AB-DCC1-45CF-A52D-CE512552C188}"/>
              </a:ext>
            </a:extLst>
          </p:cNvPr>
          <p:cNvSpPr txBox="1"/>
          <p:nvPr/>
        </p:nvSpPr>
        <p:spPr>
          <a:xfrm>
            <a:off x="9671223" y="3608174"/>
            <a:ext cx="1894701" cy="2585323"/>
          </a:xfrm>
          <a:prstGeom prst="rect">
            <a:avLst/>
          </a:prstGeom>
          <a:noFill/>
        </p:spPr>
        <p:txBody>
          <a:bodyPr wrap="square" rtlCol="0">
            <a:spAutoFit/>
          </a:bodyPr>
          <a:lstStyle/>
          <a:p>
            <a:r>
              <a:rPr lang="en-US" dirty="0"/>
              <a:t>Store</a:t>
            </a:r>
          </a:p>
          <a:p>
            <a:endParaRPr lang="en-US" dirty="0"/>
          </a:p>
          <a:p>
            <a:r>
              <a:rPr lang="en-US" dirty="0"/>
              <a:t>Mem[rt] = result </a:t>
            </a:r>
          </a:p>
          <a:p>
            <a:r>
              <a:rPr lang="en-US" dirty="0"/>
              <a:t>OR</a:t>
            </a:r>
          </a:p>
          <a:p>
            <a:r>
              <a:rPr lang="en-US" dirty="0"/>
              <a:t>Regs[rt] = result</a:t>
            </a:r>
          </a:p>
          <a:p>
            <a:r>
              <a:rPr lang="en-US" dirty="0"/>
              <a:t>	</a:t>
            </a:r>
          </a:p>
          <a:p>
            <a:r>
              <a:rPr lang="en-US" dirty="0"/>
              <a:t>	</a:t>
            </a:r>
          </a:p>
          <a:p>
            <a:endParaRPr lang="en-US" dirty="0"/>
          </a:p>
          <a:p>
            <a:endParaRPr lang="en-US" dirty="0"/>
          </a:p>
        </p:txBody>
      </p:sp>
      <p:pic>
        <p:nvPicPr>
          <p:cNvPr id="3074" name="Picture 2" descr="Image result for pipelining">
            <a:extLst>
              <a:ext uri="{FF2B5EF4-FFF2-40B4-BE49-F238E27FC236}">
                <a16:creationId xmlns:a16="http://schemas.microsoft.com/office/drawing/2014/main" id="{69F8581C-93C0-4B91-A917-9B1438AD9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1530" y="293801"/>
            <a:ext cx="4539693" cy="2623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645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all done">
            <a:extLst>
              <a:ext uri="{FF2B5EF4-FFF2-40B4-BE49-F238E27FC236}">
                <a16:creationId xmlns:a16="http://schemas.microsoft.com/office/drawing/2014/main" id="{EA24E66B-853D-4EE1-8286-30444AF1B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32" y="787907"/>
            <a:ext cx="5126736" cy="512673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54C3889-0CC1-4022-9BDA-2E8335EF0CE3}"/>
              </a:ext>
            </a:extLst>
          </p:cNvPr>
          <p:cNvSpPr>
            <a:spLocks noGrp="1"/>
          </p:cNvSpPr>
          <p:nvPr>
            <p:ph idx="1"/>
          </p:nvPr>
        </p:nvSpPr>
        <p:spPr>
          <a:xfrm>
            <a:off x="6391903" y="982494"/>
            <a:ext cx="5235490" cy="4912279"/>
          </a:xfrm>
        </p:spPr>
        <p:txBody>
          <a:bodyPr>
            <a:noAutofit/>
          </a:bodyPr>
          <a:lstStyle/>
          <a:p>
            <a:pPr marL="0" indent="0">
              <a:buNone/>
            </a:pPr>
            <a:r>
              <a:rPr lang="en-US" sz="4400" dirty="0"/>
              <a:t>Problem solved, right?</a:t>
            </a:r>
          </a:p>
          <a:p>
            <a:pPr marL="0" indent="0">
              <a:buNone/>
            </a:pPr>
            <a:endParaRPr lang="en-US" sz="4400" dirty="0"/>
          </a:p>
          <a:p>
            <a:pPr marL="0" indent="0">
              <a:buNone/>
            </a:pPr>
            <a:endParaRPr lang="en-US" sz="4400" dirty="0"/>
          </a:p>
          <a:p>
            <a:pPr marL="0" indent="0">
              <a:buNone/>
            </a:pPr>
            <a:r>
              <a:rPr lang="en-US" sz="4400" dirty="0"/>
              <a:t>But, wait. What happens if there is a jump/branch/call?</a:t>
            </a:r>
          </a:p>
        </p:txBody>
      </p:sp>
    </p:spTree>
    <p:extLst>
      <p:ext uri="{BB962C8B-B14F-4D97-AF65-F5344CB8AC3E}">
        <p14:creationId xmlns:p14="http://schemas.microsoft.com/office/powerpoint/2010/main" val="371073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0638-7D1A-4F4D-895B-F1E78DB09101}"/>
              </a:ext>
            </a:extLst>
          </p:cNvPr>
          <p:cNvSpPr>
            <a:spLocks noGrp="1"/>
          </p:cNvSpPr>
          <p:nvPr>
            <p:ph type="title"/>
          </p:nvPr>
        </p:nvSpPr>
        <p:spPr/>
        <p:txBody>
          <a:bodyPr/>
          <a:lstStyle/>
          <a:p>
            <a:r>
              <a:rPr lang="en-US" dirty="0"/>
              <a:t>Pipelining</a:t>
            </a:r>
          </a:p>
        </p:txBody>
      </p:sp>
      <p:sp>
        <p:nvSpPr>
          <p:cNvPr id="4" name="TextBox 3">
            <a:extLst>
              <a:ext uri="{FF2B5EF4-FFF2-40B4-BE49-F238E27FC236}">
                <a16:creationId xmlns:a16="http://schemas.microsoft.com/office/drawing/2014/main" id="{854CDE69-C129-415D-A845-604B54021E64}"/>
              </a:ext>
            </a:extLst>
          </p:cNvPr>
          <p:cNvSpPr txBox="1"/>
          <p:nvPr/>
        </p:nvSpPr>
        <p:spPr>
          <a:xfrm>
            <a:off x="370703" y="3608175"/>
            <a:ext cx="1672281" cy="1200329"/>
          </a:xfrm>
          <a:prstGeom prst="rect">
            <a:avLst/>
          </a:prstGeom>
          <a:noFill/>
        </p:spPr>
        <p:txBody>
          <a:bodyPr wrap="square" rtlCol="0">
            <a:spAutoFit/>
          </a:bodyPr>
          <a:lstStyle/>
          <a:p>
            <a:r>
              <a:rPr lang="en-US" dirty="0"/>
              <a:t>Fetch</a:t>
            </a:r>
          </a:p>
          <a:p>
            <a:endParaRPr lang="en-US" dirty="0"/>
          </a:p>
          <a:p>
            <a:r>
              <a:rPr lang="en-US" dirty="0"/>
              <a:t>IR = Mem[PC]</a:t>
            </a:r>
          </a:p>
          <a:p>
            <a:r>
              <a:rPr lang="en-US" dirty="0" err="1"/>
              <a:t>NextPC</a:t>
            </a:r>
            <a:r>
              <a:rPr lang="en-US" dirty="0"/>
              <a:t> = IR + 4</a:t>
            </a:r>
          </a:p>
        </p:txBody>
      </p:sp>
      <p:sp>
        <p:nvSpPr>
          <p:cNvPr id="5" name="TextBox 4">
            <a:extLst>
              <a:ext uri="{FF2B5EF4-FFF2-40B4-BE49-F238E27FC236}">
                <a16:creationId xmlns:a16="http://schemas.microsoft.com/office/drawing/2014/main" id="{3DF60E22-27F7-41A2-B11F-9B12B9E5FF0A}"/>
              </a:ext>
            </a:extLst>
          </p:cNvPr>
          <p:cNvSpPr txBox="1"/>
          <p:nvPr/>
        </p:nvSpPr>
        <p:spPr>
          <a:xfrm>
            <a:off x="3269050" y="3608175"/>
            <a:ext cx="2244811" cy="3139321"/>
          </a:xfrm>
          <a:prstGeom prst="rect">
            <a:avLst/>
          </a:prstGeom>
          <a:noFill/>
        </p:spPr>
        <p:txBody>
          <a:bodyPr wrap="square" rtlCol="0">
            <a:spAutoFit/>
          </a:bodyPr>
          <a:lstStyle/>
          <a:p>
            <a:r>
              <a:rPr lang="en-US" dirty="0"/>
              <a:t>Decode</a:t>
            </a:r>
          </a:p>
          <a:p>
            <a:endParaRPr lang="en-US" dirty="0"/>
          </a:p>
          <a:p>
            <a:r>
              <a:rPr lang="en-US" dirty="0"/>
              <a:t>OP1 = Regs[op1 ] OR Immediate OR Mem[Regs[op1]]</a:t>
            </a:r>
          </a:p>
          <a:p>
            <a:endParaRPr lang="en-US" dirty="0"/>
          </a:p>
          <a:p>
            <a:r>
              <a:rPr lang="en-US" dirty="0"/>
              <a:t>OP2 = Regs[op2 ] OR Immediate OR Mem[Regs[op2]]</a:t>
            </a:r>
          </a:p>
          <a:p>
            <a:endParaRPr lang="en-US" dirty="0"/>
          </a:p>
          <a:p>
            <a:endParaRPr lang="en-US" dirty="0"/>
          </a:p>
        </p:txBody>
      </p:sp>
      <p:sp>
        <p:nvSpPr>
          <p:cNvPr id="6" name="Rectangle 5">
            <a:extLst>
              <a:ext uri="{FF2B5EF4-FFF2-40B4-BE49-F238E27FC236}">
                <a16:creationId xmlns:a16="http://schemas.microsoft.com/office/drawing/2014/main" id="{F340DACA-24E3-478E-84CB-A85C94207FE5}"/>
              </a:ext>
            </a:extLst>
          </p:cNvPr>
          <p:cNvSpPr/>
          <p:nvPr/>
        </p:nvSpPr>
        <p:spPr>
          <a:xfrm>
            <a:off x="2565401" y="3501083"/>
            <a:ext cx="181232"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568112-C5C4-43C7-801E-5FC48E281F3E}"/>
              </a:ext>
            </a:extLst>
          </p:cNvPr>
          <p:cNvSpPr/>
          <p:nvPr/>
        </p:nvSpPr>
        <p:spPr>
          <a:xfrm>
            <a:off x="6036275" y="3501082"/>
            <a:ext cx="181235"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FFD60A-688E-404F-AFDA-A4767BF8774A}"/>
              </a:ext>
            </a:extLst>
          </p:cNvPr>
          <p:cNvSpPr txBox="1"/>
          <p:nvPr/>
        </p:nvSpPr>
        <p:spPr>
          <a:xfrm>
            <a:off x="6739927" y="3624649"/>
            <a:ext cx="1705233" cy="2585323"/>
          </a:xfrm>
          <a:prstGeom prst="rect">
            <a:avLst/>
          </a:prstGeom>
          <a:noFill/>
        </p:spPr>
        <p:txBody>
          <a:bodyPr wrap="square" rtlCol="0">
            <a:spAutoFit/>
          </a:bodyPr>
          <a:lstStyle/>
          <a:p>
            <a:r>
              <a:rPr lang="en-US" dirty="0"/>
              <a:t>Execute</a:t>
            </a:r>
          </a:p>
          <a:p>
            <a:endParaRPr lang="en-US" dirty="0"/>
          </a:p>
          <a:p>
            <a:r>
              <a:rPr lang="en-US" dirty="0"/>
              <a:t>result = ALU </a:t>
            </a:r>
          </a:p>
          <a:p>
            <a:r>
              <a:rPr lang="en-US" dirty="0"/>
              <a:t>	OR</a:t>
            </a:r>
          </a:p>
          <a:p>
            <a:r>
              <a:rPr lang="en-US" dirty="0"/>
              <a:t>	FPU </a:t>
            </a:r>
          </a:p>
          <a:p>
            <a:r>
              <a:rPr lang="en-US" dirty="0"/>
              <a:t>	</a:t>
            </a:r>
          </a:p>
          <a:p>
            <a:r>
              <a:rPr lang="en-US" dirty="0"/>
              <a:t>	</a:t>
            </a:r>
          </a:p>
          <a:p>
            <a:endParaRPr lang="en-US" dirty="0"/>
          </a:p>
          <a:p>
            <a:endParaRPr lang="en-US" dirty="0"/>
          </a:p>
        </p:txBody>
      </p:sp>
      <p:sp>
        <p:nvSpPr>
          <p:cNvPr id="10" name="Rectangle 9">
            <a:extLst>
              <a:ext uri="{FF2B5EF4-FFF2-40B4-BE49-F238E27FC236}">
                <a16:creationId xmlns:a16="http://schemas.microsoft.com/office/drawing/2014/main" id="{6F84EA56-8F22-4D4C-8646-97239D8DE1C7}"/>
              </a:ext>
            </a:extLst>
          </p:cNvPr>
          <p:cNvSpPr/>
          <p:nvPr/>
        </p:nvSpPr>
        <p:spPr>
          <a:xfrm>
            <a:off x="8967574" y="3426942"/>
            <a:ext cx="181235" cy="287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5596AB-DCC1-45CF-A52D-CE512552C188}"/>
              </a:ext>
            </a:extLst>
          </p:cNvPr>
          <p:cNvSpPr txBox="1"/>
          <p:nvPr/>
        </p:nvSpPr>
        <p:spPr>
          <a:xfrm>
            <a:off x="9671223" y="3608174"/>
            <a:ext cx="1894701" cy="2585323"/>
          </a:xfrm>
          <a:prstGeom prst="rect">
            <a:avLst/>
          </a:prstGeom>
          <a:noFill/>
        </p:spPr>
        <p:txBody>
          <a:bodyPr wrap="square" rtlCol="0">
            <a:spAutoFit/>
          </a:bodyPr>
          <a:lstStyle/>
          <a:p>
            <a:r>
              <a:rPr lang="en-US" dirty="0"/>
              <a:t>Store</a:t>
            </a:r>
          </a:p>
          <a:p>
            <a:endParaRPr lang="en-US" dirty="0"/>
          </a:p>
          <a:p>
            <a:r>
              <a:rPr lang="en-US" dirty="0"/>
              <a:t>Mem[rt] = result </a:t>
            </a:r>
          </a:p>
          <a:p>
            <a:r>
              <a:rPr lang="en-US" dirty="0"/>
              <a:t>OR</a:t>
            </a:r>
          </a:p>
          <a:p>
            <a:r>
              <a:rPr lang="en-US" dirty="0"/>
              <a:t>Regs[rt] = result</a:t>
            </a:r>
          </a:p>
          <a:p>
            <a:r>
              <a:rPr lang="en-US" dirty="0"/>
              <a:t>	</a:t>
            </a:r>
          </a:p>
          <a:p>
            <a:r>
              <a:rPr lang="en-US" dirty="0"/>
              <a:t>	</a:t>
            </a:r>
          </a:p>
          <a:p>
            <a:endParaRPr lang="en-US" dirty="0"/>
          </a:p>
          <a:p>
            <a:endParaRPr lang="en-US" dirty="0"/>
          </a:p>
        </p:txBody>
      </p:sp>
      <p:sp>
        <p:nvSpPr>
          <p:cNvPr id="3" name="TextBox 2">
            <a:extLst>
              <a:ext uri="{FF2B5EF4-FFF2-40B4-BE49-F238E27FC236}">
                <a16:creationId xmlns:a16="http://schemas.microsoft.com/office/drawing/2014/main" id="{EBFAA446-6B44-4D66-B2E4-A42AF76FB641}"/>
              </a:ext>
            </a:extLst>
          </p:cNvPr>
          <p:cNvSpPr txBox="1"/>
          <p:nvPr/>
        </p:nvSpPr>
        <p:spPr>
          <a:xfrm>
            <a:off x="5700584" y="864973"/>
            <a:ext cx="3289683" cy="1569660"/>
          </a:xfrm>
          <a:prstGeom prst="rect">
            <a:avLst/>
          </a:prstGeom>
          <a:noFill/>
        </p:spPr>
        <p:txBody>
          <a:bodyPr wrap="none" rtlCol="0">
            <a:spAutoFit/>
          </a:bodyPr>
          <a:lstStyle/>
          <a:p>
            <a:r>
              <a:rPr lang="en-US" sz="2400" dirty="0"/>
              <a:t>	BNE 	label</a:t>
            </a:r>
          </a:p>
          <a:p>
            <a:r>
              <a:rPr lang="en-US" sz="2400" dirty="0"/>
              <a:t>	ADD	R0, R1, R2</a:t>
            </a:r>
          </a:p>
          <a:p>
            <a:r>
              <a:rPr lang="en-US" sz="2400" dirty="0"/>
              <a:t>	MULT	R2, R3, R4</a:t>
            </a:r>
          </a:p>
          <a:p>
            <a:r>
              <a:rPr lang="en-US" sz="2400" dirty="0"/>
              <a:t>label:	CALL 	_</a:t>
            </a:r>
            <a:r>
              <a:rPr lang="en-US" sz="2400" dirty="0" err="1"/>
              <a:t>printf</a:t>
            </a:r>
            <a:endParaRPr lang="en-US" sz="2400" dirty="0"/>
          </a:p>
        </p:txBody>
      </p:sp>
    </p:spTree>
    <p:extLst>
      <p:ext uri="{BB962C8B-B14F-4D97-AF65-F5344CB8AC3E}">
        <p14:creationId xmlns:p14="http://schemas.microsoft.com/office/powerpoint/2010/main" val="1054458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pipeline break">
            <a:extLst>
              <a:ext uri="{FF2B5EF4-FFF2-40B4-BE49-F238E27FC236}">
                <a16:creationId xmlns:a16="http://schemas.microsoft.com/office/drawing/2014/main" id="{07A20673-49AC-498B-B764-CF012E4BD8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512" b="10488"/>
          <a:stretch/>
        </p:blipFill>
        <p:spPr bwMode="auto">
          <a:xfrm>
            <a:off x="-1"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735DA61-1C4F-49A1-82C6-C82CF9D1DF27}"/>
              </a:ext>
            </a:extLst>
          </p:cNvPr>
          <p:cNvSpPr>
            <a:spLocks noGrp="1"/>
          </p:cNvSpPr>
          <p:nvPr>
            <p:ph type="title"/>
          </p:nvPr>
        </p:nvSpPr>
        <p:spPr>
          <a:xfrm>
            <a:off x="709448" y="1913950"/>
            <a:ext cx="4204137" cy="1342754"/>
          </a:xfrm>
          <a:solidFill>
            <a:schemeClr val="tx1">
              <a:alpha val="50000"/>
            </a:schemeClr>
          </a:solidFill>
        </p:spPr>
        <p:txBody>
          <a:bodyPr>
            <a:normAutofit/>
          </a:bodyPr>
          <a:lstStyle/>
          <a:p>
            <a:pPr algn="ctr"/>
            <a:r>
              <a:rPr lang="en-US" sz="6000" dirty="0">
                <a:solidFill>
                  <a:schemeClr val="bg1"/>
                </a:solidFill>
              </a:rPr>
              <a:t>Pipeline Stall</a:t>
            </a:r>
          </a:p>
        </p:txBody>
      </p:sp>
      <p:sp>
        <p:nvSpPr>
          <p:cNvPr id="3" name="Content Placeholder 2">
            <a:extLst>
              <a:ext uri="{FF2B5EF4-FFF2-40B4-BE49-F238E27FC236}">
                <a16:creationId xmlns:a16="http://schemas.microsoft.com/office/drawing/2014/main" id="{C428E75E-CA6F-4B79-9120-5A40EF40E13F}"/>
              </a:ext>
            </a:extLst>
          </p:cNvPr>
          <p:cNvSpPr>
            <a:spLocks noGrp="1"/>
          </p:cNvSpPr>
          <p:nvPr>
            <p:ph idx="1"/>
          </p:nvPr>
        </p:nvSpPr>
        <p:spPr>
          <a:xfrm>
            <a:off x="525516" y="3417573"/>
            <a:ext cx="11143970" cy="3440417"/>
          </a:xfrm>
          <a:solidFill>
            <a:schemeClr val="tx1">
              <a:alpha val="50000"/>
            </a:schemeClr>
          </a:solidFill>
        </p:spPr>
        <p:txBody>
          <a:bodyPr anchor="ctr">
            <a:noAutofit/>
          </a:bodyPr>
          <a:lstStyle/>
          <a:p>
            <a:pPr marL="0" indent="0">
              <a:buNone/>
            </a:pPr>
            <a:r>
              <a:rPr lang="en-US" sz="4800" dirty="0">
                <a:solidFill>
                  <a:schemeClr val="bg1"/>
                </a:solidFill>
              </a:rPr>
              <a:t>When this happens, the pipeline has to be flushed and refilled.</a:t>
            </a:r>
          </a:p>
          <a:p>
            <a:pPr marL="0" indent="0">
              <a:buNone/>
            </a:pPr>
            <a:endParaRPr lang="en-US" sz="4800" dirty="0">
              <a:solidFill>
                <a:schemeClr val="bg1"/>
              </a:solidFill>
            </a:endParaRPr>
          </a:p>
          <a:p>
            <a:pPr marL="0" indent="0">
              <a:buNone/>
            </a:pPr>
            <a:r>
              <a:rPr lang="en-US" sz="4800" dirty="0">
                <a:solidFill>
                  <a:schemeClr val="bg1"/>
                </a:solidFill>
              </a:rPr>
              <a:t>The CPU sits idle until this completes.</a:t>
            </a:r>
          </a:p>
        </p:txBody>
      </p:sp>
    </p:spTree>
    <p:extLst>
      <p:ext uri="{BB962C8B-B14F-4D97-AF65-F5344CB8AC3E}">
        <p14:creationId xmlns:p14="http://schemas.microsoft.com/office/powerpoint/2010/main" val="191005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507A5-FC9B-4FF5-BF9B-6628D7DC447D}"/>
              </a:ext>
            </a:extLst>
          </p:cNvPr>
          <p:cNvSpPr>
            <a:spLocks noGrp="1"/>
          </p:cNvSpPr>
          <p:nvPr>
            <p:ph type="title"/>
          </p:nvPr>
        </p:nvSpPr>
        <p:spPr/>
        <p:txBody>
          <a:bodyPr/>
          <a:lstStyle/>
          <a:p>
            <a:r>
              <a:rPr lang="en-US" dirty="0"/>
              <a:t>Idle? Pipelines are supposed to make it faster!</a:t>
            </a:r>
          </a:p>
        </p:txBody>
      </p:sp>
      <p:sp>
        <p:nvSpPr>
          <p:cNvPr id="3" name="Content Placeholder 2">
            <a:extLst>
              <a:ext uri="{FF2B5EF4-FFF2-40B4-BE49-F238E27FC236}">
                <a16:creationId xmlns:a16="http://schemas.microsoft.com/office/drawing/2014/main" id="{FA8D224D-3782-4B20-85E1-F5357F73360B}"/>
              </a:ext>
            </a:extLst>
          </p:cNvPr>
          <p:cNvSpPr>
            <a:spLocks noGrp="1"/>
          </p:cNvSpPr>
          <p:nvPr>
            <p:ph idx="1"/>
          </p:nvPr>
        </p:nvSpPr>
        <p:spPr>
          <a:xfrm>
            <a:off x="271849" y="1825624"/>
            <a:ext cx="11689491" cy="5032375"/>
          </a:xfrm>
        </p:spPr>
        <p:txBody>
          <a:bodyPr/>
          <a:lstStyle/>
          <a:p>
            <a:pPr marL="0" indent="0">
              <a:buNone/>
            </a:pPr>
            <a:r>
              <a:rPr lang="en-US" dirty="0"/>
              <a:t>They do. They aren’t perfect, though.</a:t>
            </a:r>
          </a:p>
          <a:p>
            <a:pPr marL="0" indent="0">
              <a:buNone/>
            </a:pPr>
            <a:endParaRPr lang="en-US" dirty="0"/>
          </a:p>
          <a:p>
            <a:pPr marL="0" indent="0">
              <a:buNone/>
            </a:pPr>
            <a:r>
              <a:rPr lang="en-US" dirty="0"/>
              <a:t>Pipeline hazards are situations where the pipeline doesn’t flow perfectly. There are three major types:</a:t>
            </a:r>
          </a:p>
          <a:p>
            <a:pPr marL="0" indent="0">
              <a:buNone/>
            </a:pPr>
            <a:endParaRPr lang="en-US" dirty="0"/>
          </a:p>
          <a:p>
            <a:pPr marL="0" indent="0">
              <a:buNone/>
            </a:pPr>
            <a:r>
              <a:rPr lang="en-US" dirty="0"/>
              <a:t>Structural Hazards – Resource conflicts such that the hardware cannot keep up</a:t>
            </a:r>
          </a:p>
          <a:p>
            <a:pPr marL="0" indent="0">
              <a:buNone/>
            </a:pPr>
            <a:r>
              <a:rPr lang="en-US" dirty="0"/>
              <a:t>Data Hazards – Data dependencies between pipeline stages</a:t>
            </a:r>
          </a:p>
          <a:p>
            <a:pPr marL="0" indent="0">
              <a:buNone/>
            </a:pPr>
            <a:r>
              <a:rPr lang="en-US" dirty="0"/>
              <a:t>Control Hazards – Branches causing pipeline stalls</a:t>
            </a:r>
          </a:p>
        </p:txBody>
      </p:sp>
    </p:spTree>
    <p:extLst>
      <p:ext uri="{BB962C8B-B14F-4D97-AF65-F5344CB8AC3E}">
        <p14:creationId xmlns:p14="http://schemas.microsoft.com/office/powerpoint/2010/main" val="1068678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003E-E44A-40CE-8065-4770A4C202D8}"/>
              </a:ext>
            </a:extLst>
          </p:cNvPr>
          <p:cNvSpPr>
            <a:spLocks noGrp="1"/>
          </p:cNvSpPr>
          <p:nvPr>
            <p:ph type="title"/>
          </p:nvPr>
        </p:nvSpPr>
        <p:spPr/>
        <p:txBody>
          <a:bodyPr/>
          <a:lstStyle/>
          <a:p>
            <a:r>
              <a:rPr lang="en-US" dirty="0"/>
              <a:t>How do we resolve this?</a:t>
            </a:r>
          </a:p>
        </p:txBody>
      </p:sp>
      <p:sp>
        <p:nvSpPr>
          <p:cNvPr id="3" name="Content Placeholder 2">
            <a:extLst>
              <a:ext uri="{FF2B5EF4-FFF2-40B4-BE49-F238E27FC236}">
                <a16:creationId xmlns:a16="http://schemas.microsoft.com/office/drawing/2014/main" id="{AB6D0624-9E0F-4592-A125-D4F4A3088926}"/>
              </a:ext>
            </a:extLst>
          </p:cNvPr>
          <p:cNvSpPr>
            <a:spLocks noGrp="1"/>
          </p:cNvSpPr>
          <p:nvPr>
            <p:ph idx="1"/>
          </p:nvPr>
        </p:nvSpPr>
        <p:spPr/>
        <p:txBody>
          <a:bodyPr/>
          <a:lstStyle/>
          <a:p>
            <a:pPr marL="0" indent="0">
              <a:buNone/>
            </a:pPr>
            <a:r>
              <a:rPr lang="en-US" dirty="0"/>
              <a:t>The CPU has to check (in hardware, remember) for these conditions.</a:t>
            </a:r>
          </a:p>
          <a:p>
            <a:pPr marL="0" indent="0">
              <a:buNone/>
            </a:pPr>
            <a:endParaRPr lang="en-US" dirty="0"/>
          </a:p>
          <a:p>
            <a:pPr marL="0" indent="0">
              <a:buNone/>
            </a:pPr>
            <a:r>
              <a:rPr lang="en-US" dirty="0"/>
              <a:t>The “simple answer”:</a:t>
            </a:r>
          </a:p>
          <a:p>
            <a:pPr marL="0" indent="0">
              <a:buNone/>
            </a:pPr>
            <a:r>
              <a:rPr lang="en-US" dirty="0"/>
              <a:t>Structural Hazard – introduce a delay or “bubble” in the pipeline</a:t>
            </a:r>
          </a:p>
          <a:p>
            <a:pPr marL="0" indent="0">
              <a:buNone/>
            </a:pPr>
            <a:r>
              <a:rPr lang="en-US" dirty="0"/>
              <a:t>Data Hazard –introduce a bubble</a:t>
            </a:r>
          </a:p>
          <a:p>
            <a:pPr marL="0" indent="0">
              <a:buNone/>
            </a:pPr>
            <a:r>
              <a:rPr lang="en-US" dirty="0"/>
              <a:t>Control Hazard – flush the pipeline (discard all data) and start over</a:t>
            </a:r>
          </a:p>
        </p:txBody>
      </p:sp>
    </p:spTree>
    <p:extLst>
      <p:ext uri="{BB962C8B-B14F-4D97-AF65-F5344CB8AC3E}">
        <p14:creationId xmlns:p14="http://schemas.microsoft.com/office/powerpoint/2010/main" val="1925078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0A02-63B9-462D-818A-D74074A51DD1}"/>
              </a:ext>
            </a:extLst>
          </p:cNvPr>
          <p:cNvSpPr>
            <a:spLocks noGrp="1"/>
          </p:cNvSpPr>
          <p:nvPr>
            <p:ph type="title"/>
          </p:nvPr>
        </p:nvSpPr>
        <p:spPr/>
        <p:txBody>
          <a:bodyPr/>
          <a:lstStyle/>
          <a:p>
            <a:r>
              <a:rPr lang="en-US" dirty="0"/>
              <a:t>How do you stall/create a bubble?</a:t>
            </a:r>
          </a:p>
        </p:txBody>
      </p:sp>
      <p:sp>
        <p:nvSpPr>
          <p:cNvPr id="3" name="Content Placeholder 2">
            <a:extLst>
              <a:ext uri="{FF2B5EF4-FFF2-40B4-BE49-F238E27FC236}">
                <a16:creationId xmlns:a16="http://schemas.microsoft.com/office/drawing/2014/main" id="{BBE5A650-4338-4EE1-831A-12EF8F9E6E7C}"/>
              </a:ext>
            </a:extLst>
          </p:cNvPr>
          <p:cNvSpPr>
            <a:spLocks noGrp="1"/>
          </p:cNvSpPr>
          <p:nvPr>
            <p:ph idx="1"/>
          </p:nvPr>
        </p:nvSpPr>
        <p:spPr/>
        <p:txBody>
          <a:bodyPr/>
          <a:lstStyle/>
          <a:p>
            <a:pPr marL="514350" indent="-514350">
              <a:buAutoNum type="arabicParenR"/>
            </a:pPr>
            <a:r>
              <a:rPr lang="en-US" dirty="0"/>
              <a:t>Insert “NOP” instructions</a:t>
            </a:r>
          </a:p>
          <a:p>
            <a:pPr marL="514350" indent="-514350">
              <a:buAutoNum type="arabicParenR"/>
            </a:pPr>
            <a:r>
              <a:rPr lang="en-US" dirty="0"/>
              <a:t>Use a “it is OK to continue” signal line (inside the CPU)</a:t>
            </a:r>
          </a:p>
        </p:txBody>
      </p:sp>
    </p:spTree>
    <p:extLst>
      <p:ext uri="{BB962C8B-B14F-4D97-AF65-F5344CB8AC3E}">
        <p14:creationId xmlns:p14="http://schemas.microsoft.com/office/powerpoint/2010/main" val="1154699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0638-7D1A-4F4D-895B-F1E78DB09101}"/>
              </a:ext>
            </a:extLst>
          </p:cNvPr>
          <p:cNvSpPr>
            <a:spLocks noGrp="1"/>
          </p:cNvSpPr>
          <p:nvPr>
            <p:ph type="title"/>
          </p:nvPr>
        </p:nvSpPr>
        <p:spPr>
          <a:xfrm>
            <a:off x="838200" y="365125"/>
            <a:ext cx="4326924" cy="2452216"/>
          </a:xfrm>
        </p:spPr>
        <p:txBody>
          <a:bodyPr/>
          <a:lstStyle/>
          <a:p>
            <a:r>
              <a:rPr lang="en-US" dirty="0"/>
              <a:t>Structural</a:t>
            </a:r>
            <a:br>
              <a:rPr lang="en-US" dirty="0"/>
            </a:br>
            <a:r>
              <a:rPr lang="en-US" dirty="0"/>
              <a:t>Hazard</a:t>
            </a:r>
          </a:p>
        </p:txBody>
      </p:sp>
      <p:sp>
        <p:nvSpPr>
          <p:cNvPr id="4" name="TextBox 3">
            <a:extLst>
              <a:ext uri="{FF2B5EF4-FFF2-40B4-BE49-F238E27FC236}">
                <a16:creationId xmlns:a16="http://schemas.microsoft.com/office/drawing/2014/main" id="{854CDE69-C129-415D-A845-604B54021E64}"/>
              </a:ext>
            </a:extLst>
          </p:cNvPr>
          <p:cNvSpPr txBox="1"/>
          <p:nvPr/>
        </p:nvSpPr>
        <p:spPr>
          <a:xfrm>
            <a:off x="370703" y="3608175"/>
            <a:ext cx="1672281" cy="1200329"/>
          </a:xfrm>
          <a:prstGeom prst="rect">
            <a:avLst/>
          </a:prstGeom>
          <a:noFill/>
        </p:spPr>
        <p:txBody>
          <a:bodyPr wrap="square" rtlCol="0">
            <a:spAutoFit/>
          </a:bodyPr>
          <a:lstStyle/>
          <a:p>
            <a:r>
              <a:rPr lang="en-US" dirty="0"/>
              <a:t>Fetch</a:t>
            </a:r>
          </a:p>
          <a:p>
            <a:endParaRPr lang="en-US" dirty="0"/>
          </a:p>
          <a:p>
            <a:r>
              <a:rPr lang="en-US" dirty="0"/>
              <a:t>IR = Mem[PC]</a:t>
            </a:r>
          </a:p>
          <a:p>
            <a:r>
              <a:rPr lang="en-US" dirty="0" err="1"/>
              <a:t>NextPC</a:t>
            </a:r>
            <a:r>
              <a:rPr lang="en-US" dirty="0"/>
              <a:t> = IR + 4</a:t>
            </a:r>
          </a:p>
        </p:txBody>
      </p:sp>
      <p:sp>
        <p:nvSpPr>
          <p:cNvPr id="5" name="TextBox 4">
            <a:extLst>
              <a:ext uri="{FF2B5EF4-FFF2-40B4-BE49-F238E27FC236}">
                <a16:creationId xmlns:a16="http://schemas.microsoft.com/office/drawing/2014/main" id="{3DF60E22-27F7-41A2-B11F-9B12B9E5FF0A}"/>
              </a:ext>
            </a:extLst>
          </p:cNvPr>
          <p:cNvSpPr txBox="1"/>
          <p:nvPr/>
        </p:nvSpPr>
        <p:spPr>
          <a:xfrm>
            <a:off x="3269050" y="3608175"/>
            <a:ext cx="2244811" cy="3139321"/>
          </a:xfrm>
          <a:prstGeom prst="rect">
            <a:avLst/>
          </a:prstGeom>
          <a:noFill/>
        </p:spPr>
        <p:txBody>
          <a:bodyPr wrap="square" rtlCol="0">
            <a:spAutoFit/>
          </a:bodyPr>
          <a:lstStyle/>
          <a:p>
            <a:r>
              <a:rPr lang="en-US" dirty="0"/>
              <a:t>Decode</a:t>
            </a:r>
          </a:p>
          <a:p>
            <a:endParaRPr lang="en-US" dirty="0"/>
          </a:p>
          <a:p>
            <a:r>
              <a:rPr lang="en-US" dirty="0"/>
              <a:t>OP1 = Regs[op1 ] OR Immediate OR Mem[Regs[op1]]</a:t>
            </a:r>
          </a:p>
          <a:p>
            <a:endParaRPr lang="en-US" dirty="0"/>
          </a:p>
          <a:p>
            <a:r>
              <a:rPr lang="en-US" dirty="0"/>
              <a:t>OP2 = Regs[op2 ] OR Immediate OR Mem[Regs[op2]]</a:t>
            </a:r>
          </a:p>
          <a:p>
            <a:endParaRPr lang="en-US" dirty="0"/>
          </a:p>
          <a:p>
            <a:endParaRPr lang="en-US" dirty="0"/>
          </a:p>
        </p:txBody>
      </p:sp>
      <p:sp>
        <p:nvSpPr>
          <p:cNvPr id="6" name="Rectangle 5">
            <a:extLst>
              <a:ext uri="{FF2B5EF4-FFF2-40B4-BE49-F238E27FC236}">
                <a16:creationId xmlns:a16="http://schemas.microsoft.com/office/drawing/2014/main" id="{F340DACA-24E3-478E-84CB-A85C94207FE5}"/>
              </a:ext>
            </a:extLst>
          </p:cNvPr>
          <p:cNvSpPr/>
          <p:nvPr/>
        </p:nvSpPr>
        <p:spPr>
          <a:xfrm>
            <a:off x="2565401" y="3501083"/>
            <a:ext cx="181232"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568112-C5C4-43C7-801E-5FC48E281F3E}"/>
              </a:ext>
            </a:extLst>
          </p:cNvPr>
          <p:cNvSpPr/>
          <p:nvPr/>
        </p:nvSpPr>
        <p:spPr>
          <a:xfrm>
            <a:off x="6036275" y="3501082"/>
            <a:ext cx="181235"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FFD60A-688E-404F-AFDA-A4767BF8774A}"/>
              </a:ext>
            </a:extLst>
          </p:cNvPr>
          <p:cNvSpPr txBox="1"/>
          <p:nvPr/>
        </p:nvSpPr>
        <p:spPr>
          <a:xfrm>
            <a:off x="6739927" y="3624649"/>
            <a:ext cx="1705233" cy="2585323"/>
          </a:xfrm>
          <a:prstGeom prst="rect">
            <a:avLst/>
          </a:prstGeom>
          <a:noFill/>
        </p:spPr>
        <p:txBody>
          <a:bodyPr wrap="square" rtlCol="0">
            <a:spAutoFit/>
          </a:bodyPr>
          <a:lstStyle/>
          <a:p>
            <a:r>
              <a:rPr lang="en-US" dirty="0"/>
              <a:t>Execute</a:t>
            </a:r>
          </a:p>
          <a:p>
            <a:endParaRPr lang="en-US" dirty="0"/>
          </a:p>
          <a:p>
            <a:r>
              <a:rPr lang="en-US" dirty="0"/>
              <a:t>result = ALU </a:t>
            </a:r>
          </a:p>
          <a:p>
            <a:r>
              <a:rPr lang="en-US" dirty="0"/>
              <a:t>	OR</a:t>
            </a:r>
          </a:p>
          <a:p>
            <a:r>
              <a:rPr lang="en-US" dirty="0"/>
              <a:t>	FPU </a:t>
            </a:r>
          </a:p>
          <a:p>
            <a:r>
              <a:rPr lang="en-US" dirty="0"/>
              <a:t>	</a:t>
            </a:r>
          </a:p>
          <a:p>
            <a:r>
              <a:rPr lang="en-US" dirty="0"/>
              <a:t>	</a:t>
            </a:r>
          </a:p>
          <a:p>
            <a:endParaRPr lang="en-US" dirty="0"/>
          </a:p>
          <a:p>
            <a:endParaRPr lang="en-US" dirty="0"/>
          </a:p>
        </p:txBody>
      </p:sp>
      <p:sp>
        <p:nvSpPr>
          <p:cNvPr id="10" name="Rectangle 9">
            <a:extLst>
              <a:ext uri="{FF2B5EF4-FFF2-40B4-BE49-F238E27FC236}">
                <a16:creationId xmlns:a16="http://schemas.microsoft.com/office/drawing/2014/main" id="{6F84EA56-8F22-4D4C-8646-97239D8DE1C7}"/>
              </a:ext>
            </a:extLst>
          </p:cNvPr>
          <p:cNvSpPr/>
          <p:nvPr/>
        </p:nvSpPr>
        <p:spPr>
          <a:xfrm>
            <a:off x="8967574" y="3426942"/>
            <a:ext cx="181235" cy="287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5596AB-DCC1-45CF-A52D-CE512552C188}"/>
              </a:ext>
            </a:extLst>
          </p:cNvPr>
          <p:cNvSpPr txBox="1"/>
          <p:nvPr/>
        </p:nvSpPr>
        <p:spPr>
          <a:xfrm>
            <a:off x="9671223" y="3608174"/>
            <a:ext cx="1894701" cy="2585323"/>
          </a:xfrm>
          <a:prstGeom prst="rect">
            <a:avLst/>
          </a:prstGeom>
          <a:noFill/>
        </p:spPr>
        <p:txBody>
          <a:bodyPr wrap="square" rtlCol="0">
            <a:spAutoFit/>
          </a:bodyPr>
          <a:lstStyle/>
          <a:p>
            <a:r>
              <a:rPr lang="en-US" dirty="0"/>
              <a:t>Store</a:t>
            </a:r>
          </a:p>
          <a:p>
            <a:endParaRPr lang="en-US" dirty="0"/>
          </a:p>
          <a:p>
            <a:r>
              <a:rPr lang="en-US" dirty="0"/>
              <a:t>Mem[rt] = result </a:t>
            </a:r>
          </a:p>
          <a:p>
            <a:r>
              <a:rPr lang="en-US" dirty="0"/>
              <a:t>OR</a:t>
            </a:r>
          </a:p>
          <a:p>
            <a:r>
              <a:rPr lang="en-US" dirty="0"/>
              <a:t>Regs[rt] = result</a:t>
            </a:r>
          </a:p>
          <a:p>
            <a:r>
              <a:rPr lang="en-US" dirty="0"/>
              <a:t>	</a:t>
            </a:r>
          </a:p>
          <a:p>
            <a:r>
              <a:rPr lang="en-US" dirty="0"/>
              <a:t>	</a:t>
            </a:r>
          </a:p>
          <a:p>
            <a:endParaRPr lang="en-US" dirty="0"/>
          </a:p>
          <a:p>
            <a:endParaRPr lang="en-US" dirty="0"/>
          </a:p>
        </p:txBody>
      </p:sp>
      <p:sp>
        <p:nvSpPr>
          <p:cNvPr id="3" name="TextBox 2">
            <a:extLst>
              <a:ext uri="{FF2B5EF4-FFF2-40B4-BE49-F238E27FC236}">
                <a16:creationId xmlns:a16="http://schemas.microsoft.com/office/drawing/2014/main" id="{EBFAA446-6B44-4D66-B2E4-A42AF76FB641}"/>
              </a:ext>
            </a:extLst>
          </p:cNvPr>
          <p:cNvSpPr txBox="1"/>
          <p:nvPr/>
        </p:nvSpPr>
        <p:spPr>
          <a:xfrm>
            <a:off x="5700584" y="864973"/>
            <a:ext cx="4872744" cy="1938992"/>
          </a:xfrm>
          <a:prstGeom prst="rect">
            <a:avLst/>
          </a:prstGeom>
          <a:noFill/>
        </p:spPr>
        <p:txBody>
          <a:bodyPr wrap="none" rtlCol="0">
            <a:spAutoFit/>
          </a:bodyPr>
          <a:lstStyle/>
          <a:p>
            <a:pPr lvl="1"/>
            <a:r>
              <a:rPr lang="en-US" sz="2400" dirty="0"/>
              <a:t>LOAD R1, $12345678</a:t>
            </a:r>
          </a:p>
          <a:p>
            <a:pPr lvl="1"/>
            <a:r>
              <a:rPr lang="en-US" sz="2400" dirty="0"/>
              <a:t>LOAD R2, $2345678A</a:t>
            </a:r>
          </a:p>
          <a:p>
            <a:pPr lvl="1"/>
            <a:r>
              <a:rPr lang="en-US" sz="2400" dirty="0"/>
              <a:t>LOAD R3, $34567890</a:t>
            </a:r>
          </a:p>
          <a:p>
            <a:pPr lvl="1"/>
            <a:endParaRPr lang="en-US" sz="2400" dirty="0"/>
          </a:p>
          <a:p>
            <a:pPr lvl="1"/>
            <a:r>
              <a:rPr lang="en-US" sz="2400" dirty="0"/>
              <a:t>(Overload the memory controller)</a:t>
            </a:r>
          </a:p>
        </p:txBody>
      </p:sp>
    </p:spTree>
    <p:extLst>
      <p:ext uri="{BB962C8B-B14F-4D97-AF65-F5344CB8AC3E}">
        <p14:creationId xmlns:p14="http://schemas.microsoft.com/office/powerpoint/2010/main" val="3228004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1021-6092-431C-8EBD-DF5C02801BE2}"/>
              </a:ext>
            </a:extLst>
          </p:cNvPr>
          <p:cNvSpPr>
            <a:spLocks noGrp="1"/>
          </p:cNvSpPr>
          <p:nvPr>
            <p:ph type="title"/>
          </p:nvPr>
        </p:nvSpPr>
        <p:spPr/>
        <p:txBody>
          <a:bodyPr/>
          <a:lstStyle/>
          <a:p>
            <a:r>
              <a:rPr lang="en-US" dirty="0"/>
              <a:t>How can we fix this?</a:t>
            </a:r>
          </a:p>
        </p:txBody>
      </p:sp>
      <p:sp>
        <p:nvSpPr>
          <p:cNvPr id="3" name="Content Placeholder 2">
            <a:extLst>
              <a:ext uri="{FF2B5EF4-FFF2-40B4-BE49-F238E27FC236}">
                <a16:creationId xmlns:a16="http://schemas.microsoft.com/office/drawing/2014/main" id="{5A755C45-B6B3-4EF9-BD9B-84F38AA52AF2}"/>
              </a:ext>
            </a:extLst>
          </p:cNvPr>
          <p:cNvSpPr>
            <a:spLocks noGrp="1"/>
          </p:cNvSpPr>
          <p:nvPr>
            <p:ph idx="1"/>
          </p:nvPr>
        </p:nvSpPr>
        <p:spPr/>
        <p:txBody>
          <a:bodyPr/>
          <a:lstStyle/>
          <a:p>
            <a:pPr marL="0" indent="0">
              <a:buNone/>
            </a:pPr>
            <a:r>
              <a:rPr lang="en-US" dirty="0"/>
              <a:t>Better prediction of what will be needed. If we look ahead at instructions, we can know what they will need and have it ready. When prediction doesn’t work, though, we need to have an interlock and introduce a bubble.</a:t>
            </a:r>
          </a:p>
          <a:p>
            <a:pPr marL="0" indent="0">
              <a:buNone/>
            </a:pPr>
            <a:endParaRPr lang="en-US" dirty="0"/>
          </a:p>
          <a:p>
            <a:pPr marL="0" indent="0">
              <a:buNone/>
            </a:pPr>
            <a:r>
              <a:rPr lang="en-US" dirty="0"/>
              <a:t>We can make the compiler smarter – it shouldn’t generate these instructions in a row, except as a last resort.</a:t>
            </a:r>
          </a:p>
          <a:p>
            <a:pPr marL="0" indent="0">
              <a:buNone/>
            </a:pPr>
            <a:endParaRPr lang="en-US" dirty="0"/>
          </a:p>
        </p:txBody>
      </p:sp>
    </p:spTree>
    <p:extLst>
      <p:ext uri="{BB962C8B-B14F-4D97-AF65-F5344CB8AC3E}">
        <p14:creationId xmlns:p14="http://schemas.microsoft.com/office/powerpoint/2010/main" val="775844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0638-7D1A-4F4D-895B-F1E78DB09101}"/>
              </a:ext>
            </a:extLst>
          </p:cNvPr>
          <p:cNvSpPr>
            <a:spLocks noGrp="1"/>
          </p:cNvSpPr>
          <p:nvPr>
            <p:ph type="title"/>
          </p:nvPr>
        </p:nvSpPr>
        <p:spPr>
          <a:xfrm>
            <a:off x="838200" y="365125"/>
            <a:ext cx="4326924" cy="2452216"/>
          </a:xfrm>
        </p:spPr>
        <p:txBody>
          <a:bodyPr/>
          <a:lstStyle/>
          <a:p>
            <a:r>
              <a:rPr lang="en-US" dirty="0"/>
              <a:t>Structural</a:t>
            </a:r>
            <a:br>
              <a:rPr lang="en-US" dirty="0"/>
            </a:br>
            <a:r>
              <a:rPr lang="en-US" dirty="0"/>
              <a:t>Hazard 2</a:t>
            </a:r>
          </a:p>
        </p:txBody>
      </p:sp>
      <p:sp>
        <p:nvSpPr>
          <p:cNvPr id="4" name="TextBox 3">
            <a:extLst>
              <a:ext uri="{FF2B5EF4-FFF2-40B4-BE49-F238E27FC236}">
                <a16:creationId xmlns:a16="http://schemas.microsoft.com/office/drawing/2014/main" id="{854CDE69-C129-415D-A845-604B54021E64}"/>
              </a:ext>
            </a:extLst>
          </p:cNvPr>
          <p:cNvSpPr txBox="1"/>
          <p:nvPr/>
        </p:nvSpPr>
        <p:spPr>
          <a:xfrm>
            <a:off x="370703" y="3608175"/>
            <a:ext cx="1672281" cy="1200329"/>
          </a:xfrm>
          <a:prstGeom prst="rect">
            <a:avLst/>
          </a:prstGeom>
          <a:noFill/>
        </p:spPr>
        <p:txBody>
          <a:bodyPr wrap="square" rtlCol="0">
            <a:spAutoFit/>
          </a:bodyPr>
          <a:lstStyle/>
          <a:p>
            <a:r>
              <a:rPr lang="en-US" dirty="0"/>
              <a:t>Fetch</a:t>
            </a:r>
          </a:p>
          <a:p>
            <a:endParaRPr lang="en-US" dirty="0"/>
          </a:p>
          <a:p>
            <a:r>
              <a:rPr lang="en-US" dirty="0"/>
              <a:t>IR = Mem[PC]</a:t>
            </a:r>
          </a:p>
          <a:p>
            <a:r>
              <a:rPr lang="en-US" dirty="0" err="1"/>
              <a:t>NextPC</a:t>
            </a:r>
            <a:r>
              <a:rPr lang="en-US" dirty="0"/>
              <a:t> = IR + 4</a:t>
            </a:r>
          </a:p>
        </p:txBody>
      </p:sp>
      <p:sp>
        <p:nvSpPr>
          <p:cNvPr id="5" name="TextBox 4">
            <a:extLst>
              <a:ext uri="{FF2B5EF4-FFF2-40B4-BE49-F238E27FC236}">
                <a16:creationId xmlns:a16="http://schemas.microsoft.com/office/drawing/2014/main" id="{3DF60E22-27F7-41A2-B11F-9B12B9E5FF0A}"/>
              </a:ext>
            </a:extLst>
          </p:cNvPr>
          <p:cNvSpPr txBox="1"/>
          <p:nvPr/>
        </p:nvSpPr>
        <p:spPr>
          <a:xfrm>
            <a:off x="3269050" y="3608175"/>
            <a:ext cx="2244811" cy="3139321"/>
          </a:xfrm>
          <a:prstGeom prst="rect">
            <a:avLst/>
          </a:prstGeom>
          <a:noFill/>
        </p:spPr>
        <p:txBody>
          <a:bodyPr wrap="square" rtlCol="0">
            <a:spAutoFit/>
          </a:bodyPr>
          <a:lstStyle/>
          <a:p>
            <a:r>
              <a:rPr lang="en-US" dirty="0"/>
              <a:t>Decode</a:t>
            </a:r>
          </a:p>
          <a:p>
            <a:endParaRPr lang="en-US" dirty="0"/>
          </a:p>
          <a:p>
            <a:r>
              <a:rPr lang="en-US" dirty="0"/>
              <a:t>OP1 = Regs[op1 ] OR Immediate OR Mem[Regs[op1]]</a:t>
            </a:r>
          </a:p>
          <a:p>
            <a:endParaRPr lang="en-US" dirty="0"/>
          </a:p>
          <a:p>
            <a:r>
              <a:rPr lang="en-US" dirty="0"/>
              <a:t>OP2 = Regs[op2 ] OR Immediate OR Mem[Regs[op2]]</a:t>
            </a:r>
          </a:p>
          <a:p>
            <a:endParaRPr lang="en-US" dirty="0"/>
          </a:p>
          <a:p>
            <a:endParaRPr lang="en-US" dirty="0"/>
          </a:p>
        </p:txBody>
      </p:sp>
      <p:sp>
        <p:nvSpPr>
          <p:cNvPr id="6" name="Rectangle 5">
            <a:extLst>
              <a:ext uri="{FF2B5EF4-FFF2-40B4-BE49-F238E27FC236}">
                <a16:creationId xmlns:a16="http://schemas.microsoft.com/office/drawing/2014/main" id="{F340DACA-24E3-478E-84CB-A85C94207FE5}"/>
              </a:ext>
            </a:extLst>
          </p:cNvPr>
          <p:cNvSpPr/>
          <p:nvPr/>
        </p:nvSpPr>
        <p:spPr>
          <a:xfrm>
            <a:off x="2565401" y="3501083"/>
            <a:ext cx="181232"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568112-C5C4-43C7-801E-5FC48E281F3E}"/>
              </a:ext>
            </a:extLst>
          </p:cNvPr>
          <p:cNvSpPr/>
          <p:nvPr/>
        </p:nvSpPr>
        <p:spPr>
          <a:xfrm>
            <a:off x="6036275" y="3501082"/>
            <a:ext cx="181235"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FFD60A-688E-404F-AFDA-A4767BF8774A}"/>
              </a:ext>
            </a:extLst>
          </p:cNvPr>
          <p:cNvSpPr txBox="1"/>
          <p:nvPr/>
        </p:nvSpPr>
        <p:spPr>
          <a:xfrm>
            <a:off x="6739927" y="3624649"/>
            <a:ext cx="1705233" cy="2585323"/>
          </a:xfrm>
          <a:prstGeom prst="rect">
            <a:avLst/>
          </a:prstGeom>
          <a:noFill/>
        </p:spPr>
        <p:txBody>
          <a:bodyPr wrap="square" rtlCol="0">
            <a:spAutoFit/>
          </a:bodyPr>
          <a:lstStyle/>
          <a:p>
            <a:r>
              <a:rPr lang="en-US" dirty="0"/>
              <a:t>Execute</a:t>
            </a:r>
          </a:p>
          <a:p>
            <a:endParaRPr lang="en-US" dirty="0"/>
          </a:p>
          <a:p>
            <a:r>
              <a:rPr lang="en-US" dirty="0"/>
              <a:t>result = ALU </a:t>
            </a:r>
          </a:p>
          <a:p>
            <a:r>
              <a:rPr lang="en-US" dirty="0"/>
              <a:t>	OR</a:t>
            </a:r>
          </a:p>
          <a:p>
            <a:r>
              <a:rPr lang="en-US" dirty="0"/>
              <a:t>	FPU </a:t>
            </a:r>
          </a:p>
          <a:p>
            <a:r>
              <a:rPr lang="en-US" dirty="0"/>
              <a:t>	</a:t>
            </a:r>
          </a:p>
          <a:p>
            <a:r>
              <a:rPr lang="en-US" dirty="0"/>
              <a:t>	</a:t>
            </a:r>
          </a:p>
          <a:p>
            <a:endParaRPr lang="en-US" dirty="0"/>
          </a:p>
          <a:p>
            <a:endParaRPr lang="en-US" dirty="0"/>
          </a:p>
        </p:txBody>
      </p:sp>
      <p:sp>
        <p:nvSpPr>
          <p:cNvPr id="10" name="Rectangle 9">
            <a:extLst>
              <a:ext uri="{FF2B5EF4-FFF2-40B4-BE49-F238E27FC236}">
                <a16:creationId xmlns:a16="http://schemas.microsoft.com/office/drawing/2014/main" id="{6F84EA56-8F22-4D4C-8646-97239D8DE1C7}"/>
              </a:ext>
            </a:extLst>
          </p:cNvPr>
          <p:cNvSpPr/>
          <p:nvPr/>
        </p:nvSpPr>
        <p:spPr>
          <a:xfrm>
            <a:off x="8967574" y="3426942"/>
            <a:ext cx="181235" cy="287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5596AB-DCC1-45CF-A52D-CE512552C188}"/>
              </a:ext>
            </a:extLst>
          </p:cNvPr>
          <p:cNvSpPr txBox="1"/>
          <p:nvPr/>
        </p:nvSpPr>
        <p:spPr>
          <a:xfrm>
            <a:off x="9671223" y="3608174"/>
            <a:ext cx="1894701" cy="2585323"/>
          </a:xfrm>
          <a:prstGeom prst="rect">
            <a:avLst/>
          </a:prstGeom>
          <a:noFill/>
        </p:spPr>
        <p:txBody>
          <a:bodyPr wrap="square" rtlCol="0">
            <a:spAutoFit/>
          </a:bodyPr>
          <a:lstStyle/>
          <a:p>
            <a:r>
              <a:rPr lang="en-US" dirty="0"/>
              <a:t>Store</a:t>
            </a:r>
          </a:p>
          <a:p>
            <a:endParaRPr lang="en-US" dirty="0"/>
          </a:p>
          <a:p>
            <a:r>
              <a:rPr lang="en-US" dirty="0"/>
              <a:t>Mem[rt] = result </a:t>
            </a:r>
          </a:p>
          <a:p>
            <a:r>
              <a:rPr lang="en-US" dirty="0"/>
              <a:t>OR</a:t>
            </a:r>
          </a:p>
          <a:p>
            <a:r>
              <a:rPr lang="en-US" dirty="0"/>
              <a:t>Regs[rt] = result</a:t>
            </a:r>
          </a:p>
          <a:p>
            <a:r>
              <a:rPr lang="en-US" dirty="0"/>
              <a:t>	</a:t>
            </a:r>
          </a:p>
          <a:p>
            <a:r>
              <a:rPr lang="en-US" dirty="0"/>
              <a:t>	</a:t>
            </a:r>
          </a:p>
          <a:p>
            <a:endParaRPr lang="en-US" dirty="0"/>
          </a:p>
          <a:p>
            <a:endParaRPr lang="en-US" dirty="0"/>
          </a:p>
        </p:txBody>
      </p:sp>
      <p:sp>
        <p:nvSpPr>
          <p:cNvPr id="3" name="TextBox 2">
            <a:extLst>
              <a:ext uri="{FF2B5EF4-FFF2-40B4-BE49-F238E27FC236}">
                <a16:creationId xmlns:a16="http://schemas.microsoft.com/office/drawing/2014/main" id="{EBFAA446-6B44-4D66-B2E4-A42AF76FB641}"/>
              </a:ext>
            </a:extLst>
          </p:cNvPr>
          <p:cNvSpPr txBox="1"/>
          <p:nvPr/>
        </p:nvSpPr>
        <p:spPr>
          <a:xfrm>
            <a:off x="5700584" y="864973"/>
            <a:ext cx="5233292" cy="2308324"/>
          </a:xfrm>
          <a:prstGeom prst="rect">
            <a:avLst/>
          </a:prstGeom>
          <a:noFill/>
        </p:spPr>
        <p:txBody>
          <a:bodyPr wrap="none" rtlCol="0">
            <a:spAutoFit/>
          </a:bodyPr>
          <a:lstStyle/>
          <a:p>
            <a:pPr lvl="1"/>
            <a:r>
              <a:rPr lang="en-US" sz="2400" dirty="0"/>
              <a:t>LOAD R1, $12345678</a:t>
            </a:r>
          </a:p>
          <a:p>
            <a:pPr lvl="1"/>
            <a:r>
              <a:rPr lang="en-US" sz="2400" dirty="0"/>
              <a:t>ADDI #1,R1</a:t>
            </a:r>
          </a:p>
          <a:p>
            <a:pPr lvl="1"/>
            <a:r>
              <a:rPr lang="en-US" sz="2400" dirty="0"/>
              <a:t>STORE R1,$2345678A</a:t>
            </a:r>
          </a:p>
          <a:p>
            <a:pPr lvl="1"/>
            <a:endParaRPr lang="en-US" sz="2400" dirty="0"/>
          </a:p>
          <a:p>
            <a:pPr lvl="1"/>
            <a:r>
              <a:rPr lang="en-US" sz="2400" dirty="0"/>
              <a:t>The load will take a while to execute,</a:t>
            </a:r>
            <a:br>
              <a:rPr lang="en-US" sz="2400" dirty="0"/>
            </a:br>
            <a:r>
              <a:rPr lang="en-US" sz="2400" dirty="0"/>
              <a:t>so the pipeline has to empty.</a:t>
            </a:r>
          </a:p>
        </p:txBody>
      </p:sp>
    </p:spTree>
    <p:extLst>
      <p:ext uri="{BB962C8B-B14F-4D97-AF65-F5344CB8AC3E}">
        <p14:creationId xmlns:p14="http://schemas.microsoft.com/office/powerpoint/2010/main" val="2896444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A73B7-7C1D-468A-B745-9F53FA396149}"/>
              </a:ext>
            </a:extLst>
          </p:cNvPr>
          <p:cNvSpPr>
            <a:spLocks noGrp="1"/>
          </p:cNvSpPr>
          <p:nvPr>
            <p:ph type="title"/>
          </p:nvPr>
        </p:nvSpPr>
        <p:spPr/>
        <p:txBody>
          <a:bodyPr/>
          <a:lstStyle/>
          <a:p>
            <a:r>
              <a:rPr lang="en-US" dirty="0"/>
              <a:t>How can we fix this?</a:t>
            </a:r>
          </a:p>
        </p:txBody>
      </p:sp>
      <p:sp>
        <p:nvSpPr>
          <p:cNvPr id="3" name="Content Placeholder 2">
            <a:extLst>
              <a:ext uri="{FF2B5EF4-FFF2-40B4-BE49-F238E27FC236}">
                <a16:creationId xmlns:a16="http://schemas.microsoft.com/office/drawing/2014/main" id="{45673430-C1CB-4973-AB71-B425FE747F7D}"/>
              </a:ext>
            </a:extLst>
          </p:cNvPr>
          <p:cNvSpPr>
            <a:spLocks noGrp="1"/>
          </p:cNvSpPr>
          <p:nvPr>
            <p:ph idx="1"/>
          </p:nvPr>
        </p:nvSpPr>
        <p:spPr/>
        <p:txBody>
          <a:bodyPr/>
          <a:lstStyle/>
          <a:p>
            <a:pPr marL="0" indent="0">
              <a:buNone/>
            </a:pPr>
            <a:r>
              <a:rPr lang="en-US" dirty="0"/>
              <a:t>This is another dependency that can be mitigated somewhat by the compiler. Is there ANY other reasonable order of instructions?</a:t>
            </a:r>
          </a:p>
          <a:p>
            <a:pPr marL="0" indent="0">
              <a:buNone/>
            </a:pPr>
            <a:endParaRPr lang="en-US" dirty="0"/>
          </a:p>
          <a:p>
            <a:pPr marL="0" indent="0">
              <a:buNone/>
            </a:pPr>
            <a:r>
              <a:rPr lang="en-US" dirty="0"/>
              <a:t>Otherwise, the CPU has to introduce a bubble.</a:t>
            </a:r>
          </a:p>
        </p:txBody>
      </p:sp>
    </p:spTree>
    <p:extLst>
      <p:ext uri="{BB962C8B-B14F-4D97-AF65-F5344CB8AC3E}">
        <p14:creationId xmlns:p14="http://schemas.microsoft.com/office/powerpoint/2010/main" val="3350494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0638-7D1A-4F4D-895B-F1E78DB09101}"/>
              </a:ext>
            </a:extLst>
          </p:cNvPr>
          <p:cNvSpPr>
            <a:spLocks noGrp="1"/>
          </p:cNvSpPr>
          <p:nvPr>
            <p:ph type="title"/>
          </p:nvPr>
        </p:nvSpPr>
        <p:spPr>
          <a:xfrm>
            <a:off x="838200" y="365125"/>
            <a:ext cx="4326924" cy="2452216"/>
          </a:xfrm>
        </p:spPr>
        <p:txBody>
          <a:bodyPr/>
          <a:lstStyle/>
          <a:p>
            <a:r>
              <a:rPr lang="en-US" dirty="0"/>
              <a:t>Data</a:t>
            </a:r>
            <a:br>
              <a:rPr lang="en-US" dirty="0"/>
            </a:br>
            <a:r>
              <a:rPr lang="en-US" dirty="0"/>
              <a:t>Hazard</a:t>
            </a:r>
          </a:p>
        </p:txBody>
      </p:sp>
      <p:sp>
        <p:nvSpPr>
          <p:cNvPr id="4" name="TextBox 3">
            <a:extLst>
              <a:ext uri="{FF2B5EF4-FFF2-40B4-BE49-F238E27FC236}">
                <a16:creationId xmlns:a16="http://schemas.microsoft.com/office/drawing/2014/main" id="{854CDE69-C129-415D-A845-604B54021E64}"/>
              </a:ext>
            </a:extLst>
          </p:cNvPr>
          <p:cNvSpPr txBox="1"/>
          <p:nvPr/>
        </p:nvSpPr>
        <p:spPr>
          <a:xfrm>
            <a:off x="370703" y="3608175"/>
            <a:ext cx="1672281" cy="1200329"/>
          </a:xfrm>
          <a:prstGeom prst="rect">
            <a:avLst/>
          </a:prstGeom>
          <a:noFill/>
        </p:spPr>
        <p:txBody>
          <a:bodyPr wrap="square" rtlCol="0">
            <a:spAutoFit/>
          </a:bodyPr>
          <a:lstStyle/>
          <a:p>
            <a:r>
              <a:rPr lang="en-US" dirty="0"/>
              <a:t>Fetch</a:t>
            </a:r>
          </a:p>
          <a:p>
            <a:endParaRPr lang="en-US" dirty="0"/>
          </a:p>
          <a:p>
            <a:r>
              <a:rPr lang="en-US" dirty="0"/>
              <a:t>IR = Mem[PC]</a:t>
            </a:r>
          </a:p>
          <a:p>
            <a:r>
              <a:rPr lang="en-US" dirty="0" err="1"/>
              <a:t>NextPC</a:t>
            </a:r>
            <a:r>
              <a:rPr lang="en-US" dirty="0"/>
              <a:t> = IR + 4</a:t>
            </a:r>
          </a:p>
        </p:txBody>
      </p:sp>
      <p:sp>
        <p:nvSpPr>
          <p:cNvPr id="5" name="TextBox 4">
            <a:extLst>
              <a:ext uri="{FF2B5EF4-FFF2-40B4-BE49-F238E27FC236}">
                <a16:creationId xmlns:a16="http://schemas.microsoft.com/office/drawing/2014/main" id="{3DF60E22-27F7-41A2-B11F-9B12B9E5FF0A}"/>
              </a:ext>
            </a:extLst>
          </p:cNvPr>
          <p:cNvSpPr txBox="1"/>
          <p:nvPr/>
        </p:nvSpPr>
        <p:spPr>
          <a:xfrm>
            <a:off x="3269050" y="3608175"/>
            <a:ext cx="2244811" cy="3139321"/>
          </a:xfrm>
          <a:prstGeom prst="rect">
            <a:avLst/>
          </a:prstGeom>
          <a:noFill/>
        </p:spPr>
        <p:txBody>
          <a:bodyPr wrap="square" rtlCol="0">
            <a:spAutoFit/>
          </a:bodyPr>
          <a:lstStyle/>
          <a:p>
            <a:r>
              <a:rPr lang="en-US" dirty="0"/>
              <a:t>Decode</a:t>
            </a:r>
          </a:p>
          <a:p>
            <a:endParaRPr lang="en-US" dirty="0"/>
          </a:p>
          <a:p>
            <a:r>
              <a:rPr lang="en-US" dirty="0"/>
              <a:t>OP1 = Regs[op1 ] OR Immediate OR Mem[Regs[op1]]</a:t>
            </a:r>
          </a:p>
          <a:p>
            <a:endParaRPr lang="en-US" dirty="0"/>
          </a:p>
          <a:p>
            <a:r>
              <a:rPr lang="en-US" dirty="0"/>
              <a:t>OP2 = Regs[op2 ] OR Immediate OR Mem[Regs[op2]]</a:t>
            </a:r>
          </a:p>
          <a:p>
            <a:endParaRPr lang="en-US" dirty="0"/>
          </a:p>
          <a:p>
            <a:endParaRPr lang="en-US" dirty="0"/>
          </a:p>
        </p:txBody>
      </p:sp>
      <p:sp>
        <p:nvSpPr>
          <p:cNvPr id="6" name="Rectangle 5">
            <a:extLst>
              <a:ext uri="{FF2B5EF4-FFF2-40B4-BE49-F238E27FC236}">
                <a16:creationId xmlns:a16="http://schemas.microsoft.com/office/drawing/2014/main" id="{F340DACA-24E3-478E-84CB-A85C94207FE5}"/>
              </a:ext>
            </a:extLst>
          </p:cNvPr>
          <p:cNvSpPr/>
          <p:nvPr/>
        </p:nvSpPr>
        <p:spPr>
          <a:xfrm>
            <a:off x="2565401" y="3501083"/>
            <a:ext cx="181232"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568112-C5C4-43C7-801E-5FC48E281F3E}"/>
              </a:ext>
            </a:extLst>
          </p:cNvPr>
          <p:cNvSpPr/>
          <p:nvPr/>
        </p:nvSpPr>
        <p:spPr>
          <a:xfrm>
            <a:off x="6036275" y="3501082"/>
            <a:ext cx="181235"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FFD60A-688E-404F-AFDA-A4767BF8774A}"/>
              </a:ext>
            </a:extLst>
          </p:cNvPr>
          <p:cNvSpPr txBox="1"/>
          <p:nvPr/>
        </p:nvSpPr>
        <p:spPr>
          <a:xfrm>
            <a:off x="6739927" y="3624649"/>
            <a:ext cx="1705233" cy="2585323"/>
          </a:xfrm>
          <a:prstGeom prst="rect">
            <a:avLst/>
          </a:prstGeom>
          <a:noFill/>
        </p:spPr>
        <p:txBody>
          <a:bodyPr wrap="square" rtlCol="0">
            <a:spAutoFit/>
          </a:bodyPr>
          <a:lstStyle/>
          <a:p>
            <a:r>
              <a:rPr lang="en-US" dirty="0"/>
              <a:t>Execute</a:t>
            </a:r>
          </a:p>
          <a:p>
            <a:endParaRPr lang="en-US" dirty="0"/>
          </a:p>
          <a:p>
            <a:r>
              <a:rPr lang="en-US" dirty="0"/>
              <a:t>result = ALU </a:t>
            </a:r>
          </a:p>
          <a:p>
            <a:r>
              <a:rPr lang="en-US" dirty="0"/>
              <a:t>	OR</a:t>
            </a:r>
          </a:p>
          <a:p>
            <a:r>
              <a:rPr lang="en-US" dirty="0"/>
              <a:t>	FPU </a:t>
            </a:r>
          </a:p>
          <a:p>
            <a:r>
              <a:rPr lang="en-US" dirty="0"/>
              <a:t>	</a:t>
            </a:r>
          </a:p>
          <a:p>
            <a:r>
              <a:rPr lang="en-US" dirty="0"/>
              <a:t>	</a:t>
            </a:r>
          </a:p>
          <a:p>
            <a:endParaRPr lang="en-US" dirty="0"/>
          </a:p>
          <a:p>
            <a:endParaRPr lang="en-US" dirty="0"/>
          </a:p>
        </p:txBody>
      </p:sp>
      <p:sp>
        <p:nvSpPr>
          <p:cNvPr id="10" name="Rectangle 9">
            <a:extLst>
              <a:ext uri="{FF2B5EF4-FFF2-40B4-BE49-F238E27FC236}">
                <a16:creationId xmlns:a16="http://schemas.microsoft.com/office/drawing/2014/main" id="{6F84EA56-8F22-4D4C-8646-97239D8DE1C7}"/>
              </a:ext>
            </a:extLst>
          </p:cNvPr>
          <p:cNvSpPr/>
          <p:nvPr/>
        </p:nvSpPr>
        <p:spPr>
          <a:xfrm>
            <a:off x="8967574" y="3426942"/>
            <a:ext cx="181235" cy="287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5596AB-DCC1-45CF-A52D-CE512552C188}"/>
              </a:ext>
            </a:extLst>
          </p:cNvPr>
          <p:cNvSpPr txBox="1"/>
          <p:nvPr/>
        </p:nvSpPr>
        <p:spPr>
          <a:xfrm>
            <a:off x="9671223" y="3608174"/>
            <a:ext cx="1894701" cy="2585323"/>
          </a:xfrm>
          <a:prstGeom prst="rect">
            <a:avLst/>
          </a:prstGeom>
          <a:noFill/>
        </p:spPr>
        <p:txBody>
          <a:bodyPr wrap="square" rtlCol="0">
            <a:spAutoFit/>
          </a:bodyPr>
          <a:lstStyle/>
          <a:p>
            <a:r>
              <a:rPr lang="en-US" dirty="0"/>
              <a:t>Store</a:t>
            </a:r>
          </a:p>
          <a:p>
            <a:endParaRPr lang="en-US" dirty="0"/>
          </a:p>
          <a:p>
            <a:r>
              <a:rPr lang="en-US" dirty="0"/>
              <a:t>Mem[rt] = result </a:t>
            </a:r>
          </a:p>
          <a:p>
            <a:r>
              <a:rPr lang="en-US" dirty="0"/>
              <a:t>OR</a:t>
            </a:r>
          </a:p>
          <a:p>
            <a:r>
              <a:rPr lang="en-US" dirty="0"/>
              <a:t>Regs[rt] = result</a:t>
            </a:r>
          </a:p>
          <a:p>
            <a:r>
              <a:rPr lang="en-US" dirty="0"/>
              <a:t>	</a:t>
            </a:r>
          </a:p>
          <a:p>
            <a:r>
              <a:rPr lang="en-US" dirty="0"/>
              <a:t>	</a:t>
            </a:r>
          </a:p>
          <a:p>
            <a:endParaRPr lang="en-US" dirty="0"/>
          </a:p>
          <a:p>
            <a:endParaRPr lang="en-US" dirty="0"/>
          </a:p>
        </p:txBody>
      </p:sp>
      <p:sp>
        <p:nvSpPr>
          <p:cNvPr id="3" name="TextBox 2">
            <a:extLst>
              <a:ext uri="{FF2B5EF4-FFF2-40B4-BE49-F238E27FC236}">
                <a16:creationId xmlns:a16="http://schemas.microsoft.com/office/drawing/2014/main" id="{EBFAA446-6B44-4D66-B2E4-A42AF76FB641}"/>
              </a:ext>
            </a:extLst>
          </p:cNvPr>
          <p:cNvSpPr txBox="1"/>
          <p:nvPr/>
        </p:nvSpPr>
        <p:spPr>
          <a:xfrm>
            <a:off x="5700584" y="864973"/>
            <a:ext cx="3389133" cy="2308324"/>
          </a:xfrm>
          <a:prstGeom prst="rect">
            <a:avLst/>
          </a:prstGeom>
          <a:noFill/>
        </p:spPr>
        <p:txBody>
          <a:bodyPr wrap="none" rtlCol="0">
            <a:spAutoFit/>
          </a:bodyPr>
          <a:lstStyle/>
          <a:p>
            <a:pPr lvl="1"/>
            <a:r>
              <a:rPr lang="en-US" sz="2400" dirty="0"/>
              <a:t>ADD R1</a:t>
            </a:r>
            <a:r>
              <a:rPr lang="en-US" sz="2400" dirty="0">
                <a:sym typeface="Wingdings" panose="05000000000000000000" pitchFamily="2" charset="2"/>
              </a:rPr>
              <a:t></a:t>
            </a:r>
            <a:r>
              <a:rPr lang="en-US" sz="2400" dirty="0"/>
              <a:t>R2,R3</a:t>
            </a:r>
          </a:p>
          <a:p>
            <a:pPr lvl="1"/>
            <a:r>
              <a:rPr lang="en-US" sz="2400" dirty="0"/>
              <a:t>SUB R4</a:t>
            </a:r>
            <a:r>
              <a:rPr lang="en-US" sz="2400" dirty="0">
                <a:sym typeface="Wingdings" panose="05000000000000000000" pitchFamily="2" charset="2"/>
              </a:rPr>
              <a:t></a:t>
            </a:r>
            <a:r>
              <a:rPr lang="en-US" sz="2400" dirty="0"/>
              <a:t> R1,R3</a:t>
            </a:r>
          </a:p>
          <a:p>
            <a:pPr lvl="1"/>
            <a:endParaRPr lang="en-US" sz="2400" dirty="0"/>
          </a:p>
          <a:p>
            <a:pPr lvl="1"/>
            <a:r>
              <a:rPr lang="en-US" sz="2400" dirty="0"/>
              <a:t>Decode can’t get the </a:t>
            </a:r>
          </a:p>
          <a:p>
            <a:pPr lvl="1"/>
            <a:r>
              <a:rPr lang="en-US" sz="2400" dirty="0"/>
              <a:t>data that hasn’t been </a:t>
            </a:r>
            <a:br>
              <a:rPr lang="en-US" sz="2400" dirty="0"/>
            </a:br>
            <a:r>
              <a:rPr lang="en-US" sz="2400" dirty="0"/>
              <a:t>calculated yet</a:t>
            </a:r>
          </a:p>
        </p:txBody>
      </p:sp>
    </p:spTree>
    <p:extLst>
      <p:ext uri="{BB962C8B-B14F-4D97-AF65-F5344CB8AC3E}">
        <p14:creationId xmlns:p14="http://schemas.microsoft.com/office/powerpoint/2010/main" val="2881271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03A07-594D-4578-91FC-4E8E9D2E805F}"/>
              </a:ext>
            </a:extLst>
          </p:cNvPr>
          <p:cNvSpPr>
            <a:spLocks noGrp="1"/>
          </p:cNvSpPr>
          <p:nvPr>
            <p:ph type="title"/>
          </p:nvPr>
        </p:nvSpPr>
        <p:spPr/>
        <p:txBody>
          <a:bodyPr/>
          <a:lstStyle/>
          <a:p>
            <a:r>
              <a:rPr lang="en-US" dirty="0"/>
              <a:t>Data Hazards (3 types)</a:t>
            </a:r>
          </a:p>
        </p:txBody>
      </p:sp>
      <p:sp>
        <p:nvSpPr>
          <p:cNvPr id="3" name="Content Placeholder 2">
            <a:extLst>
              <a:ext uri="{FF2B5EF4-FFF2-40B4-BE49-F238E27FC236}">
                <a16:creationId xmlns:a16="http://schemas.microsoft.com/office/drawing/2014/main" id="{67BE6DD2-2292-4960-B0F1-93BF7FBD7929}"/>
              </a:ext>
            </a:extLst>
          </p:cNvPr>
          <p:cNvSpPr>
            <a:spLocks noGrp="1"/>
          </p:cNvSpPr>
          <p:nvPr>
            <p:ph idx="1"/>
          </p:nvPr>
        </p:nvSpPr>
        <p:spPr>
          <a:xfrm>
            <a:off x="131804" y="1825625"/>
            <a:ext cx="3657600" cy="4351338"/>
          </a:xfrm>
          <a:ln>
            <a:solidFill>
              <a:schemeClr val="tx1"/>
            </a:solidFill>
          </a:ln>
        </p:spPr>
        <p:txBody>
          <a:bodyPr>
            <a:normAutofit/>
          </a:bodyPr>
          <a:lstStyle/>
          <a:p>
            <a:pPr marL="0" indent="0">
              <a:buNone/>
            </a:pPr>
            <a:r>
              <a:rPr lang="en-US" dirty="0"/>
              <a:t>RAW (Read after write)</a:t>
            </a:r>
          </a:p>
          <a:p>
            <a:pPr marL="0" indent="0">
              <a:buNone/>
            </a:pPr>
            <a:r>
              <a:rPr lang="en-US" dirty="0"/>
              <a:t>(flow dependence)</a:t>
            </a:r>
          </a:p>
          <a:p>
            <a:pPr marL="0" indent="0">
              <a:buNone/>
            </a:pPr>
            <a:endParaRPr lang="en-US" dirty="0"/>
          </a:p>
          <a:p>
            <a:pPr marL="0" indent="0">
              <a:buNone/>
            </a:pPr>
            <a:r>
              <a:rPr lang="en-US" dirty="0"/>
              <a:t>a = </a:t>
            </a:r>
            <a:r>
              <a:rPr lang="en-US" dirty="0" err="1"/>
              <a:t>b+c</a:t>
            </a:r>
            <a:endParaRPr lang="en-US" dirty="0"/>
          </a:p>
          <a:p>
            <a:pPr marL="0" indent="0">
              <a:buNone/>
            </a:pPr>
            <a:r>
              <a:rPr lang="en-US" dirty="0"/>
              <a:t>d = a + e</a:t>
            </a:r>
          </a:p>
        </p:txBody>
      </p:sp>
      <p:sp>
        <p:nvSpPr>
          <p:cNvPr id="4" name="Content Placeholder 2">
            <a:extLst>
              <a:ext uri="{FF2B5EF4-FFF2-40B4-BE49-F238E27FC236}">
                <a16:creationId xmlns:a16="http://schemas.microsoft.com/office/drawing/2014/main" id="{BD8DEE04-633F-4689-8FAC-A02A5C398BD3}"/>
              </a:ext>
            </a:extLst>
          </p:cNvPr>
          <p:cNvSpPr txBox="1">
            <a:spLocks/>
          </p:cNvSpPr>
          <p:nvPr/>
        </p:nvSpPr>
        <p:spPr>
          <a:xfrm>
            <a:off x="4284027" y="1825625"/>
            <a:ext cx="3657600" cy="435133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WAR (write after read)</a:t>
            </a:r>
          </a:p>
          <a:p>
            <a:pPr marL="0" indent="0">
              <a:buFont typeface="Arial" panose="020B0604020202020204" pitchFamily="34" charset="0"/>
              <a:buNone/>
            </a:pPr>
            <a:r>
              <a:rPr lang="en-US" dirty="0"/>
              <a:t>(anti-dependence)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c = a + b</a:t>
            </a:r>
          </a:p>
          <a:p>
            <a:pPr marL="0" indent="0">
              <a:buFont typeface="Arial" panose="020B0604020202020204" pitchFamily="34" charset="0"/>
              <a:buNone/>
            </a:pPr>
            <a:r>
              <a:rPr lang="en-US" dirty="0"/>
              <a:t>a = d + e</a:t>
            </a:r>
          </a:p>
        </p:txBody>
      </p:sp>
      <p:sp>
        <p:nvSpPr>
          <p:cNvPr id="5" name="Content Placeholder 2">
            <a:extLst>
              <a:ext uri="{FF2B5EF4-FFF2-40B4-BE49-F238E27FC236}">
                <a16:creationId xmlns:a16="http://schemas.microsoft.com/office/drawing/2014/main" id="{51DF345D-C3D0-4A3E-AA25-337384AC20E1}"/>
              </a:ext>
            </a:extLst>
          </p:cNvPr>
          <p:cNvSpPr txBox="1">
            <a:spLocks/>
          </p:cNvSpPr>
          <p:nvPr/>
        </p:nvSpPr>
        <p:spPr>
          <a:xfrm>
            <a:off x="8436251" y="1825625"/>
            <a:ext cx="3657600" cy="435133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WAW (write after write)</a:t>
            </a:r>
          </a:p>
          <a:p>
            <a:pPr marL="0" indent="0">
              <a:buFont typeface="Arial" panose="020B0604020202020204" pitchFamily="34" charset="0"/>
              <a:buNone/>
            </a:pPr>
            <a:r>
              <a:rPr lang="en-US" dirty="0"/>
              <a:t>(output dependence)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c = a + b</a:t>
            </a:r>
          </a:p>
          <a:p>
            <a:pPr marL="0" indent="0">
              <a:buFont typeface="Arial" panose="020B0604020202020204" pitchFamily="34" charset="0"/>
              <a:buNone/>
            </a:pPr>
            <a:r>
              <a:rPr lang="en-US" dirty="0"/>
              <a:t>e = c + d</a:t>
            </a:r>
          </a:p>
          <a:p>
            <a:pPr marL="0" indent="0">
              <a:buFont typeface="Arial" panose="020B0604020202020204" pitchFamily="34" charset="0"/>
              <a:buNone/>
            </a:pPr>
            <a:r>
              <a:rPr lang="en-US" dirty="0"/>
              <a:t>c = f + g</a:t>
            </a:r>
          </a:p>
        </p:txBody>
      </p:sp>
    </p:spTree>
    <p:extLst>
      <p:ext uri="{BB962C8B-B14F-4D97-AF65-F5344CB8AC3E}">
        <p14:creationId xmlns:p14="http://schemas.microsoft.com/office/powerpoint/2010/main" val="757897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F5F2-9C8E-4FC0-9D01-EA60C5A3663A}"/>
              </a:ext>
            </a:extLst>
          </p:cNvPr>
          <p:cNvSpPr>
            <a:spLocks noGrp="1"/>
          </p:cNvSpPr>
          <p:nvPr>
            <p:ph type="title"/>
          </p:nvPr>
        </p:nvSpPr>
        <p:spPr>
          <a:xfrm>
            <a:off x="838200" y="365125"/>
            <a:ext cx="10515600" cy="725919"/>
          </a:xfrm>
        </p:spPr>
        <p:txBody>
          <a:bodyPr>
            <a:normAutofit/>
          </a:bodyPr>
          <a:lstStyle/>
          <a:p>
            <a:r>
              <a:rPr lang="en-US" dirty="0"/>
              <a:t>How do we fix this?</a:t>
            </a:r>
          </a:p>
        </p:txBody>
      </p:sp>
      <p:sp>
        <p:nvSpPr>
          <p:cNvPr id="3" name="Content Placeholder 2">
            <a:extLst>
              <a:ext uri="{FF2B5EF4-FFF2-40B4-BE49-F238E27FC236}">
                <a16:creationId xmlns:a16="http://schemas.microsoft.com/office/drawing/2014/main" id="{30303101-7E7C-47D5-8D01-90030583A5AD}"/>
              </a:ext>
            </a:extLst>
          </p:cNvPr>
          <p:cNvSpPr>
            <a:spLocks noGrp="1"/>
          </p:cNvSpPr>
          <p:nvPr>
            <p:ph idx="1"/>
          </p:nvPr>
        </p:nvSpPr>
        <p:spPr>
          <a:xfrm>
            <a:off x="350195" y="953312"/>
            <a:ext cx="11738379" cy="5447488"/>
          </a:xfrm>
        </p:spPr>
        <p:txBody>
          <a:bodyPr>
            <a:normAutofit/>
          </a:bodyPr>
          <a:lstStyle/>
          <a:p>
            <a:pPr marL="0" indent="0">
              <a:buNone/>
            </a:pPr>
            <a:endParaRPr lang="en-US" dirty="0"/>
          </a:p>
          <a:p>
            <a:pPr marL="514350" indent="-514350">
              <a:buAutoNum type="alphaUcParenR"/>
            </a:pPr>
            <a:r>
              <a:rPr lang="en-US" dirty="0"/>
              <a:t>Reorder the instructions IN THE CPU so that there isn’t a collision </a:t>
            </a:r>
          </a:p>
          <a:p>
            <a:pPr marL="514350" indent="-514350">
              <a:buAutoNum type="alphaUcParenR"/>
            </a:pPr>
            <a:r>
              <a:rPr lang="en-US" dirty="0"/>
              <a:t>Leave the result accessible so that we can use that instead of the data coming from the decode stage (forwarding). </a:t>
            </a:r>
          </a:p>
          <a:p>
            <a:pPr marL="0" indent="0">
              <a:buNone/>
            </a:pPr>
            <a:endParaRPr lang="en-US" dirty="0"/>
          </a:p>
          <a:p>
            <a:pPr marL="0" indent="0">
              <a:buNone/>
            </a:pPr>
            <a:r>
              <a:rPr lang="en-US" dirty="0"/>
              <a:t>Forwarding means that the register value from the decode section isn’t the actual value – we will leave a value in the execute section, instead. There is another option, which we will cover later.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69241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0638-7D1A-4F4D-895B-F1E78DB09101}"/>
              </a:ext>
            </a:extLst>
          </p:cNvPr>
          <p:cNvSpPr>
            <a:spLocks noGrp="1"/>
          </p:cNvSpPr>
          <p:nvPr>
            <p:ph type="title"/>
          </p:nvPr>
        </p:nvSpPr>
        <p:spPr>
          <a:xfrm>
            <a:off x="838200" y="365125"/>
            <a:ext cx="3709086" cy="2443978"/>
          </a:xfrm>
        </p:spPr>
        <p:txBody>
          <a:bodyPr/>
          <a:lstStyle/>
          <a:p>
            <a:r>
              <a:rPr lang="en-US" dirty="0"/>
              <a:t>Control </a:t>
            </a:r>
            <a:br>
              <a:rPr lang="en-US" dirty="0"/>
            </a:br>
            <a:r>
              <a:rPr lang="en-US" dirty="0"/>
              <a:t>Hazard</a:t>
            </a:r>
            <a:br>
              <a:rPr lang="en-US" dirty="0"/>
            </a:br>
            <a:r>
              <a:rPr lang="en-US" dirty="0"/>
              <a:t>(repeat)</a:t>
            </a:r>
          </a:p>
        </p:txBody>
      </p:sp>
      <p:sp>
        <p:nvSpPr>
          <p:cNvPr id="4" name="TextBox 3">
            <a:extLst>
              <a:ext uri="{FF2B5EF4-FFF2-40B4-BE49-F238E27FC236}">
                <a16:creationId xmlns:a16="http://schemas.microsoft.com/office/drawing/2014/main" id="{854CDE69-C129-415D-A845-604B54021E64}"/>
              </a:ext>
            </a:extLst>
          </p:cNvPr>
          <p:cNvSpPr txBox="1"/>
          <p:nvPr/>
        </p:nvSpPr>
        <p:spPr>
          <a:xfrm>
            <a:off x="370703" y="3608175"/>
            <a:ext cx="1672281" cy="1200329"/>
          </a:xfrm>
          <a:prstGeom prst="rect">
            <a:avLst/>
          </a:prstGeom>
          <a:noFill/>
        </p:spPr>
        <p:txBody>
          <a:bodyPr wrap="square" rtlCol="0">
            <a:spAutoFit/>
          </a:bodyPr>
          <a:lstStyle/>
          <a:p>
            <a:r>
              <a:rPr lang="en-US" dirty="0"/>
              <a:t>Fetch</a:t>
            </a:r>
          </a:p>
          <a:p>
            <a:endParaRPr lang="en-US" dirty="0"/>
          </a:p>
          <a:p>
            <a:r>
              <a:rPr lang="en-US" dirty="0"/>
              <a:t>IR = Mem[PC]</a:t>
            </a:r>
          </a:p>
          <a:p>
            <a:r>
              <a:rPr lang="en-US" dirty="0" err="1"/>
              <a:t>NextPC</a:t>
            </a:r>
            <a:r>
              <a:rPr lang="en-US" dirty="0"/>
              <a:t> = IR + 4</a:t>
            </a:r>
          </a:p>
        </p:txBody>
      </p:sp>
      <p:sp>
        <p:nvSpPr>
          <p:cNvPr id="5" name="TextBox 4">
            <a:extLst>
              <a:ext uri="{FF2B5EF4-FFF2-40B4-BE49-F238E27FC236}">
                <a16:creationId xmlns:a16="http://schemas.microsoft.com/office/drawing/2014/main" id="{3DF60E22-27F7-41A2-B11F-9B12B9E5FF0A}"/>
              </a:ext>
            </a:extLst>
          </p:cNvPr>
          <p:cNvSpPr txBox="1"/>
          <p:nvPr/>
        </p:nvSpPr>
        <p:spPr>
          <a:xfrm>
            <a:off x="3269050" y="3608175"/>
            <a:ext cx="2244811" cy="3139321"/>
          </a:xfrm>
          <a:prstGeom prst="rect">
            <a:avLst/>
          </a:prstGeom>
          <a:noFill/>
        </p:spPr>
        <p:txBody>
          <a:bodyPr wrap="square" rtlCol="0">
            <a:spAutoFit/>
          </a:bodyPr>
          <a:lstStyle/>
          <a:p>
            <a:r>
              <a:rPr lang="en-US" dirty="0"/>
              <a:t>Decode</a:t>
            </a:r>
          </a:p>
          <a:p>
            <a:endParaRPr lang="en-US" dirty="0"/>
          </a:p>
          <a:p>
            <a:r>
              <a:rPr lang="en-US" dirty="0"/>
              <a:t>OP1 = Regs[op1 ] OR Immediate OR Mem[Regs[op1]]</a:t>
            </a:r>
          </a:p>
          <a:p>
            <a:endParaRPr lang="en-US" dirty="0"/>
          </a:p>
          <a:p>
            <a:r>
              <a:rPr lang="en-US" dirty="0"/>
              <a:t>OP2 = Regs[op2 ] OR Immediate OR Mem[Regs[op2]]</a:t>
            </a:r>
          </a:p>
          <a:p>
            <a:endParaRPr lang="en-US" dirty="0"/>
          </a:p>
          <a:p>
            <a:endParaRPr lang="en-US" dirty="0"/>
          </a:p>
        </p:txBody>
      </p:sp>
      <p:sp>
        <p:nvSpPr>
          <p:cNvPr id="6" name="Rectangle 5">
            <a:extLst>
              <a:ext uri="{FF2B5EF4-FFF2-40B4-BE49-F238E27FC236}">
                <a16:creationId xmlns:a16="http://schemas.microsoft.com/office/drawing/2014/main" id="{F340DACA-24E3-478E-84CB-A85C94207FE5}"/>
              </a:ext>
            </a:extLst>
          </p:cNvPr>
          <p:cNvSpPr/>
          <p:nvPr/>
        </p:nvSpPr>
        <p:spPr>
          <a:xfrm>
            <a:off x="2565401" y="3501083"/>
            <a:ext cx="181232"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568112-C5C4-43C7-801E-5FC48E281F3E}"/>
              </a:ext>
            </a:extLst>
          </p:cNvPr>
          <p:cNvSpPr/>
          <p:nvPr/>
        </p:nvSpPr>
        <p:spPr>
          <a:xfrm>
            <a:off x="6036275" y="3501082"/>
            <a:ext cx="181235" cy="2800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FFD60A-688E-404F-AFDA-A4767BF8774A}"/>
              </a:ext>
            </a:extLst>
          </p:cNvPr>
          <p:cNvSpPr txBox="1"/>
          <p:nvPr/>
        </p:nvSpPr>
        <p:spPr>
          <a:xfrm>
            <a:off x="6739927" y="3624649"/>
            <a:ext cx="1705233" cy="2585323"/>
          </a:xfrm>
          <a:prstGeom prst="rect">
            <a:avLst/>
          </a:prstGeom>
          <a:noFill/>
        </p:spPr>
        <p:txBody>
          <a:bodyPr wrap="square" rtlCol="0">
            <a:spAutoFit/>
          </a:bodyPr>
          <a:lstStyle/>
          <a:p>
            <a:r>
              <a:rPr lang="en-US" dirty="0"/>
              <a:t>Execute</a:t>
            </a:r>
          </a:p>
          <a:p>
            <a:endParaRPr lang="en-US" dirty="0"/>
          </a:p>
          <a:p>
            <a:r>
              <a:rPr lang="en-US" dirty="0"/>
              <a:t>result = ALU </a:t>
            </a:r>
          </a:p>
          <a:p>
            <a:r>
              <a:rPr lang="en-US" dirty="0"/>
              <a:t>	OR</a:t>
            </a:r>
          </a:p>
          <a:p>
            <a:r>
              <a:rPr lang="en-US" dirty="0"/>
              <a:t>	FPU </a:t>
            </a:r>
          </a:p>
          <a:p>
            <a:r>
              <a:rPr lang="en-US" dirty="0"/>
              <a:t>	</a:t>
            </a:r>
          </a:p>
          <a:p>
            <a:r>
              <a:rPr lang="en-US" dirty="0"/>
              <a:t>	</a:t>
            </a:r>
          </a:p>
          <a:p>
            <a:endParaRPr lang="en-US" dirty="0"/>
          </a:p>
          <a:p>
            <a:endParaRPr lang="en-US" dirty="0"/>
          </a:p>
        </p:txBody>
      </p:sp>
      <p:sp>
        <p:nvSpPr>
          <p:cNvPr id="10" name="Rectangle 9">
            <a:extLst>
              <a:ext uri="{FF2B5EF4-FFF2-40B4-BE49-F238E27FC236}">
                <a16:creationId xmlns:a16="http://schemas.microsoft.com/office/drawing/2014/main" id="{6F84EA56-8F22-4D4C-8646-97239D8DE1C7}"/>
              </a:ext>
            </a:extLst>
          </p:cNvPr>
          <p:cNvSpPr/>
          <p:nvPr/>
        </p:nvSpPr>
        <p:spPr>
          <a:xfrm>
            <a:off x="8967574" y="3426942"/>
            <a:ext cx="181235" cy="287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F5596AB-DCC1-45CF-A52D-CE512552C188}"/>
              </a:ext>
            </a:extLst>
          </p:cNvPr>
          <p:cNvSpPr txBox="1"/>
          <p:nvPr/>
        </p:nvSpPr>
        <p:spPr>
          <a:xfrm>
            <a:off x="9671223" y="3608174"/>
            <a:ext cx="1894701" cy="2585323"/>
          </a:xfrm>
          <a:prstGeom prst="rect">
            <a:avLst/>
          </a:prstGeom>
          <a:noFill/>
        </p:spPr>
        <p:txBody>
          <a:bodyPr wrap="square" rtlCol="0">
            <a:spAutoFit/>
          </a:bodyPr>
          <a:lstStyle/>
          <a:p>
            <a:r>
              <a:rPr lang="en-US" dirty="0"/>
              <a:t>Store</a:t>
            </a:r>
          </a:p>
          <a:p>
            <a:endParaRPr lang="en-US" dirty="0"/>
          </a:p>
          <a:p>
            <a:r>
              <a:rPr lang="en-US" dirty="0"/>
              <a:t>Mem[rt] = result </a:t>
            </a:r>
          </a:p>
          <a:p>
            <a:r>
              <a:rPr lang="en-US" dirty="0"/>
              <a:t>OR</a:t>
            </a:r>
          </a:p>
          <a:p>
            <a:r>
              <a:rPr lang="en-US" dirty="0"/>
              <a:t>Regs[rt] = result</a:t>
            </a:r>
          </a:p>
          <a:p>
            <a:r>
              <a:rPr lang="en-US" dirty="0"/>
              <a:t>	</a:t>
            </a:r>
          </a:p>
          <a:p>
            <a:r>
              <a:rPr lang="en-US" dirty="0"/>
              <a:t>	</a:t>
            </a:r>
          </a:p>
          <a:p>
            <a:endParaRPr lang="en-US" dirty="0"/>
          </a:p>
          <a:p>
            <a:endParaRPr lang="en-US" dirty="0"/>
          </a:p>
        </p:txBody>
      </p:sp>
      <p:sp>
        <p:nvSpPr>
          <p:cNvPr id="3" name="TextBox 2">
            <a:extLst>
              <a:ext uri="{FF2B5EF4-FFF2-40B4-BE49-F238E27FC236}">
                <a16:creationId xmlns:a16="http://schemas.microsoft.com/office/drawing/2014/main" id="{EBFAA446-6B44-4D66-B2E4-A42AF76FB641}"/>
              </a:ext>
            </a:extLst>
          </p:cNvPr>
          <p:cNvSpPr txBox="1"/>
          <p:nvPr/>
        </p:nvSpPr>
        <p:spPr>
          <a:xfrm>
            <a:off x="5700584" y="864973"/>
            <a:ext cx="3289683" cy="1569660"/>
          </a:xfrm>
          <a:prstGeom prst="rect">
            <a:avLst/>
          </a:prstGeom>
          <a:noFill/>
        </p:spPr>
        <p:txBody>
          <a:bodyPr wrap="none" rtlCol="0">
            <a:spAutoFit/>
          </a:bodyPr>
          <a:lstStyle/>
          <a:p>
            <a:r>
              <a:rPr lang="en-US" sz="2400" dirty="0"/>
              <a:t>	BNE 	label</a:t>
            </a:r>
          </a:p>
          <a:p>
            <a:r>
              <a:rPr lang="en-US" sz="2400" dirty="0"/>
              <a:t>	ADD	R0, R1, R2</a:t>
            </a:r>
          </a:p>
          <a:p>
            <a:r>
              <a:rPr lang="en-US" sz="2400" dirty="0"/>
              <a:t>	MULT	R2, R3, R4</a:t>
            </a:r>
          </a:p>
          <a:p>
            <a:r>
              <a:rPr lang="en-US" sz="2400" dirty="0"/>
              <a:t>label:	CALL 	_</a:t>
            </a:r>
            <a:r>
              <a:rPr lang="en-US" sz="2400" dirty="0" err="1"/>
              <a:t>printf</a:t>
            </a:r>
            <a:endParaRPr lang="en-US" sz="2400" dirty="0"/>
          </a:p>
        </p:txBody>
      </p:sp>
    </p:spTree>
    <p:extLst>
      <p:ext uri="{BB962C8B-B14F-4D97-AF65-F5344CB8AC3E}">
        <p14:creationId xmlns:p14="http://schemas.microsoft.com/office/powerpoint/2010/main" val="3735068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F5F2-9C8E-4FC0-9D01-EA60C5A3663A}"/>
              </a:ext>
            </a:extLst>
          </p:cNvPr>
          <p:cNvSpPr>
            <a:spLocks noGrp="1"/>
          </p:cNvSpPr>
          <p:nvPr>
            <p:ph type="title"/>
          </p:nvPr>
        </p:nvSpPr>
        <p:spPr>
          <a:xfrm>
            <a:off x="838200" y="365126"/>
            <a:ext cx="10515600" cy="516324"/>
          </a:xfrm>
        </p:spPr>
        <p:txBody>
          <a:bodyPr>
            <a:normAutofit fontScale="90000"/>
          </a:bodyPr>
          <a:lstStyle/>
          <a:p>
            <a:r>
              <a:rPr lang="en-US" dirty="0"/>
              <a:t>More nuanced answers…</a:t>
            </a:r>
          </a:p>
        </p:txBody>
      </p:sp>
      <p:sp>
        <p:nvSpPr>
          <p:cNvPr id="3" name="Content Placeholder 2">
            <a:extLst>
              <a:ext uri="{FF2B5EF4-FFF2-40B4-BE49-F238E27FC236}">
                <a16:creationId xmlns:a16="http://schemas.microsoft.com/office/drawing/2014/main" id="{30303101-7E7C-47D5-8D01-90030583A5AD}"/>
              </a:ext>
            </a:extLst>
          </p:cNvPr>
          <p:cNvSpPr>
            <a:spLocks noGrp="1"/>
          </p:cNvSpPr>
          <p:nvPr>
            <p:ph idx="1"/>
          </p:nvPr>
        </p:nvSpPr>
        <p:spPr>
          <a:xfrm>
            <a:off x="350195" y="953312"/>
            <a:ext cx="11738379" cy="5447488"/>
          </a:xfrm>
        </p:spPr>
        <p:txBody>
          <a:bodyPr>
            <a:normAutofit/>
          </a:bodyPr>
          <a:lstStyle/>
          <a:p>
            <a:pPr marL="0" indent="0">
              <a:buNone/>
            </a:pPr>
            <a:r>
              <a:rPr lang="en-US" dirty="0"/>
              <a:t>For unconditional jumps, detect those early and fill the pipeline appropriately. </a:t>
            </a:r>
          </a:p>
          <a:p>
            <a:pPr marL="0" indent="0">
              <a:buNone/>
            </a:pPr>
            <a:endParaRPr lang="en-US" dirty="0"/>
          </a:p>
          <a:p>
            <a:pPr marL="0" indent="0">
              <a:buNone/>
            </a:pPr>
            <a:r>
              <a:rPr lang="en-US" dirty="0"/>
              <a:t>For conditionals, predict/guess what will happen and fill the pipeline with the most probable values. </a:t>
            </a:r>
          </a:p>
          <a:p>
            <a:pPr marL="0" indent="0">
              <a:buNone/>
            </a:pPr>
            <a:endParaRPr lang="en-US" dirty="0"/>
          </a:p>
          <a:p>
            <a:pPr marL="0" indent="0">
              <a:buNone/>
            </a:pPr>
            <a:r>
              <a:rPr lang="en-US" dirty="0"/>
              <a:t>Or, you could do both and only keep the results from the one that is right.</a:t>
            </a:r>
          </a:p>
        </p:txBody>
      </p:sp>
      <p:pic>
        <p:nvPicPr>
          <p:cNvPr id="1026" name="Picture 2" descr="https://upload.wikimedia.org/wikipedia/commons/thumb/2/25/Spectre_with_text.svg/702px-Spectre_with_text.svg.png">
            <a:extLst>
              <a:ext uri="{FF2B5EF4-FFF2-40B4-BE49-F238E27FC236}">
                <a16:creationId xmlns:a16="http://schemas.microsoft.com/office/drawing/2014/main" id="{9D9B66EF-CF02-4950-BA37-0681DEAF3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5079" y="5539946"/>
            <a:ext cx="1106921" cy="1318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719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23D1-3266-4251-885D-7B81D60E9080}"/>
              </a:ext>
            </a:extLst>
          </p:cNvPr>
          <p:cNvSpPr>
            <a:spLocks noGrp="1"/>
          </p:cNvSpPr>
          <p:nvPr>
            <p:ph type="title"/>
          </p:nvPr>
        </p:nvSpPr>
        <p:spPr/>
        <p:txBody>
          <a:bodyPr/>
          <a:lstStyle/>
          <a:p>
            <a:r>
              <a:rPr lang="en-US" dirty="0"/>
              <a:t>Branch Prediction</a:t>
            </a:r>
          </a:p>
        </p:txBody>
      </p:sp>
      <p:sp>
        <p:nvSpPr>
          <p:cNvPr id="3" name="Content Placeholder 2">
            <a:extLst>
              <a:ext uri="{FF2B5EF4-FFF2-40B4-BE49-F238E27FC236}">
                <a16:creationId xmlns:a16="http://schemas.microsoft.com/office/drawing/2014/main" id="{B41F8CAB-655D-4225-B2EE-CD6487AA7882}"/>
              </a:ext>
            </a:extLst>
          </p:cNvPr>
          <p:cNvSpPr>
            <a:spLocks noGrp="1"/>
          </p:cNvSpPr>
          <p:nvPr>
            <p:ph idx="1"/>
          </p:nvPr>
        </p:nvSpPr>
        <p:spPr/>
        <p:txBody>
          <a:bodyPr/>
          <a:lstStyle/>
          <a:p>
            <a:pPr marL="0" indent="0">
              <a:buNone/>
            </a:pPr>
            <a:r>
              <a:rPr lang="en-US" dirty="0"/>
              <a:t>Consider the loop above. What’s the best assumption to make about that branch?</a:t>
            </a:r>
          </a:p>
          <a:p>
            <a:pPr marL="0" indent="0">
              <a:buNone/>
            </a:pPr>
            <a:endParaRPr lang="en-US" dirty="0"/>
          </a:p>
          <a:p>
            <a:pPr marL="0" indent="0">
              <a:buNone/>
            </a:pPr>
            <a:r>
              <a:rPr lang="en-US" dirty="0"/>
              <a:t>Now consider this C code:</a:t>
            </a:r>
          </a:p>
          <a:p>
            <a:pPr marL="0" indent="0">
              <a:buNone/>
            </a:pPr>
            <a:r>
              <a:rPr lang="en-US" dirty="0"/>
              <a:t>void </a:t>
            </a:r>
            <a:r>
              <a:rPr lang="en-US" dirty="0" err="1"/>
              <a:t>doSomething</a:t>
            </a:r>
            <a:r>
              <a:rPr lang="en-US" dirty="0"/>
              <a:t> (char *param) {</a:t>
            </a:r>
          </a:p>
          <a:p>
            <a:pPr marL="0" indent="0">
              <a:buNone/>
            </a:pPr>
            <a:r>
              <a:rPr lang="en-US" dirty="0"/>
              <a:t>	if (param == NULL) return;</a:t>
            </a:r>
          </a:p>
          <a:p>
            <a:pPr marL="0" indent="0">
              <a:buNone/>
            </a:pPr>
            <a:endParaRPr lang="en-US" dirty="0"/>
          </a:p>
          <a:p>
            <a:pPr marL="0" indent="0">
              <a:buNone/>
            </a:pPr>
            <a:r>
              <a:rPr lang="en-US" dirty="0"/>
              <a:t>What’s the best assumption to make about that branch?</a:t>
            </a:r>
          </a:p>
          <a:p>
            <a:pPr marL="0" indent="0">
              <a:buNone/>
            </a:pPr>
            <a:endParaRPr lang="en-US" dirty="0"/>
          </a:p>
        </p:txBody>
      </p:sp>
      <p:sp>
        <p:nvSpPr>
          <p:cNvPr id="4" name="TextBox 3">
            <a:extLst>
              <a:ext uri="{FF2B5EF4-FFF2-40B4-BE49-F238E27FC236}">
                <a16:creationId xmlns:a16="http://schemas.microsoft.com/office/drawing/2014/main" id="{42EF855B-2125-4264-8CA3-8234E0689E50}"/>
              </a:ext>
            </a:extLst>
          </p:cNvPr>
          <p:cNvSpPr txBox="1"/>
          <p:nvPr/>
        </p:nvSpPr>
        <p:spPr>
          <a:xfrm>
            <a:off x="7661189" y="319407"/>
            <a:ext cx="2916195" cy="1200329"/>
          </a:xfrm>
          <a:prstGeom prst="rect">
            <a:avLst/>
          </a:prstGeom>
          <a:noFill/>
        </p:spPr>
        <p:txBody>
          <a:bodyPr wrap="square" rtlCol="0">
            <a:spAutoFit/>
          </a:bodyPr>
          <a:lstStyle/>
          <a:p>
            <a:r>
              <a:rPr lang="en-US" dirty="0"/>
              <a:t>	MOVE R1 </a:t>
            </a:r>
            <a:r>
              <a:rPr lang="en-US" dirty="0">
                <a:sym typeface="Wingdings" panose="05000000000000000000" pitchFamily="2" charset="2"/>
              </a:rPr>
              <a:t> #0</a:t>
            </a:r>
          </a:p>
          <a:p>
            <a:r>
              <a:rPr lang="en-US" dirty="0">
                <a:sym typeface="Wingdings" panose="05000000000000000000" pitchFamily="2" charset="2"/>
              </a:rPr>
              <a:t>top: 	…</a:t>
            </a:r>
          </a:p>
          <a:p>
            <a:r>
              <a:rPr lang="en-US" dirty="0">
                <a:sym typeface="Wingdings" panose="05000000000000000000" pitchFamily="2" charset="2"/>
              </a:rPr>
              <a:t>	ADDI R1  #1</a:t>
            </a:r>
          </a:p>
          <a:p>
            <a:r>
              <a:rPr lang="en-US" dirty="0">
                <a:sym typeface="Wingdings" panose="05000000000000000000" pitchFamily="2" charset="2"/>
              </a:rPr>
              <a:t>	BLE  R1,#100,top</a:t>
            </a:r>
            <a:endParaRPr lang="en-US" dirty="0"/>
          </a:p>
        </p:txBody>
      </p:sp>
    </p:spTree>
    <p:extLst>
      <p:ext uri="{BB962C8B-B14F-4D97-AF65-F5344CB8AC3E}">
        <p14:creationId xmlns:p14="http://schemas.microsoft.com/office/powerpoint/2010/main" val="670690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B02E-F09F-47E1-A23C-8900444AE989}"/>
              </a:ext>
            </a:extLst>
          </p:cNvPr>
          <p:cNvSpPr>
            <a:spLocks noGrp="1"/>
          </p:cNvSpPr>
          <p:nvPr>
            <p:ph type="title"/>
          </p:nvPr>
        </p:nvSpPr>
        <p:spPr/>
        <p:txBody>
          <a:bodyPr/>
          <a:lstStyle/>
          <a:p>
            <a:r>
              <a:rPr lang="en-US" dirty="0"/>
              <a:t>Some ideas on how we could predict</a:t>
            </a:r>
          </a:p>
        </p:txBody>
      </p:sp>
      <p:sp>
        <p:nvSpPr>
          <p:cNvPr id="3" name="Content Placeholder 2">
            <a:extLst>
              <a:ext uri="{FF2B5EF4-FFF2-40B4-BE49-F238E27FC236}">
                <a16:creationId xmlns:a16="http://schemas.microsoft.com/office/drawing/2014/main" id="{8E1D714B-A141-4348-82F6-5F22049DDFEA}"/>
              </a:ext>
            </a:extLst>
          </p:cNvPr>
          <p:cNvSpPr>
            <a:spLocks noGrp="1"/>
          </p:cNvSpPr>
          <p:nvPr>
            <p:ph idx="1"/>
          </p:nvPr>
        </p:nvSpPr>
        <p:spPr/>
        <p:txBody>
          <a:bodyPr>
            <a:normAutofit fontScale="92500" lnSpcReduction="10000"/>
          </a:bodyPr>
          <a:lstStyle/>
          <a:p>
            <a:pPr marL="0" indent="0">
              <a:buNone/>
            </a:pPr>
            <a:r>
              <a:rPr lang="en-US" dirty="0"/>
              <a:t>Don’t predict:</a:t>
            </a:r>
          </a:p>
          <a:p>
            <a:pPr marL="0" indent="0">
              <a:buNone/>
            </a:pPr>
            <a:r>
              <a:rPr lang="en-US" dirty="0"/>
              <a:t>	Assume not taken or assume taken or assume backward are taken, 	but forward are not.</a:t>
            </a:r>
          </a:p>
          <a:p>
            <a:pPr marL="0" indent="0">
              <a:buNone/>
            </a:pPr>
            <a:r>
              <a:rPr lang="en-US" dirty="0"/>
              <a:t>Compile time </a:t>
            </a:r>
          </a:p>
          <a:p>
            <a:pPr marL="0" indent="0">
              <a:buNone/>
            </a:pPr>
            <a:r>
              <a:rPr lang="en-US" dirty="0"/>
              <a:t>	tag branches as rarely taken or almost always taken</a:t>
            </a:r>
          </a:p>
          <a:p>
            <a:pPr marL="0" indent="0">
              <a:buNone/>
            </a:pPr>
            <a:r>
              <a:rPr lang="en-US" dirty="0"/>
              <a:t>	either the compiler or the programmer does the “work”</a:t>
            </a:r>
          </a:p>
          <a:p>
            <a:pPr marL="0" indent="0">
              <a:buNone/>
            </a:pPr>
            <a:r>
              <a:rPr lang="en-US" dirty="0"/>
              <a:t>Run time</a:t>
            </a:r>
          </a:p>
          <a:p>
            <a:pPr marL="0" indent="0">
              <a:buNone/>
            </a:pPr>
            <a:r>
              <a:rPr lang="en-US" dirty="0"/>
              <a:t>	predict based on the last time</a:t>
            </a:r>
          </a:p>
          <a:p>
            <a:pPr marL="0" indent="0">
              <a:buNone/>
            </a:pPr>
            <a:r>
              <a:rPr lang="en-US" dirty="0"/>
              <a:t>	predict based on the last few times</a:t>
            </a:r>
          </a:p>
          <a:p>
            <a:pPr marL="0" indent="0">
              <a:buNone/>
            </a:pPr>
            <a:r>
              <a:rPr lang="en-US" dirty="0"/>
              <a:t>	profile the code and use that value</a:t>
            </a:r>
          </a:p>
        </p:txBody>
      </p:sp>
    </p:spTree>
    <p:extLst>
      <p:ext uri="{BB962C8B-B14F-4D97-AF65-F5344CB8AC3E}">
        <p14:creationId xmlns:p14="http://schemas.microsoft.com/office/powerpoint/2010/main" val="1391730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7BAE-C643-46F1-99CE-4A66E9FCEB98}"/>
              </a:ext>
            </a:extLst>
          </p:cNvPr>
          <p:cNvSpPr>
            <a:spLocks noGrp="1"/>
          </p:cNvSpPr>
          <p:nvPr>
            <p:ph type="title"/>
          </p:nvPr>
        </p:nvSpPr>
        <p:spPr/>
        <p:txBody>
          <a:bodyPr/>
          <a:lstStyle/>
          <a:p>
            <a:r>
              <a:rPr lang="en-US" dirty="0"/>
              <a:t>Statistics to the rescue</a:t>
            </a:r>
          </a:p>
        </p:txBody>
      </p:sp>
      <p:sp>
        <p:nvSpPr>
          <p:cNvPr id="3" name="Content Placeholder 2">
            <a:extLst>
              <a:ext uri="{FF2B5EF4-FFF2-40B4-BE49-F238E27FC236}">
                <a16:creationId xmlns:a16="http://schemas.microsoft.com/office/drawing/2014/main" id="{A91C3734-700B-4F4E-ACAB-3D17D0E71F19}"/>
              </a:ext>
            </a:extLst>
          </p:cNvPr>
          <p:cNvSpPr>
            <a:spLocks noGrp="1"/>
          </p:cNvSpPr>
          <p:nvPr>
            <p:ph idx="1"/>
          </p:nvPr>
        </p:nvSpPr>
        <p:spPr/>
        <p:txBody>
          <a:bodyPr/>
          <a:lstStyle/>
          <a:p>
            <a:pPr marL="0" indent="0">
              <a:buNone/>
            </a:pPr>
            <a:r>
              <a:rPr lang="en-US" dirty="0"/>
              <a:t>Assuming branch taken or branch not taken is suboptimal.</a:t>
            </a:r>
          </a:p>
          <a:p>
            <a:pPr marL="0" indent="0">
              <a:buNone/>
            </a:pPr>
            <a:r>
              <a:rPr lang="en-US" dirty="0"/>
              <a:t>Instead, some CPU designers build a small cache into the CPU. </a:t>
            </a:r>
          </a:p>
          <a:p>
            <a:pPr marL="0" indent="0">
              <a:buNone/>
            </a:pPr>
            <a:r>
              <a:rPr lang="en-US" dirty="0"/>
              <a:t>They index the cache by the address of the branch instruction (this has all of the same issues with associativity as memory caching).</a:t>
            </a:r>
          </a:p>
          <a:p>
            <a:pPr marL="0" indent="0">
              <a:buNone/>
            </a:pPr>
            <a:endParaRPr lang="en-US" dirty="0"/>
          </a:p>
          <a:p>
            <a:pPr marL="0" indent="0">
              <a:buNone/>
            </a:pPr>
            <a:r>
              <a:rPr lang="en-US" dirty="0"/>
              <a:t>Each time the instruction is decoded, they fill the pipeline based on the current state. When the branch actually executes, they update the current state.</a:t>
            </a:r>
          </a:p>
        </p:txBody>
      </p:sp>
    </p:spTree>
    <p:extLst>
      <p:ext uri="{BB962C8B-B14F-4D97-AF65-F5344CB8AC3E}">
        <p14:creationId xmlns:p14="http://schemas.microsoft.com/office/powerpoint/2010/main" val="3083335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EE5969-C9AE-4765-983D-13A1C90D6EA7}"/>
              </a:ext>
            </a:extLst>
          </p:cNvPr>
          <p:cNvPicPr>
            <a:picLocks noChangeAspect="1"/>
          </p:cNvPicPr>
          <p:nvPr/>
        </p:nvPicPr>
        <p:blipFill rotWithShape="1">
          <a:blip r:embed="rId2"/>
          <a:srcRect t="4661"/>
          <a:stretch/>
        </p:blipFill>
        <p:spPr>
          <a:xfrm>
            <a:off x="20" y="10"/>
            <a:ext cx="12191980" cy="6857990"/>
          </a:xfrm>
          <a:prstGeom prst="rect">
            <a:avLst/>
          </a:prstGeom>
        </p:spPr>
      </p:pic>
      <p:sp>
        <p:nvSpPr>
          <p:cNvPr id="2" name="Title 1">
            <a:extLst>
              <a:ext uri="{FF2B5EF4-FFF2-40B4-BE49-F238E27FC236}">
                <a16:creationId xmlns:a16="http://schemas.microsoft.com/office/drawing/2014/main" id="{0A72FE69-A0EE-48EA-B57B-9E2A8A4A9A66}"/>
              </a:ext>
            </a:extLst>
          </p:cNvPr>
          <p:cNvSpPr>
            <a:spLocks noGrp="1"/>
          </p:cNvSpPr>
          <p:nvPr>
            <p:ph type="title"/>
          </p:nvPr>
        </p:nvSpPr>
        <p:spPr>
          <a:xfrm>
            <a:off x="147537" y="5365996"/>
            <a:ext cx="3200400" cy="1325563"/>
          </a:xfrm>
          <a:solidFill>
            <a:srgbClr val="262626"/>
          </a:solidFill>
          <a:ln w="257175" cap="sq" cmpd="sng" algn="ctr">
            <a:solidFill>
              <a:srgbClr val="262626">
                <a:alpha val="60000"/>
              </a:srgbClr>
            </a:solidFill>
            <a:prstDash val="solid"/>
            <a:miter lim="800000"/>
          </a:ln>
        </p:spPr>
        <p:txBody>
          <a:bodyPr vert="horz" wrap="square" lIns="91440" tIns="45720" rIns="91440" bIns="45720" rtlCol="0" anchor="ctr">
            <a:normAutofit/>
          </a:bodyPr>
          <a:lstStyle/>
          <a:p>
            <a:pPr algn="ctr"/>
            <a:r>
              <a:rPr lang="en-US" sz="2400">
                <a:solidFill>
                  <a:schemeClr val="lt1"/>
                </a:solidFill>
              </a:rPr>
              <a:t>2 bit scheme</a:t>
            </a:r>
          </a:p>
        </p:txBody>
      </p:sp>
    </p:spTree>
    <p:extLst>
      <p:ext uri="{BB962C8B-B14F-4D97-AF65-F5344CB8AC3E}">
        <p14:creationId xmlns:p14="http://schemas.microsoft.com/office/powerpoint/2010/main" val="3210119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8E52B-FB8A-453D-B167-B704387902FD}"/>
              </a:ext>
            </a:extLst>
          </p:cNvPr>
          <p:cNvSpPr>
            <a:spLocks noGrp="1"/>
          </p:cNvSpPr>
          <p:nvPr>
            <p:ph type="title"/>
          </p:nvPr>
        </p:nvSpPr>
        <p:spPr/>
        <p:txBody>
          <a:bodyPr/>
          <a:lstStyle/>
          <a:p>
            <a:r>
              <a:rPr lang="en-US" dirty="0"/>
              <a:t>What if we guess wrong?</a:t>
            </a:r>
          </a:p>
        </p:txBody>
      </p:sp>
      <p:sp>
        <p:nvSpPr>
          <p:cNvPr id="3" name="Content Placeholder 2">
            <a:extLst>
              <a:ext uri="{FF2B5EF4-FFF2-40B4-BE49-F238E27FC236}">
                <a16:creationId xmlns:a16="http://schemas.microsoft.com/office/drawing/2014/main" id="{723F43A6-957C-47CB-8DE8-929D1954206F}"/>
              </a:ext>
            </a:extLst>
          </p:cNvPr>
          <p:cNvSpPr>
            <a:spLocks noGrp="1"/>
          </p:cNvSpPr>
          <p:nvPr>
            <p:ph idx="1"/>
          </p:nvPr>
        </p:nvSpPr>
        <p:spPr/>
        <p:txBody>
          <a:bodyPr>
            <a:normAutofit lnSpcReduction="10000"/>
          </a:bodyPr>
          <a:lstStyle/>
          <a:p>
            <a:pPr marL="0" indent="0">
              <a:buNone/>
            </a:pPr>
            <a:r>
              <a:rPr lang="en-US" dirty="0"/>
              <a:t>We might have made changes to things that matter, assuming that we will branch one way, but we end up branching the other way and now we have a hot mess.</a:t>
            </a:r>
          </a:p>
          <a:p>
            <a:pPr marL="0" indent="0">
              <a:buNone/>
            </a:pPr>
            <a:endParaRPr lang="en-US" dirty="0"/>
          </a:p>
          <a:p>
            <a:pPr marL="0" indent="0">
              <a:buNone/>
            </a:pPr>
            <a:r>
              <a:rPr lang="en-US" dirty="0"/>
              <a:t>We can checkpoint – clone all of the registers when we see a branch. We update both the clones and the originals with each instruction. Then when we do (or don’t do) the branch, we just need to pick which set of registers to use!</a:t>
            </a:r>
          </a:p>
          <a:p>
            <a:pPr marL="0" indent="0">
              <a:buNone/>
            </a:pPr>
            <a:endParaRPr lang="en-US" dirty="0"/>
          </a:p>
          <a:p>
            <a:pPr marL="0" indent="0">
              <a:buNone/>
            </a:pPr>
            <a:r>
              <a:rPr lang="en-US" dirty="0"/>
              <a:t>How do we do this?</a:t>
            </a:r>
          </a:p>
        </p:txBody>
      </p:sp>
    </p:spTree>
    <p:extLst>
      <p:ext uri="{BB962C8B-B14F-4D97-AF65-F5344CB8AC3E}">
        <p14:creationId xmlns:p14="http://schemas.microsoft.com/office/powerpoint/2010/main" val="1401648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C2B85-F4A2-425C-AAB3-4B5CD8A5BDBD}"/>
              </a:ext>
            </a:extLst>
          </p:cNvPr>
          <p:cNvSpPr>
            <a:spLocks noGrp="1"/>
          </p:cNvSpPr>
          <p:nvPr>
            <p:ph type="title"/>
          </p:nvPr>
        </p:nvSpPr>
        <p:spPr/>
        <p:txBody>
          <a:bodyPr/>
          <a:lstStyle/>
          <a:p>
            <a:r>
              <a:rPr lang="en-US" dirty="0"/>
              <a:t>Register Renaming</a:t>
            </a:r>
          </a:p>
        </p:txBody>
      </p:sp>
      <p:sp>
        <p:nvSpPr>
          <p:cNvPr id="3" name="Content Placeholder 2">
            <a:extLst>
              <a:ext uri="{FF2B5EF4-FFF2-40B4-BE49-F238E27FC236}">
                <a16:creationId xmlns:a16="http://schemas.microsoft.com/office/drawing/2014/main" id="{C03D4E64-1545-4BC0-AA17-442D33A02327}"/>
              </a:ext>
            </a:extLst>
          </p:cNvPr>
          <p:cNvSpPr>
            <a:spLocks noGrp="1"/>
          </p:cNvSpPr>
          <p:nvPr>
            <p:ph idx="1"/>
          </p:nvPr>
        </p:nvSpPr>
        <p:spPr>
          <a:xfrm>
            <a:off x="838200" y="1825625"/>
            <a:ext cx="10515600" cy="4937640"/>
          </a:xfrm>
        </p:spPr>
        <p:txBody>
          <a:bodyPr>
            <a:normAutofit lnSpcReduction="10000"/>
          </a:bodyPr>
          <a:lstStyle/>
          <a:p>
            <a:pPr marL="0" indent="0">
              <a:buNone/>
            </a:pPr>
            <a:r>
              <a:rPr lang="en-US" dirty="0"/>
              <a:t>What if R1 wasn’t always R1?</a:t>
            </a:r>
          </a:p>
          <a:p>
            <a:pPr marL="0" indent="0">
              <a:buNone/>
            </a:pPr>
            <a:endParaRPr lang="en-US" dirty="0"/>
          </a:p>
          <a:p>
            <a:pPr marL="0" indent="0">
              <a:buNone/>
            </a:pPr>
            <a:r>
              <a:rPr lang="en-US" dirty="0"/>
              <a:t>Consider the code snippet above. One way to deal with that would be to have another layer of indirection around registers.</a:t>
            </a:r>
          </a:p>
          <a:p>
            <a:pPr marL="0" indent="0">
              <a:buNone/>
            </a:pPr>
            <a:endParaRPr lang="en-US" dirty="0"/>
          </a:p>
          <a:p>
            <a:pPr marL="0" indent="0">
              <a:buNone/>
            </a:pPr>
            <a:r>
              <a:rPr lang="en-US" dirty="0"/>
              <a:t>If you had, say, 25 registers(call these t0-t24), but only R0-R15 as exposed to the user, you could introduce a table (m) inside the CPU that maps </a:t>
            </a:r>
            <a:r>
              <a:rPr lang="en-US" dirty="0" err="1"/>
              <a:t>R</a:t>
            </a:r>
            <a:r>
              <a:rPr lang="en-US" dirty="0" err="1">
                <a:sym typeface="Wingdings" panose="05000000000000000000" pitchFamily="2" charset="2"/>
              </a:rPr>
              <a:t>t</a:t>
            </a:r>
            <a:endParaRPr lang="en-US" dirty="0"/>
          </a:p>
          <a:p>
            <a:pPr marL="0" indent="0">
              <a:buNone/>
            </a:pPr>
            <a:r>
              <a:rPr lang="en-US" dirty="0"/>
              <a:t>t[7]</a:t>
            </a:r>
            <a:r>
              <a:rPr lang="en-US" dirty="0">
                <a:sym typeface="Wingdings" panose="05000000000000000000" pitchFamily="2" charset="2"/>
              </a:rPr>
              <a:t>1</a:t>
            </a:r>
          </a:p>
          <a:p>
            <a:pPr marL="0" indent="0">
              <a:buNone/>
            </a:pPr>
            <a:r>
              <a:rPr lang="en-US" dirty="0">
                <a:sym typeface="Wingdings" panose="05000000000000000000" pitchFamily="2" charset="2"/>
              </a:rPr>
              <a:t>t[22]  2</a:t>
            </a:r>
          </a:p>
          <a:p>
            <a:pPr marL="0" indent="0">
              <a:buNone/>
            </a:pPr>
            <a:r>
              <a:rPr lang="en-US" dirty="0"/>
              <a:t>m[1] = t[m[2]] == 5 ? 22 : 7</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09FD9810-5386-4B73-B98D-63C766DD2EFD}"/>
              </a:ext>
            </a:extLst>
          </p:cNvPr>
          <p:cNvSpPr txBox="1"/>
          <p:nvPr/>
        </p:nvSpPr>
        <p:spPr>
          <a:xfrm>
            <a:off x="7405816" y="214183"/>
            <a:ext cx="3097427" cy="1200329"/>
          </a:xfrm>
          <a:prstGeom prst="rect">
            <a:avLst/>
          </a:prstGeom>
          <a:noFill/>
        </p:spPr>
        <p:txBody>
          <a:bodyPr wrap="square" rtlCol="0">
            <a:spAutoFit/>
          </a:bodyPr>
          <a:lstStyle/>
          <a:p>
            <a:r>
              <a:rPr lang="en-US" dirty="0"/>
              <a:t>MOVE	R1</a:t>
            </a:r>
            <a:r>
              <a:rPr lang="en-US" dirty="0">
                <a:sym typeface="Wingdings" panose="05000000000000000000" pitchFamily="2" charset="2"/>
              </a:rPr>
              <a:t> #1</a:t>
            </a:r>
          </a:p>
          <a:p>
            <a:r>
              <a:rPr lang="en-US" dirty="0">
                <a:sym typeface="Wingdings" panose="05000000000000000000" pitchFamily="2" charset="2"/>
              </a:rPr>
              <a:t>BNE 	R2,#5, </a:t>
            </a:r>
            <a:r>
              <a:rPr lang="en-US" dirty="0" err="1">
                <a:sym typeface="Wingdings" panose="05000000000000000000" pitchFamily="2" charset="2"/>
              </a:rPr>
              <a:t>nochange</a:t>
            </a:r>
            <a:endParaRPr lang="en-US" dirty="0">
              <a:sym typeface="Wingdings" panose="05000000000000000000" pitchFamily="2" charset="2"/>
            </a:endParaRPr>
          </a:p>
          <a:p>
            <a:r>
              <a:rPr lang="en-US" dirty="0">
                <a:sym typeface="Wingdings" panose="05000000000000000000" pitchFamily="2" charset="2"/>
              </a:rPr>
              <a:t>MOVE 	R1  #2</a:t>
            </a:r>
          </a:p>
          <a:p>
            <a:r>
              <a:rPr lang="en-US" dirty="0" err="1"/>
              <a:t>nochange</a:t>
            </a:r>
            <a:r>
              <a:rPr lang="en-US" dirty="0"/>
              <a:t>: …</a:t>
            </a:r>
          </a:p>
        </p:txBody>
      </p:sp>
    </p:spTree>
    <p:extLst>
      <p:ext uri="{BB962C8B-B14F-4D97-AF65-F5344CB8AC3E}">
        <p14:creationId xmlns:p14="http://schemas.microsoft.com/office/powerpoint/2010/main" val="2603439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C2B85-F4A2-425C-AAB3-4B5CD8A5BDBD}"/>
              </a:ext>
            </a:extLst>
          </p:cNvPr>
          <p:cNvSpPr>
            <a:spLocks noGrp="1"/>
          </p:cNvSpPr>
          <p:nvPr>
            <p:ph type="title"/>
          </p:nvPr>
        </p:nvSpPr>
        <p:spPr/>
        <p:txBody>
          <a:bodyPr/>
          <a:lstStyle/>
          <a:p>
            <a:r>
              <a:rPr lang="en-US" dirty="0"/>
              <a:t>Register Renaming</a:t>
            </a:r>
          </a:p>
        </p:txBody>
      </p:sp>
      <p:sp>
        <p:nvSpPr>
          <p:cNvPr id="3" name="Content Placeholder 2">
            <a:extLst>
              <a:ext uri="{FF2B5EF4-FFF2-40B4-BE49-F238E27FC236}">
                <a16:creationId xmlns:a16="http://schemas.microsoft.com/office/drawing/2014/main" id="{C03D4E64-1545-4BC0-AA17-442D33A02327}"/>
              </a:ext>
            </a:extLst>
          </p:cNvPr>
          <p:cNvSpPr>
            <a:spLocks noGrp="1"/>
          </p:cNvSpPr>
          <p:nvPr>
            <p:ph idx="1"/>
          </p:nvPr>
        </p:nvSpPr>
        <p:spPr>
          <a:xfrm>
            <a:off x="838200" y="1825625"/>
            <a:ext cx="10515600" cy="4937640"/>
          </a:xfrm>
        </p:spPr>
        <p:txBody>
          <a:bodyPr>
            <a:normAutofit/>
          </a:bodyPr>
          <a:lstStyle/>
          <a:p>
            <a:pPr marL="0" indent="0">
              <a:buNone/>
            </a:pPr>
            <a:r>
              <a:rPr lang="en-US" dirty="0"/>
              <a:t>If you have register renaming, how do you implement</a:t>
            </a:r>
          </a:p>
          <a:p>
            <a:pPr marL="0" indent="0">
              <a:buNone/>
            </a:pPr>
            <a:r>
              <a:rPr lang="en-US" dirty="0"/>
              <a:t>MOVE R2 </a:t>
            </a:r>
            <a:r>
              <a:rPr lang="en-US" dirty="0">
                <a:sym typeface="Wingdings" panose="05000000000000000000" pitchFamily="2" charset="2"/>
              </a:rPr>
              <a:t> R1</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By adjusting the mapping table…</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34325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FE31-9D1A-42C1-A32C-52E67A2C21A0}"/>
              </a:ext>
            </a:extLst>
          </p:cNvPr>
          <p:cNvSpPr>
            <a:spLocks noGrp="1"/>
          </p:cNvSpPr>
          <p:nvPr>
            <p:ph type="title"/>
          </p:nvPr>
        </p:nvSpPr>
        <p:spPr/>
        <p:txBody>
          <a:bodyPr/>
          <a:lstStyle/>
          <a:p>
            <a:r>
              <a:rPr lang="en-US" dirty="0"/>
              <a:t>The Free List</a:t>
            </a:r>
          </a:p>
        </p:txBody>
      </p:sp>
      <p:sp>
        <p:nvSpPr>
          <p:cNvPr id="3" name="Content Placeholder 2">
            <a:extLst>
              <a:ext uri="{FF2B5EF4-FFF2-40B4-BE49-F238E27FC236}">
                <a16:creationId xmlns:a16="http://schemas.microsoft.com/office/drawing/2014/main" id="{2C6C0153-D6E2-4B37-BA21-FF974CEA2C45}"/>
              </a:ext>
            </a:extLst>
          </p:cNvPr>
          <p:cNvSpPr>
            <a:spLocks noGrp="1"/>
          </p:cNvSpPr>
          <p:nvPr>
            <p:ph idx="1"/>
          </p:nvPr>
        </p:nvSpPr>
        <p:spPr>
          <a:xfrm>
            <a:off x="838200" y="1825625"/>
            <a:ext cx="10515600" cy="4810306"/>
          </a:xfrm>
        </p:spPr>
        <p:txBody>
          <a:bodyPr>
            <a:normAutofit fontScale="92500" lnSpcReduction="10000"/>
          </a:bodyPr>
          <a:lstStyle/>
          <a:p>
            <a:pPr marL="0" indent="0">
              <a:buNone/>
            </a:pPr>
            <a:r>
              <a:rPr lang="en-US" dirty="0"/>
              <a:t>Some CPUs have more registers than are externally visible, some do not. Those that do keep a list of the free registers. When all instructions depending on an internal register value are completed, that internal register is added to the free list.</a:t>
            </a:r>
          </a:p>
          <a:p>
            <a:pPr marL="0" indent="0">
              <a:buNone/>
            </a:pPr>
            <a:endParaRPr lang="en-US" dirty="0"/>
          </a:p>
          <a:p>
            <a:pPr marL="0" indent="0">
              <a:buNone/>
            </a:pPr>
            <a:r>
              <a:rPr lang="en-US" dirty="0"/>
              <a:t>For example:</a:t>
            </a:r>
          </a:p>
          <a:p>
            <a:pPr marL="0" indent="0">
              <a:buNone/>
            </a:pPr>
            <a:r>
              <a:rPr lang="en-US" dirty="0"/>
              <a:t>STORE R1,(R7)</a:t>
            </a:r>
          </a:p>
          <a:p>
            <a:pPr marL="0" indent="0">
              <a:buNone/>
            </a:pPr>
            <a:r>
              <a:rPr lang="en-US" dirty="0"/>
              <a:t>ADD R1 </a:t>
            </a:r>
            <a:r>
              <a:rPr lang="en-US" dirty="0">
                <a:sym typeface="Wingdings" panose="05000000000000000000" pitchFamily="2" charset="2"/>
              </a:rPr>
              <a:t> R2, R3</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R1 has to be kept until the store completes. The CPU takes a temporary register off of the free list and uses that as R1. When the store completes, the temporary serving as R1 is put on the free list.</a:t>
            </a:r>
            <a:endParaRPr lang="en-US" dirty="0"/>
          </a:p>
        </p:txBody>
      </p:sp>
    </p:spTree>
    <p:extLst>
      <p:ext uri="{BB962C8B-B14F-4D97-AF65-F5344CB8AC3E}">
        <p14:creationId xmlns:p14="http://schemas.microsoft.com/office/powerpoint/2010/main" val="3182571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70E-9EA5-467F-AC8B-B39B91AB4687}"/>
              </a:ext>
            </a:extLst>
          </p:cNvPr>
          <p:cNvSpPr>
            <a:spLocks noGrp="1"/>
          </p:cNvSpPr>
          <p:nvPr>
            <p:ph type="title"/>
          </p:nvPr>
        </p:nvSpPr>
        <p:spPr/>
        <p:txBody>
          <a:bodyPr/>
          <a:lstStyle/>
          <a:p>
            <a:r>
              <a:rPr lang="en-US" dirty="0"/>
              <a:t>How do you forward data?</a:t>
            </a:r>
          </a:p>
        </p:txBody>
      </p:sp>
      <p:sp>
        <p:nvSpPr>
          <p:cNvPr id="3" name="Content Placeholder 2">
            <a:extLst>
              <a:ext uri="{FF2B5EF4-FFF2-40B4-BE49-F238E27FC236}">
                <a16:creationId xmlns:a16="http://schemas.microsoft.com/office/drawing/2014/main" id="{AB226994-D840-4242-B3F9-D0D6F70BD000}"/>
              </a:ext>
            </a:extLst>
          </p:cNvPr>
          <p:cNvSpPr>
            <a:spLocks noGrp="1"/>
          </p:cNvSpPr>
          <p:nvPr>
            <p:ph idx="1"/>
          </p:nvPr>
        </p:nvSpPr>
        <p:spPr/>
        <p:txBody>
          <a:bodyPr/>
          <a:lstStyle/>
          <a:p>
            <a:pPr marL="0" indent="0">
              <a:buNone/>
            </a:pPr>
            <a:r>
              <a:rPr lang="en-US" dirty="0"/>
              <a:t>When we talked about data related stalls, we said that we could solve them by forwarding the data. </a:t>
            </a:r>
          </a:p>
          <a:p>
            <a:pPr marL="0" indent="0">
              <a:buNone/>
            </a:pPr>
            <a:endParaRPr lang="en-US" dirty="0"/>
          </a:p>
          <a:p>
            <a:pPr marL="0" indent="0">
              <a:buNone/>
            </a:pPr>
            <a:r>
              <a:rPr lang="en-US" dirty="0"/>
              <a:t>The way to do that is to use the temporary registers – the CPU can rewrite the instruction to look in the destination register entry instead of the current register mapping.</a:t>
            </a:r>
          </a:p>
        </p:txBody>
      </p:sp>
    </p:spTree>
    <p:extLst>
      <p:ext uri="{BB962C8B-B14F-4D97-AF65-F5344CB8AC3E}">
        <p14:creationId xmlns:p14="http://schemas.microsoft.com/office/powerpoint/2010/main" val="3043025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A8E2F-A66B-4815-B3B5-4868FEAFA019}"/>
              </a:ext>
            </a:extLst>
          </p:cNvPr>
          <p:cNvSpPr>
            <a:spLocks noGrp="1"/>
          </p:cNvSpPr>
          <p:nvPr>
            <p:ph type="title"/>
          </p:nvPr>
        </p:nvSpPr>
        <p:spPr/>
        <p:txBody>
          <a:bodyPr/>
          <a:lstStyle/>
          <a:p>
            <a:r>
              <a:rPr lang="en-US" dirty="0"/>
              <a:t>What about undoing memory changes?</a:t>
            </a:r>
          </a:p>
        </p:txBody>
      </p:sp>
      <p:sp>
        <p:nvSpPr>
          <p:cNvPr id="3" name="Content Placeholder 2">
            <a:extLst>
              <a:ext uri="{FF2B5EF4-FFF2-40B4-BE49-F238E27FC236}">
                <a16:creationId xmlns:a16="http://schemas.microsoft.com/office/drawing/2014/main" id="{5BB207EA-AB08-4DCB-AE7E-14E228D56B41}"/>
              </a:ext>
            </a:extLst>
          </p:cNvPr>
          <p:cNvSpPr>
            <a:spLocks noGrp="1"/>
          </p:cNvSpPr>
          <p:nvPr>
            <p:ph idx="1"/>
          </p:nvPr>
        </p:nvSpPr>
        <p:spPr/>
        <p:txBody>
          <a:bodyPr/>
          <a:lstStyle/>
          <a:p>
            <a:pPr marL="0" indent="0">
              <a:buNone/>
            </a:pPr>
            <a:r>
              <a:rPr lang="en-US" dirty="0"/>
              <a:t>We only have a handful of registers – cloning them via register renaming isn’t too bad. Memory, though, is a lot bigger and slower. </a:t>
            </a:r>
          </a:p>
          <a:p>
            <a:pPr marL="0" indent="0">
              <a:buNone/>
            </a:pPr>
            <a:endParaRPr lang="en-US" dirty="0"/>
          </a:p>
          <a:p>
            <a:pPr marL="0" indent="0">
              <a:buNone/>
            </a:pPr>
            <a:r>
              <a:rPr lang="en-US" dirty="0"/>
              <a:t>One choice – keep a queue of writes. Once we know that the write should happen (i.e. branch decision is made), commit the write. What happens if we are loading that address, too, though? Each load needs to look at this queue. And remember, most CPUs support byte, 2 byte, 4 byte operations – the address might not be an exact match.</a:t>
            </a:r>
          </a:p>
        </p:txBody>
      </p:sp>
    </p:spTree>
    <p:extLst>
      <p:ext uri="{BB962C8B-B14F-4D97-AF65-F5344CB8AC3E}">
        <p14:creationId xmlns:p14="http://schemas.microsoft.com/office/powerpoint/2010/main" val="3724658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2090-FF52-4E61-8841-104D09E2B8B7}"/>
              </a:ext>
            </a:extLst>
          </p:cNvPr>
          <p:cNvSpPr>
            <a:spLocks noGrp="1"/>
          </p:cNvSpPr>
          <p:nvPr>
            <p:ph type="title"/>
          </p:nvPr>
        </p:nvSpPr>
        <p:spPr/>
        <p:txBody>
          <a:bodyPr/>
          <a:lstStyle/>
          <a:p>
            <a:r>
              <a:rPr lang="en-US" dirty="0"/>
              <a:t>Another Creative Approach</a:t>
            </a:r>
          </a:p>
        </p:txBody>
      </p:sp>
      <p:sp>
        <p:nvSpPr>
          <p:cNvPr id="3" name="Content Placeholder 2">
            <a:extLst>
              <a:ext uri="{FF2B5EF4-FFF2-40B4-BE49-F238E27FC236}">
                <a16:creationId xmlns:a16="http://schemas.microsoft.com/office/drawing/2014/main" id="{9B3316BF-71A9-4C22-B9C9-39C2A9141345}"/>
              </a:ext>
            </a:extLst>
          </p:cNvPr>
          <p:cNvSpPr>
            <a:spLocks noGrp="1"/>
          </p:cNvSpPr>
          <p:nvPr>
            <p:ph idx="1"/>
          </p:nvPr>
        </p:nvSpPr>
        <p:spPr/>
        <p:txBody>
          <a:bodyPr>
            <a:normAutofit lnSpcReduction="10000"/>
          </a:bodyPr>
          <a:lstStyle/>
          <a:p>
            <a:pPr marL="0" indent="0">
              <a:buNone/>
            </a:pPr>
            <a:r>
              <a:rPr lang="en-US" dirty="0"/>
              <a:t>As we will see later, there are two approaches to branching – one style:</a:t>
            </a:r>
          </a:p>
          <a:p>
            <a:pPr marL="0" indent="0">
              <a:buNone/>
            </a:pPr>
            <a:r>
              <a:rPr lang="en-US" dirty="0"/>
              <a:t>BEQ R1, R2, $1234</a:t>
            </a:r>
          </a:p>
          <a:p>
            <a:pPr marL="0" indent="0">
              <a:buNone/>
            </a:pPr>
            <a:endParaRPr lang="en-US" dirty="0"/>
          </a:p>
          <a:p>
            <a:pPr marL="0" indent="0">
              <a:buNone/>
            </a:pPr>
            <a:r>
              <a:rPr lang="en-US" dirty="0"/>
              <a:t>The other?</a:t>
            </a:r>
          </a:p>
          <a:p>
            <a:pPr marL="0" indent="0">
              <a:buNone/>
            </a:pPr>
            <a:r>
              <a:rPr lang="en-US" dirty="0"/>
              <a:t>CMP R1, R2</a:t>
            </a:r>
          </a:p>
          <a:p>
            <a:pPr marL="0" indent="0">
              <a:buNone/>
            </a:pPr>
            <a:r>
              <a:rPr lang="en-US" dirty="0"/>
              <a:t>BEQ $1234</a:t>
            </a:r>
          </a:p>
          <a:p>
            <a:pPr marL="0" indent="0">
              <a:buNone/>
            </a:pPr>
            <a:endParaRPr lang="en-US" dirty="0"/>
          </a:p>
          <a:p>
            <a:pPr marL="0" indent="0">
              <a:buNone/>
            </a:pPr>
            <a:r>
              <a:rPr lang="en-US" dirty="0"/>
              <a:t>The mechanism to store the compare status in the second style is called a condition register – bit flags of “is zero, is negative, etc.”</a:t>
            </a:r>
          </a:p>
        </p:txBody>
      </p:sp>
    </p:spTree>
    <p:extLst>
      <p:ext uri="{BB962C8B-B14F-4D97-AF65-F5344CB8AC3E}">
        <p14:creationId xmlns:p14="http://schemas.microsoft.com/office/powerpoint/2010/main" val="720043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CB6F-73BA-4A50-A851-05B7B7181860}"/>
              </a:ext>
            </a:extLst>
          </p:cNvPr>
          <p:cNvSpPr>
            <a:spLocks noGrp="1"/>
          </p:cNvSpPr>
          <p:nvPr>
            <p:ph type="title"/>
          </p:nvPr>
        </p:nvSpPr>
        <p:spPr/>
        <p:txBody>
          <a:bodyPr/>
          <a:lstStyle/>
          <a:p>
            <a:r>
              <a:rPr lang="en-US" dirty="0"/>
              <a:t>How does this relate to branch prediction?</a:t>
            </a:r>
          </a:p>
        </p:txBody>
      </p:sp>
      <p:sp>
        <p:nvSpPr>
          <p:cNvPr id="3" name="Content Placeholder 2">
            <a:extLst>
              <a:ext uri="{FF2B5EF4-FFF2-40B4-BE49-F238E27FC236}">
                <a16:creationId xmlns:a16="http://schemas.microsoft.com/office/drawing/2014/main" id="{DE13CD8B-621B-4501-8EE5-FE875238EB54}"/>
              </a:ext>
            </a:extLst>
          </p:cNvPr>
          <p:cNvSpPr>
            <a:spLocks noGrp="1"/>
          </p:cNvSpPr>
          <p:nvPr>
            <p:ph idx="1"/>
          </p:nvPr>
        </p:nvSpPr>
        <p:spPr/>
        <p:txBody>
          <a:bodyPr/>
          <a:lstStyle/>
          <a:p>
            <a:pPr marL="0" indent="0">
              <a:buNone/>
            </a:pPr>
            <a:r>
              <a:rPr lang="en-US" dirty="0"/>
              <a:t>ARM takes a different approach – branches exist, but almost all instructions execute conditionally based on what is in the condition register. Each assembly instruction has 4 bits (16 possibilities) that indicate when it should execute. </a:t>
            </a:r>
          </a:p>
          <a:p>
            <a:pPr marL="0" indent="0">
              <a:buNone/>
            </a:pPr>
            <a:r>
              <a:rPr lang="en-US" dirty="0"/>
              <a:t>EQ, NE, AL (any),</a:t>
            </a:r>
          </a:p>
          <a:p>
            <a:pPr marL="0" indent="0">
              <a:buNone/>
            </a:pPr>
            <a:r>
              <a:rPr lang="en-US" dirty="0"/>
              <a:t>signed: GT, GE, LT, LE, </a:t>
            </a:r>
          </a:p>
          <a:p>
            <a:pPr marL="0" indent="0">
              <a:buNone/>
            </a:pPr>
            <a:r>
              <a:rPr lang="en-US" dirty="0"/>
              <a:t>unsigned: HI, CS, CC, LS</a:t>
            </a:r>
          </a:p>
          <a:p>
            <a:pPr marL="0" indent="0">
              <a:buNone/>
            </a:pPr>
            <a:r>
              <a:rPr lang="en-US" dirty="0"/>
              <a:t>VS (overflow), VC (no overflow)</a:t>
            </a:r>
          </a:p>
          <a:p>
            <a:pPr marL="0" indent="0">
              <a:buNone/>
            </a:pPr>
            <a:r>
              <a:rPr lang="en-US" dirty="0"/>
              <a:t>MI (negative), PL (positive or zero)                        (1 of the 16 is reserved)</a:t>
            </a:r>
          </a:p>
        </p:txBody>
      </p:sp>
    </p:spTree>
    <p:extLst>
      <p:ext uri="{BB962C8B-B14F-4D97-AF65-F5344CB8AC3E}">
        <p14:creationId xmlns:p14="http://schemas.microsoft.com/office/powerpoint/2010/main" val="613994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D6EF4-9D9D-49BF-82BD-7D9ACC291F2E}"/>
              </a:ext>
            </a:extLst>
          </p:cNvPr>
          <p:cNvSpPr>
            <a:spLocks noGrp="1"/>
          </p:cNvSpPr>
          <p:nvPr>
            <p:ph type="title"/>
          </p:nvPr>
        </p:nvSpPr>
        <p:spPr/>
        <p:txBody>
          <a:bodyPr/>
          <a:lstStyle/>
          <a:p>
            <a:r>
              <a:rPr lang="en-US" dirty="0"/>
              <a:t>Branching without branching, exactly…</a:t>
            </a:r>
          </a:p>
        </p:txBody>
      </p:sp>
      <p:sp>
        <p:nvSpPr>
          <p:cNvPr id="3" name="Content Placeholder 2">
            <a:extLst>
              <a:ext uri="{FF2B5EF4-FFF2-40B4-BE49-F238E27FC236}">
                <a16:creationId xmlns:a16="http://schemas.microsoft.com/office/drawing/2014/main" id="{4DFB43D5-6F03-4CD5-AB51-5A4B491748A1}"/>
              </a:ext>
            </a:extLst>
          </p:cNvPr>
          <p:cNvSpPr>
            <a:spLocks noGrp="1"/>
          </p:cNvSpPr>
          <p:nvPr>
            <p:ph idx="1"/>
          </p:nvPr>
        </p:nvSpPr>
        <p:spPr>
          <a:xfrm>
            <a:off x="838200" y="1825625"/>
            <a:ext cx="7678783" cy="1031339"/>
          </a:xfrm>
        </p:spPr>
        <p:txBody>
          <a:bodyPr/>
          <a:lstStyle/>
          <a:p>
            <a:pPr marL="0" indent="0">
              <a:buNone/>
            </a:pPr>
            <a:r>
              <a:rPr lang="en-US" dirty="0"/>
              <a:t>If you have a program snippet like this:</a:t>
            </a:r>
          </a:p>
          <a:p>
            <a:pPr marL="0" indent="0">
              <a:buNone/>
            </a:pPr>
            <a:r>
              <a:rPr lang="en-US" dirty="0"/>
              <a:t>if (x&lt;0) x++;</a:t>
            </a:r>
          </a:p>
          <a:p>
            <a:pPr marL="0" indent="0">
              <a:buNone/>
            </a:pPr>
            <a:endParaRPr lang="en-US" dirty="0"/>
          </a:p>
        </p:txBody>
      </p:sp>
      <p:sp>
        <p:nvSpPr>
          <p:cNvPr id="4" name="TextBox 3">
            <a:extLst>
              <a:ext uri="{FF2B5EF4-FFF2-40B4-BE49-F238E27FC236}">
                <a16:creationId xmlns:a16="http://schemas.microsoft.com/office/drawing/2014/main" id="{6BAF754B-0108-4E28-BECC-009A261869DE}"/>
              </a:ext>
            </a:extLst>
          </p:cNvPr>
          <p:cNvSpPr txBox="1"/>
          <p:nvPr/>
        </p:nvSpPr>
        <p:spPr>
          <a:xfrm>
            <a:off x="7130143" y="3258680"/>
            <a:ext cx="4223657" cy="1384995"/>
          </a:xfrm>
          <a:prstGeom prst="rect">
            <a:avLst/>
          </a:prstGeom>
          <a:noFill/>
        </p:spPr>
        <p:txBody>
          <a:bodyPr wrap="square" rtlCol="0">
            <a:spAutoFit/>
          </a:bodyPr>
          <a:lstStyle/>
          <a:p>
            <a:r>
              <a:rPr lang="en-US" sz="2800" dirty="0"/>
              <a:t>In ARM it might compile to:</a:t>
            </a:r>
          </a:p>
          <a:p>
            <a:r>
              <a:rPr lang="en-US" sz="2800" dirty="0"/>
              <a:t>CMP R1,#0</a:t>
            </a:r>
          </a:p>
          <a:p>
            <a:r>
              <a:rPr lang="en-US" sz="2800" dirty="0"/>
              <a:t>ADDLT #1, R1</a:t>
            </a:r>
          </a:p>
        </p:txBody>
      </p:sp>
      <p:sp>
        <p:nvSpPr>
          <p:cNvPr id="5" name="TextBox 4">
            <a:extLst>
              <a:ext uri="{FF2B5EF4-FFF2-40B4-BE49-F238E27FC236}">
                <a16:creationId xmlns:a16="http://schemas.microsoft.com/office/drawing/2014/main" id="{927D41DD-818F-4AA8-A35F-9DEE3642E231}"/>
              </a:ext>
            </a:extLst>
          </p:cNvPr>
          <p:cNvSpPr txBox="1"/>
          <p:nvPr/>
        </p:nvSpPr>
        <p:spPr>
          <a:xfrm>
            <a:off x="838200" y="3258680"/>
            <a:ext cx="5257800" cy="2246769"/>
          </a:xfrm>
          <a:prstGeom prst="rect">
            <a:avLst/>
          </a:prstGeom>
          <a:noFill/>
        </p:spPr>
        <p:txBody>
          <a:bodyPr wrap="square" rtlCol="0">
            <a:spAutoFit/>
          </a:bodyPr>
          <a:lstStyle/>
          <a:p>
            <a:r>
              <a:rPr lang="en-US" sz="2800" dirty="0"/>
              <a:t>In MIPS, it might be:</a:t>
            </a:r>
          </a:p>
          <a:p>
            <a:r>
              <a:rPr lang="en-US" sz="2800" dirty="0"/>
              <a:t>BLT R0,R1,$x</a:t>
            </a:r>
          </a:p>
          <a:p>
            <a:r>
              <a:rPr lang="en-US" sz="2800" dirty="0"/>
              <a:t>ADDI </a:t>
            </a:r>
            <a:r>
              <a:rPr lang="en-US" sz="2800" dirty="0">
                <a:sym typeface="Wingdings" panose="05000000000000000000" pitchFamily="2" charset="2"/>
              </a:rPr>
              <a:t>R1  </a:t>
            </a:r>
            <a:r>
              <a:rPr lang="en-US" sz="2800" dirty="0"/>
              <a:t>#1,R1</a:t>
            </a:r>
          </a:p>
          <a:p>
            <a:r>
              <a:rPr lang="en-US" sz="2800" dirty="0"/>
              <a:t>x: …</a:t>
            </a:r>
          </a:p>
          <a:p>
            <a:endParaRPr lang="en-US" sz="2800" dirty="0"/>
          </a:p>
        </p:txBody>
      </p:sp>
      <p:sp>
        <p:nvSpPr>
          <p:cNvPr id="6" name="TextBox 5">
            <a:extLst>
              <a:ext uri="{FF2B5EF4-FFF2-40B4-BE49-F238E27FC236}">
                <a16:creationId xmlns:a16="http://schemas.microsoft.com/office/drawing/2014/main" id="{56AD83D7-CF62-4E60-B8EB-91BFFD524D69}"/>
              </a:ext>
            </a:extLst>
          </p:cNvPr>
          <p:cNvSpPr txBox="1"/>
          <p:nvPr/>
        </p:nvSpPr>
        <p:spPr>
          <a:xfrm>
            <a:off x="1766455" y="5489999"/>
            <a:ext cx="9858687" cy="954107"/>
          </a:xfrm>
          <a:prstGeom prst="rect">
            <a:avLst/>
          </a:prstGeom>
          <a:noFill/>
        </p:spPr>
        <p:txBody>
          <a:bodyPr wrap="square" rtlCol="0">
            <a:spAutoFit/>
          </a:bodyPr>
          <a:lstStyle/>
          <a:p>
            <a:r>
              <a:rPr lang="en-US" sz="2800" dirty="0"/>
              <a:t>Which one is more pipeline friendly? Of course, there is a cost to this…  x86/x64 has this, but for </a:t>
            </a:r>
            <a:r>
              <a:rPr lang="en-US" sz="2800"/>
              <a:t>a limited set of opcodes.</a:t>
            </a:r>
            <a:endParaRPr lang="en-US" sz="2800" dirty="0"/>
          </a:p>
        </p:txBody>
      </p:sp>
    </p:spTree>
    <p:extLst>
      <p:ext uri="{BB962C8B-B14F-4D97-AF65-F5344CB8AC3E}">
        <p14:creationId xmlns:p14="http://schemas.microsoft.com/office/powerpoint/2010/main" val="1586054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B12C-A824-44BF-A8C7-BB3DB70BE8C8}"/>
              </a:ext>
            </a:extLst>
          </p:cNvPr>
          <p:cNvSpPr>
            <a:spLocks noGrp="1"/>
          </p:cNvSpPr>
          <p:nvPr>
            <p:ph type="title"/>
          </p:nvPr>
        </p:nvSpPr>
        <p:spPr/>
        <p:txBody>
          <a:bodyPr/>
          <a:lstStyle/>
          <a:p>
            <a:r>
              <a:rPr lang="en-US" dirty="0"/>
              <a:t>Sometimes the language (C) bites us…</a:t>
            </a:r>
          </a:p>
        </p:txBody>
      </p:sp>
      <p:sp>
        <p:nvSpPr>
          <p:cNvPr id="3" name="Content Placeholder 2">
            <a:extLst>
              <a:ext uri="{FF2B5EF4-FFF2-40B4-BE49-F238E27FC236}">
                <a16:creationId xmlns:a16="http://schemas.microsoft.com/office/drawing/2014/main" id="{9E15AFD7-FB64-4CA6-A18D-F4C22C8B2CE5}"/>
              </a:ext>
            </a:extLst>
          </p:cNvPr>
          <p:cNvSpPr>
            <a:spLocks noGrp="1"/>
          </p:cNvSpPr>
          <p:nvPr>
            <p:ph idx="1"/>
          </p:nvPr>
        </p:nvSpPr>
        <p:spPr/>
        <p:txBody>
          <a:bodyPr/>
          <a:lstStyle/>
          <a:p>
            <a:pPr marL="0" indent="0">
              <a:buNone/>
            </a:pPr>
            <a:r>
              <a:rPr lang="en-US" dirty="0"/>
              <a:t>if ((a ==5) &amp;&amp; (b == 7) &amp;&amp; (c != 2))</a:t>
            </a:r>
          </a:p>
          <a:p>
            <a:pPr marL="0" indent="0">
              <a:buNone/>
            </a:pPr>
            <a:r>
              <a:rPr lang="en-US" dirty="0"/>
              <a:t>    ; /* do something */</a:t>
            </a:r>
          </a:p>
          <a:p>
            <a:pPr marL="0" indent="0">
              <a:buNone/>
            </a:pPr>
            <a:endParaRPr lang="en-US" dirty="0"/>
          </a:p>
          <a:p>
            <a:pPr marL="0" indent="0">
              <a:buNone/>
            </a:pPr>
            <a:r>
              <a:rPr lang="en-US" dirty="0"/>
              <a:t>C says that the checks on b and c only happen if a==5.</a:t>
            </a:r>
          </a:p>
          <a:p>
            <a:pPr marL="0" indent="0">
              <a:buNone/>
            </a:pPr>
            <a:r>
              <a:rPr lang="en-US" dirty="0"/>
              <a:t>That means that this has to turn into multiple compare/jump combinations. </a:t>
            </a:r>
          </a:p>
          <a:p>
            <a:pPr marL="0" indent="0">
              <a:buNone/>
            </a:pPr>
            <a:r>
              <a:rPr lang="en-US" dirty="0"/>
              <a:t>Because in C, this can be something with side effects:</a:t>
            </a:r>
          </a:p>
          <a:p>
            <a:pPr marL="0" indent="0">
              <a:buNone/>
            </a:pPr>
            <a:r>
              <a:rPr lang="en-US" dirty="0"/>
              <a:t>if ((a == </a:t>
            </a:r>
            <a:r>
              <a:rPr lang="en-US" dirty="0" err="1"/>
              <a:t>getch</a:t>
            </a:r>
            <a:r>
              <a:rPr lang="en-US" dirty="0"/>
              <a:t>()) &amp;&amp; (b==d++) &amp;&amp; (c = (f &amp;=2))</a:t>
            </a:r>
          </a:p>
        </p:txBody>
      </p:sp>
    </p:spTree>
    <p:extLst>
      <p:ext uri="{BB962C8B-B14F-4D97-AF65-F5344CB8AC3E}">
        <p14:creationId xmlns:p14="http://schemas.microsoft.com/office/powerpoint/2010/main" val="34624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73DEC-51EF-4BB3-AC59-B260FB9F3EF7}"/>
              </a:ext>
            </a:extLst>
          </p:cNvPr>
          <p:cNvSpPr>
            <a:spLocks noGrp="1"/>
          </p:cNvSpPr>
          <p:nvPr>
            <p:ph type="title"/>
          </p:nvPr>
        </p:nvSpPr>
        <p:spPr/>
        <p:txBody>
          <a:bodyPr/>
          <a:lstStyle/>
          <a:p>
            <a:r>
              <a:rPr lang="en-US" dirty="0"/>
              <a:t>A blast from the past…</a:t>
            </a:r>
          </a:p>
        </p:txBody>
      </p:sp>
      <p:sp>
        <p:nvSpPr>
          <p:cNvPr id="3" name="Content Placeholder 2">
            <a:extLst>
              <a:ext uri="{FF2B5EF4-FFF2-40B4-BE49-F238E27FC236}">
                <a16:creationId xmlns:a16="http://schemas.microsoft.com/office/drawing/2014/main" id="{3BC78EAD-AD91-4B92-BEE5-BA5B28E95367}"/>
              </a:ext>
            </a:extLst>
          </p:cNvPr>
          <p:cNvSpPr>
            <a:spLocks noGrp="1"/>
          </p:cNvSpPr>
          <p:nvPr>
            <p:ph idx="1"/>
          </p:nvPr>
        </p:nvSpPr>
        <p:spPr/>
        <p:txBody>
          <a:bodyPr/>
          <a:lstStyle/>
          <a:p>
            <a:pPr marL="0" indent="0">
              <a:buNone/>
            </a:pPr>
            <a:r>
              <a:rPr lang="en-US" dirty="0"/>
              <a:t>The 680x0 series had a DBRA instruction: decrement and branch</a:t>
            </a:r>
          </a:p>
          <a:p>
            <a:pPr marL="0" indent="0">
              <a:buNone/>
            </a:pPr>
            <a:r>
              <a:rPr lang="en-US" dirty="0"/>
              <a:t>You could specify a register and an address (PC relative)</a:t>
            </a:r>
          </a:p>
          <a:p>
            <a:pPr marL="0" indent="0">
              <a:buNone/>
            </a:pPr>
            <a:r>
              <a:rPr lang="en-US" dirty="0"/>
              <a:t>The CPU would decrement the register, then branch if not 0 to the address.</a:t>
            </a:r>
          </a:p>
          <a:p>
            <a:pPr marL="0" indent="0">
              <a:buNone/>
            </a:pPr>
            <a:endParaRPr lang="en-US" dirty="0"/>
          </a:p>
          <a:p>
            <a:pPr marL="0" indent="0">
              <a:buNone/>
            </a:pPr>
            <a:r>
              <a:rPr lang="en-US" dirty="0"/>
              <a:t>Very easy to implement and the CPU can predict early whether or not the jump will occur.</a:t>
            </a:r>
          </a:p>
          <a:p>
            <a:pPr marL="0" indent="0">
              <a:buNone/>
            </a:pPr>
            <a:r>
              <a:rPr lang="en-US" dirty="0"/>
              <a:t>Sadly, not implemented on any currently </a:t>
            </a:r>
            <a:r>
              <a:rPr lang="en-US"/>
              <a:t>popular hardware.</a:t>
            </a:r>
            <a:endParaRPr lang="en-US" dirty="0"/>
          </a:p>
        </p:txBody>
      </p:sp>
    </p:spTree>
    <p:extLst>
      <p:ext uri="{BB962C8B-B14F-4D97-AF65-F5344CB8AC3E}">
        <p14:creationId xmlns:p14="http://schemas.microsoft.com/office/powerpoint/2010/main" val="1176502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A06B7-E831-4298-A729-6FC2F32E6249}"/>
              </a:ext>
            </a:extLst>
          </p:cNvPr>
          <p:cNvSpPr>
            <a:spLocks noGrp="1"/>
          </p:cNvSpPr>
          <p:nvPr>
            <p:ph type="title"/>
          </p:nvPr>
        </p:nvSpPr>
        <p:spPr/>
        <p:txBody>
          <a:bodyPr/>
          <a:lstStyle/>
          <a:p>
            <a:r>
              <a:rPr lang="en-US" dirty="0"/>
              <a:t>More complications</a:t>
            </a:r>
          </a:p>
        </p:txBody>
      </p:sp>
      <p:sp>
        <p:nvSpPr>
          <p:cNvPr id="3" name="Content Placeholder 2">
            <a:extLst>
              <a:ext uri="{FF2B5EF4-FFF2-40B4-BE49-F238E27FC236}">
                <a16:creationId xmlns:a16="http://schemas.microsoft.com/office/drawing/2014/main" id="{529AB13E-FF70-4F50-AF1E-42982BF3AD67}"/>
              </a:ext>
            </a:extLst>
          </p:cNvPr>
          <p:cNvSpPr>
            <a:spLocks noGrp="1"/>
          </p:cNvSpPr>
          <p:nvPr>
            <p:ph idx="1"/>
          </p:nvPr>
        </p:nvSpPr>
        <p:spPr/>
        <p:txBody>
          <a:bodyPr/>
          <a:lstStyle/>
          <a:p>
            <a:pPr marL="0" indent="0">
              <a:buNone/>
            </a:pPr>
            <a:r>
              <a:rPr lang="en-US" dirty="0"/>
              <a:t>So far, we have assumed every instruction takes one clock cycle to execute. What if that wasn’t true (hint – it’s never true)?</a:t>
            </a:r>
          </a:p>
          <a:p>
            <a:pPr marL="0" indent="0">
              <a:buNone/>
            </a:pPr>
            <a:endParaRPr lang="en-US" dirty="0"/>
          </a:p>
          <a:p>
            <a:pPr marL="0" indent="0">
              <a:buNone/>
            </a:pPr>
            <a:r>
              <a:rPr lang="en-US" dirty="0"/>
              <a:t>What if a hardware interrupt happens in the middle of all of this?</a:t>
            </a:r>
          </a:p>
          <a:p>
            <a:pPr marL="0" indent="0">
              <a:buNone/>
            </a:pPr>
            <a:endParaRPr lang="en-US" dirty="0"/>
          </a:p>
          <a:p>
            <a:pPr marL="0" indent="0">
              <a:buNone/>
            </a:pPr>
            <a:r>
              <a:rPr lang="en-US" dirty="0"/>
              <a:t>Oh, by the way… 5 stages is a VERY SHORT pipeline. Intel’s </a:t>
            </a:r>
            <a:r>
              <a:rPr lang="en-US" dirty="0" err="1"/>
              <a:t>Netburst</a:t>
            </a:r>
            <a:r>
              <a:rPr lang="en-US" dirty="0"/>
              <a:t> architecture had </a:t>
            </a:r>
            <a:r>
              <a:rPr lang="en-US" b="1" i="1" u="sng" dirty="0"/>
              <a:t>31</a:t>
            </a:r>
            <a:r>
              <a:rPr lang="en-US" dirty="0"/>
              <a:t> stages. More modern CPUs have reined that back.  14-20 stages seem to be the sweet spot.</a:t>
            </a:r>
          </a:p>
        </p:txBody>
      </p:sp>
    </p:spTree>
    <p:extLst>
      <p:ext uri="{BB962C8B-B14F-4D97-AF65-F5344CB8AC3E}">
        <p14:creationId xmlns:p14="http://schemas.microsoft.com/office/powerpoint/2010/main" val="2219149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5787-283A-4857-BE9F-99095420603F}"/>
              </a:ext>
            </a:extLst>
          </p:cNvPr>
          <p:cNvSpPr>
            <a:spLocks noGrp="1"/>
          </p:cNvSpPr>
          <p:nvPr>
            <p:ph type="title"/>
          </p:nvPr>
        </p:nvSpPr>
        <p:spPr>
          <a:xfrm>
            <a:off x="0" y="0"/>
            <a:ext cx="10515600" cy="552451"/>
          </a:xfrm>
        </p:spPr>
        <p:txBody>
          <a:bodyPr>
            <a:normAutofit fontScale="90000"/>
          </a:bodyPr>
          <a:lstStyle/>
          <a:p>
            <a:r>
              <a:rPr lang="en-US" dirty="0"/>
              <a:t>Example: Pentium 4 Architecture</a:t>
            </a:r>
          </a:p>
        </p:txBody>
      </p:sp>
      <p:pic>
        <p:nvPicPr>
          <p:cNvPr id="5122" name="Picture 2" descr="Pentium 4 Architecture">
            <a:extLst>
              <a:ext uri="{FF2B5EF4-FFF2-40B4-BE49-F238E27FC236}">
                <a16:creationId xmlns:a16="http://schemas.microsoft.com/office/drawing/2014/main" id="{D2B11B78-BFE8-4689-A776-77A85C10B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1225" y="704404"/>
            <a:ext cx="7620000" cy="5524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8839C86-97AA-4841-BE7C-91B4C83795D7}"/>
              </a:ext>
            </a:extLst>
          </p:cNvPr>
          <p:cNvSpPr/>
          <p:nvPr/>
        </p:nvSpPr>
        <p:spPr>
          <a:xfrm>
            <a:off x="191310" y="1408807"/>
            <a:ext cx="11809379" cy="5632311"/>
          </a:xfrm>
          <a:prstGeom prst="rect">
            <a:avLst/>
          </a:prstGeom>
        </p:spPr>
        <p:txBody>
          <a:bodyPr wrap="square">
            <a:spAutoFit/>
          </a:bodyPr>
          <a:lstStyle/>
          <a:p>
            <a:r>
              <a:rPr lang="en-US" dirty="0">
                <a:solidFill>
                  <a:srgbClr val="444444"/>
                </a:solidFill>
                <a:latin typeface="Verdana" panose="020B0604030504040204" pitchFamily="34" charset="0"/>
              </a:rPr>
              <a:t>TC </a:t>
            </a:r>
            <a:r>
              <a:rPr lang="en-US" dirty="0" err="1">
                <a:solidFill>
                  <a:srgbClr val="444444"/>
                </a:solidFill>
                <a:latin typeface="Verdana" panose="020B0604030504040204" pitchFamily="34" charset="0"/>
              </a:rPr>
              <a:t>Nxt</a:t>
            </a:r>
            <a:r>
              <a:rPr lang="en-US" dirty="0">
                <a:solidFill>
                  <a:srgbClr val="444444"/>
                </a:solidFill>
                <a:latin typeface="Verdana" panose="020B0604030504040204" pitchFamily="34" charset="0"/>
              </a:rPr>
              <a:t> IP: Trace cache next instruction pointer. This stage looks at branch target buffer (BTB) for the next microinstruction to be executed. This step takes two stages.</a:t>
            </a:r>
          </a:p>
          <a:p>
            <a:br>
              <a:rPr lang="en-US" dirty="0">
                <a:solidFill>
                  <a:srgbClr val="444444"/>
                </a:solidFill>
                <a:latin typeface="Verdana" panose="020B0604030504040204" pitchFamily="34" charset="0"/>
              </a:rPr>
            </a:br>
            <a:r>
              <a:rPr lang="en-US" dirty="0">
                <a:solidFill>
                  <a:srgbClr val="444444"/>
                </a:solidFill>
                <a:latin typeface="Verdana" panose="020B0604030504040204" pitchFamily="34" charset="0"/>
              </a:rPr>
              <a:t>TC Fetch: Trace cache fetch. Loads, from the trace cache, this microinstruction. This step takes two stages.</a:t>
            </a:r>
          </a:p>
          <a:p>
            <a:br>
              <a:rPr lang="en-US" dirty="0">
                <a:solidFill>
                  <a:srgbClr val="444444"/>
                </a:solidFill>
                <a:latin typeface="Verdana" panose="020B0604030504040204" pitchFamily="34" charset="0"/>
              </a:rPr>
            </a:br>
            <a:r>
              <a:rPr lang="en-US" dirty="0">
                <a:solidFill>
                  <a:srgbClr val="444444"/>
                </a:solidFill>
                <a:latin typeface="Verdana" panose="020B0604030504040204" pitchFamily="34" charset="0"/>
              </a:rPr>
              <a:t>Drive: Sends the microinstruction to be processed to the resource allocator and register renaming circuit.</a:t>
            </a:r>
          </a:p>
          <a:p>
            <a:br>
              <a:rPr lang="en-US" dirty="0">
                <a:solidFill>
                  <a:srgbClr val="444444"/>
                </a:solidFill>
                <a:latin typeface="Verdana" panose="020B0604030504040204" pitchFamily="34" charset="0"/>
              </a:rPr>
            </a:br>
            <a:r>
              <a:rPr lang="en-US" dirty="0" err="1">
                <a:solidFill>
                  <a:srgbClr val="444444"/>
                </a:solidFill>
                <a:latin typeface="Verdana" panose="020B0604030504040204" pitchFamily="34" charset="0"/>
              </a:rPr>
              <a:t>Alloc</a:t>
            </a:r>
            <a:r>
              <a:rPr lang="en-US" dirty="0">
                <a:solidFill>
                  <a:srgbClr val="444444"/>
                </a:solidFill>
                <a:latin typeface="Verdana" panose="020B0604030504040204" pitchFamily="34" charset="0"/>
              </a:rPr>
              <a:t>: Allocate. Checks which CPU resources will be needed by the microinstruction – for example, the memory load and store buffers.</a:t>
            </a:r>
          </a:p>
          <a:p>
            <a:br>
              <a:rPr lang="en-US" dirty="0">
                <a:solidFill>
                  <a:srgbClr val="444444"/>
                </a:solidFill>
                <a:latin typeface="Verdana" panose="020B0604030504040204" pitchFamily="34" charset="0"/>
              </a:rPr>
            </a:br>
            <a:r>
              <a:rPr lang="en-US" dirty="0">
                <a:solidFill>
                  <a:srgbClr val="444444"/>
                </a:solidFill>
                <a:latin typeface="Verdana" panose="020B0604030504040204" pitchFamily="34" charset="0"/>
              </a:rPr>
              <a:t>Rename: If the program uses one of the eight standard x86 registers it will be renamed into one of the 128 internal registers present on Pentium 4. This step takes two stages.</a:t>
            </a:r>
          </a:p>
          <a:p>
            <a:br>
              <a:rPr lang="en-US" dirty="0">
                <a:solidFill>
                  <a:srgbClr val="444444"/>
                </a:solidFill>
                <a:latin typeface="Verdana" panose="020B0604030504040204" pitchFamily="34" charset="0"/>
              </a:rPr>
            </a:br>
            <a:r>
              <a:rPr lang="en-US" dirty="0">
                <a:solidFill>
                  <a:srgbClr val="444444"/>
                </a:solidFill>
                <a:latin typeface="Verdana" panose="020B0604030504040204" pitchFamily="34" charset="0"/>
              </a:rPr>
              <a:t>Que: Queue. The microinstructions are put in queues according to their types (for example, integer or floating point). They are held in the queue until there is an open slot of the same type in the scheduler.</a:t>
            </a:r>
          </a:p>
          <a:p>
            <a:br>
              <a:rPr lang="en-US" dirty="0">
                <a:solidFill>
                  <a:srgbClr val="444444"/>
                </a:solidFill>
                <a:latin typeface="Verdana" panose="020B0604030504040204" pitchFamily="34" charset="0"/>
              </a:rPr>
            </a:br>
            <a:endParaRPr lang="en-US" b="0" i="0" dirty="0">
              <a:solidFill>
                <a:srgbClr val="444444"/>
              </a:solidFill>
              <a:effectLst/>
              <a:latin typeface="Verdana" panose="020B0604030504040204" pitchFamily="34" charset="0"/>
            </a:endParaRPr>
          </a:p>
        </p:txBody>
      </p:sp>
    </p:spTree>
    <p:extLst>
      <p:ext uri="{BB962C8B-B14F-4D97-AF65-F5344CB8AC3E}">
        <p14:creationId xmlns:p14="http://schemas.microsoft.com/office/powerpoint/2010/main" val="1470315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5787-283A-4857-BE9F-99095420603F}"/>
              </a:ext>
            </a:extLst>
          </p:cNvPr>
          <p:cNvSpPr>
            <a:spLocks noGrp="1"/>
          </p:cNvSpPr>
          <p:nvPr>
            <p:ph type="title"/>
          </p:nvPr>
        </p:nvSpPr>
        <p:spPr>
          <a:xfrm>
            <a:off x="0" y="0"/>
            <a:ext cx="10515600" cy="552451"/>
          </a:xfrm>
        </p:spPr>
        <p:txBody>
          <a:bodyPr>
            <a:normAutofit fontScale="90000"/>
          </a:bodyPr>
          <a:lstStyle/>
          <a:p>
            <a:r>
              <a:rPr lang="en-US" dirty="0"/>
              <a:t>Example: Pentium 4 Architecture</a:t>
            </a:r>
          </a:p>
        </p:txBody>
      </p:sp>
      <p:pic>
        <p:nvPicPr>
          <p:cNvPr id="5122" name="Picture 2" descr="Pentium 4 Architecture">
            <a:extLst>
              <a:ext uri="{FF2B5EF4-FFF2-40B4-BE49-F238E27FC236}">
                <a16:creationId xmlns:a16="http://schemas.microsoft.com/office/drawing/2014/main" id="{D2B11B78-BFE8-4689-A776-77A85C10B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1225" y="695687"/>
            <a:ext cx="7620000" cy="5524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8839C86-97AA-4841-BE7C-91B4C83795D7}"/>
              </a:ext>
            </a:extLst>
          </p:cNvPr>
          <p:cNvSpPr/>
          <p:nvPr/>
        </p:nvSpPr>
        <p:spPr>
          <a:xfrm>
            <a:off x="0" y="1401101"/>
            <a:ext cx="12192000" cy="4770537"/>
          </a:xfrm>
          <a:prstGeom prst="rect">
            <a:avLst/>
          </a:prstGeom>
        </p:spPr>
        <p:txBody>
          <a:bodyPr wrap="square">
            <a:spAutoFit/>
          </a:bodyPr>
          <a:lstStyle/>
          <a:p>
            <a:r>
              <a:rPr lang="en-US" sz="1600" dirty="0">
                <a:solidFill>
                  <a:srgbClr val="444444"/>
                </a:solidFill>
                <a:latin typeface="Verdana" panose="020B0604030504040204" pitchFamily="34" charset="0"/>
              </a:rPr>
              <a:t>Sch: Schedule. Microinstructions are scheduled to be executed according to its type (integer, floating point, </a:t>
            </a:r>
            <a:r>
              <a:rPr lang="en-US" sz="1600" dirty="0" err="1">
                <a:solidFill>
                  <a:srgbClr val="444444"/>
                </a:solidFill>
                <a:latin typeface="Verdana" panose="020B0604030504040204" pitchFamily="34" charset="0"/>
              </a:rPr>
              <a:t>etc</a:t>
            </a:r>
            <a:r>
              <a:rPr lang="en-US" sz="1600" dirty="0">
                <a:solidFill>
                  <a:srgbClr val="444444"/>
                </a:solidFill>
                <a:latin typeface="Verdana" panose="020B0604030504040204" pitchFamily="34" charset="0"/>
              </a:rPr>
              <a:t>). Before arriving to this stage, all instructions are in order, i.e., on the same order they appear on the program. At this stage, the scheduler re-orders the instructions in order to keep all execution units full. For example, if there is one floating point unit going to be available, the scheduler will look for a floating point instruction to send it to this unit, even if the next instruction on the program is an integer one. The scheduler is the heart of the out-of-order engine of Intel 7th generation processors. This step takes three stages.</a:t>
            </a:r>
          </a:p>
          <a:p>
            <a:br>
              <a:rPr lang="en-US" sz="1600" dirty="0">
                <a:solidFill>
                  <a:srgbClr val="444444"/>
                </a:solidFill>
                <a:latin typeface="Verdana" panose="020B0604030504040204" pitchFamily="34" charset="0"/>
              </a:rPr>
            </a:br>
            <a:r>
              <a:rPr lang="en-US" sz="1600" dirty="0" err="1">
                <a:solidFill>
                  <a:srgbClr val="444444"/>
                </a:solidFill>
                <a:latin typeface="Verdana" panose="020B0604030504040204" pitchFamily="34" charset="0"/>
              </a:rPr>
              <a:t>Disp</a:t>
            </a:r>
            <a:r>
              <a:rPr lang="en-US" sz="1600" dirty="0">
                <a:solidFill>
                  <a:srgbClr val="444444"/>
                </a:solidFill>
                <a:latin typeface="Verdana" panose="020B0604030504040204" pitchFamily="34" charset="0"/>
              </a:rPr>
              <a:t>: Dispatch. Sends the microinstructions to their corresponding execution engines. This step takes two stages.</a:t>
            </a:r>
          </a:p>
          <a:p>
            <a:br>
              <a:rPr lang="en-US" sz="1600" dirty="0">
                <a:solidFill>
                  <a:srgbClr val="444444"/>
                </a:solidFill>
                <a:latin typeface="Verdana" panose="020B0604030504040204" pitchFamily="34" charset="0"/>
              </a:rPr>
            </a:br>
            <a:r>
              <a:rPr lang="en-US" sz="1600" dirty="0">
                <a:solidFill>
                  <a:srgbClr val="444444"/>
                </a:solidFill>
                <a:latin typeface="Verdana" panose="020B0604030504040204" pitchFamily="34" charset="0"/>
              </a:rPr>
              <a:t>RF: Register file. The internal registers, stored in the instructions pool, are read. This step takes two stages.</a:t>
            </a:r>
          </a:p>
          <a:p>
            <a:br>
              <a:rPr lang="en-US" sz="1600" dirty="0">
                <a:solidFill>
                  <a:srgbClr val="444444"/>
                </a:solidFill>
                <a:latin typeface="Verdana" panose="020B0604030504040204" pitchFamily="34" charset="0"/>
              </a:rPr>
            </a:br>
            <a:r>
              <a:rPr lang="en-US" sz="1600" dirty="0">
                <a:solidFill>
                  <a:srgbClr val="444444"/>
                </a:solidFill>
                <a:latin typeface="Verdana" panose="020B0604030504040204" pitchFamily="34" charset="0"/>
              </a:rPr>
              <a:t>Ex: Execute. Microinstructions are executed.</a:t>
            </a:r>
          </a:p>
          <a:p>
            <a:br>
              <a:rPr lang="en-US" sz="1600" dirty="0">
                <a:solidFill>
                  <a:srgbClr val="444444"/>
                </a:solidFill>
                <a:latin typeface="Verdana" panose="020B0604030504040204" pitchFamily="34" charset="0"/>
              </a:rPr>
            </a:br>
            <a:r>
              <a:rPr lang="en-US" sz="1600" dirty="0" err="1">
                <a:solidFill>
                  <a:srgbClr val="444444"/>
                </a:solidFill>
                <a:latin typeface="Verdana" panose="020B0604030504040204" pitchFamily="34" charset="0"/>
              </a:rPr>
              <a:t>Flgs</a:t>
            </a:r>
            <a:r>
              <a:rPr lang="en-US" sz="1600" dirty="0">
                <a:solidFill>
                  <a:srgbClr val="444444"/>
                </a:solidFill>
                <a:latin typeface="Verdana" panose="020B0604030504040204" pitchFamily="34" charset="0"/>
              </a:rPr>
              <a:t>: Flags. The microprocessor flags are updated.</a:t>
            </a:r>
          </a:p>
          <a:p>
            <a:br>
              <a:rPr lang="en-US" sz="1600" dirty="0">
                <a:solidFill>
                  <a:srgbClr val="444444"/>
                </a:solidFill>
                <a:latin typeface="Verdana" panose="020B0604030504040204" pitchFamily="34" charset="0"/>
              </a:rPr>
            </a:br>
            <a:r>
              <a:rPr lang="en-US" sz="1600" dirty="0">
                <a:solidFill>
                  <a:srgbClr val="444444"/>
                </a:solidFill>
                <a:latin typeface="Verdana" panose="020B0604030504040204" pitchFamily="34" charset="0"/>
              </a:rPr>
              <a:t>Br Ck: Branch check. Checks if the branch taken by the program is the same predicted by the branch prediction circuit.</a:t>
            </a:r>
          </a:p>
          <a:p>
            <a:br>
              <a:rPr lang="en-US" sz="1600" dirty="0">
                <a:solidFill>
                  <a:srgbClr val="444444"/>
                </a:solidFill>
                <a:latin typeface="Verdana" panose="020B0604030504040204" pitchFamily="34" charset="0"/>
              </a:rPr>
            </a:br>
            <a:r>
              <a:rPr lang="en-US" sz="1600" dirty="0">
                <a:solidFill>
                  <a:srgbClr val="444444"/>
                </a:solidFill>
                <a:latin typeface="Verdana" panose="020B0604030504040204" pitchFamily="34" charset="0"/>
              </a:rPr>
              <a:t>Drive: Sends the results of this check to the branch target buffer (BTB) present on the processor’s entrance.</a:t>
            </a:r>
            <a:endParaRPr lang="en-US" sz="1600" b="0" i="0" dirty="0">
              <a:solidFill>
                <a:srgbClr val="444444"/>
              </a:solidFill>
              <a:effectLst/>
              <a:latin typeface="Verdana" panose="020B0604030504040204" pitchFamily="34" charset="0"/>
            </a:endParaRPr>
          </a:p>
        </p:txBody>
      </p:sp>
    </p:spTree>
    <p:extLst>
      <p:ext uri="{BB962C8B-B14F-4D97-AF65-F5344CB8AC3E}">
        <p14:creationId xmlns:p14="http://schemas.microsoft.com/office/powerpoint/2010/main" val="2706820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C9A11-BB8E-4C86-A630-A6210ABAE886}"/>
              </a:ext>
            </a:extLst>
          </p:cNvPr>
          <p:cNvSpPr>
            <a:spLocks noGrp="1"/>
          </p:cNvSpPr>
          <p:nvPr>
            <p:ph type="title"/>
          </p:nvPr>
        </p:nvSpPr>
        <p:spPr/>
        <p:txBody>
          <a:bodyPr/>
          <a:lstStyle/>
          <a:p>
            <a:r>
              <a:rPr lang="en-US" dirty="0"/>
              <a:t>Let the abstraction leak…</a:t>
            </a:r>
          </a:p>
        </p:txBody>
      </p:sp>
      <p:sp>
        <p:nvSpPr>
          <p:cNvPr id="3" name="Content Placeholder 2">
            <a:extLst>
              <a:ext uri="{FF2B5EF4-FFF2-40B4-BE49-F238E27FC236}">
                <a16:creationId xmlns:a16="http://schemas.microsoft.com/office/drawing/2014/main" id="{CFA564C7-9488-46E1-8F40-17EE5D5110EC}"/>
              </a:ext>
            </a:extLst>
          </p:cNvPr>
          <p:cNvSpPr>
            <a:spLocks noGrp="1"/>
          </p:cNvSpPr>
          <p:nvPr>
            <p:ph idx="1"/>
          </p:nvPr>
        </p:nvSpPr>
        <p:spPr/>
        <p:txBody>
          <a:bodyPr/>
          <a:lstStyle/>
          <a:p>
            <a:pPr marL="0" indent="0">
              <a:buNone/>
            </a:pPr>
            <a:r>
              <a:rPr lang="en-US" dirty="0"/>
              <a:t>Some processor designs have decided not to go to these extreme lengths. Sometimes, by pushing some of the requirements to the machine language programmer, you can make the silicon cheaper/easier/faster.</a:t>
            </a:r>
          </a:p>
          <a:p>
            <a:pPr marL="0" indent="0">
              <a:buNone/>
            </a:pPr>
            <a:endParaRPr lang="en-US" dirty="0"/>
          </a:p>
          <a:p>
            <a:pPr marL="0" indent="0">
              <a:buNone/>
            </a:pPr>
            <a:r>
              <a:rPr lang="en-US" dirty="0"/>
              <a:t>The next several slides talk about ways to push the problem up.</a:t>
            </a:r>
          </a:p>
          <a:p>
            <a:pPr marL="0" indent="0">
              <a:buNone/>
            </a:pPr>
            <a:endParaRPr lang="en-US" dirty="0"/>
          </a:p>
        </p:txBody>
      </p:sp>
    </p:spTree>
    <p:extLst>
      <p:ext uri="{BB962C8B-B14F-4D97-AF65-F5344CB8AC3E}">
        <p14:creationId xmlns:p14="http://schemas.microsoft.com/office/powerpoint/2010/main" val="3260905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3134-98AF-4219-8F9A-CB90EDEF7EF8}"/>
              </a:ext>
            </a:extLst>
          </p:cNvPr>
          <p:cNvSpPr>
            <a:spLocks noGrp="1"/>
          </p:cNvSpPr>
          <p:nvPr>
            <p:ph type="title"/>
          </p:nvPr>
        </p:nvSpPr>
        <p:spPr>
          <a:xfrm>
            <a:off x="838200" y="0"/>
            <a:ext cx="10515600" cy="1325563"/>
          </a:xfrm>
        </p:spPr>
        <p:txBody>
          <a:bodyPr/>
          <a:lstStyle/>
          <a:p>
            <a:r>
              <a:rPr lang="en-US" dirty="0"/>
              <a:t>Load Delay Slots</a:t>
            </a:r>
          </a:p>
        </p:txBody>
      </p:sp>
      <p:sp>
        <p:nvSpPr>
          <p:cNvPr id="3" name="Content Placeholder 2">
            <a:extLst>
              <a:ext uri="{FF2B5EF4-FFF2-40B4-BE49-F238E27FC236}">
                <a16:creationId xmlns:a16="http://schemas.microsoft.com/office/drawing/2014/main" id="{316938F1-B2CF-4B90-9B20-3AC170FD797B}"/>
              </a:ext>
            </a:extLst>
          </p:cNvPr>
          <p:cNvSpPr>
            <a:spLocks noGrp="1"/>
          </p:cNvSpPr>
          <p:nvPr>
            <p:ph idx="1"/>
          </p:nvPr>
        </p:nvSpPr>
        <p:spPr>
          <a:xfrm>
            <a:off x="838200" y="1301578"/>
            <a:ext cx="10515600" cy="5123936"/>
          </a:xfrm>
        </p:spPr>
        <p:txBody>
          <a:bodyPr>
            <a:normAutofit/>
          </a:bodyPr>
          <a:lstStyle/>
          <a:p>
            <a:pPr marL="0" indent="0">
              <a:buNone/>
            </a:pPr>
            <a:r>
              <a:rPr lang="en-US" dirty="0"/>
              <a:t>If there is a load from memory, instead of stalling the CPU, looking ahead or reordering instructions, we could make a rule – the N instruction(s) after a load cannot use the register that is being loaded.</a:t>
            </a:r>
          </a:p>
          <a:p>
            <a:pPr marL="0" indent="0">
              <a:buNone/>
            </a:pPr>
            <a:endParaRPr lang="en-US" dirty="0"/>
          </a:p>
          <a:p>
            <a:pPr marL="0" indent="0">
              <a:buNone/>
            </a:pPr>
            <a:r>
              <a:rPr lang="en-US" dirty="0"/>
              <a:t>That allows time for the data to come from memory and still lets the CPU get work done. </a:t>
            </a:r>
          </a:p>
          <a:p>
            <a:pPr marL="0" indent="0">
              <a:buNone/>
            </a:pPr>
            <a:endParaRPr lang="en-US" dirty="0"/>
          </a:p>
          <a:p>
            <a:pPr marL="0" indent="0">
              <a:buNone/>
            </a:pPr>
            <a:r>
              <a:rPr lang="en-US" dirty="0"/>
              <a:t>This pushes the “problem” up the stack to the programmer.</a:t>
            </a:r>
          </a:p>
          <a:p>
            <a:pPr marL="0" indent="0">
              <a:buNone/>
            </a:pPr>
            <a:endParaRPr lang="en-US" dirty="0"/>
          </a:p>
          <a:p>
            <a:pPr marL="0" indent="0">
              <a:buNone/>
            </a:pPr>
            <a:r>
              <a:rPr lang="en-US" dirty="0"/>
              <a:t>What happens if the same program is run on different machines with different memory load times?</a:t>
            </a:r>
          </a:p>
        </p:txBody>
      </p:sp>
    </p:spTree>
    <p:extLst>
      <p:ext uri="{BB962C8B-B14F-4D97-AF65-F5344CB8AC3E}">
        <p14:creationId xmlns:p14="http://schemas.microsoft.com/office/powerpoint/2010/main" val="2087876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C0D5E-F273-4540-A001-24C3A780D0F8}"/>
              </a:ext>
            </a:extLst>
          </p:cNvPr>
          <p:cNvSpPr>
            <a:spLocks noGrp="1"/>
          </p:cNvSpPr>
          <p:nvPr>
            <p:ph type="title"/>
          </p:nvPr>
        </p:nvSpPr>
        <p:spPr>
          <a:xfrm>
            <a:off x="781464" y="209938"/>
            <a:ext cx="5314536" cy="1325563"/>
          </a:xfrm>
        </p:spPr>
        <p:txBody>
          <a:bodyPr>
            <a:normAutofit/>
          </a:bodyPr>
          <a:lstStyle/>
          <a:p>
            <a:r>
              <a:rPr lang="en-US" dirty="0"/>
              <a:t>Branch Delay Slots</a:t>
            </a:r>
          </a:p>
        </p:txBody>
      </p:sp>
      <p:sp>
        <p:nvSpPr>
          <p:cNvPr id="3" name="Content Placeholder 2">
            <a:extLst>
              <a:ext uri="{FF2B5EF4-FFF2-40B4-BE49-F238E27FC236}">
                <a16:creationId xmlns:a16="http://schemas.microsoft.com/office/drawing/2014/main" id="{91FF68AB-4EFC-4969-B203-97B0950E2E9C}"/>
              </a:ext>
            </a:extLst>
          </p:cNvPr>
          <p:cNvSpPr>
            <a:spLocks noGrp="1"/>
          </p:cNvSpPr>
          <p:nvPr>
            <p:ph idx="1"/>
          </p:nvPr>
        </p:nvSpPr>
        <p:spPr>
          <a:xfrm>
            <a:off x="119973" y="1724542"/>
            <a:ext cx="6462807" cy="4578982"/>
          </a:xfrm>
        </p:spPr>
        <p:txBody>
          <a:bodyPr anchor="t">
            <a:normAutofit/>
          </a:bodyPr>
          <a:lstStyle/>
          <a:p>
            <a:pPr marL="0" indent="0">
              <a:buNone/>
            </a:pPr>
            <a:r>
              <a:rPr lang="en-US" dirty="0"/>
              <a:t>Instructions already in the pipeline when a branch “hits” are still executed.</a:t>
            </a:r>
          </a:p>
          <a:p>
            <a:pPr marL="0" indent="0">
              <a:buNone/>
            </a:pPr>
            <a:endParaRPr lang="en-US" dirty="0"/>
          </a:p>
          <a:p>
            <a:pPr marL="0" indent="0">
              <a:buNone/>
            </a:pPr>
            <a:r>
              <a:rPr lang="en-US" dirty="0"/>
              <a:t>	MOVE R1</a:t>
            </a:r>
            <a:r>
              <a:rPr lang="en-US" dirty="0">
                <a:sym typeface="Wingdings" panose="05000000000000000000" pitchFamily="2" charset="2"/>
              </a:rPr>
              <a:t>#0</a:t>
            </a:r>
          </a:p>
          <a:p>
            <a:pPr marL="0" indent="0">
              <a:buNone/>
            </a:pPr>
            <a:r>
              <a:rPr lang="en-US" dirty="0">
                <a:sym typeface="Wingdings" panose="05000000000000000000" pitchFamily="2" charset="2"/>
              </a:rPr>
              <a:t>	BEQ R7,R8, end</a:t>
            </a:r>
          </a:p>
          <a:p>
            <a:pPr marL="0" indent="0">
              <a:buNone/>
            </a:pPr>
            <a:r>
              <a:rPr lang="en-US" dirty="0">
                <a:sym typeface="Wingdings" panose="05000000000000000000" pitchFamily="2" charset="2"/>
              </a:rPr>
              <a:t>	MOVE R2 #1</a:t>
            </a:r>
          </a:p>
          <a:p>
            <a:pPr marL="0" indent="0">
              <a:buNone/>
            </a:pPr>
            <a:r>
              <a:rPr lang="en-US" dirty="0">
                <a:sym typeface="Wingdings" panose="05000000000000000000" pitchFamily="2" charset="2"/>
              </a:rPr>
              <a:t>	MOVE R3  #2</a:t>
            </a:r>
          </a:p>
          <a:p>
            <a:pPr marL="0" indent="0">
              <a:buNone/>
            </a:pPr>
            <a:r>
              <a:rPr lang="en-US" dirty="0">
                <a:sym typeface="Wingdings" panose="05000000000000000000" pitchFamily="2" charset="2"/>
              </a:rPr>
              <a:t>end: 	MOVE R4  #3</a:t>
            </a:r>
            <a:endParaRPr lang="en-US" dirty="0"/>
          </a:p>
        </p:txBody>
      </p:sp>
      <p:pic>
        <p:nvPicPr>
          <p:cNvPr id="8194" name="Picture 2" descr="Image result for the scream head">
            <a:extLst>
              <a:ext uri="{FF2B5EF4-FFF2-40B4-BE49-F238E27FC236}">
                <a16:creationId xmlns:a16="http://schemas.microsoft.com/office/drawing/2014/main" id="{45348698-1FF4-4F36-AE02-1B30F1E93D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766" b="-2"/>
          <a:stretch/>
        </p:blipFill>
        <p:spPr bwMode="auto">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866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2C8C-9940-48E3-8B99-C77F214761E0}"/>
              </a:ext>
            </a:extLst>
          </p:cNvPr>
          <p:cNvSpPr>
            <a:spLocks noGrp="1"/>
          </p:cNvSpPr>
          <p:nvPr>
            <p:ph type="title"/>
          </p:nvPr>
        </p:nvSpPr>
        <p:spPr/>
        <p:txBody>
          <a:bodyPr/>
          <a:lstStyle/>
          <a:p>
            <a:r>
              <a:rPr lang="en-US" dirty="0"/>
              <a:t>Branch Delay Slots with Squashing</a:t>
            </a:r>
          </a:p>
        </p:txBody>
      </p:sp>
      <p:sp>
        <p:nvSpPr>
          <p:cNvPr id="3" name="Content Placeholder 2">
            <a:extLst>
              <a:ext uri="{FF2B5EF4-FFF2-40B4-BE49-F238E27FC236}">
                <a16:creationId xmlns:a16="http://schemas.microsoft.com/office/drawing/2014/main" id="{39CF567F-244C-460B-A8BF-BD70753AE367}"/>
              </a:ext>
            </a:extLst>
          </p:cNvPr>
          <p:cNvSpPr>
            <a:spLocks noGrp="1"/>
          </p:cNvSpPr>
          <p:nvPr>
            <p:ph idx="1"/>
          </p:nvPr>
        </p:nvSpPr>
        <p:spPr/>
        <p:txBody>
          <a:bodyPr>
            <a:normAutofit fontScale="92500" lnSpcReduction="20000"/>
          </a:bodyPr>
          <a:lstStyle/>
          <a:p>
            <a:pPr marL="0" indent="0">
              <a:buNone/>
            </a:pPr>
            <a:r>
              <a:rPr lang="en-US" dirty="0"/>
              <a:t>	OP A</a:t>
            </a:r>
          </a:p>
          <a:p>
            <a:pPr marL="0" indent="0">
              <a:buNone/>
            </a:pPr>
            <a:r>
              <a:rPr lang="en-US" dirty="0"/>
              <a:t>X: 	OP B</a:t>
            </a:r>
          </a:p>
          <a:p>
            <a:pPr marL="0" indent="0">
              <a:buNone/>
            </a:pPr>
            <a:r>
              <a:rPr lang="en-US" dirty="0"/>
              <a:t>    	OP C</a:t>
            </a:r>
          </a:p>
          <a:p>
            <a:pPr marL="0" indent="0">
              <a:buNone/>
            </a:pPr>
            <a:r>
              <a:rPr lang="en-US" dirty="0"/>
              <a:t>	BEQ X</a:t>
            </a:r>
          </a:p>
          <a:p>
            <a:pPr marL="0" indent="0">
              <a:buNone/>
            </a:pPr>
            <a:r>
              <a:rPr lang="en-US" dirty="0"/>
              <a:t>delay:	OP A</a:t>
            </a:r>
          </a:p>
          <a:p>
            <a:pPr marL="0" indent="0">
              <a:buNone/>
            </a:pPr>
            <a:r>
              <a:rPr lang="en-US" dirty="0"/>
              <a:t>	OP D</a:t>
            </a:r>
          </a:p>
          <a:p>
            <a:pPr marL="0" indent="0">
              <a:buNone/>
            </a:pPr>
            <a:r>
              <a:rPr lang="en-US" dirty="0"/>
              <a:t>	OP E</a:t>
            </a:r>
          </a:p>
          <a:p>
            <a:pPr marL="0" indent="0">
              <a:buNone/>
            </a:pPr>
            <a:r>
              <a:rPr lang="en-US" dirty="0"/>
              <a:t>	</a:t>
            </a:r>
          </a:p>
          <a:p>
            <a:pPr marL="0" indent="0">
              <a:buNone/>
            </a:pPr>
            <a:r>
              <a:rPr lang="en-US" dirty="0"/>
              <a:t>If the branch is followed, delay’s OP A is in the pipeline and is executed. If the branch is not followed, delay’s OP A is NOT executed. How does this help? How does it not scale?</a:t>
            </a:r>
          </a:p>
        </p:txBody>
      </p:sp>
    </p:spTree>
    <p:extLst>
      <p:ext uri="{BB962C8B-B14F-4D97-AF65-F5344CB8AC3E}">
        <p14:creationId xmlns:p14="http://schemas.microsoft.com/office/powerpoint/2010/main" val="1148241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TotalTime>
  <Words>2482</Words>
  <Application>Microsoft Office PowerPoint</Application>
  <PresentationFormat>Widescreen</PresentationFormat>
  <Paragraphs>411</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Verdana</vt:lpstr>
      <vt:lpstr>Wingdings</vt:lpstr>
      <vt:lpstr>Office Theme</vt:lpstr>
      <vt:lpstr>Pipelining</vt:lpstr>
      <vt:lpstr>How can we go faster?</vt:lpstr>
      <vt:lpstr>Pipelining</vt:lpstr>
      <vt:lpstr>PowerPoint Presentation</vt:lpstr>
      <vt:lpstr>Pipelining</vt:lpstr>
      <vt:lpstr>Pipeline Stall</vt:lpstr>
      <vt:lpstr>Idle? Pipelines are supposed to make it faster!</vt:lpstr>
      <vt:lpstr>How do we resolve this?</vt:lpstr>
      <vt:lpstr>How do you stall/create a bubble?</vt:lpstr>
      <vt:lpstr>Structural Hazard</vt:lpstr>
      <vt:lpstr>How can we fix this?</vt:lpstr>
      <vt:lpstr>Structural Hazard 2</vt:lpstr>
      <vt:lpstr>How can we fix this?</vt:lpstr>
      <vt:lpstr>Data Hazard</vt:lpstr>
      <vt:lpstr>Data Hazards (3 types)</vt:lpstr>
      <vt:lpstr>How do we fix this?</vt:lpstr>
      <vt:lpstr>Control  Hazard (repeat)</vt:lpstr>
      <vt:lpstr>More nuanced answers…</vt:lpstr>
      <vt:lpstr>Branch Prediction</vt:lpstr>
      <vt:lpstr>Some ideas on how we could predict</vt:lpstr>
      <vt:lpstr>Statistics to the rescue</vt:lpstr>
      <vt:lpstr>2 bit scheme</vt:lpstr>
      <vt:lpstr>What if we guess wrong?</vt:lpstr>
      <vt:lpstr>Register Renaming</vt:lpstr>
      <vt:lpstr>Register Renaming</vt:lpstr>
      <vt:lpstr>The Free List</vt:lpstr>
      <vt:lpstr>How do you forward data?</vt:lpstr>
      <vt:lpstr>What about undoing memory changes?</vt:lpstr>
      <vt:lpstr>Another Creative Approach</vt:lpstr>
      <vt:lpstr>How does this relate to branch prediction?</vt:lpstr>
      <vt:lpstr>Branching without branching, exactly…</vt:lpstr>
      <vt:lpstr>Sometimes the language (C) bites us…</vt:lpstr>
      <vt:lpstr>A blast from the past…</vt:lpstr>
      <vt:lpstr>More complications</vt:lpstr>
      <vt:lpstr>Example: Pentium 4 Architecture</vt:lpstr>
      <vt:lpstr>Example: Pentium 4 Architecture</vt:lpstr>
      <vt:lpstr>Let the abstraction leak…</vt:lpstr>
      <vt:lpstr>Load Delay Slots</vt:lpstr>
      <vt:lpstr>Branch Delay Slots</vt:lpstr>
      <vt:lpstr>Branch Delay Slots with Squashing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Pipelining</dc:title>
  <dc:creator>Michael Phipps</dc:creator>
  <cp:lastModifiedBy>Michael Phipps</cp:lastModifiedBy>
  <cp:revision>18</cp:revision>
  <dcterms:created xsi:type="dcterms:W3CDTF">2018-08-15T14:19:26Z</dcterms:created>
  <dcterms:modified xsi:type="dcterms:W3CDTF">2018-10-08T15:32:14Z</dcterms:modified>
</cp:coreProperties>
</file>