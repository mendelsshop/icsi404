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7"/>
  </p:notesMasterIdLst>
  <p:sldIdLst>
    <p:sldId id="256" r:id="rId2"/>
    <p:sldId id="257" r:id="rId3"/>
    <p:sldId id="281" r:id="rId4"/>
    <p:sldId id="258" r:id="rId5"/>
    <p:sldId id="259" r:id="rId6"/>
    <p:sldId id="263" r:id="rId7"/>
    <p:sldId id="306" r:id="rId8"/>
    <p:sldId id="264" r:id="rId9"/>
    <p:sldId id="286" r:id="rId10"/>
    <p:sldId id="268" r:id="rId11"/>
    <p:sldId id="267" r:id="rId12"/>
    <p:sldId id="285" r:id="rId13"/>
    <p:sldId id="271" r:id="rId14"/>
    <p:sldId id="272" r:id="rId15"/>
    <p:sldId id="273" r:id="rId16"/>
    <p:sldId id="266" r:id="rId17"/>
    <p:sldId id="307" r:id="rId18"/>
    <p:sldId id="270" r:id="rId19"/>
    <p:sldId id="269" r:id="rId20"/>
    <p:sldId id="275" r:id="rId21"/>
    <p:sldId id="274" r:id="rId22"/>
    <p:sldId id="276" r:id="rId23"/>
    <p:sldId id="295" r:id="rId24"/>
    <p:sldId id="280" r:id="rId25"/>
    <p:sldId id="296" r:id="rId26"/>
    <p:sldId id="308" r:id="rId27"/>
    <p:sldId id="294" r:id="rId28"/>
    <p:sldId id="282" r:id="rId29"/>
    <p:sldId id="284" r:id="rId30"/>
    <p:sldId id="279" r:id="rId31"/>
    <p:sldId id="287" r:id="rId32"/>
    <p:sldId id="292" r:id="rId33"/>
    <p:sldId id="299" r:id="rId34"/>
    <p:sldId id="300" r:id="rId35"/>
    <p:sldId id="301" r:id="rId36"/>
    <p:sldId id="302" r:id="rId37"/>
    <p:sldId id="303" r:id="rId38"/>
    <p:sldId id="288" r:id="rId39"/>
    <p:sldId id="289" r:id="rId40"/>
    <p:sldId id="290" r:id="rId41"/>
    <p:sldId id="291" r:id="rId42"/>
    <p:sldId id="293" r:id="rId43"/>
    <p:sldId id="304" r:id="rId44"/>
    <p:sldId id="309" r:id="rId45"/>
    <p:sldId id="310" r:id="rId46"/>
    <p:sldId id="311" r:id="rId47"/>
    <p:sldId id="312" r:id="rId48"/>
    <p:sldId id="313" r:id="rId49"/>
    <p:sldId id="305" r:id="rId50"/>
    <p:sldId id="314" r:id="rId51"/>
    <p:sldId id="315" r:id="rId52"/>
    <p:sldId id="316" r:id="rId53"/>
    <p:sldId id="317" r:id="rId54"/>
    <p:sldId id="318" r:id="rId55"/>
    <p:sldId id="319" r:id="rId56"/>
    <p:sldId id="297" r:id="rId57"/>
    <p:sldId id="320" r:id="rId58"/>
    <p:sldId id="262" r:id="rId59"/>
    <p:sldId id="322" r:id="rId60"/>
    <p:sldId id="321" r:id="rId61"/>
    <p:sldId id="323" r:id="rId62"/>
    <p:sldId id="324" r:id="rId63"/>
    <p:sldId id="278" r:id="rId64"/>
    <p:sldId id="330" r:id="rId65"/>
    <p:sldId id="331" r:id="rId66"/>
    <p:sldId id="261" r:id="rId67"/>
    <p:sldId id="326" r:id="rId68"/>
    <p:sldId id="327" r:id="rId69"/>
    <p:sldId id="265" r:id="rId70"/>
    <p:sldId id="328" r:id="rId71"/>
    <p:sldId id="325" r:id="rId72"/>
    <p:sldId id="329" r:id="rId73"/>
    <p:sldId id="260" r:id="rId74"/>
    <p:sldId id="332" r:id="rId75"/>
    <p:sldId id="333" r:id="rId76"/>
    <p:sldId id="334" r:id="rId77"/>
    <p:sldId id="298" r:id="rId78"/>
    <p:sldId id="335" r:id="rId79"/>
    <p:sldId id="277" r:id="rId80"/>
    <p:sldId id="336" r:id="rId81"/>
    <p:sldId id="337" r:id="rId82"/>
    <p:sldId id="338" r:id="rId83"/>
    <p:sldId id="339" r:id="rId84"/>
    <p:sldId id="340" r:id="rId85"/>
    <p:sldId id="341" r:id="rId86"/>
    <p:sldId id="283" r:id="rId87"/>
    <p:sldId id="342" r:id="rId88"/>
    <p:sldId id="343" r:id="rId89"/>
    <p:sldId id="350" r:id="rId90"/>
    <p:sldId id="344" r:id="rId91"/>
    <p:sldId id="345" r:id="rId92"/>
    <p:sldId id="346" r:id="rId93"/>
    <p:sldId id="347" r:id="rId94"/>
    <p:sldId id="348" r:id="rId95"/>
    <p:sldId id="349" r:id="rId9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73" autoAdjust="0"/>
    <p:restoredTop sz="96391" autoAdjust="0"/>
  </p:normalViewPr>
  <p:slideViewPr>
    <p:cSldViewPr snapToGrid="0">
      <p:cViewPr varScale="1">
        <p:scale>
          <a:sx n="115" d="100"/>
          <a:sy n="115" d="100"/>
        </p:scale>
        <p:origin x="108" y="102"/>
      </p:cViewPr>
      <p:guideLst/>
    </p:cSldViewPr>
  </p:slideViewPr>
  <p:outlineViewPr>
    <p:cViewPr>
      <p:scale>
        <a:sx n="33" d="100"/>
        <a:sy n="33" d="100"/>
      </p:scale>
      <p:origin x="0" y="-2685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_rels/data3.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9D65A2E-69E1-4E06-812C-2344BE9B1284}" type="doc">
      <dgm:prSet loTypeId="urn:microsoft.com/office/officeart/2005/8/layout/hList1" loCatId="list" qsTypeId="urn:microsoft.com/office/officeart/2005/8/quickstyle/simple1" qsCatId="simple" csTypeId="urn:microsoft.com/office/officeart/2005/8/colors/colorful5" csCatId="colorful"/>
      <dgm:spPr/>
      <dgm:t>
        <a:bodyPr/>
        <a:lstStyle/>
        <a:p>
          <a:endParaRPr lang="en-US"/>
        </a:p>
      </dgm:t>
    </dgm:pt>
    <dgm:pt modelId="{E7D953F0-CCC7-4A8A-94DD-8511C07699D3}">
      <dgm:prSet/>
      <dgm:spPr/>
      <dgm:t>
        <a:bodyPr/>
        <a:lstStyle/>
        <a:p>
          <a:r>
            <a:rPr lang="en-US"/>
            <a:t>Autoincrement/Autodecrement </a:t>
          </a:r>
        </a:p>
      </dgm:t>
    </dgm:pt>
    <dgm:pt modelId="{98F998AB-D259-487E-A885-951EFA9558DE}" type="parTrans" cxnId="{571839CA-2A58-4636-916B-EEDFADB6E21A}">
      <dgm:prSet/>
      <dgm:spPr/>
      <dgm:t>
        <a:bodyPr/>
        <a:lstStyle/>
        <a:p>
          <a:endParaRPr lang="en-US"/>
        </a:p>
      </dgm:t>
    </dgm:pt>
    <dgm:pt modelId="{E6BD3C06-EF75-406B-894A-8F288366620C}" type="sibTrans" cxnId="{571839CA-2A58-4636-916B-EEDFADB6E21A}">
      <dgm:prSet/>
      <dgm:spPr/>
      <dgm:t>
        <a:bodyPr/>
        <a:lstStyle/>
        <a:p>
          <a:endParaRPr lang="en-US"/>
        </a:p>
      </dgm:t>
    </dgm:pt>
    <dgm:pt modelId="{523E5563-9391-4D57-AE15-EDD48473D995}">
      <dgm:prSet/>
      <dgm:spPr/>
      <dgm:t>
        <a:bodyPr/>
        <a:lstStyle/>
        <a:p>
          <a:r>
            <a:rPr lang="en-US"/>
            <a:t>A register points to memory. </a:t>
          </a:r>
        </a:p>
      </dgm:t>
    </dgm:pt>
    <dgm:pt modelId="{2B58879C-FEEC-4BD3-9828-178F03685976}" type="parTrans" cxnId="{9BACE4DF-94CC-49B5-B8A4-BFE207954765}">
      <dgm:prSet/>
      <dgm:spPr/>
      <dgm:t>
        <a:bodyPr/>
        <a:lstStyle/>
        <a:p>
          <a:endParaRPr lang="en-US"/>
        </a:p>
      </dgm:t>
    </dgm:pt>
    <dgm:pt modelId="{4425F593-54FC-45B4-BE9B-1AF2E52A3635}" type="sibTrans" cxnId="{9BACE4DF-94CC-49B5-B8A4-BFE207954765}">
      <dgm:prSet/>
      <dgm:spPr/>
      <dgm:t>
        <a:bodyPr/>
        <a:lstStyle/>
        <a:p>
          <a:endParaRPr lang="en-US"/>
        </a:p>
      </dgm:t>
    </dgm:pt>
    <dgm:pt modelId="{2A070F3B-F773-4487-8C30-0E225AC1BCAE}">
      <dgm:prSet/>
      <dgm:spPr/>
      <dgm:t>
        <a:bodyPr/>
        <a:lstStyle/>
        <a:p>
          <a:r>
            <a:rPr lang="en-US"/>
            <a:t>Get the value from that memory address, then increment/decrement the value in the register</a:t>
          </a:r>
        </a:p>
      </dgm:t>
    </dgm:pt>
    <dgm:pt modelId="{C72E6956-3998-4BEE-99C5-7A85A4771A86}" type="parTrans" cxnId="{AAD88B1E-FB87-46B4-8600-A46F70885B1E}">
      <dgm:prSet/>
      <dgm:spPr/>
      <dgm:t>
        <a:bodyPr/>
        <a:lstStyle/>
        <a:p>
          <a:endParaRPr lang="en-US"/>
        </a:p>
      </dgm:t>
    </dgm:pt>
    <dgm:pt modelId="{7F1E38C9-01B3-4E02-A19B-24783BFB0B29}" type="sibTrans" cxnId="{AAD88B1E-FB87-46B4-8600-A46F70885B1E}">
      <dgm:prSet/>
      <dgm:spPr/>
      <dgm:t>
        <a:bodyPr/>
        <a:lstStyle/>
        <a:p>
          <a:endParaRPr lang="en-US"/>
        </a:p>
      </dgm:t>
    </dgm:pt>
    <dgm:pt modelId="{BF1F4EF7-197A-42BA-BD0D-162EDF1C9552}">
      <dgm:prSet/>
      <dgm:spPr/>
      <dgm:t>
        <a:bodyPr/>
        <a:lstStyle/>
        <a:p>
          <a:r>
            <a:rPr lang="en-US"/>
            <a:t>Memory indirect (char **ppChar)</a:t>
          </a:r>
        </a:p>
      </dgm:t>
    </dgm:pt>
    <dgm:pt modelId="{22F7B6EE-572C-428C-805E-EE946B1C609E}" type="parTrans" cxnId="{95A6E6FE-9D52-4BBC-946B-6E3D1B58D525}">
      <dgm:prSet/>
      <dgm:spPr/>
      <dgm:t>
        <a:bodyPr/>
        <a:lstStyle/>
        <a:p>
          <a:endParaRPr lang="en-US"/>
        </a:p>
      </dgm:t>
    </dgm:pt>
    <dgm:pt modelId="{1911E53C-CC85-4CC6-BC0D-34116996F613}" type="sibTrans" cxnId="{95A6E6FE-9D52-4BBC-946B-6E3D1B58D525}">
      <dgm:prSet/>
      <dgm:spPr/>
      <dgm:t>
        <a:bodyPr/>
        <a:lstStyle/>
        <a:p>
          <a:endParaRPr lang="en-US"/>
        </a:p>
      </dgm:t>
    </dgm:pt>
    <dgm:pt modelId="{C998F378-B03C-484E-8262-6FF1A41FC90B}">
      <dgm:prSet/>
      <dgm:spPr/>
      <dgm:t>
        <a:bodyPr/>
        <a:lstStyle/>
        <a:p>
          <a:r>
            <a:rPr lang="en-US"/>
            <a:t>The specified register points to memory</a:t>
          </a:r>
        </a:p>
      </dgm:t>
    </dgm:pt>
    <dgm:pt modelId="{F70D3B4C-EA4E-4E9A-B61D-21B1795FFF4F}" type="parTrans" cxnId="{8F4CC9D0-D05F-4B55-B73A-6429BD2C3B5E}">
      <dgm:prSet/>
      <dgm:spPr/>
      <dgm:t>
        <a:bodyPr/>
        <a:lstStyle/>
        <a:p>
          <a:endParaRPr lang="en-US"/>
        </a:p>
      </dgm:t>
    </dgm:pt>
    <dgm:pt modelId="{77288A00-4046-465C-AF1E-EE099646EF89}" type="sibTrans" cxnId="{8F4CC9D0-D05F-4B55-B73A-6429BD2C3B5E}">
      <dgm:prSet/>
      <dgm:spPr/>
      <dgm:t>
        <a:bodyPr/>
        <a:lstStyle/>
        <a:p>
          <a:endParaRPr lang="en-US"/>
        </a:p>
      </dgm:t>
    </dgm:pt>
    <dgm:pt modelId="{E05A9488-B540-4017-8758-646A05351B93}">
      <dgm:prSet/>
      <dgm:spPr/>
      <dgm:t>
        <a:bodyPr/>
        <a:lstStyle/>
        <a:p>
          <a:r>
            <a:rPr lang="en-US"/>
            <a:t>Use the value stored in that memory to as a pointer to the value we want.</a:t>
          </a:r>
        </a:p>
      </dgm:t>
    </dgm:pt>
    <dgm:pt modelId="{A621FFB5-A38D-4781-A959-F479B5C647FA}" type="parTrans" cxnId="{E3201E70-983B-42C7-964E-06FE7C84FF71}">
      <dgm:prSet/>
      <dgm:spPr/>
      <dgm:t>
        <a:bodyPr/>
        <a:lstStyle/>
        <a:p>
          <a:endParaRPr lang="en-US"/>
        </a:p>
      </dgm:t>
    </dgm:pt>
    <dgm:pt modelId="{E9374DF2-9F54-4785-B99E-1BDBC0222524}" type="sibTrans" cxnId="{E3201E70-983B-42C7-964E-06FE7C84FF71}">
      <dgm:prSet/>
      <dgm:spPr/>
      <dgm:t>
        <a:bodyPr/>
        <a:lstStyle/>
        <a:p>
          <a:endParaRPr lang="en-US"/>
        </a:p>
      </dgm:t>
    </dgm:pt>
    <dgm:pt modelId="{93A42B0B-505D-4A31-B874-864667E90343}" type="pres">
      <dgm:prSet presAssocID="{69D65A2E-69E1-4E06-812C-2344BE9B1284}" presName="Name0" presStyleCnt="0">
        <dgm:presLayoutVars>
          <dgm:dir/>
          <dgm:animLvl val="lvl"/>
          <dgm:resizeHandles val="exact"/>
        </dgm:presLayoutVars>
      </dgm:prSet>
      <dgm:spPr/>
    </dgm:pt>
    <dgm:pt modelId="{C4061A8D-91D8-4940-AA0E-25DB4CF2062B}" type="pres">
      <dgm:prSet presAssocID="{E7D953F0-CCC7-4A8A-94DD-8511C07699D3}" presName="composite" presStyleCnt="0"/>
      <dgm:spPr/>
    </dgm:pt>
    <dgm:pt modelId="{96EAAADD-A7EA-4DCF-9FE8-137AC9D55BAB}" type="pres">
      <dgm:prSet presAssocID="{E7D953F0-CCC7-4A8A-94DD-8511C07699D3}" presName="parTx" presStyleLbl="alignNode1" presStyleIdx="0" presStyleCnt="2">
        <dgm:presLayoutVars>
          <dgm:chMax val="0"/>
          <dgm:chPref val="0"/>
          <dgm:bulletEnabled val="1"/>
        </dgm:presLayoutVars>
      </dgm:prSet>
      <dgm:spPr/>
    </dgm:pt>
    <dgm:pt modelId="{3BB258B5-45C8-4CD9-A999-1B4632E692A3}" type="pres">
      <dgm:prSet presAssocID="{E7D953F0-CCC7-4A8A-94DD-8511C07699D3}" presName="desTx" presStyleLbl="alignAccFollowNode1" presStyleIdx="0" presStyleCnt="2">
        <dgm:presLayoutVars>
          <dgm:bulletEnabled val="1"/>
        </dgm:presLayoutVars>
      </dgm:prSet>
      <dgm:spPr/>
    </dgm:pt>
    <dgm:pt modelId="{5D27A26D-79B5-4B91-9A7A-FC5837C1D231}" type="pres">
      <dgm:prSet presAssocID="{E6BD3C06-EF75-406B-894A-8F288366620C}" presName="space" presStyleCnt="0"/>
      <dgm:spPr/>
    </dgm:pt>
    <dgm:pt modelId="{1D3EC777-AE7A-411F-8676-1A6DFAFB4FEC}" type="pres">
      <dgm:prSet presAssocID="{BF1F4EF7-197A-42BA-BD0D-162EDF1C9552}" presName="composite" presStyleCnt="0"/>
      <dgm:spPr/>
    </dgm:pt>
    <dgm:pt modelId="{406CF4E9-7E5C-457A-A279-6404A74A61CB}" type="pres">
      <dgm:prSet presAssocID="{BF1F4EF7-197A-42BA-BD0D-162EDF1C9552}" presName="parTx" presStyleLbl="alignNode1" presStyleIdx="1" presStyleCnt="2">
        <dgm:presLayoutVars>
          <dgm:chMax val="0"/>
          <dgm:chPref val="0"/>
          <dgm:bulletEnabled val="1"/>
        </dgm:presLayoutVars>
      </dgm:prSet>
      <dgm:spPr/>
    </dgm:pt>
    <dgm:pt modelId="{89C09EED-D910-46E2-9D11-818CCAE8515A}" type="pres">
      <dgm:prSet presAssocID="{BF1F4EF7-197A-42BA-BD0D-162EDF1C9552}" presName="desTx" presStyleLbl="alignAccFollowNode1" presStyleIdx="1" presStyleCnt="2">
        <dgm:presLayoutVars>
          <dgm:bulletEnabled val="1"/>
        </dgm:presLayoutVars>
      </dgm:prSet>
      <dgm:spPr/>
    </dgm:pt>
  </dgm:ptLst>
  <dgm:cxnLst>
    <dgm:cxn modelId="{AAD88B1E-FB87-46B4-8600-A46F70885B1E}" srcId="{E7D953F0-CCC7-4A8A-94DD-8511C07699D3}" destId="{2A070F3B-F773-4487-8C30-0E225AC1BCAE}" srcOrd="1" destOrd="0" parTransId="{C72E6956-3998-4BEE-99C5-7A85A4771A86}" sibTransId="{7F1E38C9-01B3-4E02-A19B-24783BFB0B29}"/>
    <dgm:cxn modelId="{526A766B-50B8-4939-A731-D678CA34D948}" type="presOf" srcId="{BF1F4EF7-197A-42BA-BD0D-162EDF1C9552}" destId="{406CF4E9-7E5C-457A-A279-6404A74A61CB}" srcOrd="0" destOrd="0" presId="urn:microsoft.com/office/officeart/2005/8/layout/hList1"/>
    <dgm:cxn modelId="{E3201E70-983B-42C7-964E-06FE7C84FF71}" srcId="{BF1F4EF7-197A-42BA-BD0D-162EDF1C9552}" destId="{E05A9488-B540-4017-8758-646A05351B93}" srcOrd="1" destOrd="0" parTransId="{A621FFB5-A38D-4781-A959-F479B5C647FA}" sibTransId="{E9374DF2-9F54-4785-B99E-1BDBC0222524}"/>
    <dgm:cxn modelId="{83C98D51-8EA5-4D5F-B8DF-3A8B1815F000}" type="presOf" srcId="{E7D953F0-CCC7-4A8A-94DD-8511C07699D3}" destId="{96EAAADD-A7EA-4DCF-9FE8-137AC9D55BAB}" srcOrd="0" destOrd="0" presId="urn:microsoft.com/office/officeart/2005/8/layout/hList1"/>
    <dgm:cxn modelId="{AF2C8A88-D5ED-4C3E-A4C4-A80F0382B92E}" type="presOf" srcId="{C998F378-B03C-484E-8262-6FF1A41FC90B}" destId="{89C09EED-D910-46E2-9D11-818CCAE8515A}" srcOrd="0" destOrd="0" presId="urn:microsoft.com/office/officeart/2005/8/layout/hList1"/>
    <dgm:cxn modelId="{718F0489-8270-47BA-A02F-EEA635FAC1C4}" type="presOf" srcId="{E05A9488-B540-4017-8758-646A05351B93}" destId="{89C09EED-D910-46E2-9D11-818CCAE8515A}" srcOrd="0" destOrd="1" presId="urn:microsoft.com/office/officeart/2005/8/layout/hList1"/>
    <dgm:cxn modelId="{BFD7159E-4397-4CB1-B865-94CCBBD18350}" type="presOf" srcId="{2A070F3B-F773-4487-8C30-0E225AC1BCAE}" destId="{3BB258B5-45C8-4CD9-A999-1B4632E692A3}" srcOrd="0" destOrd="1" presId="urn:microsoft.com/office/officeart/2005/8/layout/hList1"/>
    <dgm:cxn modelId="{571839CA-2A58-4636-916B-EEDFADB6E21A}" srcId="{69D65A2E-69E1-4E06-812C-2344BE9B1284}" destId="{E7D953F0-CCC7-4A8A-94DD-8511C07699D3}" srcOrd="0" destOrd="0" parTransId="{98F998AB-D259-487E-A885-951EFA9558DE}" sibTransId="{E6BD3C06-EF75-406B-894A-8F288366620C}"/>
    <dgm:cxn modelId="{8F4CC9D0-D05F-4B55-B73A-6429BD2C3B5E}" srcId="{BF1F4EF7-197A-42BA-BD0D-162EDF1C9552}" destId="{C998F378-B03C-484E-8262-6FF1A41FC90B}" srcOrd="0" destOrd="0" parTransId="{F70D3B4C-EA4E-4E9A-B61D-21B1795FFF4F}" sibTransId="{77288A00-4046-465C-AF1E-EE099646EF89}"/>
    <dgm:cxn modelId="{5C2D9CD3-02CB-41F4-B829-496CD83B1F16}" type="presOf" srcId="{69D65A2E-69E1-4E06-812C-2344BE9B1284}" destId="{93A42B0B-505D-4A31-B874-864667E90343}" srcOrd="0" destOrd="0" presId="urn:microsoft.com/office/officeart/2005/8/layout/hList1"/>
    <dgm:cxn modelId="{9BACE4DF-94CC-49B5-B8A4-BFE207954765}" srcId="{E7D953F0-CCC7-4A8A-94DD-8511C07699D3}" destId="{523E5563-9391-4D57-AE15-EDD48473D995}" srcOrd="0" destOrd="0" parTransId="{2B58879C-FEEC-4BD3-9828-178F03685976}" sibTransId="{4425F593-54FC-45B4-BE9B-1AF2E52A3635}"/>
    <dgm:cxn modelId="{8B9B5BE0-7008-464E-8F1B-87E3FD47D1A1}" type="presOf" srcId="{523E5563-9391-4D57-AE15-EDD48473D995}" destId="{3BB258B5-45C8-4CD9-A999-1B4632E692A3}" srcOrd="0" destOrd="0" presId="urn:microsoft.com/office/officeart/2005/8/layout/hList1"/>
    <dgm:cxn modelId="{95A6E6FE-9D52-4BBC-946B-6E3D1B58D525}" srcId="{69D65A2E-69E1-4E06-812C-2344BE9B1284}" destId="{BF1F4EF7-197A-42BA-BD0D-162EDF1C9552}" srcOrd="1" destOrd="0" parTransId="{22F7B6EE-572C-428C-805E-EE946B1C609E}" sibTransId="{1911E53C-CC85-4CC6-BC0D-34116996F613}"/>
    <dgm:cxn modelId="{FD4C58DC-6BE6-471A-9369-0CD248BC3495}" type="presParOf" srcId="{93A42B0B-505D-4A31-B874-864667E90343}" destId="{C4061A8D-91D8-4940-AA0E-25DB4CF2062B}" srcOrd="0" destOrd="0" presId="urn:microsoft.com/office/officeart/2005/8/layout/hList1"/>
    <dgm:cxn modelId="{0077C459-45EE-450B-88A3-127499F6869F}" type="presParOf" srcId="{C4061A8D-91D8-4940-AA0E-25DB4CF2062B}" destId="{96EAAADD-A7EA-4DCF-9FE8-137AC9D55BAB}" srcOrd="0" destOrd="0" presId="urn:microsoft.com/office/officeart/2005/8/layout/hList1"/>
    <dgm:cxn modelId="{3068759F-8979-4468-8FE6-972973DF9C1B}" type="presParOf" srcId="{C4061A8D-91D8-4940-AA0E-25DB4CF2062B}" destId="{3BB258B5-45C8-4CD9-A999-1B4632E692A3}" srcOrd="1" destOrd="0" presId="urn:microsoft.com/office/officeart/2005/8/layout/hList1"/>
    <dgm:cxn modelId="{656CAB56-CA1A-45F6-9086-F10A149DE28B}" type="presParOf" srcId="{93A42B0B-505D-4A31-B874-864667E90343}" destId="{5D27A26D-79B5-4B91-9A7A-FC5837C1D231}" srcOrd="1" destOrd="0" presId="urn:microsoft.com/office/officeart/2005/8/layout/hList1"/>
    <dgm:cxn modelId="{13C289B1-B9F2-4286-89B6-EEFB459FC72D}" type="presParOf" srcId="{93A42B0B-505D-4A31-B874-864667E90343}" destId="{1D3EC777-AE7A-411F-8676-1A6DFAFB4FEC}" srcOrd="2" destOrd="0" presId="urn:microsoft.com/office/officeart/2005/8/layout/hList1"/>
    <dgm:cxn modelId="{6B097768-AFD1-467F-AAC5-448D3C94A71F}" type="presParOf" srcId="{1D3EC777-AE7A-411F-8676-1A6DFAFB4FEC}" destId="{406CF4E9-7E5C-457A-A279-6404A74A61CB}" srcOrd="0" destOrd="0" presId="urn:microsoft.com/office/officeart/2005/8/layout/hList1"/>
    <dgm:cxn modelId="{BAC4CF49-6A2A-4327-B682-36B014670455}" type="presParOf" srcId="{1D3EC777-AE7A-411F-8676-1A6DFAFB4FEC}" destId="{89C09EED-D910-46E2-9D11-818CCAE8515A}"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867A9F2-7E21-4F3A-8FE8-2B4BBAEA3BB6}" type="doc">
      <dgm:prSet loTypeId="urn:microsoft.com/office/officeart/2008/layout/LinedList" loCatId="list" qsTypeId="urn:microsoft.com/office/officeart/2005/8/quickstyle/simple3" qsCatId="simple" csTypeId="urn:microsoft.com/office/officeart/2005/8/colors/accent0_3" csCatId="mainScheme"/>
      <dgm:spPr/>
      <dgm:t>
        <a:bodyPr/>
        <a:lstStyle/>
        <a:p>
          <a:endParaRPr lang="en-US"/>
        </a:p>
      </dgm:t>
    </dgm:pt>
    <dgm:pt modelId="{3966932C-11C3-497C-9354-30A3261E9639}">
      <dgm:prSet/>
      <dgm:spPr/>
      <dgm:t>
        <a:bodyPr/>
        <a:lstStyle/>
        <a:p>
          <a:r>
            <a:rPr lang="en-US"/>
            <a:t>Accessing memory can only be done via the load and store instructions which use “register + constant”.</a:t>
          </a:r>
        </a:p>
      </dgm:t>
    </dgm:pt>
    <dgm:pt modelId="{F18B184B-4DCE-4538-B71B-6CEE614675BE}" type="parTrans" cxnId="{B2AE8C33-A998-4F7D-9D17-5D9F4E18D75A}">
      <dgm:prSet/>
      <dgm:spPr/>
      <dgm:t>
        <a:bodyPr/>
        <a:lstStyle/>
        <a:p>
          <a:endParaRPr lang="en-US"/>
        </a:p>
      </dgm:t>
    </dgm:pt>
    <dgm:pt modelId="{75F7ED7F-79EE-4B32-B91D-D499BB431204}" type="sibTrans" cxnId="{B2AE8C33-A998-4F7D-9D17-5D9F4E18D75A}">
      <dgm:prSet/>
      <dgm:spPr/>
      <dgm:t>
        <a:bodyPr/>
        <a:lstStyle/>
        <a:p>
          <a:endParaRPr lang="en-US"/>
        </a:p>
      </dgm:t>
    </dgm:pt>
    <dgm:pt modelId="{B13CE934-DF93-4A61-9541-555B20027C92}">
      <dgm:prSet/>
      <dgm:spPr/>
      <dgm:t>
        <a:bodyPr/>
        <a:lstStyle/>
        <a:p>
          <a:r>
            <a:rPr lang="en-US"/>
            <a:t>Jump is an absolute address</a:t>
          </a:r>
        </a:p>
      </dgm:t>
    </dgm:pt>
    <dgm:pt modelId="{1654B783-D4E9-4E8C-8C5E-1540D68F3E83}" type="parTrans" cxnId="{C43F47D9-85BD-4EF7-B10B-5BA9C0F7C7E2}">
      <dgm:prSet/>
      <dgm:spPr/>
      <dgm:t>
        <a:bodyPr/>
        <a:lstStyle/>
        <a:p>
          <a:endParaRPr lang="en-US"/>
        </a:p>
      </dgm:t>
    </dgm:pt>
    <dgm:pt modelId="{AD85FAA1-08E5-45EA-BEE8-1E181DC5D81E}" type="sibTrans" cxnId="{C43F47D9-85BD-4EF7-B10B-5BA9C0F7C7E2}">
      <dgm:prSet/>
      <dgm:spPr/>
      <dgm:t>
        <a:bodyPr/>
        <a:lstStyle/>
        <a:p>
          <a:endParaRPr lang="en-US"/>
        </a:p>
      </dgm:t>
    </dgm:pt>
    <dgm:pt modelId="{2C661481-21AF-45B6-BCF5-627ED59E686E}">
      <dgm:prSet/>
      <dgm:spPr/>
      <dgm:t>
        <a:bodyPr/>
        <a:lstStyle/>
        <a:p>
          <a:r>
            <a:rPr lang="en-US"/>
            <a:t>Branches specify offsets to the current program counter</a:t>
          </a:r>
        </a:p>
      </dgm:t>
    </dgm:pt>
    <dgm:pt modelId="{D225931A-A336-421E-825E-5AC77D3BD5D8}" type="parTrans" cxnId="{3DAED90E-6BE8-4AB8-8E4A-C0F2262073AC}">
      <dgm:prSet/>
      <dgm:spPr/>
      <dgm:t>
        <a:bodyPr/>
        <a:lstStyle/>
        <a:p>
          <a:endParaRPr lang="en-US"/>
        </a:p>
      </dgm:t>
    </dgm:pt>
    <dgm:pt modelId="{48E78367-F732-4436-AB6A-64371C1ADD6A}" type="sibTrans" cxnId="{3DAED90E-6BE8-4AB8-8E4A-C0F2262073AC}">
      <dgm:prSet/>
      <dgm:spPr/>
      <dgm:t>
        <a:bodyPr/>
        <a:lstStyle/>
        <a:p>
          <a:endParaRPr lang="en-US"/>
        </a:p>
      </dgm:t>
    </dgm:pt>
    <dgm:pt modelId="{0939FF98-9896-4E88-8B6E-55E90F17FA12}">
      <dgm:prSet/>
      <dgm:spPr/>
      <dgm:t>
        <a:bodyPr/>
        <a:lstStyle/>
        <a:p>
          <a:r>
            <a:rPr lang="en-US"/>
            <a:t>RISC tends to have fewer addressing modes</a:t>
          </a:r>
        </a:p>
      </dgm:t>
    </dgm:pt>
    <dgm:pt modelId="{E2419268-866E-4751-AC78-7FA44C4ABD7C}" type="parTrans" cxnId="{DB426E73-2A1E-4556-9BA1-FA02D30C8B28}">
      <dgm:prSet/>
      <dgm:spPr/>
      <dgm:t>
        <a:bodyPr/>
        <a:lstStyle/>
        <a:p>
          <a:endParaRPr lang="en-US"/>
        </a:p>
      </dgm:t>
    </dgm:pt>
    <dgm:pt modelId="{BCBDB51A-4E55-4C89-A74C-52A4C6FCAE15}" type="sibTrans" cxnId="{DB426E73-2A1E-4556-9BA1-FA02D30C8B28}">
      <dgm:prSet/>
      <dgm:spPr/>
      <dgm:t>
        <a:bodyPr/>
        <a:lstStyle/>
        <a:p>
          <a:endParaRPr lang="en-US"/>
        </a:p>
      </dgm:t>
    </dgm:pt>
    <dgm:pt modelId="{C97E6C44-2AC9-45B8-BD62-E6535FC542B5}" type="pres">
      <dgm:prSet presAssocID="{4867A9F2-7E21-4F3A-8FE8-2B4BBAEA3BB6}" presName="vert0" presStyleCnt="0">
        <dgm:presLayoutVars>
          <dgm:dir/>
          <dgm:animOne val="branch"/>
          <dgm:animLvl val="lvl"/>
        </dgm:presLayoutVars>
      </dgm:prSet>
      <dgm:spPr/>
    </dgm:pt>
    <dgm:pt modelId="{E1180737-DB8A-4CB0-ACEE-903B59A15955}" type="pres">
      <dgm:prSet presAssocID="{3966932C-11C3-497C-9354-30A3261E9639}" presName="thickLine" presStyleLbl="alignNode1" presStyleIdx="0" presStyleCnt="4"/>
      <dgm:spPr/>
    </dgm:pt>
    <dgm:pt modelId="{F5C1FFD6-06F8-44D7-8452-F271E62DE8BE}" type="pres">
      <dgm:prSet presAssocID="{3966932C-11C3-497C-9354-30A3261E9639}" presName="horz1" presStyleCnt="0"/>
      <dgm:spPr/>
    </dgm:pt>
    <dgm:pt modelId="{6E324E8B-15C0-4384-8B3B-7DEF207002D4}" type="pres">
      <dgm:prSet presAssocID="{3966932C-11C3-497C-9354-30A3261E9639}" presName="tx1" presStyleLbl="revTx" presStyleIdx="0" presStyleCnt="4"/>
      <dgm:spPr/>
    </dgm:pt>
    <dgm:pt modelId="{819FE8E5-B79A-4668-A0AC-15AA98BC2153}" type="pres">
      <dgm:prSet presAssocID="{3966932C-11C3-497C-9354-30A3261E9639}" presName="vert1" presStyleCnt="0"/>
      <dgm:spPr/>
    </dgm:pt>
    <dgm:pt modelId="{D4662801-999E-4563-A816-25B3D992919C}" type="pres">
      <dgm:prSet presAssocID="{B13CE934-DF93-4A61-9541-555B20027C92}" presName="thickLine" presStyleLbl="alignNode1" presStyleIdx="1" presStyleCnt="4"/>
      <dgm:spPr/>
    </dgm:pt>
    <dgm:pt modelId="{BAB23549-38E5-47C1-8619-BF997D6F8A58}" type="pres">
      <dgm:prSet presAssocID="{B13CE934-DF93-4A61-9541-555B20027C92}" presName="horz1" presStyleCnt="0"/>
      <dgm:spPr/>
    </dgm:pt>
    <dgm:pt modelId="{979B87CC-C927-415B-B84C-13F36330E0B3}" type="pres">
      <dgm:prSet presAssocID="{B13CE934-DF93-4A61-9541-555B20027C92}" presName="tx1" presStyleLbl="revTx" presStyleIdx="1" presStyleCnt="4"/>
      <dgm:spPr/>
    </dgm:pt>
    <dgm:pt modelId="{9D80BC04-D6F3-4E5D-B121-52FB317B4FAA}" type="pres">
      <dgm:prSet presAssocID="{B13CE934-DF93-4A61-9541-555B20027C92}" presName="vert1" presStyleCnt="0"/>
      <dgm:spPr/>
    </dgm:pt>
    <dgm:pt modelId="{B176E9EB-356C-4FA3-BD5D-9C592480E861}" type="pres">
      <dgm:prSet presAssocID="{2C661481-21AF-45B6-BCF5-627ED59E686E}" presName="thickLine" presStyleLbl="alignNode1" presStyleIdx="2" presStyleCnt="4"/>
      <dgm:spPr/>
    </dgm:pt>
    <dgm:pt modelId="{F0758987-273A-46BD-BBBC-D7AB55B805CC}" type="pres">
      <dgm:prSet presAssocID="{2C661481-21AF-45B6-BCF5-627ED59E686E}" presName="horz1" presStyleCnt="0"/>
      <dgm:spPr/>
    </dgm:pt>
    <dgm:pt modelId="{A5C8947D-1AC8-4621-94B8-541ECF0E5168}" type="pres">
      <dgm:prSet presAssocID="{2C661481-21AF-45B6-BCF5-627ED59E686E}" presName="tx1" presStyleLbl="revTx" presStyleIdx="2" presStyleCnt="4"/>
      <dgm:spPr/>
    </dgm:pt>
    <dgm:pt modelId="{88CA5FA9-9B40-4FFF-A54D-EA0D8DF0E591}" type="pres">
      <dgm:prSet presAssocID="{2C661481-21AF-45B6-BCF5-627ED59E686E}" presName="vert1" presStyleCnt="0"/>
      <dgm:spPr/>
    </dgm:pt>
    <dgm:pt modelId="{E880ED47-0D26-43C0-A78A-AF47EC2D9D16}" type="pres">
      <dgm:prSet presAssocID="{0939FF98-9896-4E88-8B6E-55E90F17FA12}" presName="thickLine" presStyleLbl="alignNode1" presStyleIdx="3" presStyleCnt="4"/>
      <dgm:spPr/>
    </dgm:pt>
    <dgm:pt modelId="{6017E06E-0164-4A59-91FD-D990C2961C98}" type="pres">
      <dgm:prSet presAssocID="{0939FF98-9896-4E88-8B6E-55E90F17FA12}" presName="horz1" presStyleCnt="0"/>
      <dgm:spPr/>
    </dgm:pt>
    <dgm:pt modelId="{16326810-AD67-4612-91B8-DF91E447CBA7}" type="pres">
      <dgm:prSet presAssocID="{0939FF98-9896-4E88-8B6E-55E90F17FA12}" presName="tx1" presStyleLbl="revTx" presStyleIdx="3" presStyleCnt="4"/>
      <dgm:spPr/>
    </dgm:pt>
    <dgm:pt modelId="{0DF65879-E90A-404F-9587-809761971CE5}" type="pres">
      <dgm:prSet presAssocID="{0939FF98-9896-4E88-8B6E-55E90F17FA12}" presName="vert1" presStyleCnt="0"/>
      <dgm:spPr/>
    </dgm:pt>
  </dgm:ptLst>
  <dgm:cxnLst>
    <dgm:cxn modelId="{3DAED90E-6BE8-4AB8-8E4A-C0F2262073AC}" srcId="{4867A9F2-7E21-4F3A-8FE8-2B4BBAEA3BB6}" destId="{2C661481-21AF-45B6-BCF5-627ED59E686E}" srcOrd="2" destOrd="0" parTransId="{D225931A-A336-421E-825E-5AC77D3BD5D8}" sibTransId="{48E78367-F732-4436-AB6A-64371C1ADD6A}"/>
    <dgm:cxn modelId="{CAAEA417-40BA-427B-A6E9-EB4AEF7FB3C4}" type="presOf" srcId="{B13CE934-DF93-4A61-9541-555B20027C92}" destId="{979B87CC-C927-415B-B84C-13F36330E0B3}" srcOrd="0" destOrd="0" presId="urn:microsoft.com/office/officeart/2008/layout/LinedList"/>
    <dgm:cxn modelId="{ED3A591C-3BF9-400F-ADDD-B808E2FBB09C}" type="presOf" srcId="{0939FF98-9896-4E88-8B6E-55E90F17FA12}" destId="{16326810-AD67-4612-91B8-DF91E447CBA7}" srcOrd="0" destOrd="0" presId="urn:microsoft.com/office/officeart/2008/layout/LinedList"/>
    <dgm:cxn modelId="{B2AE8C33-A998-4F7D-9D17-5D9F4E18D75A}" srcId="{4867A9F2-7E21-4F3A-8FE8-2B4BBAEA3BB6}" destId="{3966932C-11C3-497C-9354-30A3261E9639}" srcOrd="0" destOrd="0" parTransId="{F18B184B-4DCE-4538-B71B-6CEE614675BE}" sibTransId="{75F7ED7F-79EE-4B32-B91D-D499BB431204}"/>
    <dgm:cxn modelId="{4D4F3D37-F651-44B2-912B-913A58A75C76}" type="presOf" srcId="{4867A9F2-7E21-4F3A-8FE8-2B4BBAEA3BB6}" destId="{C97E6C44-2AC9-45B8-BD62-E6535FC542B5}" srcOrd="0" destOrd="0" presId="urn:microsoft.com/office/officeart/2008/layout/LinedList"/>
    <dgm:cxn modelId="{617BE044-C740-4DE0-B83E-2FC40C4F5DB2}" type="presOf" srcId="{3966932C-11C3-497C-9354-30A3261E9639}" destId="{6E324E8B-15C0-4384-8B3B-7DEF207002D4}" srcOrd="0" destOrd="0" presId="urn:microsoft.com/office/officeart/2008/layout/LinedList"/>
    <dgm:cxn modelId="{DB426E73-2A1E-4556-9BA1-FA02D30C8B28}" srcId="{4867A9F2-7E21-4F3A-8FE8-2B4BBAEA3BB6}" destId="{0939FF98-9896-4E88-8B6E-55E90F17FA12}" srcOrd="3" destOrd="0" parTransId="{E2419268-866E-4751-AC78-7FA44C4ABD7C}" sibTransId="{BCBDB51A-4E55-4C89-A74C-52A4C6FCAE15}"/>
    <dgm:cxn modelId="{D4E10258-663F-4D8B-A505-020D5074F940}" type="presOf" srcId="{2C661481-21AF-45B6-BCF5-627ED59E686E}" destId="{A5C8947D-1AC8-4621-94B8-541ECF0E5168}" srcOrd="0" destOrd="0" presId="urn:microsoft.com/office/officeart/2008/layout/LinedList"/>
    <dgm:cxn modelId="{C43F47D9-85BD-4EF7-B10B-5BA9C0F7C7E2}" srcId="{4867A9F2-7E21-4F3A-8FE8-2B4BBAEA3BB6}" destId="{B13CE934-DF93-4A61-9541-555B20027C92}" srcOrd="1" destOrd="0" parTransId="{1654B783-D4E9-4E8C-8C5E-1540D68F3E83}" sibTransId="{AD85FAA1-08E5-45EA-BEE8-1E181DC5D81E}"/>
    <dgm:cxn modelId="{979FB559-1725-4D09-85FD-D9ADC7CAC82F}" type="presParOf" srcId="{C97E6C44-2AC9-45B8-BD62-E6535FC542B5}" destId="{E1180737-DB8A-4CB0-ACEE-903B59A15955}" srcOrd="0" destOrd="0" presId="urn:microsoft.com/office/officeart/2008/layout/LinedList"/>
    <dgm:cxn modelId="{6281EB10-9F6D-457D-838B-764552C45535}" type="presParOf" srcId="{C97E6C44-2AC9-45B8-BD62-E6535FC542B5}" destId="{F5C1FFD6-06F8-44D7-8452-F271E62DE8BE}" srcOrd="1" destOrd="0" presId="urn:microsoft.com/office/officeart/2008/layout/LinedList"/>
    <dgm:cxn modelId="{F37B2B93-17DE-4B26-8CC8-9955DF050EF8}" type="presParOf" srcId="{F5C1FFD6-06F8-44D7-8452-F271E62DE8BE}" destId="{6E324E8B-15C0-4384-8B3B-7DEF207002D4}" srcOrd="0" destOrd="0" presId="urn:microsoft.com/office/officeart/2008/layout/LinedList"/>
    <dgm:cxn modelId="{69B4F903-6E52-4800-831C-54518F85CC34}" type="presParOf" srcId="{F5C1FFD6-06F8-44D7-8452-F271E62DE8BE}" destId="{819FE8E5-B79A-4668-A0AC-15AA98BC2153}" srcOrd="1" destOrd="0" presId="urn:microsoft.com/office/officeart/2008/layout/LinedList"/>
    <dgm:cxn modelId="{D5A37B5E-6534-4F4E-8A34-E47A8AC84BD4}" type="presParOf" srcId="{C97E6C44-2AC9-45B8-BD62-E6535FC542B5}" destId="{D4662801-999E-4563-A816-25B3D992919C}" srcOrd="2" destOrd="0" presId="urn:microsoft.com/office/officeart/2008/layout/LinedList"/>
    <dgm:cxn modelId="{99F1E476-6991-43A3-ACC7-A1049AFEF767}" type="presParOf" srcId="{C97E6C44-2AC9-45B8-BD62-E6535FC542B5}" destId="{BAB23549-38E5-47C1-8619-BF997D6F8A58}" srcOrd="3" destOrd="0" presId="urn:microsoft.com/office/officeart/2008/layout/LinedList"/>
    <dgm:cxn modelId="{0D44A8F7-AFD8-49E6-855C-A1ADA1487EB7}" type="presParOf" srcId="{BAB23549-38E5-47C1-8619-BF997D6F8A58}" destId="{979B87CC-C927-415B-B84C-13F36330E0B3}" srcOrd="0" destOrd="0" presId="urn:microsoft.com/office/officeart/2008/layout/LinedList"/>
    <dgm:cxn modelId="{84BE4563-BC71-4F37-A034-22F99B6D3E33}" type="presParOf" srcId="{BAB23549-38E5-47C1-8619-BF997D6F8A58}" destId="{9D80BC04-D6F3-4E5D-B121-52FB317B4FAA}" srcOrd="1" destOrd="0" presId="urn:microsoft.com/office/officeart/2008/layout/LinedList"/>
    <dgm:cxn modelId="{3AEBBB5B-89DE-4F16-99E2-90A1AFA11026}" type="presParOf" srcId="{C97E6C44-2AC9-45B8-BD62-E6535FC542B5}" destId="{B176E9EB-356C-4FA3-BD5D-9C592480E861}" srcOrd="4" destOrd="0" presId="urn:microsoft.com/office/officeart/2008/layout/LinedList"/>
    <dgm:cxn modelId="{D1A1C37F-A574-42F4-AA5B-8A3839D6D429}" type="presParOf" srcId="{C97E6C44-2AC9-45B8-BD62-E6535FC542B5}" destId="{F0758987-273A-46BD-BBBC-D7AB55B805CC}" srcOrd="5" destOrd="0" presId="urn:microsoft.com/office/officeart/2008/layout/LinedList"/>
    <dgm:cxn modelId="{68F1B5F9-18A4-4F85-87DC-CEBD5626ABA6}" type="presParOf" srcId="{F0758987-273A-46BD-BBBC-D7AB55B805CC}" destId="{A5C8947D-1AC8-4621-94B8-541ECF0E5168}" srcOrd="0" destOrd="0" presId="urn:microsoft.com/office/officeart/2008/layout/LinedList"/>
    <dgm:cxn modelId="{7A9465D9-0E34-4A3D-A3C6-CCB7A280BF5B}" type="presParOf" srcId="{F0758987-273A-46BD-BBBC-D7AB55B805CC}" destId="{88CA5FA9-9B40-4FFF-A54D-EA0D8DF0E591}" srcOrd="1" destOrd="0" presId="urn:microsoft.com/office/officeart/2008/layout/LinedList"/>
    <dgm:cxn modelId="{848EADD4-068D-42CF-B55E-78900FF02DB6}" type="presParOf" srcId="{C97E6C44-2AC9-45B8-BD62-E6535FC542B5}" destId="{E880ED47-0D26-43C0-A78A-AF47EC2D9D16}" srcOrd="6" destOrd="0" presId="urn:microsoft.com/office/officeart/2008/layout/LinedList"/>
    <dgm:cxn modelId="{5CC0C350-53D3-4E1B-91FC-71E640EC4EB9}" type="presParOf" srcId="{C97E6C44-2AC9-45B8-BD62-E6535FC542B5}" destId="{6017E06E-0164-4A59-91FD-D990C2961C98}" srcOrd="7" destOrd="0" presId="urn:microsoft.com/office/officeart/2008/layout/LinedList"/>
    <dgm:cxn modelId="{991FB811-7338-41E2-B912-56A2799D7CA4}" type="presParOf" srcId="{6017E06E-0164-4A59-91FD-D990C2961C98}" destId="{16326810-AD67-4612-91B8-DF91E447CBA7}" srcOrd="0" destOrd="0" presId="urn:microsoft.com/office/officeart/2008/layout/LinedList"/>
    <dgm:cxn modelId="{ABEF8D74-31B1-47C7-BD45-63978C8E51BF}" type="presParOf" srcId="{6017E06E-0164-4A59-91FD-D990C2961C98}" destId="{0DF65879-E90A-404F-9587-809761971CE5}"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5161A35-F8E8-41CD-8FD0-4F8500864961}"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AC69D0BB-BC07-4720-B482-31B14AF07E27}">
      <dgm:prSet/>
      <dgm:spPr/>
      <dgm:t>
        <a:bodyPr/>
        <a:lstStyle/>
        <a:p>
          <a:r>
            <a:rPr lang="en-US"/>
            <a:t>Remember this from ICSI311?</a:t>
          </a:r>
        </a:p>
      </dgm:t>
    </dgm:pt>
    <dgm:pt modelId="{39B6FCBB-D211-4A50-9262-8E30649C4337}" type="parTrans" cxnId="{02D939E8-5C32-4C0F-B39E-21FBAA49C0FD}">
      <dgm:prSet/>
      <dgm:spPr/>
      <dgm:t>
        <a:bodyPr/>
        <a:lstStyle/>
        <a:p>
          <a:endParaRPr lang="en-US"/>
        </a:p>
      </dgm:t>
    </dgm:pt>
    <dgm:pt modelId="{F802FE5B-F40B-4F07-B99F-39E31854B630}" type="sibTrans" cxnId="{02D939E8-5C32-4C0F-B39E-21FBAA49C0FD}">
      <dgm:prSet/>
      <dgm:spPr/>
      <dgm:t>
        <a:bodyPr/>
        <a:lstStyle/>
        <a:p>
          <a:endParaRPr lang="en-US"/>
        </a:p>
      </dgm:t>
    </dgm:pt>
    <dgm:pt modelId="{0045CC2F-3407-4544-84F4-5523C59C1324}">
      <dgm:prSet/>
      <dgm:spPr/>
      <dgm:t>
        <a:bodyPr/>
        <a:lstStyle/>
        <a:p>
          <a:r>
            <a:rPr lang="en-US"/>
            <a:t>How often can every addressing mode be used with every instruction?</a:t>
          </a:r>
        </a:p>
      </dgm:t>
    </dgm:pt>
    <dgm:pt modelId="{DF2903DE-A582-41E6-B8F3-2609F2BE85D8}" type="parTrans" cxnId="{D2209F57-62F9-4957-B220-79D3C3835321}">
      <dgm:prSet/>
      <dgm:spPr/>
      <dgm:t>
        <a:bodyPr/>
        <a:lstStyle/>
        <a:p>
          <a:endParaRPr lang="en-US"/>
        </a:p>
      </dgm:t>
    </dgm:pt>
    <dgm:pt modelId="{FADEBBF3-405A-4AE8-AACB-CAF46156DBD3}" type="sibTrans" cxnId="{D2209F57-62F9-4957-B220-79D3C3835321}">
      <dgm:prSet/>
      <dgm:spPr/>
      <dgm:t>
        <a:bodyPr/>
        <a:lstStyle/>
        <a:p>
          <a:endParaRPr lang="en-US"/>
        </a:p>
      </dgm:t>
    </dgm:pt>
    <dgm:pt modelId="{B6877C99-D68B-4EA8-A12C-85BBE2C862E8}">
      <dgm:prSet/>
      <dgm:spPr/>
      <dgm:t>
        <a:bodyPr/>
        <a:lstStyle/>
        <a:p>
          <a:r>
            <a:rPr lang="en-US"/>
            <a:t>Pros – easier for the programmer and hardware designer</a:t>
          </a:r>
        </a:p>
      </dgm:t>
    </dgm:pt>
    <dgm:pt modelId="{72DD014B-5607-466C-A9BE-326FE4EDC888}" type="parTrans" cxnId="{5F882F0A-BA6C-455E-9D7C-1908CD5FD4F5}">
      <dgm:prSet/>
      <dgm:spPr/>
      <dgm:t>
        <a:bodyPr/>
        <a:lstStyle/>
        <a:p>
          <a:endParaRPr lang="en-US"/>
        </a:p>
      </dgm:t>
    </dgm:pt>
    <dgm:pt modelId="{CA594479-A8B7-43AC-80BE-433F27190002}" type="sibTrans" cxnId="{5F882F0A-BA6C-455E-9D7C-1908CD5FD4F5}">
      <dgm:prSet/>
      <dgm:spPr/>
      <dgm:t>
        <a:bodyPr/>
        <a:lstStyle/>
        <a:p>
          <a:endParaRPr lang="en-US"/>
        </a:p>
      </dgm:t>
    </dgm:pt>
    <dgm:pt modelId="{A467D21D-C027-4DBA-B0BE-6DC472312F3D}">
      <dgm:prSet/>
      <dgm:spPr/>
      <dgm:t>
        <a:bodyPr/>
        <a:lstStyle/>
        <a:p>
          <a:r>
            <a:rPr lang="en-US"/>
            <a:t>Cons – space/memory bandwidth</a:t>
          </a:r>
        </a:p>
      </dgm:t>
    </dgm:pt>
    <dgm:pt modelId="{9BAC6C1F-CD94-4563-AD9A-4B83C19BF797}" type="parTrans" cxnId="{80DE1997-BE2B-44C7-A91A-88CE8FA63526}">
      <dgm:prSet/>
      <dgm:spPr/>
      <dgm:t>
        <a:bodyPr/>
        <a:lstStyle/>
        <a:p>
          <a:endParaRPr lang="en-US"/>
        </a:p>
      </dgm:t>
    </dgm:pt>
    <dgm:pt modelId="{66858BB5-C15E-448B-ADFE-88CD5BF392D2}" type="sibTrans" cxnId="{80DE1997-BE2B-44C7-A91A-88CE8FA63526}">
      <dgm:prSet/>
      <dgm:spPr/>
      <dgm:t>
        <a:bodyPr/>
        <a:lstStyle/>
        <a:p>
          <a:endParaRPr lang="en-US"/>
        </a:p>
      </dgm:t>
    </dgm:pt>
    <dgm:pt modelId="{47AD4FB1-F8FE-4B9F-9DF3-D1AA764FEC39}">
      <dgm:prSet/>
      <dgm:spPr/>
      <dgm:t>
        <a:bodyPr/>
        <a:lstStyle/>
        <a:p>
          <a:r>
            <a:rPr lang="en-US"/>
            <a:t>Operands “have to” be distinct from operation bits</a:t>
          </a:r>
        </a:p>
      </dgm:t>
    </dgm:pt>
    <dgm:pt modelId="{AD591B33-5173-40C0-BC82-30660464EFDE}" type="parTrans" cxnId="{9BCCE21D-5ABF-42F8-AC35-9EDDD5F204B5}">
      <dgm:prSet/>
      <dgm:spPr/>
      <dgm:t>
        <a:bodyPr/>
        <a:lstStyle/>
        <a:p>
          <a:endParaRPr lang="en-US"/>
        </a:p>
      </dgm:t>
    </dgm:pt>
    <dgm:pt modelId="{C27A2AB9-6B2F-47AD-98B4-E174BEBBD2E2}" type="sibTrans" cxnId="{9BCCE21D-5ABF-42F8-AC35-9EDDD5F204B5}">
      <dgm:prSet/>
      <dgm:spPr/>
      <dgm:t>
        <a:bodyPr/>
        <a:lstStyle/>
        <a:p>
          <a:endParaRPr lang="en-US"/>
        </a:p>
      </dgm:t>
    </dgm:pt>
    <dgm:pt modelId="{94432A55-A239-48EA-AD7D-1EF040DADA83}" type="pres">
      <dgm:prSet presAssocID="{65161A35-F8E8-41CD-8FD0-4F8500864961}" presName="root" presStyleCnt="0">
        <dgm:presLayoutVars>
          <dgm:dir/>
          <dgm:resizeHandles val="exact"/>
        </dgm:presLayoutVars>
      </dgm:prSet>
      <dgm:spPr/>
    </dgm:pt>
    <dgm:pt modelId="{C2FA5BB3-AF7D-4A08-A189-15BC373579D9}" type="pres">
      <dgm:prSet presAssocID="{AC69D0BB-BC07-4720-B482-31B14AF07E27}" presName="compNode" presStyleCnt="0"/>
      <dgm:spPr/>
    </dgm:pt>
    <dgm:pt modelId="{3F1E8F21-D9AE-4D8F-B8FB-E4F4BCF69F67}" type="pres">
      <dgm:prSet presAssocID="{AC69D0BB-BC07-4720-B482-31B14AF07E27}" presName="bgRect" presStyleLbl="bgShp" presStyleIdx="0" presStyleCnt="4"/>
      <dgm:spPr/>
    </dgm:pt>
    <dgm:pt modelId="{1903D31C-DAE3-4CD9-A3D9-358EF3997370}" type="pres">
      <dgm:prSet presAssocID="{AC69D0BB-BC07-4720-B482-31B14AF07E2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n"/>
        </a:ext>
      </dgm:extLst>
    </dgm:pt>
    <dgm:pt modelId="{52B30D85-7983-469C-8F66-D0B31014CD47}" type="pres">
      <dgm:prSet presAssocID="{AC69D0BB-BC07-4720-B482-31B14AF07E27}" presName="spaceRect" presStyleCnt="0"/>
      <dgm:spPr/>
    </dgm:pt>
    <dgm:pt modelId="{A9957AF2-6DB7-46A4-909A-444BDBC11629}" type="pres">
      <dgm:prSet presAssocID="{AC69D0BB-BC07-4720-B482-31B14AF07E27}" presName="parTx" presStyleLbl="revTx" presStyleIdx="0" presStyleCnt="5">
        <dgm:presLayoutVars>
          <dgm:chMax val="0"/>
          <dgm:chPref val="0"/>
        </dgm:presLayoutVars>
      </dgm:prSet>
      <dgm:spPr/>
    </dgm:pt>
    <dgm:pt modelId="{F3881843-1550-4B35-A1BC-492C6808F44F}" type="pres">
      <dgm:prSet presAssocID="{F802FE5B-F40B-4F07-B99F-39E31854B630}" presName="sibTrans" presStyleCnt="0"/>
      <dgm:spPr/>
    </dgm:pt>
    <dgm:pt modelId="{233A101E-FFD9-4F0E-B9CE-38A5D732E0D5}" type="pres">
      <dgm:prSet presAssocID="{0045CC2F-3407-4544-84F4-5523C59C1324}" presName="compNode" presStyleCnt="0"/>
      <dgm:spPr/>
    </dgm:pt>
    <dgm:pt modelId="{4CEF4731-982A-4C46-9112-0AAC59147F2D}" type="pres">
      <dgm:prSet presAssocID="{0045CC2F-3407-4544-84F4-5523C59C1324}" presName="bgRect" presStyleLbl="bgShp" presStyleIdx="1" presStyleCnt="4"/>
      <dgm:spPr/>
    </dgm:pt>
    <dgm:pt modelId="{9B455F95-D0D1-4A55-A02C-BEB4A58773F6}" type="pres">
      <dgm:prSet presAssocID="{0045CC2F-3407-4544-84F4-5523C59C132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ight Pointing Backhand Index "/>
        </a:ext>
      </dgm:extLst>
    </dgm:pt>
    <dgm:pt modelId="{903C5728-2678-4F63-A1A5-C5A9088655E6}" type="pres">
      <dgm:prSet presAssocID="{0045CC2F-3407-4544-84F4-5523C59C1324}" presName="spaceRect" presStyleCnt="0"/>
      <dgm:spPr/>
    </dgm:pt>
    <dgm:pt modelId="{64F4827A-2D01-4E90-ACB7-3D12B289C888}" type="pres">
      <dgm:prSet presAssocID="{0045CC2F-3407-4544-84F4-5523C59C1324}" presName="parTx" presStyleLbl="revTx" presStyleIdx="1" presStyleCnt="5">
        <dgm:presLayoutVars>
          <dgm:chMax val="0"/>
          <dgm:chPref val="0"/>
        </dgm:presLayoutVars>
      </dgm:prSet>
      <dgm:spPr/>
    </dgm:pt>
    <dgm:pt modelId="{B94EC69D-1471-4EBB-A367-FD1B2B47AEE5}" type="pres">
      <dgm:prSet presAssocID="{FADEBBF3-405A-4AE8-AACB-CAF46156DBD3}" presName="sibTrans" presStyleCnt="0"/>
      <dgm:spPr/>
    </dgm:pt>
    <dgm:pt modelId="{BDE4744A-CE60-4045-A605-4054CDD593B3}" type="pres">
      <dgm:prSet presAssocID="{B6877C99-D68B-4EA8-A12C-85BBE2C862E8}" presName="compNode" presStyleCnt="0"/>
      <dgm:spPr/>
    </dgm:pt>
    <dgm:pt modelId="{619CE453-C24C-410C-8FDB-F0C85DB15E47}" type="pres">
      <dgm:prSet presAssocID="{B6877C99-D68B-4EA8-A12C-85BBE2C862E8}" presName="bgRect" presStyleLbl="bgShp" presStyleIdx="2" presStyleCnt="4"/>
      <dgm:spPr/>
    </dgm:pt>
    <dgm:pt modelId="{4667C0F0-9631-40DD-8DE4-058116E6C2F7}" type="pres">
      <dgm:prSet presAssocID="{B6877C99-D68B-4EA8-A12C-85BBE2C862E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mputer"/>
        </a:ext>
      </dgm:extLst>
    </dgm:pt>
    <dgm:pt modelId="{E5F31710-2355-43E1-A97F-0F600F59E3F2}" type="pres">
      <dgm:prSet presAssocID="{B6877C99-D68B-4EA8-A12C-85BBE2C862E8}" presName="spaceRect" presStyleCnt="0"/>
      <dgm:spPr/>
    </dgm:pt>
    <dgm:pt modelId="{292533AB-449C-4AB1-8D6D-ECD9E878DB40}" type="pres">
      <dgm:prSet presAssocID="{B6877C99-D68B-4EA8-A12C-85BBE2C862E8}" presName="parTx" presStyleLbl="revTx" presStyleIdx="2" presStyleCnt="5">
        <dgm:presLayoutVars>
          <dgm:chMax val="0"/>
          <dgm:chPref val="0"/>
        </dgm:presLayoutVars>
      </dgm:prSet>
      <dgm:spPr/>
    </dgm:pt>
    <dgm:pt modelId="{E4CD19AD-DC0F-4433-8A6A-45F46F330799}" type="pres">
      <dgm:prSet presAssocID="{CA594479-A8B7-43AC-80BE-433F27190002}" presName="sibTrans" presStyleCnt="0"/>
      <dgm:spPr/>
    </dgm:pt>
    <dgm:pt modelId="{6E7AB690-77A8-4E49-A306-29E10365FE98}" type="pres">
      <dgm:prSet presAssocID="{A467D21D-C027-4DBA-B0BE-6DC472312F3D}" presName="compNode" presStyleCnt="0"/>
      <dgm:spPr/>
    </dgm:pt>
    <dgm:pt modelId="{B2B18450-AB8E-4B2E-A73F-1646B0C75E5F}" type="pres">
      <dgm:prSet presAssocID="{A467D21D-C027-4DBA-B0BE-6DC472312F3D}" presName="bgRect" presStyleLbl="bgShp" presStyleIdx="3" presStyleCnt="4"/>
      <dgm:spPr/>
    </dgm:pt>
    <dgm:pt modelId="{1B81AD40-216C-4ECE-A2C0-EB8FB90BA95E}" type="pres">
      <dgm:prSet presAssocID="{A467D21D-C027-4DBA-B0BE-6DC472312F3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orried Face with No Fill"/>
        </a:ext>
      </dgm:extLst>
    </dgm:pt>
    <dgm:pt modelId="{265D2B5A-228F-4A11-B4AF-B4512D6B59DF}" type="pres">
      <dgm:prSet presAssocID="{A467D21D-C027-4DBA-B0BE-6DC472312F3D}" presName="spaceRect" presStyleCnt="0"/>
      <dgm:spPr/>
    </dgm:pt>
    <dgm:pt modelId="{4B67C9DA-2C25-4FFE-B83D-5BE41F485DC9}" type="pres">
      <dgm:prSet presAssocID="{A467D21D-C027-4DBA-B0BE-6DC472312F3D}" presName="parTx" presStyleLbl="revTx" presStyleIdx="3" presStyleCnt="5">
        <dgm:presLayoutVars>
          <dgm:chMax val="0"/>
          <dgm:chPref val="0"/>
        </dgm:presLayoutVars>
      </dgm:prSet>
      <dgm:spPr/>
    </dgm:pt>
    <dgm:pt modelId="{E0DDEE6C-3FA3-40E3-A481-0E6157166422}" type="pres">
      <dgm:prSet presAssocID="{A467D21D-C027-4DBA-B0BE-6DC472312F3D}" presName="desTx" presStyleLbl="revTx" presStyleIdx="4" presStyleCnt="5">
        <dgm:presLayoutVars/>
      </dgm:prSet>
      <dgm:spPr/>
    </dgm:pt>
  </dgm:ptLst>
  <dgm:cxnLst>
    <dgm:cxn modelId="{BB63E808-8DEF-4601-A39C-B7B07E276DEE}" type="presOf" srcId="{47AD4FB1-F8FE-4B9F-9DF3-D1AA764FEC39}" destId="{E0DDEE6C-3FA3-40E3-A481-0E6157166422}" srcOrd="0" destOrd="0" presId="urn:microsoft.com/office/officeart/2018/2/layout/IconVerticalSolidList"/>
    <dgm:cxn modelId="{5F882F0A-BA6C-455E-9D7C-1908CD5FD4F5}" srcId="{65161A35-F8E8-41CD-8FD0-4F8500864961}" destId="{B6877C99-D68B-4EA8-A12C-85BBE2C862E8}" srcOrd="2" destOrd="0" parTransId="{72DD014B-5607-466C-A9BE-326FE4EDC888}" sibTransId="{CA594479-A8B7-43AC-80BE-433F27190002}"/>
    <dgm:cxn modelId="{FD3EAC1C-4EA2-4589-B9ED-443211FE3F49}" type="presOf" srcId="{65161A35-F8E8-41CD-8FD0-4F8500864961}" destId="{94432A55-A239-48EA-AD7D-1EF040DADA83}" srcOrd="0" destOrd="0" presId="urn:microsoft.com/office/officeart/2018/2/layout/IconVerticalSolidList"/>
    <dgm:cxn modelId="{9BCCE21D-5ABF-42F8-AC35-9EDDD5F204B5}" srcId="{A467D21D-C027-4DBA-B0BE-6DC472312F3D}" destId="{47AD4FB1-F8FE-4B9F-9DF3-D1AA764FEC39}" srcOrd="0" destOrd="0" parTransId="{AD591B33-5173-40C0-BC82-30660464EFDE}" sibTransId="{C27A2AB9-6B2F-47AD-98B4-E174BEBBD2E2}"/>
    <dgm:cxn modelId="{FA333021-A4B4-4498-9FD1-6F9C1DADA8BD}" type="presOf" srcId="{B6877C99-D68B-4EA8-A12C-85BBE2C862E8}" destId="{292533AB-449C-4AB1-8D6D-ECD9E878DB40}" srcOrd="0" destOrd="0" presId="urn:microsoft.com/office/officeart/2018/2/layout/IconVerticalSolidList"/>
    <dgm:cxn modelId="{A5875E29-68DF-43AA-8217-147F19972651}" type="presOf" srcId="{0045CC2F-3407-4544-84F4-5523C59C1324}" destId="{64F4827A-2D01-4E90-ACB7-3D12B289C888}" srcOrd="0" destOrd="0" presId="urn:microsoft.com/office/officeart/2018/2/layout/IconVerticalSolidList"/>
    <dgm:cxn modelId="{978D082C-409C-48A6-9D69-18EEF9C054ED}" type="presOf" srcId="{AC69D0BB-BC07-4720-B482-31B14AF07E27}" destId="{A9957AF2-6DB7-46A4-909A-444BDBC11629}" srcOrd="0" destOrd="0" presId="urn:microsoft.com/office/officeart/2018/2/layout/IconVerticalSolidList"/>
    <dgm:cxn modelId="{D2209F57-62F9-4957-B220-79D3C3835321}" srcId="{65161A35-F8E8-41CD-8FD0-4F8500864961}" destId="{0045CC2F-3407-4544-84F4-5523C59C1324}" srcOrd="1" destOrd="0" parTransId="{DF2903DE-A582-41E6-B8F3-2609F2BE85D8}" sibTransId="{FADEBBF3-405A-4AE8-AACB-CAF46156DBD3}"/>
    <dgm:cxn modelId="{22BE2F7D-1B9A-4BAA-BE72-C82BF7DFF88F}" type="presOf" srcId="{A467D21D-C027-4DBA-B0BE-6DC472312F3D}" destId="{4B67C9DA-2C25-4FFE-B83D-5BE41F485DC9}" srcOrd="0" destOrd="0" presId="urn:microsoft.com/office/officeart/2018/2/layout/IconVerticalSolidList"/>
    <dgm:cxn modelId="{80DE1997-BE2B-44C7-A91A-88CE8FA63526}" srcId="{65161A35-F8E8-41CD-8FD0-4F8500864961}" destId="{A467D21D-C027-4DBA-B0BE-6DC472312F3D}" srcOrd="3" destOrd="0" parTransId="{9BAC6C1F-CD94-4563-AD9A-4B83C19BF797}" sibTransId="{66858BB5-C15E-448B-ADFE-88CD5BF392D2}"/>
    <dgm:cxn modelId="{02D939E8-5C32-4C0F-B39E-21FBAA49C0FD}" srcId="{65161A35-F8E8-41CD-8FD0-4F8500864961}" destId="{AC69D0BB-BC07-4720-B482-31B14AF07E27}" srcOrd="0" destOrd="0" parTransId="{39B6FCBB-D211-4A50-9262-8E30649C4337}" sibTransId="{F802FE5B-F40B-4F07-B99F-39E31854B630}"/>
    <dgm:cxn modelId="{A5AFBCEE-CC33-4A40-89C5-23EFE04E8A4E}" type="presParOf" srcId="{94432A55-A239-48EA-AD7D-1EF040DADA83}" destId="{C2FA5BB3-AF7D-4A08-A189-15BC373579D9}" srcOrd="0" destOrd="0" presId="urn:microsoft.com/office/officeart/2018/2/layout/IconVerticalSolidList"/>
    <dgm:cxn modelId="{5BD60FFC-F5E7-4A31-AF04-EA6D4EBDBAAF}" type="presParOf" srcId="{C2FA5BB3-AF7D-4A08-A189-15BC373579D9}" destId="{3F1E8F21-D9AE-4D8F-B8FB-E4F4BCF69F67}" srcOrd="0" destOrd="0" presId="urn:microsoft.com/office/officeart/2018/2/layout/IconVerticalSolidList"/>
    <dgm:cxn modelId="{EAFA74DA-49F1-43FD-8D6B-E83B7BDEFFA0}" type="presParOf" srcId="{C2FA5BB3-AF7D-4A08-A189-15BC373579D9}" destId="{1903D31C-DAE3-4CD9-A3D9-358EF3997370}" srcOrd="1" destOrd="0" presId="urn:microsoft.com/office/officeart/2018/2/layout/IconVerticalSolidList"/>
    <dgm:cxn modelId="{2233F902-51D2-456D-A68C-AE11B9AC3860}" type="presParOf" srcId="{C2FA5BB3-AF7D-4A08-A189-15BC373579D9}" destId="{52B30D85-7983-469C-8F66-D0B31014CD47}" srcOrd="2" destOrd="0" presId="urn:microsoft.com/office/officeart/2018/2/layout/IconVerticalSolidList"/>
    <dgm:cxn modelId="{E5D16CCC-DE93-479C-AA40-74598FA757F3}" type="presParOf" srcId="{C2FA5BB3-AF7D-4A08-A189-15BC373579D9}" destId="{A9957AF2-6DB7-46A4-909A-444BDBC11629}" srcOrd="3" destOrd="0" presId="urn:microsoft.com/office/officeart/2018/2/layout/IconVerticalSolidList"/>
    <dgm:cxn modelId="{4349DD0C-C6C6-4849-9001-B44CA84EF6E8}" type="presParOf" srcId="{94432A55-A239-48EA-AD7D-1EF040DADA83}" destId="{F3881843-1550-4B35-A1BC-492C6808F44F}" srcOrd="1" destOrd="0" presId="urn:microsoft.com/office/officeart/2018/2/layout/IconVerticalSolidList"/>
    <dgm:cxn modelId="{20AB4E9A-7D61-4D32-92C8-8E935EA05FE5}" type="presParOf" srcId="{94432A55-A239-48EA-AD7D-1EF040DADA83}" destId="{233A101E-FFD9-4F0E-B9CE-38A5D732E0D5}" srcOrd="2" destOrd="0" presId="urn:microsoft.com/office/officeart/2018/2/layout/IconVerticalSolidList"/>
    <dgm:cxn modelId="{9C25BFA9-2029-4CE1-A98D-D87737F6AF14}" type="presParOf" srcId="{233A101E-FFD9-4F0E-B9CE-38A5D732E0D5}" destId="{4CEF4731-982A-4C46-9112-0AAC59147F2D}" srcOrd="0" destOrd="0" presId="urn:microsoft.com/office/officeart/2018/2/layout/IconVerticalSolidList"/>
    <dgm:cxn modelId="{6CD83090-5DC3-48AD-AEE1-4ADD9C331B85}" type="presParOf" srcId="{233A101E-FFD9-4F0E-B9CE-38A5D732E0D5}" destId="{9B455F95-D0D1-4A55-A02C-BEB4A58773F6}" srcOrd="1" destOrd="0" presId="urn:microsoft.com/office/officeart/2018/2/layout/IconVerticalSolidList"/>
    <dgm:cxn modelId="{5662F08B-6564-45A3-A814-D4B2DBA663A0}" type="presParOf" srcId="{233A101E-FFD9-4F0E-B9CE-38A5D732E0D5}" destId="{903C5728-2678-4F63-A1A5-C5A9088655E6}" srcOrd="2" destOrd="0" presId="urn:microsoft.com/office/officeart/2018/2/layout/IconVerticalSolidList"/>
    <dgm:cxn modelId="{AD7CAFD7-C349-4AF4-AB05-C9ACF1C498DD}" type="presParOf" srcId="{233A101E-FFD9-4F0E-B9CE-38A5D732E0D5}" destId="{64F4827A-2D01-4E90-ACB7-3D12B289C888}" srcOrd="3" destOrd="0" presId="urn:microsoft.com/office/officeart/2018/2/layout/IconVerticalSolidList"/>
    <dgm:cxn modelId="{A4AF730F-E62A-46A0-AD00-86602E97CC22}" type="presParOf" srcId="{94432A55-A239-48EA-AD7D-1EF040DADA83}" destId="{B94EC69D-1471-4EBB-A367-FD1B2B47AEE5}" srcOrd="3" destOrd="0" presId="urn:microsoft.com/office/officeart/2018/2/layout/IconVerticalSolidList"/>
    <dgm:cxn modelId="{418055ED-D1DD-406F-90C5-8C2AA0492091}" type="presParOf" srcId="{94432A55-A239-48EA-AD7D-1EF040DADA83}" destId="{BDE4744A-CE60-4045-A605-4054CDD593B3}" srcOrd="4" destOrd="0" presId="urn:microsoft.com/office/officeart/2018/2/layout/IconVerticalSolidList"/>
    <dgm:cxn modelId="{8154EA5E-8A98-4E9A-AB23-951A2730EC99}" type="presParOf" srcId="{BDE4744A-CE60-4045-A605-4054CDD593B3}" destId="{619CE453-C24C-410C-8FDB-F0C85DB15E47}" srcOrd="0" destOrd="0" presId="urn:microsoft.com/office/officeart/2018/2/layout/IconVerticalSolidList"/>
    <dgm:cxn modelId="{0F656437-8211-4E4D-AEEB-57E62210AC39}" type="presParOf" srcId="{BDE4744A-CE60-4045-A605-4054CDD593B3}" destId="{4667C0F0-9631-40DD-8DE4-058116E6C2F7}" srcOrd="1" destOrd="0" presId="urn:microsoft.com/office/officeart/2018/2/layout/IconVerticalSolidList"/>
    <dgm:cxn modelId="{32311F98-248D-4F7A-9251-1CC7AE3B4E25}" type="presParOf" srcId="{BDE4744A-CE60-4045-A605-4054CDD593B3}" destId="{E5F31710-2355-43E1-A97F-0F600F59E3F2}" srcOrd="2" destOrd="0" presId="urn:microsoft.com/office/officeart/2018/2/layout/IconVerticalSolidList"/>
    <dgm:cxn modelId="{382FD8B2-5EB9-44FC-9BA4-9D6EE4A6D6C5}" type="presParOf" srcId="{BDE4744A-CE60-4045-A605-4054CDD593B3}" destId="{292533AB-449C-4AB1-8D6D-ECD9E878DB40}" srcOrd="3" destOrd="0" presId="urn:microsoft.com/office/officeart/2018/2/layout/IconVerticalSolidList"/>
    <dgm:cxn modelId="{965C4A48-2807-4B10-9633-5696270996C9}" type="presParOf" srcId="{94432A55-A239-48EA-AD7D-1EF040DADA83}" destId="{E4CD19AD-DC0F-4433-8A6A-45F46F330799}" srcOrd="5" destOrd="0" presId="urn:microsoft.com/office/officeart/2018/2/layout/IconVerticalSolidList"/>
    <dgm:cxn modelId="{C0D6C155-F893-4A4D-AF15-A12B15811B86}" type="presParOf" srcId="{94432A55-A239-48EA-AD7D-1EF040DADA83}" destId="{6E7AB690-77A8-4E49-A306-29E10365FE98}" srcOrd="6" destOrd="0" presId="urn:microsoft.com/office/officeart/2018/2/layout/IconVerticalSolidList"/>
    <dgm:cxn modelId="{9FFC9948-C762-4C52-9B39-9EE0C77FDA31}" type="presParOf" srcId="{6E7AB690-77A8-4E49-A306-29E10365FE98}" destId="{B2B18450-AB8E-4B2E-A73F-1646B0C75E5F}" srcOrd="0" destOrd="0" presId="urn:microsoft.com/office/officeart/2018/2/layout/IconVerticalSolidList"/>
    <dgm:cxn modelId="{30445100-798A-410C-8762-315CA2628976}" type="presParOf" srcId="{6E7AB690-77A8-4E49-A306-29E10365FE98}" destId="{1B81AD40-216C-4ECE-A2C0-EB8FB90BA95E}" srcOrd="1" destOrd="0" presId="urn:microsoft.com/office/officeart/2018/2/layout/IconVerticalSolidList"/>
    <dgm:cxn modelId="{B525B53C-8F50-483A-8839-1F59ACD38D41}" type="presParOf" srcId="{6E7AB690-77A8-4E49-A306-29E10365FE98}" destId="{265D2B5A-228F-4A11-B4AF-B4512D6B59DF}" srcOrd="2" destOrd="0" presId="urn:microsoft.com/office/officeart/2018/2/layout/IconVerticalSolidList"/>
    <dgm:cxn modelId="{313CD184-44B3-42F4-8668-E5DD71DBDA44}" type="presParOf" srcId="{6E7AB690-77A8-4E49-A306-29E10365FE98}" destId="{4B67C9DA-2C25-4FFE-B83D-5BE41F485DC9}" srcOrd="3" destOrd="0" presId="urn:microsoft.com/office/officeart/2018/2/layout/IconVerticalSolidList"/>
    <dgm:cxn modelId="{4C35D6D5-0F4B-4DED-994B-5197358888B9}" type="presParOf" srcId="{6E7AB690-77A8-4E49-A306-29E10365FE98}" destId="{E0DDEE6C-3FA3-40E3-A481-0E6157166422}"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49D561A-B848-4FF9-AEED-EC50E7D026FC}" type="doc">
      <dgm:prSet loTypeId="urn:microsoft.com/office/officeart/2005/8/layout/vProcess5" loCatId="process" qsTypeId="urn:microsoft.com/office/officeart/2005/8/quickstyle/simple4" qsCatId="simple" csTypeId="urn:microsoft.com/office/officeart/2005/8/colors/colorful2" csCatId="colorful"/>
      <dgm:spPr/>
      <dgm:t>
        <a:bodyPr/>
        <a:lstStyle/>
        <a:p>
          <a:endParaRPr lang="en-US"/>
        </a:p>
      </dgm:t>
    </dgm:pt>
    <dgm:pt modelId="{5FE41CCC-2135-4B59-A074-FFEEF9190571}">
      <dgm:prSet/>
      <dgm:spPr/>
      <dgm:t>
        <a:bodyPr/>
        <a:lstStyle/>
        <a:p>
          <a:r>
            <a:rPr lang="en-US"/>
            <a:t>Most RISCs are Load/Store – memory </a:t>
          </a:r>
          <a:r>
            <a:rPr lang="en-US">
              <a:sym typeface="Wingdings" panose="05000000000000000000" pitchFamily="2" charset="2"/>
            </a:rPr>
            <a:t></a:t>
          </a:r>
          <a:r>
            <a:rPr lang="en-US"/>
            <a:t> registers, operations happen, registers </a:t>
          </a:r>
          <a:r>
            <a:rPr lang="en-US">
              <a:sym typeface="Wingdings" panose="05000000000000000000" pitchFamily="2" charset="2"/>
            </a:rPr>
            <a:t></a:t>
          </a:r>
          <a:r>
            <a:rPr lang="en-US"/>
            <a:t> memory</a:t>
          </a:r>
        </a:p>
      </dgm:t>
    </dgm:pt>
    <dgm:pt modelId="{7AC8D4F7-6957-4476-B44D-9A3135E7B776}" type="parTrans" cxnId="{7F96181E-06CB-480C-95D8-A1DD81F6355E}">
      <dgm:prSet/>
      <dgm:spPr/>
      <dgm:t>
        <a:bodyPr/>
        <a:lstStyle/>
        <a:p>
          <a:endParaRPr lang="en-US"/>
        </a:p>
      </dgm:t>
    </dgm:pt>
    <dgm:pt modelId="{EB0C3E1E-0947-43AC-9ACE-E82FF974E5C2}" type="sibTrans" cxnId="{7F96181E-06CB-480C-95D8-A1DD81F6355E}">
      <dgm:prSet/>
      <dgm:spPr/>
      <dgm:t>
        <a:bodyPr/>
        <a:lstStyle/>
        <a:p>
          <a:endParaRPr lang="en-US"/>
        </a:p>
      </dgm:t>
    </dgm:pt>
    <dgm:pt modelId="{061B1904-607F-4BC4-A960-38852D0AD0D9}">
      <dgm:prSet/>
      <dgm:spPr/>
      <dgm:t>
        <a:bodyPr/>
        <a:lstStyle/>
        <a:p>
          <a:r>
            <a:rPr lang="en-US"/>
            <a:t>Most CISCs have registers but can also operate on memory directly</a:t>
          </a:r>
        </a:p>
      </dgm:t>
    </dgm:pt>
    <dgm:pt modelId="{FF450A3E-1B8D-46A9-824A-5331F91810F0}" type="parTrans" cxnId="{C156763D-EDD7-4CA0-9F6E-9A5812412460}">
      <dgm:prSet/>
      <dgm:spPr/>
      <dgm:t>
        <a:bodyPr/>
        <a:lstStyle/>
        <a:p>
          <a:endParaRPr lang="en-US"/>
        </a:p>
      </dgm:t>
    </dgm:pt>
    <dgm:pt modelId="{413E0971-B499-4227-8FE4-B4F38232F622}" type="sibTrans" cxnId="{C156763D-EDD7-4CA0-9F6E-9A5812412460}">
      <dgm:prSet/>
      <dgm:spPr/>
      <dgm:t>
        <a:bodyPr/>
        <a:lstStyle/>
        <a:p>
          <a:endParaRPr lang="en-US"/>
        </a:p>
      </dgm:t>
    </dgm:pt>
    <dgm:pt modelId="{A33D1B86-296A-48FA-B72F-E2A26E2233F7}">
      <dgm:prSet/>
      <dgm:spPr/>
      <dgm:t>
        <a:bodyPr/>
        <a:lstStyle/>
        <a:p>
          <a:r>
            <a:rPr lang="en-US"/>
            <a:t>What are the tradeoffs?</a:t>
          </a:r>
        </a:p>
      </dgm:t>
    </dgm:pt>
    <dgm:pt modelId="{266C4ACA-DEED-430E-804C-FD7ADEA59FB7}" type="parTrans" cxnId="{DD19B447-E638-42C9-B4ED-FAAB2C78BC7D}">
      <dgm:prSet/>
      <dgm:spPr/>
      <dgm:t>
        <a:bodyPr/>
        <a:lstStyle/>
        <a:p>
          <a:endParaRPr lang="en-US"/>
        </a:p>
      </dgm:t>
    </dgm:pt>
    <dgm:pt modelId="{60CE8697-56B2-4375-A24F-DF3EE15F5E2C}" type="sibTrans" cxnId="{DD19B447-E638-42C9-B4ED-FAAB2C78BC7D}">
      <dgm:prSet/>
      <dgm:spPr/>
      <dgm:t>
        <a:bodyPr/>
        <a:lstStyle/>
        <a:p>
          <a:endParaRPr lang="en-US"/>
        </a:p>
      </dgm:t>
    </dgm:pt>
    <dgm:pt modelId="{7AEF28DA-D7A5-4A1C-BDAC-D172BCB81F8E}" type="pres">
      <dgm:prSet presAssocID="{749D561A-B848-4FF9-AEED-EC50E7D026FC}" presName="outerComposite" presStyleCnt="0">
        <dgm:presLayoutVars>
          <dgm:chMax val="5"/>
          <dgm:dir/>
          <dgm:resizeHandles val="exact"/>
        </dgm:presLayoutVars>
      </dgm:prSet>
      <dgm:spPr/>
    </dgm:pt>
    <dgm:pt modelId="{DE5146FB-6C8A-43DB-AD21-3965542FDF9C}" type="pres">
      <dgm:prSet presAssocID="{749D561A-B848-4FF9-AEED-EC50E7D026FC}" presName="dummyMaxCanvas" presStyleCnt="0">
        <dgm:presLayoutVars/>
      </dgm:prSet>
      <dgm:spPr/>
    </dgm:pt>
    <dgm:pt modelId="{045273FF-75CD-46E5-8CAD-6C0F299D731B}" type="pres">
      <dgm:prSet presAssocID="{749D561A-B848-4FF9-AEED-EC50E7D026FC}" presName="ThreeNodes_1" presStyleLbl="node1" presStyleIdx="0" presStyleCnt="3">
        <dgm:presLayoutVars>
          <dgm:bulletEnabled val="1"/>
        </dgm:presLayoutVars>
      </dgm:prSet>
      <dgm:spPr/>
    </dgm:pt>
    <dgm:pt modelId="{1C6C2BB5-4DD4-426A-8193-CA29BD748956}" type="pres">
      <dgm:prSet presAssocID="{749D561A-B848-4FF9-AEED-EC50E7D026FC}" presName="ThreeNodes_2" presStyleLbl="node1" presStyleIdx="1" presStyleCnt="3">
        <dgm:presLayoutVars>
          <dgm:bulletEnabled val="1"/>
        </dgm:presLayoutVars>
      </dgm:prSet>
      <dgm:spPr/>
    </dgm:pt>
    <dgm:pt modelId="{7C5421DB-FDE6-4FA9-9ACF-FA829D21564F}" type="pres">
      <dgm:prSet presAssocID="{749D561A-B848-4FF9-AEED-EC50E7D026FC}" presName="ThreeNodes_3" presStyleLbl="node1" presStyleIdx="2" presStyleCnt="3">
        <dgm:presLayoutVars>
          <dgm:bulletEnabled val="1"/>
        </dgm:presLayoutVars>
      </dgm:prSet>
      <dgm:spPr/>
    </dgm:pt>
    <dgm:pt modelId="{A54E8D33-89B5-4300-8AE5-7FAC8ECD3F3F}" type="pres">
      <dgm:prSet presAssocID="{749D561A-B848-4FF9-AEED-EC50E7D026FC}" presName="ThreeConn_1-2" presStyleLbl="fgAccFollowNode1" presStyleIdx="0" presStyleCnt="2">
        <dgm:presLayoutVars>
          <dgm:bulletEnabled val="1"/>
        </dgm:presLayoutVars>
      </dgm:prSet>
      <dgm:spPr/>
    </dgm:pt>
    <dgm:pt modelId="{F3379BD2-7E4B-4E69-9882-51A54E7A33FD}" type="pres">
      <dgm:prSet presAssocID="{749D561A-B848-4FF9-AEED-EC50E7D026FC}" presName="ThreeConn_2-3" presStyleLbl="fgAccFollowNode1" presStyleIdx="1" presStyleCnt="2">
        <dgm:presLayoutVars>
          <dgm:bulletEnabled val="1"/>
        </dgm:presLayoutVars>
      </dgm:prSet>
      <dgm:spPr/>
    </dgm:pt>
    <dgm:pt modelId="{0D8593DA-FAAD-4D8E-B472-CF06E80AEA71}" type="pres">
      <dgm:prSet presAssocID="{749D561A-B848-4FF9-AEED-EC50E7D026FC}" presName="ThreeNodes_1_text" presStyleLbl="node1" presStyleIdx="2" presStyleCnt="3">
        <dgm:presLayoutVars>
          <dgm:bulletEnabled val="1"/>
        </dgm:presLayoutVars>
      </dgm:prSet>
      <dgm:spPr/>
    </dgm:pt>
    <dgm:pt modelId="{AFDC8F0C-1127-4D2A-A832-5ADB95D9A564}" type="pres">
      <dgm:prSet presAssocID="{749D561A-B848-4FF9-AEED-EC50E7D026FC}" presName="ThreeNodes_2_text" presStyleLbl="node1" presStyleIdx="2" presStyleCnt="3">
        <dgm:presLayoutVars>
          <dgm:bulletEnabled val="1"/>
        </dgm:presLayoutVars>
      </dgm:prSet>
      <dgm:spPr/>
    </dgm:pt>
    <dgm:pt modelId="{DC75CF62-383B-4878-82C7-062B561CE5E2}" type="pres">
      <dgm:prSet presAssocID="{749D561A-B848-4FF9-AEED-EC50E7D026FC}" presName="ThreeNodes_3_text" presStyleLbl="node1" presStyleIdx="2" presStyleCnt="3">
        <dgm:presLayoutVars>
          <dgm:bulletEnabled val="1"/>
        </dgm:presLayoutVars>
      </dgm:prSet>
      <dgm:spPr/>
    </dgm:pt>
  </dgm:ptLst>
  <dgm:cxnLst>
    <dgm:cxn modelId="{7F96181E-06CB-480C-95D8-A1DD81F6355E}" srcId="{749D561A-B848-4FF9-AEED-EC50E7D026FC}" destId="{5FE41CCC-2135-4B59-A074-FFEEF9190571}" srcOrd="0" destOrd="0" parTransId="{7AC8D4F7-6957-4476-B44D-9A3135E7B776}" sibTransId="{EB0C3E1E-0947-43AC-9ACE-E82FF974E5C2}"/>
    <dgm:cxn modelId="{C156763D-EDD7-4CA0-9F6E-9A5812412460}" srcId="{749D561A-B848-4FF9-AEED-EC50E7D026FC}" destId="{061B1904-607F-4BC4-A960-38852D0AD0D9}" srcOrd="1" destOrd="0" parTransId="{FF450A3E-1B8D-46A9-824A-5331F91810F0}" sibTransId="{413E0971-B499-4227-8FE4-B4F38232F622}"/>
    <dgm:cxn modelId="{11C7FA5F-2006-4352-BDDC-44A1F3A7E112}" type="presOf" srcId="{749D561A-B848-4FF9-AEED-EC50E7D026FC}" destId="{7AEF28DA-D7A5-4A1C-BDAC-D172BCB81F8E}" srcOrd="0" destOrd="0" presId="urn:microsoft.com/office/officeart/2005/8/layout/vProcess5"/>
    <dgm:cxn modelId="{11348E41-B434-4AD5-BCE1-8413A2BBA058}" type="presOf" srcId="{061B1904-607F-4BC4-A960-38852D0AD0D9}" destId="{AFDC8F0C-1127-4D2A-A832-5ADB95D9A564}" srcOrd="1" destOrd="0" presId="urn:microsoft.com/office/officeart/2005/8/layout/vProcess5"/>
    <dgm:cxn modelId="{DD19B447-E638-42C9-B4ED-FAAB2C78BC7D}" srcId="{749D561A-B848-4FF9-AEED-EC50E7D026FC}" destId="{A33D1B86-296A-48FA-B72F-E2A26E2233F7}" srcOrd="2" destOrd="0" parTransId="{266C4ACA-DEED-430E-804C-FD7ADEA59FB7}" sibTransId="{60CE8697-56B2-4375-A24F-DF3EE15F5E2C}"/>
    <dgm:cxn modelId="{1DB7A94C-3C07-4DED-A13F-EA0EC0323D7B}" type="presOf" srcId="{5FE41CCC-2135-4B59-A074-FFEEF9190571}" destId="{0D8593DA-FAAD-4D8E-B472-CF06E80AEA71}" srcOrd="1" destOrd="0" presId="urn:microsoft.com/office/officeart/2005/8/layout/vProcess5"/>
    <dgm:cxn modelId="{A3BAD091-3036-453E-822E-F0B58ACAD76F}" type="presOf" srcId="{061B1904-607F-4BC4-A960-38852D0AD0D9}" destId="{1C6C2BB5-4DD4-426A-8193-CA29BD748956}" srcOrd="0" destOrd="0" presId="urn:microsoft.com/office/officeart/2005/8/layout/vProcess5"/>
    <dgm:cxn modelId="{5C73519A-352A-4233-BFD7-2EE8983EF31E}" type="presOf" srcId="{413E0971-B499-4227-8FE4-B4F38232F622}" destId="{F3379BD2-7E4B-4E69-9882-51A54E7A33FD}" srcOrd="0" destOrd="0" presId="urn:microsoft.com/office/officeart/2005/8/layout/vProcess5"/>
    <dgm:cxn modelId="{E94B1BBF-8A26-4DEC-B820-717C0BE713F3}" type="presOf" srcId="{A33D1B86-296A-48FA-B72F-E2A26E2233F7}" destId="{7C5421DB-FDE6-4FA9-9ACF-FA829D21564F}" srcOrd="0" destOrd="0" presId="urn:microsoft.com/office/officeart/2005/8/layout/vProcess5"/>
    <dgm:cxn modelId="{ABFDD1C1-4396-401F-A6B9-07E00A8247EE}" type="presOf" srcId="{A33D1B86-296A-48FA-B72F-E2A26E2233F7}" destId="{DC75CF62-383B-4878-82C7-062B561CE5E2}" srcOrd="1" destOrd="0" presId="urn:microsoft.com/office/officeart/2005/8/layout/vProcess5"/>
    <dgm:cxn modelId="{DA669BEA-85D7-4748-A8CE-AFEE72C6F3B3}" type="presOf" srcId="{EB0C3E1E-0947-43AC-9ACE-E82FF974E5C2}" destId="{A54E8D33-89B5-4300-8AE5-7FAC8ECD3F3F}" srcOrd="0" destOrd="0" presId="urn:microsoft.com/office/officeart/2005/8/layout/vProcess5"/>
    <dgm:cxn modelId="{3EFED7ED-F1FC-4DA8-92B6-E3DA2BCD1362}" type="presOf" srcId="{5FE41CCC-2135-4B59-A074-FFEEF9190571}" destId="{045273FF-75CD-46E5-8CAD-6C0F299D731B}" srcOrd="0" destOrd="0" presId="urn:microsoft.com/office/officeart/2005/8/layout/vProcess5"/>
    <dgm:cxn modelId="{80830292-4F2A-4D02-AA64-D5981820686C}" type="presParOf" srcId="{7AEF28DA-D7A5-4A1C-BDAC-D172BCB81F8E}" destId="{DE5146FB-6C8A-43DB-AD21-3965542FDF9C}" srcOrd="0" destOrd="0" presId="urn:microsoft.com/office/officeart/2005/8/layout/vProcess5"/>
    <dgm:cxn modelId="{44935BEB-E0E6-4EC8-B386-A447C75FF0B6}" type="presParOf" srcId="{7AEF28DA-D7A5-4A1C-BDAC-D172BCB81F8E}" destId="{045273FF-75CD-46E5-8CAD-6C0F299D731B}" srcOrd="1" destOrd="0" presId="urn:microsoft.com/office/officeart/2005/8/layout/vProcess5"/>
    <dgm:cxn modelId="{01E6690E-EDB7-43CD-81AC-958D6A86FE41}" type="presParOf" srcId="{7AEF28DA-D7A5-4A1C-BDAC-D172BCB81F8E}" destId="{1C6C2BB5-4DD4-426A-8193-CA29BD748956}" srcOrd="2" destOrd="0" presId="urn:microsoft.com/office/officeart/2005/8/layout/vProcess5"/>
    <dgm:cxn modelId="{987D6446-83BC-4098-A10A-6D73920CDC37}" type="presParOf" srcId="{7AEF28DA-D7A5-4A1C-BDAC-D172BCB81F8E}" destId="{7C5421DB-FDE6-4FA9-9ACF-FA829D21564F}" srcOrd="3" destOrd="0" presId="urn:microsoft.com/office/officeart/2005/8/layout/vProcess5"/>
    <dgm:cxn modelId="{B6CA4ADD-782B-4DDA-BA65-26031812AE2E}" type="presParOf" srcId="{7AEF28DA-D7A5-4A1C-BDAC-D172BCB81F8E}" destId="{A54E8D33-89B5-4300-8AE5-7FAC8ECD3F3F}" srcOrd="4" destOrd="0" presId="urn:microsoft.com/office/officeart/2005/8/layout/vProcess5"/>
    <dgm:cxn modelId="{925C2DAD-34D1-48CF-B4AC-B818909726D5}" type="presParOf" srcId="{7AEF28DA-D7A5-4A1C-BDAC-D172BCB81F8E}" destId="{F3379BD2-7E4B-4E69-9882-51A54E7A33FD}" srcOrd="5" destOrd="0" presId="urn:microsoft.com/office/officeart/2005/8/layout/vProcess5"/>
    <dgm:cxn modelId="{9641C2D7-6A1D-4DD7-9E33-6BC0A19EF2D7}" type="presParOf" srcId="{7AEF28DA-D7A5-4A1C-BDAC-D172BCB81F8E}" destId="{0D8593DA-FAAD-4D8E-B472-CF06E80AEA71}" srcOrd="6" destOrd="0" presId="urn:microsoft.com/office/officeart/2005/8/layout/vProcess5"/>
    <dgm:cxn modelId="{783B57E5-A727-4B17-AFBB-A15ACA06EC7E}" type="presParOf" srcId="{7AEF28DA-D7A5-4A1C-BDAC-D172BCB81F8E}" destId="{AFDC8F0C-1127-4D2A-A832-5ADB95D9A564}" srcOrd="7" destOrd="0" presId="urn:microsoft.com/office/officeart/2005/8/layout/vProcess5"/>
    <dgm:cxn modelId="{5A8FC984-738A-4592-A29C-159F4ED8853E}" type="presParOf" srcId="{7AEF28DA-D7A5-4A1C-BDAC-D172BCB81F8E}" destId="{DC75CF62-383B-4878-82C7-062B561CE5E2}"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EAAADD-A7EA-4DCF-9FE8-137AC9D55BAB}">
      <dsp:nvSpPr>
        <dsp:cNvPr id="0" name=""/>
        <dsp:cNvSpPr/>
      </dsp:nvSpPr>
      <dsp:spPr>
        <a:xfrm>
          <a:off x="51" y="409765"/>
          <a:ext cx="4913783" cy="1000333"/>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a:lnSpc>
              <a:spcPct val="90000"/>
            </a:lnSpc>
            <a:spcBef>
              <a:spcPct val="0"/>
            </a:spcBef>
            <a:spcAft>
              <a:spcPct val="35000"/>
            </a:spcAft>
            <a:buNone/>
          </a:pPr>
          <a:r>
            <a:rPr lang="en-US" sz="2700" kern="1200"/>
            <a:t>Autoincrement/Autodecrement </a:t>
          </a:r>
        </a:p>
      </dsp:txBody>
      <dsp:txXfrm>
        <a:off x="51" y="409765"/>
        <a:ext cx="4913783" cy="1000333"/>
      </dsp:txXfrm>
    </dsp:sp>
    <dsp:sp modelId="{3BB258B5-45C8-4CD9-A999-1B4632E692A3}">
      <dsp:nvSpPr>
        <dsp:cNvPr id="0" name=""/>
        <dsp:cNvSpPr/>
      </dsp:nvSpPr>
      <dsp:spPr>
        <a:xfrm>
          <a:off x="51" y="1410099"/>
          <a:ext cx="4913783" cy="2334622"/>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r>
            <a:rPr lang="en-US" sz="2700" kern="1200"/>
            <a:t>A register points to memory. </a:t>
          </a:r>
        </a:p>
        <a:p>
          <a:pPr marL="228600" lvl="1" indent="-228600" algn="l" defTabSz="1200150">
            <a:lnSpc>
              <a:spcPct val="90000"/>
            </a:lnSpc>
            <a:spcBef>
              <a:spcPct val="0"/>
            </a:spcBef>
            <a:spcAft>
              <a:spcPct val="15000"/>
            </a:spcAft>
            <a:buChar char="•"/>
          </a:pPr>
          <a:r>
            <a:rPr lang="en-US" sz="2700" kern="1200"/>
            <a:t>Get the value from that memory address, then increment/decrement the value in the register</a:t>
          </a:r>
        </a:p>
      </dsp:txBody>
      <dsp:txXfrm>
        <a:off x="51" y="1410099"/>
        <a:ext cx="4913783" cy="2334622"/>
      </dsp:txXfrm>
    </dsp:sp>
    <dsp:sp modelId="{406CF4E9-7E5C-457A-A279-6404A74A61CB}">
      <dsp:nvSpPr>
        <dsp:cNvPr id="0" name=""/>
        <dsp:cNvSpPr/>
      </dsp:nvSpPr>
      <dsp:spPr>
        <a:xfrm>
          <a:off x="5601764" y="409765"/>
          <a:ext cx="4913783" cy="1000333"/>
        </a:xfrm>
        <a:prstGeom prst="rect">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a:lnSpc>
              <a:spcPct val="90000"/>
            </a:lnSpc>
            <a:spcBef>
              <a:spcPct val="0"/>
            </a:spcBef>
            <a:spcAft>
              <a:spcPct val="35000"/>
            </a:spcAft>
            <a:buNone/>
          </a:pPr>
          <a:r>
            <a:rPr lang="en-US" sz="2700" kern="1200"/>
            <a:t>Memory indirect (char **ppChar)</a:t>
          </a:r>
        </a:p>
      </dsp:txBody>
      <dsp:txXfrm>
        <a:off x="5601764" y="409765"/>
        <a:ext cx="4913783" cy="1000333"/>
      </dsp:txXfrm>
    </dsp:sp>
    <dsp:sp modelId="{89C09EED-D910-46E2-9D11-818CCAE8515A}">
      <dsp:nvSpPr>
        <dsp:cNvPr id="0" name=""/>
        <dsp:cNvSpPr/>
      </dsp:nvSpPr>
      <dsp:spPr>
        <a:xfrm>
          <a:off x="5601764" y="1410099"/>
          <a:ext cx="4913783" cy="2334622"/>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r>
            <a:rPr lang="en-US" sz="2700" kern="1200"/>
            <a:t>The specified register points to memory</a:t>
          </a:r>
        </a:p>
        <a:p>
          <a:pPr marL="228600" lvl="1" indent="-228600" algn="l" defTabSz="1200150">
            <a:lnSpc>
              <a:spcPct val="90000"/>
            </a:lnSpc>
            <a:spcBef>
              <a:spcPct val="0"/>
            </a:spcBef>
            <a:spcAft>
              <a:spcPct val="15000"/>
            </a:spcAft>
            <a:buChar char="•"/>
          </a:pPr>
          <a:r>
            <a:rPr lang="en-US" sz="2700" kern="1200"/>
            <a:t>Use the value stored in that memory to as a pointer to the value we want.</a:t>
          </a:r>
        </a:p>
      </dsp:txBody>
      <dsp:txXfrm>
        <a:off x="5601764" y="1410099"/>
        <a:ext cx="4913783" cy="233462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180737-DB8A-4CB0-ACEE-903B59A15955}">
      <dsp:nvSpPr>
        <dsp:cNvPr id="0" name=""/>
        <dsp:cNvSpPr/>
      </dsp:nvSpPr>
      <dsp:spPr>
        <a:xfrm>
          <a:off x="0" y="0"/>
          <a:ext cx="6089650" cy="0"/>
        </a:xfrm>
        <a:prstGeom prst="line">
          <a:avLst/>
        </a:prstGeom>
        <a:gradFill rotWithShape="0">
          <a:gsLst>
            <a:gs pos="0">
              <a:schemeClr val="dk2">
                <a:hueOff val="0"/>
                <a:satOff val="0"/>
                <a:lumOff val="0"/>
                <a:alphaOff val="0"/>
                <a:lumMod val="110000"/>
                <a:satMod val="105000"/>
                <a:tint val="67000"/>
              </a:schemeClr>
            </a:gs>
            <a:gs pos="50000">
              <a:schemeClr val="dk2">
                <a:hueOff val="0"/>
                <a:satOff val="0"/>
                <a:lumOff val="0"/>
                <a:alphaOff val="0"/>
                <a:lumMod val="105000"/>
                <a:satMod val="103000"/>
                <a:tint val="73000"/>
              </a:schemeClr>
            </a:gs>
            <a:gs pos="100000">
              <a:schemeClr val="dk2">
                <a:hueOff val="0"/>
                <a:satOff val="0"/>
                <a:lumOff val="0"/>
                <a:alphaOff val="0"/>
                <a:lumMod val="105000"/>
                <a:satMod val="109000"/>
                <a:tint val="81000"/>
              </a:schemeClr>
            </a:gs>
          </a:gsLst>
          <a:lin ang="5400000" scaled="0"/>
        </a:gradFill>
        <a:ln w="6350" cap="flat" cmpd="sng" algn="ctr">
          <a:solidFill>
            <a:schemeClr val="dk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sp>
    <dsp:sp modelId="{6E324E8B-15C0-4384-8B3B-7DEF207002D4}">
      <dsp:nvSpPr>
        <dsp:cNvPr id="0" name=""/>
        <dsp:cNvSpPr/>
      </dsp:nvSpPr>
      <dsp:spPr>
        <a:xfrm>
          <a:off x="0" y="0"/>
          <a:ext cx="6089650" cy="13930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Accessing memory can only be done via the load and store instructions which use “register + constant”.</a:t>
          </a:r>
        </a:p>
      </dsp:txBody>
      <dsp:txXfrm>
        <a:off x="0" y="0"/>
        <a:ext cx="6089650" cy="1393031"/>
      </dsp:txXfrm>
    </dsp:sp>
    <dsp:sp modelId="{D4662801-999E-4563-A816-25B3D992919C}">
      <dsp:nvSpPr>
        <dsp:cNvPr id="0" name=""/>
        <dsp:cNvSpPr/>
      </dsp:nvSpPr>
      <dsp:spPr>
        <a:xfrm>
          <a:off x="0" y="1393031"/>
          <a:ext cx="6089650" cy="0"/>
        </a:xfrm>
        <a:prstGeom prst="line">
          <a:avLst/>
        </a:prstGeom>
        <a:gradFill rotWithShape="0">
          <a:gsLst>
            <a:gs pos="0">
              <a:schemeClr val="dk2">
                <a:hueOff val="0"/>
                <a:satOff val="0"/>
                <a:lumOff val="0"/>
                <a:alphaOff val="0"/>
                <a:lumMod val="110000"/>
                <a:satMod val="105000"/>
                <a:tint val="67000"/>
              </a:schemeClr>
            </a:gs>
            <a:gs pos="50000">
              <a:schemeClr val="dk2">
                <a:hueOff val="0"/>
                <a:satOff val="0"/>
                <a:lumOff val="0"/>
                <a:alphaOff val="0"/>
                <a:lumMod val="105000"/>
                <a:satMod val="103000"/>
                <a:tint val="73000"/>
              </a:schemeClr>
            </a:gs>
            <a:gs pos="100000">
              <a:schemeClr val="dk2">
                <a:hueOff val="0"/>
                <a:satOff val="0"/>
                <a:lumOff val="0"/>
                <a:alphaOff val="0"/>
                <a:lumMod val="105000"/>
                <a:satMod val="109000"/>
                <a:tint val="81000"/>
              </a:schemeClr>
            </a:gs>
          </a:gsLst>
          <a:lin ang="5400000" scaled="0"/>
        </a:gradFill>
        <a:ln w="6350" cap="flat" cmpd="sng" algn="ctr">
          <a:solidFill>
            <a:schemeClr val="dk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sp>
    <dsp:sp modelId="{979B87CC-C927-415B-B84C-13F36330E0B3}">
      <dsp:nvSpPr>
        <dsp:cNvPr id="0" name=""/>
        <dsp:cNvSpPr/>
      </dsp:nvSpPr>
      <dsp:spPr>
        <a:xfrm>
          <a:off x="0" y="1393031"/>
          <a:ext cx="6089650" cy="13930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Jump is an absolute address</a:t>
          </a:r>
        </a:p>
      </dsp:txBody>
      <dsp:txXfrm>
        <a:off x="0" y="1393031"/>
        <a:ext cx="6089650" cy="1393031"/>
      </dsp:txXfrm>
    </dsp:sp>
    <dsp:sp modelId="{B176E9EB-356C-4FA3-BD5D-9C592480E861}">
      <dsp:nvSpPr>
        <dsp:cNvPr id="0" name=""/>
        <dsp:cNvSpPr/>
      </dsp:nvSpPr>
      <dsp:spPr>
        <a:xfrm>
          <a:off x="0" y="2786062"/>
          <a:ext cx="6089650" cy="0"/>
        </a:xfrm>
        <a:prstGeom prst="line">
          <a:avLst/>
        </a:prstGeom>
        <a:gradFill rotWithShape="0">
          <a:gsLst>
            <a:gs pos="0">
              <a:schemeClr val="dk2">
                <a:hueOff val="0"/>
                <a:satOff val="0"/>
                <a:lumOff val="0"/>
                <a:alphaOff val="0"/>
                <a:lumMod val="110000"/>
                <a:satMod val="105000"/>
                <a:tint val="67000"/>
              </a:schemeClr>
            </a:gs>
            <a:gs pos="50000">
              <a:schemeClr val="dk2">
                <a:hueOff val="0"/>
                <a:satOff val="0"/>
                <a:lumOff val="0"/>
                <a:alphaOff val="0"/>
                <a:lumMod val="105000"/>
                <a:satMod val="103000"/>
                <a:tint val="73000"/>
              </a:schemeClr>
            </a:gs>
            <a:gs pos="100000">
              <a:schemeClr val="dk2">
                <a:hueOff val="0"/>
                <a:satOff val="0"/>
                <a:lumOff val="0"/>
                <a:alphaOff val="0"/>
                <a:lumMod val="105000"/>
                <a:satMod val="109000"/>
                <a:tint val="81000"/>
              </a:schemeClr>
            </a:gs>
          </a:gsLst>
          <a:lin ang="5400000" scaled="0"/>
        </a:gradFill>
        <a:ln w="6350" cap="flat" cmpd="sng" algn="ctr">
          <a:solidFill>
            <a:schemeClr val="dk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sp>
    <dsp:sp modelId="{A5C8947D-1AC8-4621-94B8-541ECF0E5168}">
      <dsp:nvSpPr>
        <dsp:cNvPr id="0" name=""/>
        <dsp:cNvSpPr/>
      </dsp:nvSpPr>
      <dsp:spPr>
        <a:xfrm>
          <a:off x="0" y="2786062"/>
          <a:ext cx="6089650" cy="13930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Branches specify offsets to the current program counter</a:t>
          </a:r>
        </a:p>
      </dsp:txBody>
      <dsp:txXfrm>
        <a:off x="0" y="2786062"/>
        <a:ext cx="6089650" cy="1393031"/>
      </dsp:txXfrm>
    </dsp:sp>
    <dsp:sp modelId="{E880ED47-0D26-43C0-A78A-AF47EC2D9D16}">
      <dsp:nvSpPr>
        <dsp:cNvPr id="0" name=""/>
        <dsp:cNvSpPr/>
      </dsp:nvSpPr>
      <dsp:spPr>
        <a:xfrm>
          <a:off x="0" y="4179093"/>
          <a:ext cx="6089650" cy="0"/>
        </a:xfrm>
        <a:prstGeom prst="line">
          <a:avLst/>
        </a:prstGeom>
        <a:gradFill rotWithShape="0">
          <a:gsLst>
            <a:gs pos="0">
              <a:schemeClr val="dk2">
                <a:hueOff val="0"/>
                <a:satOff val="0"/>
                <a:lumOff val="0"/>
                <a:alphaOff val="0"/>
                <a:lumMod val="110000"/>
                <a:satMod val="105000"/>
                <a:tint val="67000"/>
              </a:schemeClr>
            </a:gs>
            <a:gs pos="50000">
              <a:schemeClr val="dk2">
                <a:hueOff val="0"/>
                <a:satOff val="0"/>
                <a:lumOff val="0"/>
                <a:alphaOff val="0"/>
                <a:lumMod val="105000"/>
                <a:satMod val="103000"/>
                <a:tint val="73000"/>
              </a:schemeClr>
            </a:gs>
            <a:gs pos="100000">
              <a:schemeClr val="dk2">
                <a:hueOff val="0"/>
                <a:satOff val="0"/>
                <a:lumOff val="0"/>
                <a:alphaOff val="0"/>
                <a:lumMod val="105000"/>
                <a:satMod val="109000"/>
                <a:tint val="81000"/>
              </a:schemeClr>
            </a:gs>
          </a:gsLst>
          <a:lin ang="5400000" scaled="0"/>
        </a:gradFill>
        <a:ln w="6350" cap="flat" cmpd="sng" algn="ctr">
          <a:solidFill>
            <a:schemeClr val="dk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sp>
    <dsp:sp modelId="{16326810-AD67-4612-91B8-DF91E447CBA7}">
      <dsp:nvSpPr>
        <dsp:cNvPr id="0" name=""/>
        <dsp:cNvSpPr/>
      </dsp:nvSpPr>
      <dsp:spPr>
        <a:xfrm>
          <a:off x="0" y="4179093"/>
          <a:ext cx="6089650" cy="13930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RISC tends to have fewer addressing modes</a:t>
          </a:r>
        </a:p>
      </dsp:txBody>
      <dsp:txXfrm>
        <a:off x="0" y="4179093"/>
        <a:ext cx="6089650" cy="139303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1E8F21-D9AE-4D8F-B8FB-E4F4BCF69F67}">
      <dsp:nvSpPr>
        <dsp:cNvPr id="0" name=""/>
        <dsp:cNvSpPr/>
      </dsp:nvSpPr>
      <dsp:spPr>
        <a:xfrm>
          <a:off x="0" y="1724"/>
          <a:ext cx="10515600" cy="87390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03D31C-DAE3-4CD9-A3D9-358EF3997370}">
      <dsp:nvSpPr>
        <dsp:cNvPr id="0" name=""/>
        <dsp:cNvSpPr/>
      </dsp:nvSpPr>
      <dsp:spPr>
        <a:xfrm>
          <a:off x="264355" y="198352"/>
          <a:ext cx="480646" cy="48064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957AF2-6DB7-46A4-909A-444BDBC11629}">
      <dsp:nvSpPr>
        <dsp:cNvPr id="0" name=""/>
        <dsp:cNvSpPr/>
      </dsp:nvSpPr>
      <dsp:spPr>
        <a:xfrm>
          <a:off x="1009358" y="1724"/>
          <a:ext cx="9506241" cy="873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88" tIns="92488" rIns="92488" bIns="92488" numCol="1" spcCol="1270" anchor="ctr" anchorCtr="0">
          <a:noAutofit/>
        </a:bodyPr>
        <a:lstStyle/>
        <a:p>
          <a:pPr marL="0" lvl="0" indent="0" algn="l" defTabSz="977900">
            <a:lnSpc>
              <a:spcPct val="90000"/>
            </a:lnSpc>
            <a:spcBef>
              <a:spcPct val="0"/>
            </a:spcBef>
            <a:spcAft>
              <a:spcPct val="35000"/>
            </a:spcAft>
            <a:buNone/>
          </a:pPr>
          <a:r>
            <a:rPr lang="en-US" sz="2200" kern="1200"/>
            <a:t>Remember this from ICSI311?</a:t>
          </a:r>
        </a:p>
      </dsp:txBody>
      <dsp:txXfrm>
        <a:off x="1009358" y="1724"/>
        <a:ext cx="9506241" cy="873903"/>
      </dsp:txXfrm>
    </dsp:sp>
    <dsp:sp modelId="{4CEF4731-982A-4C46-9112-0AAC59147F2D}">
      <dsp:nvSpPr>
        <dsp:cNvPr id="0" name=""/>
        <dsp:cNvSpPr/>
      </dsp:nvSpPr>
      <dsp:spPr>
        <a:xfrm>
          <a:off x="0" y="1094103"/>
          <a:ext cx="10515600" cy="87390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455F95-D0D1-4A55-A02C-BEB4A58773F6}">
      <dsp:nvSpPr>
        <dsp:cNvPr id="0" name=""/>
        <dsp:cNvSpPr/>
      </dsp:nvSpPr>
      <dsp:spPr>
        <a:xfrm>
          <a:off x="264355" y="1290731"/>
          <a:ext cx="480646" cy="48064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4F4827A-2D01-4E90-ACB7-3D12B289C888}">
      <dsp:nvSpPr>
        <dsp:cNvPr id="0" name=""/>
        <dsp:cNvSpPr/>
      </dsp:nvSpPr>
      <dsp:spPr>
        <a:xfrm>
          <a:off x="1009358" y="1094103"/>
          <a:ext cx="9506241" cy="873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88" tIns="92488" rIns="92488" bIns="92488" numCol="1" spcCol="1270" anchor="ctr" anchorCtr="0">
          <a:noAutofit/>
        </a:bodyPr>
        <a:lstStyle/>
        <a:p>
          <a:pPr marL="0" lvl="0" indent="0" algn="l" defTabSz="977900">
            <a:lnSpc>
              <a:spcPct val="90000"/>
            </a:lnSpc>
            <a:spcBef>
              <a:spcPct val="0"/>
            </a:spcBef>
            <a:spcAft>
              <a:spcPct val="35000"/>
            </a:spcAft>
            <a:buNone/>
          </a:pPr>
          <a:r>
            <a:rPr lang="en-US" sz="2200" kern="1200"/>
            <a:t>How often can every addressing mode be used with every instruction?</a:t>
          </a:r>
        </a:p>
      </dsp:txBody>
      <dsp:txXfrm>
        <a:off x="1009358" y="1094103"/>
        <a:ext cx="9506241" cy="873903"/>
      </dsp:txXfrm>
    </dsp:sp>
    <dsp:sp modelId="{619CE453-C24C-410C-8FDB-F0C85DB15E47}">
      <dsp:nvSpPr>
        <dsp:cNvPr id="0" name=""/>
        <dsp:cNvSpPr/>
      </dsp:nvSpPr>
      <dsp:spPr>
        <a:xfrm>
          <a:off x="0" y="2186481"/>
          <a:ext cx="10515600" cy="87390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67C0F0-9631-40DD-8DE4-058116E6C2F7}">
      <dsp:nvSpPr>
        <dsp:cNvPr id="0" name=""/>
        <dsp:cNvSpPr/>
      </dsp:nvSpPr>
      <dsp:spPr>
        <a:xfrm>
          <a:off x="264355" y="2383110"/>
          <a:ext cx="480646" cy="48064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2533AB-449C-4AB1-8D6D-ECD9E878DB40}">
      <dsp:nvSpPr>
        <dsp:cNvPr id="0" name=""/>
        <dsp:cNvSpPr/>
      </dsp:nvSpPr>
      <dsp:spPr>
        <a:xfrm>
          <a:off x="1009358" y="2186481"/>
          <a:ext cx="9506241" cy="873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88" tIns="92488" rIns="92488" bIns="92488" numCol="1" spcCol="1270" anchor="ctr" anchorCtr="0">
          <a:noAutofit/>
        </a:bodyPr>
        <a:lstStyle/>
        <a:p>
          <a:pPr marL="0" lvl="0" indent="0" algn="l" defTabSz="977900">
            <a:lnSpc>
              <a:spcPct val="90000"/>
            </a:lnSpc>
            <a:spcBef>
              <a:spcPct val="0"/>
            </a:spcBef>
            <a:spcAft>
              <a:spcPct val="35000"/>
            </a:spcAft>
            <a:buNone/>
          </a:pPr>
          <a:r>
            <a:rPr lang="en-US" sz="2200" kern="1200"/>
            <a:t>Pros – easier for the programmer and hardware designer</a:t>
          </a:r>
        </a:p>
      </dsp:txBody>
      <dsp:txXfrm>
        <a:off x="1009358" y="2186481"/>
        <a:ext cx="9506241" cy="873903"/>
      </dsp:txXfrm>
    </dsp:sp>
    <dsp:sp modelId="{B2B18450-AB8E-4B2E-A73F-1646B0C75E5F}">
      <dsp:nvSpPr>
        <dsp:cNvPr id="0" name=""/>
        <dsp:cNvSpPr/>
      </dsp:nvSpPr>
      <dsp:spPr>
        <a:xfrm>
          <a:off x="0" y="3278860"/>
          <a:ext cx="10515600" cy="87390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81AD40-216C-4ECE-A2C0-EB8FB90BA95E}">
      <dsp:nvSpPr>
        <dsp:cNvPr id="0" name=""/>
        <dsp:cNvSpPr/>
      </dsp:nvSpPr>
      <dsp:spPr>
        <a:xfrm>
          <a:off x="264355" y="3475488"/>
          <a:ext cx="480646" cy="48064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B67C9DA-2C25-4FFE-B83D-5BE41F485DC9}">
      <dsp:nvSpPr>
        <dsp:cNvPr id="0" name=""/>
        <dsp:cNvSpPr/>
      </dsp:nvSpPr>
      <dsp:spPr>
        <a:xfrm>
          <a:off x="1009358" y="3278860"/>
          <a:ext cx="4732020" cy="873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88" tIns="92488" rIns="92488" bIns="92488" numCol="1" spcCol="1270" anchor="ctr" anchorCtr="0">
          <a:noAutofit/>
        </a:bodyPr>
        <a:lstStyle/>
        <a:p>
          <a:pPr marL="0" lvl="0" indent="0" algn="l" defTabSz="977900">
            <a:lnSpc>
              <a:spcPct val="90000"/>
            </a:lnSpc>
            <a:spcBef>
              <a:spcPct val="0"/>
            </a:spcBef>
            <a:spcAft>
              <a:spcPct val="35000"/>
            </a:spcAft>
            <a:buNone/>
          </a:pPr>
          <a:r>
            <a:rPr lang="en-US" sz="2200" kern="1200"/>
            <a:t>Cons – space/memory bandwidth</a:t>
          </a:r>
        </a:p>
      </dsp:txBody>
      <dsp:txXfrm>
        <a:off x="1009358" y="3278860"/>
        <a:ext cx="4732020" cy="873903"/>
      </dsp:txXfrm>
    </dsp:sp>
    <dsp:sp modelId="{E0DDEE6C-3FA3-40E3-A481-0E6157166422}">
      <dsp:nvSpPr>
        <dsp:cNvPr id="0" name=""/>
        <dsp:cNvSpPr/>
      </dsp:nvSpPr>
      <dsp:spPr>
        <a:xfrm>
          <a:off x="5741378" y="3278860"/>
          <a:ext cx="4774221" cy="873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88" tIns="92488" rIns="92488" bIns="92488" numCol="1" spcCol="1270" anchor="ctr" anchorCtr="0">
          <a:noAutofit/>
        </a:bodyPr>
        <a:lstStyle/>
        <a:p>
          <a:pPr marL="0" lvl="0" indent="0" algn="l" defTabSz="800100">
            <a:lnSpc>
              <a:spcPct val="90000"/>
            </a:lnSpc>
            <a:spcBef>
              <a:spcPct val="0"/>
            </a:spcBef>
            <a:spcAft>
              <a:spcPct val="35000"/>
            </a:spcAft>
            <a:buNone/>
          </a:pPr>
          <a:r>
            <a:rPr lang="en-US" sz="1800" kern="1200"/>
            <a:t>Operands “have to” be distinct from operation bits</a:t>
          </a:r>
        </a:p>
      </dsp:txBody>
      <dsp:txXfrm>
        <a:off x="5741378" y="3278860"/>
        <a:ext cx="4774221" cy="8739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5273FF-75CD-46E5-8CAD-6C0F299D731B}">
      <dsp:nvSpPr>
        <dsp:cNvPr id="0" name=""/>
        <dsp:cNvSpPr/>
      </dsp:nvSpPr>
      <dsp:spPr>
        <a:xfrm>
          <a:off x="0" y="0"/>
          <a:ext cx="8938260" cy="1246346"/>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Most RISCs are Load/Store – memory </a:t>
          </a:r>
          <a:r>
            <a:rPr lang="en-US" sz="2800" kern="1200">
              <a:sym typeface="Wingdings" panose="05000000000000000000" pitchFamily="2" charset="2"/>
            </a:rPr>
            <a:t></a:t>
          </a:r>
          <a:r>
            <a:rPr lang="en-US" sz="2800" kern="1200"/>
            <a:t> registers, operations happen, registers </a:t>
          </a:r>
          <a:r>
            <a:rPr lang="en-US" sz="2800" kern="1200">
              <a:sym typeface="Wingdings" panose="05000000000000000000" pitchFamily="2" charset="2"/>
            </a:rPr>
            <a:t></a:t>
          </a:r>
          <a:r>
            <a:rPr lang="en-US" sz="2800" kern="1200"/>
            <a:t> memory</a:t>
          </a:r>
        </a:p>
      </dsp:txBody>
      <dsp:txXfrm>
        <a:off x="36504" y="36504"/>
        <a:ext cx="7593355" cy="1173338"/>
      </dsp:txXfrm>
    </dsp:sp>
    <dsp:sp modelId="{1C6C2BB5-4DD4-426A-8193-CA29BD748956}">
      <dsp:nvSpPr>
        <dsp:cNvPr id="0" name=""/>
        <dsp:cNvSpPr/>
      </dsp:nvSpPr>
      <dsp:spPr>
        <a:xfrm>
          <a:off x="788669" y="1454070"/>
          <a:ext cx="8938260" cy="1246346"/>
        </a:xfrm>
        <a:prstGeom prst="roundRect">
          <a:avLst>
            <a:gd name="adj" fmla="val 10000"/>
          </a:avLst>
        </a:prstGeom>
        <a:gradFill rotWithShape="0">
          <a:gsLst>
            <a:gs pos="0">
              <a:schemeClr val="accent2">
                <a:hueOff val="-727682"/>
                <a:satOff val="-41964"/>
                <a:lumOff val="4314"/>
                <a:alphaOff val="0"/>
                <a:satMod val="103000"/>
                <a:lumMod val="102000"/>
                <a:tint val="94000"/>
              </a:schemeClr>
            </a:gs>
            <a:gs pos="50000">
              <a:schemeClr val="accent2">
                <a:hueOff val="-727682"/>
                <a:satOff val="-41964"/>
                <a:lumOff val="4314"/>
                <a:alphaOff val="0"/>
                <a:satMod val="110000"/>
                <a:lumMod val="100000"/>
                <a:shade val="100000"/>
              </a:schemeClr>
            </a:gs>
            <a:gs pos="100000">
              <a:schemeClr val="accent2">
                <a:hueOff val="-727682"/>
                <a:satOff val="-41964"/>
                <a:lumOff val="431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Most CISCs have registers but can also operate on memory directly</a:t>
          </a:r>
        </a:p>
      </dsp:txBody>
      <dsp:txXfrm>
        <a:off x="825173" y="1490574"/>
        <a:ext cx="7266456" cy="1173338"/>
      </dsp:txXfrm>
    </dsp:sp>
    <dsp:sp modelId="{7C5421DB-FDE6-4FA9-9ACF-FA829D21564F}">
      <dsp:nvSpPr>
        <dsp:cNvPr id="0" name=""/>
        <dsp:cNvSpPr/>
      </dsp:nvSpPr>
      <dsp:spPr>
        <a:xfrm>
          <a:off x="1577339" y="2908141"/>
          <a:ext cx="8938260" cy="1246346"/>
        </a:xfrm>
        <a:prstGeom prst="roundRect">
          <a:avLst>
            <a:gd name="adj" fmla="val 10000"/>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What are the tradeoffs?</a:t>
          </a:r>
        </a:p>
      </dsp:txBody>
      <dsp:txXfrm>
        <a:off x="1613843" y="2944645"/>
        <a:ext cx="7266456" cy="1173338"/>
      </dsp:txXfrm>
    </dsp:sp>
    <dsp:sp modelId="{A54E8D33-89B5-4300-8AE5-7FAC8ECD3F3F}">
      <dsp:nvSpPr>
        <dsp:cNvPr id="0" name=""/>
        <dsp:cNvSpPr/>
      </dsp:nvSpPr>
      <dsp:spPr>
        <a:xfrm>
          <a:off x="8128134" y="945146"/>
          <a:ext cx="810125" cy="810125"/>
        </a:xfrm>
        <a:prstGeom prst="downArrow">
          <a:avLst>
            <a:gd name="adj1" fmla="val 55000"/>
            <a:gd name="adj2" fmla="val 45000"/>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310412" y="945146"/>
        <a:ext cx="445569" cy="609619"/>
      </dsp:txXfrm>
    </dsp:sp>
    <dsp:sp modelId="{F3379BD2-7E4B-4E69-9882-51A54E7A33FD}">
      <dsp:nvSpPr>
        <dsp:cNvPr id="0" name=""/>
        <dsp:cNvSpPr/>
      </dsp:nvSpPr>
      <dsp:spPr>
        <a:xfrm>
          <a:off x="8916804" y="2390907"/>
          <a:ext cx="810125" cy="810125"/>
        </a:xfrm>
        <a:prstGeom prst="downArrow">
          <a:avLst>
            <a:gd name="adj1" fmla="val 55000"/>
            <a:gd name="adj2" fmla="val 45000"/>
          </a:avLst>
        </a:prstGeom>
        <a:solidFill>
          <a:schemeClr val="accent2">
            <a:tint val="40000"/>
            <a:alpha val="90000"/>
            <a:hueOff val="-849226"/>
            <a:satOff val="-75346"/>
            <a:lumOff val="-769"/>
            <a:alphaOff val="0"/>
          </a:schemeClr>
        </a:solidFill>
        <a:ln w="6350" cap="flat" cmpd="sng" algn="ctr">
          <a:solidFill>
            <a:schemeClr val="accent2">
              <a:tint val="40000"/>
              <a:alpha val="90000"/>
              <a:hueOff val="-849226"/>
              <a:satOff val="-75346"/>
              <a:lumOff val="-76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9099082" y="2390907"/>
        <a:ext cx="445569" cy="609619"/>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6AC50F-CD0D-4FE4-9C00-4BAFA806B484}" type="datetimeFigureOut">
              <a:rPr lang="en-US" smtClean="0"/>
              <a:t>11/28/2018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7CBB72-2106-4E30-9808-282BCBBC8D7B}" type="slidenum">
              <a:rPr lang="en-US" smtClean="0"/>
              <a:t>‹#›</a:t>
            </a:fld>
            <a:endParaRPr lang="en-US"/>
          </a:p>
        </p:txBody>
      </p:sp>
    </p:spTree>
    <p:extLst>
      <p:ext uri="{BB962C8B-B14F-4D97-AF65-F5344CB8AC3E}">
        <p14:creationId xmlns:p14="http://schemas.microsoft.com/office/powerpoint/2010/main" val="2234386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7CBB72-2106-4E30-9808-282BCBBC8D7B}" type="slidenum">
              <a:rPr lang="en-US" smtClean="0"/>
              <a:t>26</a:t>
            </a:fld>
            <a:endParaRPr lang="en-US"/>
          </a:p>
        </p:txBody>
      </p:sp>
    </p:spTree>
    <p:extLst>
      <p:ext uri="{BB962C8B-B14F-4D97-AF65-F5344CB8AC3E}">
        <p14:creationId xmlns:p14="http://schemas.microsoft.com/office/powerpoint/2010/main" val="8592638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8B77-82DD-4A56-8C64-0230204937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7E3587A-AABC-4BED-9E5A-B19CBAB749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31F395D-BED5-46D5-91EB-0489B8C2512A}"/>
              </a:ext>
            </a:extLst>
          </p:cNvPr>
          <p:cNvSpPr>
            <a:spLocks noGrp="1"/>
          </p:cNvSpPr>
          <p:nvPr>
            <p:ph type="dt" sz="half" idx="10"/>
          </p:nvPr>
        </p:nvSpPr>
        <p:spPr/>
        <p:txBody>
          <a:bodyPr/>
          <a:lstStyle/>
          <a:p>
            <a:fld id="{4EC7FCE8-6B5C-456D-A0FE-D35CC0AF6E68}" type="datetimeFigureOut">
              <a:rPr lang="en-US" smtClean="0"/>
              <a:t>11/28/2018</a:t>
            </a:fld>
            <a:endParaRPr lang="en-US"/>
          </a:p>
        </p:txBody>
      </p:sp>
      <p:sp>
        <p:nvSpPr>
          <p:cNvPr id="5" name="Footer Placeholder 4">
            <a:extLst>
              <a:ext uri="{FF2B5EF4-FFF2-40B4-BE49-F238E27FC236}">
                <a16:creationId xmlns:a16="http://schemas.microsoft.com/office/drawing/2014/main" id="{D7F4EAC0-9E48-4E30-A7A2-2789817231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88867-A501-40F3-8718-587764EA6488}"/>
              </a:ext>
            </a:extLst>
          </p:cNvPr>
          <p:cNvSpPr>
            <a:spLocks noGrp="1"/>
          </p:cNvSpPr>
          <p:nvPr>
            <p:ph type="sldNum" sz="quarter" idx="12"/>
          </p:nvPr>
        </p:nvSpPr>
        <p:spPr/>
        <p:txBody>
          <a:bodyPr/>
          <a:lstStyle/>
          <a:p>
            <a:fld id="{7AB2DA7C-7820-4AED-8588-6D41E6174E35}" type="slidenum">
              <a:rPr lang="en-US" smtClean="0"/>
              <a:t>‹#›</a:t>
            </a:fld>
            <a:endParaRPr lang="en-US"/>
          </a:p>
        </p:txBody>
      </p:sp>
    </p:spTree>
    <p:extLst>
      <p:ext uri="{BB962C8B-B14F-4D97-AF65-F5344CB8AC3E}">
        <p14:creationId xmlns:p14="http://schemas.microsoft.com/office/powerpoint/2010/main" val="2565533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33CF3-691E-4FCB-B839-AE313AF19F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9209CD-F3A3-4EA7-AD24-AE250C637EF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51DD84-BD4E-41D8-A134-FC2F39EE7A4F}"/>
              </a:ext>
            </a:extLst>
          </p:cNvPr>
          <p:cNvSpPr>
            <a:spLocks noGrp="1"/>
          </p:cNvSpPr>
          <p:nvPr>
            <p:ph type="dt" sz="half" idx="10"/>
          </p:nvPr>
        </p:nvSpPr>
        <p:spPr/>
        <p:txBody>
          <a:bodyPr/>
          <a:lstStyle/>
          <a:p>
            <a:fld id="{4EC7FCE8-6B5C-456D-A0FE-D35CC0AF6E68}" type="datetimeFigureOut">
              <a:rPr lang="en-US" smtClean="0"/>
              <a:t>11/28/2018</a:t>
            </a:fld>
            <a:endParaRPr lang="en-US"/>
          </a:p>
        </p:txBody>
      </p:sp>
      <p:sp>
        <p:nvSpPr>
          <p:cNvPr id="5" name="Footer Placeholder 4">
            <a:extLst>
              <a:ext uri="{FF2B5EF4-FFF2-40B4-BE49-F238E27FC236}">
                <a16:creationId xmlns:a16="http://schemas.microsoft.com/office/drawing/2014/main" id="{393DBCDB-07F5-47AD-A1BF-052B790BEB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119B49-DBFA-466D-B3DF-ECBD8E480D41}"/>
              </a:ext>
            </a:extLst>
          </p:cNvPr>
          <p:cNvSpPr>
            <a:spLocks noGrp="1"/>
          </p:cNvSpPr>
          <p:nvPr>
            <p:ph type="sldNum" sz="quarter" idx="12"/>
          </p:nvPr>
        </p:nvSpPr>
        <p:spPr/>
        <p:txBody>
          <a:bodyPr/>
          <a:lstStyle/>
          <a:p>
            <a:fld id="{7AB2DA7C-7820-4AED-8588-6D41E6174E35}" type="slidenum">
              <a:rPr lang="en-US" smtClean="0"/>
              <a:t>‹#›</a:t>
            </a:fld>
            <a:endParaRPr lang="en-US"/>
          </a:p>
        </p:txBody>
      </p:sp>
    </p:spTree>
    <p:extLst>
      <p:ext uri="{BB962C8B-B14F-4D97-AF65-F5344CB8AC3E}">
        <p14:creationId xmlns:p14="http://schemas.microsoft.com/office/powerpoint/2010/main" val="2730158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EFC3E-00B8-4637-A630-207E360FC1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352106-858A-4695-A550-05D1AA3C8E7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3415EB1-49FC-407C-905F-3D287B81695E}"/>
              </a:ext>
            </a:extLst>
          </p:cNvPr>
          <p:cNvSpPr>
            <a:spLocks noGrp="1"/>
          </p:cNvSpPr>
          <p:nvPr>
            <p:ph type="dt" sz="half" idx="10"/>
          </p:nvPr>
        </p:nvSpPr>
        <p:spPr/>
        <p:txBody>
          <a:bodyPr/>
          <a:lstStyle/>
          <a:p>
            <a:fld id="{4EC7FCE8-6B5C-456D-A0FE-D35CC0AF6E68}" type="datetimeFigureOut">
              <a:rPr lang="en-US" smtClean="0"/>
              <a:t>11/28/2018</a:t>
            </a:fld>
            <a:endParaRPr lang="en-US"/>
          </a:p>
        </p:txBody>
      </p:sp>
      <p:sp>
        <p:nvSpPr>
          <p:cNvPr id="5" name="Footer Placeholder 4">
            <a:extLst>
              <a:ext uri="{FF2B5EF4-FFF2-40B4-BE49-F238E27FC236}">
                <a16:creationId xmlns:a16="http://schemas.microsoft.com/office/drawing/2014/main" id="{5C914B32-71E8-452B-A542-6588AFDFA4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C252B1-49A2-46D4-BBB8-02BC002E1FDA}"/>
              </a:ext>
            </a:extLst>
          </p:cNvPr>
          <p:cNvSpPr>
            <a:spLocks noGrp="1"/>
          </p:cNvSpPr>
          <p:nvPr>
            <p:ph type="sldNum" sz="quarter" idx="12"/>
          </p:nvPr>
        </p:nvSpPr>
        <p:spPr/>
        <p:txBody>
          <a:bodyPr/>
          <a:lstStyle/>
          <a:p>
            <a:fld id="{7AB2DA7C-7820-4AED-8588-6D41E6174E35}" type="slidenum">
              <a:rPr lang="en-US" smtClean="0"/>
              <a:t>‹#›</a:t>
            </a:fld>
            <a:endParaRPr lang="en-US"/>
          </a:p>
        </p:txBody>
      </p:sp>
    </p:spTree>
    <p:extLst>
      <p:ext uri="{BB962C8B-B14F-4D97-AF65-F5344CB8AC3E}">
        <p14:creationId xmlns:p14="http://schemas.microsoft.com/office/powerpoint/2010/main" val="1291459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DB93B-8C77-48DC-BFC0-E07673B13A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6CE2C73-499F-4BDE-98F4-7A07B11321F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761291-4838-45D9-AFFD-C64972DA0CE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B632D0A-B602-4001-A299-02848AF96215}"/>
              </a:ext>
            </a:extLst>
          </p:cNvPr>
          <p:cNvSpPr>
            <a:spLocks noGrp="1"/>
          </p:cNvSpPr>
          <p:nvPr>
            <p:ph type="dt" sz="half" idx="10"/>
          </p:nvPr>
        </p:nvSpPr>
        <p:spPr/>
        <p:txBody>
          <a:bodyPr/>
          <a:lstStyle/>
          <a:p>
            <a:fld id="{4EC7FCE8-6B5C-456D-A0FE-D35CC0AF6E68}" type="datetimeFigureOut">
              <a:rPr lang="en-US" smtClean="0"/>
              <a:t>11/28/2018</a:t>
            </a:fld>
            <a:endParaRPr lang="en-US"/>
          </a:p>
        </p:txBody>
      </p:sp>
      <p:sp>
        <p:nvSpPr>
          <p:cNvPr id="6" name="Footer Placeholder 5">
            <a:extLst>
              <a:ext uri="{FF2B5EF4-FFF2-40B4-BE49-F238E27FC236}">
                <a16:creationId xmlns:a16="http://schemas.microsoft.com/office/drawing/2014/main" id="{57D05ECC-E114-47F1-AC1E-AB8F4C0AD7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89A79C-62B8-4FA9-82BD-AF98C314A61B}"/>
              </a:ext>
            </a:extLst>
          </p:cNvPr>
          <p:cNvSpPr>
            <a:spLocks noGrp="1"/>
          </p:cNvSpPr>
          <p:nvPr>
            <p:ph type="sldNum" sz="quarter" idx="12"/>
          </p:nvPr>
        </p:nvSpPr>
        <p:spPr/>
        <p:txBody>
          <a:bodyPr/>
          <a:lstStyle/>
          <a:p>
            <a:fld id="{7AB2DA7C-7820-4AED-8588-6D41E6174E35}" type="slidenum">
              <a:rPr lang="en-US" smtClean="0"/>
              <a:t>‹#›</a:t>
            </a:fld>
            <a:endParaRPr lang="en-US"/>
          </a:p>
        </p:txBody>
      </p:sp>
    </p:spTree>
    <p:extLst>
      <p:ext uri="{BB962C8B-B14F-4D97-AF65-F5344CB8AC3E}">
        <p14:creationId xmlns:p14="http://schemas.microsoft.com/office/powerpoint/2010/main" val="22935311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6382B-331E-41D0-A50A-BCD78202E41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EB9B355-B4A8-44AA-A31C-8F90C1711D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47B8113-E6EF-4BE4-AF9A-C5E3C2B2CDF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0D4C25-F0B5-4F59-940F-FF70FD57D7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5E5153A-5A43-4F64-95D3-1BD0295A964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267C456-E5EC-43E2-87F5-86D1205F5782}"/>
              </a:ext>
            </a:extLst>
          </p:cNvPr>
          <p:cNvSpPr>
            <a:spLocks noGrp="1"/>
          </p:cNvSpPr>
          <p:nvPr>
            <p:ph type="dt" sz="half" idx="10"/>
          </p:nvPr>
        </p:nvSpPr>
        <p:spPr/>
        <p:txBody>
          <a:bodyPr/>
          <a:lstStyle/>
          <a:p>
            <a:fld id="{4EC7FCE8-6B5C-456D-A0FE-D35CC0AF6E68}" type="datetimeFigureOut">
              <a:rPr lang="en-US" smtClean="0"/>
              <a:t>11/28/2018</a:t>
            </a:fld>
            <a:endParaRPr lang="en-US"/>
          </a:p>
        </p:txBody>
      </p:sp>
      <p:sp>
        <p:nvSpPr>
          <p:cNvPr id="8" name="Footer Placeholder 7">
            <a:extLst>
              <a:ext uri="{FF2B5EF4-FFF2-40B4-BE49-F238E27FC236}">
                <a16:creationId xmlns:a16="http://schemas.microsoft.com/office/drawing/2014/main" id="{1F3D64E2-AA48-49F9-B75B-613A1CEEAAC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3685EF0-B732-4746-97FA-3FC574EA296F}"/>
              </a:ext>
            </a:extLst>
          </p:cNvPr>
          <p:cNvSpPr>
            <a:spLocks noGrp="1"/>
          </p:cNvSpPr>
          <p:nvPr>
            <p:ph type="sldNum" sz="quarter" idx="12"/>
          </p:nvPr>
        </p:nvSpPr>
        <p:spPr/>
        <p:txBody>
          <a:bodyPr/>
          <a:lstStyle/>
          <a:p>
            <a:fld id="{7AB2DA7C-7820-4AED-8588-6D41E6174E35}" type="slidenum">
              <a:rPr lang="en-US" smtClean="0"/>
              <a:t>‹#›</a:t>
            </a:fld>
            <a:endParaRPr lang="en-US"/>
          </a:p>
        </p:txBody>
      </p:sp>
    </p:spTree>
    <p:extLst>
      <p:ext uri="{BB962C8B-B14F-4D97-AF65-F5344CB8AC3E}">
        <p14:creationId xmlns:p14="http://schemas.microsoft.com/office/powerpoint/2010/main" val="2996908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A7A1D-E4C7-4189-9DD6-4D28CC055A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2278AA-9300-4838-A8D8-67108A687A42}"/>
              </a:ext>
            </a:extLst>
          </p:cNvPr>
          <p:cNvSpPr>
            <a:spLocks noGrp="1"/>
          </p:cNvSpPr>
          <p:nvPr>
            <p:ph type="dt" sz="half" idx="10"/>
          </p:nvPr>
        </p:nvSpPr>
        <p:spPr/>
        <p:txBody>
          <a:bodyPr/>
          <a:lstStyle/>
          <a:p>
            <a:fld id="{4EC7FCE8-6B5C-456D-A0FE-D35CC0AF6E68}" type="datetimeFigureOut">
              <a:rPr lang="en-US" smtClean="0"/>
              <a:t>11/28/2018</a:t>
            </a:fld>
            <a:endParaRPr lang="en-US"/>
          </a:p>
        </p:txBody>
      </p:sp>
      <p:sp>
        <p:nvSpPr>
          <p:cNvPr id="4" name="Footer Placeholder 3">
            <a:extLst>
              <a:ext uri="{FF2B5EF4-FFF2-40B4-BE49-F238E27FC236}">
                <a16:creationId xmlns:a16="http://schemas.microsoft.com/office/drawing/2014/main" id="{938852F6-9431-449D-883A-509A4762A6B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8AAAA31-D385-482E-B380-4F9B28600B25}"/>
              </a:ext>
            </a:extLst>
          </p:cNvPr>
          <p:cNvSpPr>
            <a:spLocks noGrp="1"/>
          </p:cNvSpPr>
          <p:nvPr>
            <p:ph type="sldNum" sz="quarter" idx="12"/>
          </p:nvPr>
        </p:nvSpPr>
        <p:spPr/>
        <p:txBody>
          <a:bodyPr/>
          <a:lstStyle/>
          <a:p>
            <a:fld id="{7AB2DA7C-7820-4AED-8588-6D41E6174E35}" type="slidenum">
              <a:rPr lang="en-US" smtClean="0"/>
              <a:t>‹#›</a:t>
            </a:fld>
            <a:endParaRPr lang="en-US"/>
          </a:p>
        </p:txBody>
      </p:sp>
    </p:spTree>
    <p:extLst>
      <p:ext uri="{BB962C8B-B14F-4D97-AF65-F5344CB8AC3E}">
        <p14:creationId xmlns:p14="http://schemas.microsoft.com/office/powerpoint/2010/main" val="2630183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7EFB32-4CC8-4CEB-B8E5-8D9B83ED9F46}"/>
              </a:ext>
            </a:extLst>
          </p:cNvPr>
          <p:cNvSpPr>
            <a:spLocks noGrp="1"/>
          </p:cNvSpPr>
          <p:nvPr>
            <p:ph type="dt" sz="half" idx="10"/>
          </p:nvPr>
        </p:nvSpPr>
        <p:spPr/>
        <p:txBody>
          <a:bodyPr/>
          <a:lstStyle/>
          <a:p>
            <a:fld id="{4EC7FCE8-6B5C-456D-A0FE-D35CC0AF6E68}" type="datetimeFigureOut">
              <a:rPr lang="en-US" smtClean="0"/>
              <a:t>11/28/2018</a:t>
            </a:fld>
            <a:endParaRPr lang="en-US"/>
          </a:p>
        </p:txBody>
      </p:sp>
      <p:sp>
        <p:nvSpPr>
          <p:cNvPr id="3" name="Footer Placeholder 2">
            <a:extLst>
              <a:ext uri="{FF2B5EF4-FFF2-40B4-BE49-F238E27FC236}">
                <a16:creationId xmlns:a16="http://schemas.microsoft.com/office/drawing/2014/main" id="{20440160-C7D2-4469-AB59-7F5FCDA542D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B588C8D-BBED-4318-B270-AA65DA7BFD2A}"/>
              </a:ext>
            </a:extLst>
          </p:cNvPr>
          <p:cNvSpPr>
            <a:spLocks noGrp="1"/>
          </p:cNvSpPr>
          <p:nvPr>
            <p:ph type="sldNum" sz="quarter" idx="12"/>
          </p:nvPr>
        </p:nvSpPr>
        <p:spPr/>
        <p:txBody>
          <a:bodyPr/>
          <a:lstStyle/>
          <a:p>
            <a:fld id="{7AB2DA7C-7820-4AED-8588-6D41E6174E35}" type="slidenum">
              <a:rPr lang="en-US" smtClean="0"/>
              <a:t>‹#›</a:t>
            </a:fld>
            <a:endParaRPr lang="en-US"/>
          </a:p>
        </p:txBody>
      </p:sp>
    </p:spTree>
    <p:extLst>
      <p:ext uri="{BB962C8B-B14F-4D97-AF65-F5344CB8AC3E}">
        <p14:creationId xmlns:p14="http://schemas.microsoft.com/office/powerpoint/2010/main" val="2733302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4E581-473C-4900-A381-6E5B1818A6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2EC6F03-4096-4093-BEC6-98942A269E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BC96F1-0187-4D8C-BFDD-D6CB2F4E1B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C7E5F82-4ECB-4D8B-B044-44FCAD16107B}"/>
              </a:ext>
            </a:extLst>
          </p:cNvPr>
          <p:cNvSpPr>
            <a:spLocks noGrp="1"/>
          </p:cNvSpPr>
          <p:nvPr>
            <p:ph type="dt" sz="half" idx="10"/>
          </p:nvPr>
        </p:nvSpPr>
        <p:spPr/>
        <p:txBody>
          <a:bodyPr/>
          <a:lstStyle/>
          <a:p>
            <a:fld id="{4EC7FCE8-6B5C-456D-A0FE-D35CC0AF6E68}" type="datetimeFigureOut">
              <a:rPr lang="en-US" smtClean="0"/>
              <a:t>11/28/2018</a:t>
            </a:fld>
            <a:endParaRPr lang="en-US"/>
          </a:p>
        </p:txBody>
      </p:sp>
      <p:sp>
        <p:nvSpPr>
          <p:cNvPr id="6" name="Footer Placeholder 5">
            <a:extLst>
              <a:ext uri="{FF2B5EF4-FFF2-40B4-BE49-F238E27FC236}">
                <a16:creationId xmlns:a16="http://schemas.microsoft.com/office/drawing/2014/main" id="{9942BE0C-C119-4F8B-A210-0C7C94D8F9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5CFF45-AD74-4322-8A85-F466A8E48727}"/>
              </a:ext>
            </a:extLst>
          </p:cNvPr>
          <p:cNvSpPr>
            <a:spLocks noGrp="1"/>
          </p:cNvSpPr>
          <p:nvPr>
            <p:ph type="sldNum" sz="quarter" idx="12"/>
          </p:nvPr>
        </p:nvSpPr>
        <p:spPr/>
        <p:txBody>
          <a:bodyPr/>
          <a:lstStyle/>
          <a:p>
            <a:fld id="{7AB2DA7C-7820-4AED-8588-6D41E6174E35}" type="slidenum">
              <a:rPr lang="en-US" smtClean="0"/>
              <a:t>‹#›</a:t>
            </a:fld>
            <a:endParaRPr lang="en-US"/>
          </a:p>
        </p:txBody>
      </p:sp>
    </p:spTree>
    <p:extLst>
      <p:ext uri="{BB962C8B-B14F-4D97-AF65-F5344CB8AC3E}">
        <p14:creationId xmlns:p14="http://schemas.microsoft.com/office/powerpoint/2010/main" val="454022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EE517-333C-428A-99A2-4A129EBE29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249B0F-4340-4727-AEF2-832EAA563E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8174169-54CD-4CCA-9AD5-7402DB5DD0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13FA6E1-4F94-454C-A504-88E63BF163F4}"/>
              </a:ext>
            </a:extLst>
          </p:cNvPr>
          <p:cNvSpPr>
            <a:spLocks noGrp="1"/>
          </p:cNvSpPr>
          <p:nvPr>
            <p:ph type="dt" sz="half" idx="10"/>
          </p:nvPr>
        </p:nvSpPr>
        <p:spPr/>
        <p:txBody>
          <a:bodyPr/>
          <a:lstStyle/>
          <a:p>
            <a:fld id="{4EC7FCE8-6B5C-456D-A0FE-D35CC0AF6E68}" type="datetimeFigureOut">
              <a:rPr lang="en-US" smtClean="0"/>
              <a:t>11/28/2018</a:t>
            </a:fld>
            <a:endParaRPr lang="en-US"/>
          </a:p>
        </p:txBody>
      </p:sp>
      <p:sp>
        <p:nvSpPr>
          <p:cNvPr id="6" name="Footer Placeholder 5">
            <a:extLst>
              <a:ext uri="{FF2B5EF4-FFF2-40B4-BE49-F238E27FC236}">
                <a16:creationId xmlns:a16="http://schemas.microsoft.com/office/drawing/2014/main" id="{48BA8EDB-DF70-433B-ABB7-3E150BBAE9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2AD128-4B8E-429A-8625-BA252E2A0A52}"/>
              </a:ext>
            </a:extLst>
          </p:cNvPr>
          <p:cNvSpPr>
            <a:spLocks noGrp="1"/>
          </p:cNvSpPr>
          <p:nvPr>
            <p:ph type="sldNum" sz="quarter" idx="12"/>
          </p:nvPr>
        </p:nvSpPr>
        <p:spPr/>
        <p:txBody>
          <a:bodyPr/>
          <a:lstStyle/>
          <a:p>
            <a:fld id="{7AB2DA7C-7820-4AED-8588-6D41E6174E35}" type="slidenum">
              <a:rPr lang="en-US" smtClean="0"/>
              <a:t>‹#›</a:t>
            </a:fld>
            <a:endParaRPr lang="en-US"/>
          </a:p>
        </p:txBody>
      </p:sp>
    </p:spTree>
    <p:extLst>
      <p:ext uri="{BB962C8B-B14F-4D97-AF65-F5344CB8AC3E}">
        <p14:creationId xmlns:p14="http://schemas.microsoft.com/office/powerpoint/2010/main" val="4162300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04A29-3D57-414A-A1B8-4C539025F8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E9A9C40-5BA9-4ED5-ADC3-904B6009B10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E9B34A-CE80-47BF-A7AC-E305FA75C6C7}"/>
              </a:ext>
            </a:extLst>
          </p:cNvPr>
          <p:cNvSpPr>
            <a:spLocks noGrp="1"/>
          </p:cNvSpPr>
          <p:nvPr>
            <p:ph type="dt" sz="half" idx="10"/>
          </p:nvPr>
        </p:nvSpPr>
        <p:spPr/>
        <p:txBody>
          <a:bodyPr/>
          <a:lstStyle/>
          <a:p>
            <a:fld id="{4EC7FCE8-6B5C-456D-A0FE-D35CC0AF6E68}" type="datetimeFigureOut">
              <a:rPr lang="en-US" smtClean="0"/>
              <a:t>11/28/2018</a:t>
            </a:fld>
            <a:endParaRPr lang="en-US"/>
          </a:p>
        </p:txBody>
      </p:sp>
      <p:sp>
        <p:nvSpPr>
          <p:cNvPr id="5" name="Footer Placeholder 4">
            <a:extLst>
              <a:ext uri="{FF2B5EF4-FFF2-40B4-BE49-F238E27FC236}">
                <a16:creationId xmlns:a16="http://schemas.microsoft.com/office/drawing/2014/main" id="{94E3B16B-0932-4C0E-BD89-6B28C6319E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1182AA-7CCA-4BE2-8A86-02913D1E8BF4}"/>
              </a:ext>
            </a:extLst>
          </p:cNvPr>
          <p:cNvSpPr>
            <a:spLocks noGrp="1"/>
          </p:cNvSpPr>
          <p:nvPr>
            <p:ph type="sldNum" sz="quarter" idx="12"/>
          </p:nvPr>
        </p:nvSpPr>
        <p:spPr/>
        <p:txBody>
          <a:bodyPr/>
          <a:lstStyle/>
          <a:p>
            <a:fld id="{7AB2DA7C-7820-4AED-8588-6D41E6174E35}" type="slidenum">
              <a:rPr lang="en-US" smtClean="0"/>
              <a:t>‹#›</a:t>
            </a:fld>
            <a:endParaRPr lang="en-US"/>
          </a:p>
        </p:txBody>
      </p:sp>
    </p:spTree>
    <p:extLst>
      <p:ext uri="{BB962C8B-B14F-4D97-AF65-F5344CB8AC3E}">
        <p14:creationId xmlns:p14="http://schemas.microsoft.com/office/powerpoint/2010/main" val="2795644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E83E2E-36E5-4887-BA65-C7B21AD1C46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EB07A2-29CF-4F47-949A-DE43DA3FFE6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B28256-1BA7-4BD4-9BAC-0BFD7330C4A9}"/>
              </a:ext>
            </a:extLst>
          </p:cNvPr>
          <p:cNvSpPr>
            <a:spLocks noGrp="1"/>
          </p:cNvSpPr>
          <p:nvPr>
            <p:ph type="dt" sz="half" idx="10"/>
          </p:nvPr>
        </p:nvSpPr>
        <p:spPr/>
        <p:txBody>
          <a:bodyPr/>
          <a:lstStyle/>
          <a:p>
            <a:fld id="{4EC7FCE8-6B5C-456D-A0FE-D35CC0AF6E68}" type="datetimeFigureOut">
              <a:rPr lang="en-US" smtClean="0"/>
              <a:t>11/28/2018</a:t>
            </a:fld>
            <a:endParaRPr lang="en-US"/>
          </a:p>
        </p:txBody>
      </p:sp>
      <p:sp>
        <p:nvSpPr>
          <p:cNvPr id="5" name="Footer Placeholder 4">
            <a:extLst>
              <a:ext uri="{FF2B5EF4-FFF2-40B4-BE49-F238E27FC236}">
                <a16:creationId xmlns:a16="http://schemas.microsoft.com/office/drawing/2014/main" id="{8849FC4C-E58D-4729-B75C-F83AC9374F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54DADE-EC44-430B-A988-98ECCA057C2C}"/>
              </a:ext>
            </a:extLst>
          </p:cNvPr>
          <p:cNvSpPr>
            <a:spLocks noGrp="1"/>
          </p:cNvSpPr>
          <p:nvPr>
            <p:ph type="sldNum" sz="quarter" idx="12"/>
          </p:nvPr>
        </p:nvSpPr>
        <p:spPr/>
        <p:txBody>
          <a:bodyPr/>
          <a:lstStyle/>
          <a:p>
            <a:fld id="{7AB2DA7C-7820-4AED-8588-6D41E6174E35}" type="slidenum">
              <a:rPr lang="en-US" smtClean="0"/>
              <a:t>‹#›</a:t>
            </a:fld>
            <a:endParaRPr lang="en-US"/>
          </a:p>
        </p:txBody>
      </p:sp>
    </p:spTree>
    <p:extLst>
      <p:ext uri="{BB962C8B-B14F-4D97-AF65-F5344CB8AC3E}">
        <p14:creationId xmlns:p14="http://schemas.microsoft.com/office/powerpoint/2010/main" val="1103537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C045A9-4680-4AE4-B9F3-B184246838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717C26F-8D16-4681-ADC2-B5E2B74328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089156-6650-4608-A3A7-BFB3F1D345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C7FCE8-6B5C-456D-A0FE-D35CC0AF6E68}" type="datetimeFigureOut">
              <a:rPr lang="en-US" smtClean="0"/>
              <a:t>11/28/2018</a:t>
            </a:fld>
            <a:endParaRPr lang="en-US"/>
          </a:p>
        </p:txBody>
      </p:sp>
      <p:sp>
        <p:nvSpPr>
          <p:cNvPr id="5" name="Footer Placeholder 4">
            <a:extLst>
              <a:ext uri="{FF2B5EF4-FFF2-40B4-BE49-F238E27FC236}">
                <a16:creationId xmlns:a16="http://schemas.microsoft.com/office/drawing/2014/main" id="{7742D475-4601-411C-B63B-5C30EC88C0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C7BEDB2-8B99-4508-BF9B-0C9FEA45A8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B2DA7C-7820-4AED-8588-6D41E6174E35}" type="slidenum">
              <a:rPr lang="en-US" smtClean="0"/>
              <a:t>‹#›</a:t>
            </a:fld>
            <a:endParaRPr lang="en-US"/>
          </a:p>
        </p:txBody>
      </p:sp>
    </p:spTree>
    <p:extLst>
      <p:ext uri="{BB962C8B-B14F-4D97-AF65-F5344CB8AC3E}">
        <p14:creationId xmlns:p14="http://schemas.microsoft.com/office/powerpoint/2010/main" val="41251417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FFF58-DE19-4865-AFD7-7DB4A43D11E9}"/>
              </a:ext>
            </a:extLst>
          </p:cNvPr>
          <p:cNvSpPr>
            <a:spLocks noGrp="1"/>
          </p:cNvSpPr>
          <p:nvPr>
            <p:ph type="ctrTitle"/>
          </p:nvPr>
        </p:nvSpPr>
        <p:spPr>
          <a:xfrm>
            <a:off x="3552444" y="2949607"/>
            <a:ext cx="5087112" cy="958786"/>
          </a:xfrm>
        </p:spPr>
        <p:txBody>
          <a:bodyPr/>
          <a:lstStyle/>
          <a:p>
            <a:r>
              <a:rPr lang="en-US" dirty="0"/>
              <a:t>Instruction Sets</a:t>
            </a:r>
          </a:p>
        </p:txBody>
      </p:sp>
    </p:spTree>
    <p:extLst>
      <p:ext uri="{BB962C8B-B14F-4D97-AF65-F5344CB8AC3E}">
        <p14:creationId xmlns:p14="http://schemas.microsoft.com/office/powerpoint/2010/main" val="31059696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2B295-9602-4A7A-8F55-1637B5D77DEE}"/>
              </a:ext>
            </a:extLst>
          </p:cNvPr>
          <p:cNvSpPr>
            <a:spLocks noGrp="1"/>
          </p:cNvSpPr>
          <p:nvPr>
            <p:ph type="title"/>
          </p:nvPr>
        </p:nvSpPr>
        <p:spPr/>
        <p:txBody>
          <a:bodyPr/>
          <a:lstStyle/>
          <a:p>
            <a:r>
              <a:rPr lang="en-US" dirty="0"/>
              <a:t>Where have we been?</a:t>
            </a:r>
          </a:p>
        </p:txBody>
      </p:sp>
      <p:sp>
        <p:nvSpPr>
          <p:cNvPr id="3" name="Content Placeholder 2">
            <a:extLst>
              <a:ext uri="{FF2B5EF4-FFF2-40B4-BE49-F238E27FC236}">
                <a16:creationId xmlns:a16="http://schemas.microsoft.com/office/drawing/2014/main" id="{212BDEC1-3E70-44B2-B423-0149EDA65BDE}"/>
              </a:ext>
            </a:extLst>
          </p:cNvPr>
          <p:cNvSpPr>
            <a:spLocks noGrp="1"/>
          </p:cNvSpPr>
          <p:nvPr>
            <p:ph idx="1"/>
          </p:nvPr>
        </p:nvSpPr>
        <p:spPr/>
        <p:txBody>
          <a:bodyPr/>
          <a:lstStyle/>
          <a:p>
            <a:pPr marL="0" indent="0">
              <a:buNone/>
            </a:pPr>
            <a:r>
              <a:rPr lang="en-US" dirty="0"/>
              <a:t>We talked about digital logic</a:t>
            </a:r>
          </a:p>
          <a:p>
            <a:pPr marL="0" indent="0">
              <a:buNone/>
            </a:pPr>
            <a:r>
              <a:rPr lang="en-US" dirty="0"/>
              <a:t>We talked about memory</a:t>
            </a:r>
          </a:p>
          <a:p>
            <a:pPr marL="0" indent="0">
              <a:buNone/>
            </a:pPr>
            <a:r>
              <a:rPr lang="en-US" dirty="0"/>
              <a:t>We talked about caches</a:t>
            </a:r>
          </a:p>
          <a:p>
            <a:pPr marL="0" indent="0">
              <a:buNone/>
            </a:pPr>
            <a:r>
              <a:rPr lang="en-US" dirty="0"/>
              <a:t>We talked about the “mechanics” of how the CPU works</a:t>
            </a:r>
          </a:p>
          <a:p>
            <a:pPr marL="0" indent="0">
              <a:buNone/>
            </a:pPr>
            <a:endParaRPr lang="en-US" dirty="0"/>
          </a:p>
          <a:p>
            <a:pPr marL="0" indent="0">
              <a:buNone/>
            </a:pPr>
            <a:r>
              <a:rPr lang="en-US" dirty="0"/>
              <a:t>Now it’s time to consider how we give the CPU instructions</a:t>
            </a:r>
          </a:p>
          <a:p>
            <a:pPr marL="0" indent="0">
              <a:buNone/>
            </a:pPr>
            <a:r>
              <a:rPr lang="en-US" dirty="0"/>
              <a:t>And how we can measure our CPU performance</a:t>
            </a:r>
          </a:p>
        </p:txBody>
      </p:sp>
    </p:spTree>
    <p:extLst>
      <p:ext uri="{BB962C8B-B14F-4D97-AF65-F5344CB8AC3E}">
        <p14:creationId xmlns:p14="http://schemas.microsoft.com/office/powerpoint/2010/main" val="662386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57D40-C7DB-41C7-B139-0E1C1598772B}"/>
              </a:ext>
            </a:extLst>
          </p:cNvPr>
          <p:cNvSpPr>
            <a:spLocks noGrp="1"/>
          </p:cNvSpPr>
          <p:nvPr>
            <p:ph type="title"/>
          </p:nvPr>
        </p:nvSpPr>
        <p:spPr/>
        <p:txBody>
          <a:bodyPr/>
          <a:lstStyle/>
          <a:p>
            <a:r>
              <a:rPr lang="en-US" dirty="0"/>
              <a:t>Computer Organization Vs Architecture</a:t>
            </a:r>
          </a:p>
        </p:txBody>
      </p:sp>
      <p:sp>
        <p:nvSpPr>
          <p:cNvPr id="3" name="Content Placeholder 2">
            <a:extLst>
              <a:ext uri="{FF2B5EF4-FFF2-40B4-BE49-F238E27FC236}">
                <a16:creationId xmlns:a16="http://schemas.microsoft.com/office/drawing/2014/main" id="{DA3784E7-DB28-47CE-BEBB-07B7EF7CBC96}"/>
              </a:ext>
            </a:extLst>
          </p:cNvPr>
          <p:cNvSpPr>
            <a:spLocks noGrp="1"/>
          </p:cNvSpPr>
          <p:nvPr>
            <p:ph idx="1"/>
          </p:nvPr>
        </p:nvSpPr>
        <p:spPr/>
        <p:txBody>
          <a:bodyPr/>
          <a:lstStyle/>
          <a:p>
            <a:pPr marL="0" indent="0">
              <a:buNone/>
            </a:pPr>
            <a:r>
              <a:rPr lang="en-US" dirty="0"/>
              <a:t>Computer Architecture – agreed upon interface between a programmer and the hardware designer</a:t>
            </a:r>
          </a:p>
          <a:p>
            <a:pPr marL="0" indent="0">
              <a:buNone/>
            </a:pPr>
            <a:endParaRPr lang="en-US" dirty="0"/>
          </a:p>
          <a:p>
            <a:pPr marL="0" indent="0">
              <a:buNone/>
            </a:pPr>
            <a:r>
              <a:rPr lang="en-US" dirty="0"/>
              <a:t>Computer Organization – the non-visible (to the assembly language) details </a:t>
            </a:r>
          </a:p>
          <a:p>
            <a:pPr marL="0" indent="0">
              <a:buNone/>
            </a:pPr>
            <a:endParaRPr lang="en-US" dirty="0"/>
          </a:p>
          <a:p>
            <a:pPr marL="0" indent="0">
              <a:buNone/>
            </a:pPr>
            <a:r>
              <a:rPr lang="en-US" dirty="0"/>
              <a:t>If there are assembly instructions that reference it, it is architecture.</a:t>
            </a:r>
          </a:p>
          <a:p>
            <a:pPr marL="0" indent="0">
              <a:buNone/>
            </a:pPr>
            <a:r>
              <a:rPr lang="en-US" dirty="0"/>
              <a:t>Examples?</a:t>
            </a:r>
          </a:p>
        </p:txBody>
      </p:sp>
    </p:spTree>
    <p:extLst>
      <p:ext uri="{BB962C8B-B14F-4D97-AF65-F5344CB8AC3E}">
        <p14:creationId xmlns:p14="http://schemas.microsoft.com/office/powerpoint/2010/main" val="4138113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62C8C9-DAE4-42B4-9E53-1891D3CB3B58}"/>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The Whole Stack</a:t>
            </a:r>
          </a:p>
        </p:txBody>
      </p:sp>
      <p:pic>
        <p:nvPicPr>
          <p:cNvPr id="7" name="Picture 6">
            <a:extLst>
              <a:ext uri="{FF2B5EF4-FFF2-40B4-BE49-F238E27FC236}">
                <a16:creationId xmlns:a16="http://schemas.microsoft.com/office/drawing/2014/main" id="{86909CD6-3015-4446-B433-0F7E4F8BC693}"/>
              </a:ext>
            </a:extLst>
          </p:cNvPr>
          <p:cNvPicPr>
            <a:picLocks noChangeAspect="1"/>
          </p:cNvPicPr>
          <p:nvPr/>
        </p:nvPicPr>
        <p:blipFill rotWithShape="1">
          <a:blip r:embed="rId2"/>
          <a:srcRect t="382" b="788"/>
          <a:stretch/>
        </p:blipFill>
        <p:spPr>
          <a:xfrm>
            <a:off x="5304472" y="0"/>
            <a:ext cx="3625733" cy="6858000"/>
          </a:xfrm>
          <a:prstGeom prst="rect">
            <a:avLst/>
          </a:prstGeom>
        </p:spPr>
      </p:pic>
    </p:spTree>
    <p:extLst>
      <p:ext uri="{BB962C8B-B14F-4D97-AF65-F5344CB8AC3E}">
        <p14:creationId xmlns:p14="http://schemas.microsoft.com/office/powerpoint/2010/main" val="265225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76BE5-8188-4D8D-AAD1-5E77ED70725B}"/>
              </a:ext>
            </a:extLst>
          </p:cNvPr>
          <p:cNvSpPr>
            <a:spLocks noGrp="1"/>
          </p:cNvSpPr>
          <p:nvPr>
            <p:ph type="title"/>
          </p:nvPr>
        </p:nvSpPr>
        <p:spPr/>
        <p:txBody>
          <a:bodyPr/>
          <a:lstStyle/>
          <a:p>
            <a:r>
              <a:rPr lang="en-US" dirty="0"/>
              <a:t>Loaders</a:t>
            </a:r>
          </a:p>
        </p:txBody>
      </p:sp>
      <p:sp>
        <p:nvSpPr>
          <p:cNvPr id="3" name="Content Placeholder 2">
            <a:extLst>
              <a:ext uri="{FF2B5EF4-FFF2-40B4-BE49-F238E27FC236}">
                <a16:creationId xmlns:a16="http://schemas.microsoft.com/office/drawing/2014/main" id="{154C7FBF-1C56-4739-8ED9-2301DF269607}"/>
              </a:ext>
            </a:extLst>
          </p:cNvPr>
          <p:cNvSpPr>
            <a:spLocks noGrp="1"/>
          </p:cNvSpPr>
          <p:nvPr>
            <p:ph idx="1"/>
          </p:nvPr>
        </p:nvSpPr>
        <p:spPr/>
        <p:txBody>
          <a:bodyPr/>
          <a:lstStyle/>
          <a:p>
            <a:pPr marL="0" indent="0">
              <a:buNone/>
            </a:pPr>
            <a:r>
              <a:rPr lang="en-US" dirty="0"/>
              <a:t>When you start an application, a program called a loader:</a:t>
            </a:r>
          </a:p>
          <a:p>
            <a:pPr marL="0" indent="0">
              <a:buNone/>
            </a:pPr>
            <a:r>
              <a:rPr lang="en-US" dirty="0"/>
              <a:t>	loads the data from disk</a:t>
            </a:r>
          </a:p>
          <a:p>
            <a:pPr marL="0" indent="0">
              <a:buNone/>
            </a:pPr>
            <a:r>
              <a:rPr lang="en-US" dirty="0"/>
              <a:t>	performs relocation </a:t>
            </a:r>
          </a:p>
          <a:p>
            <a:pPr marL="0" indent="0">
              <a:buNone/>
            </a:pPr>
            <a:r>
              <a:rPr lang="en-US" dirty="0"/>
              <a:t>	jumps to the beginning of your program (the entry point)</a:t>
            </a:r>
          </a:p>
          <a:p>
            <a:pPr marL="0" indent="0">
              <a:buNone/>
            </a:pPr>
            <a:endParaRPr lang="en-US" dirty="0"/>
          </a:p>
          <a:p>
            <a:pPr marL="0" indent="0">
              <a:buNone/>
            </a:pPr>
            <a:r>
              <a:rPr lang="en-US" dirty="0"/>
              <a:t>relocation: your assembly may have addresses in it. There is an index of where all the addresses are. Relocation changes the addresses to their actual loaded address.</a:t>
            </a:r>
          </a:p>
        </p:txBody>
      </p:sp>
    </p:spTree>
    <p:extLst>
      <p:ext uri="{BB962C8B-B14F-4D97-AF65-F5344CB8AC3E}">
        <p14:creationId xmlns:p14="http://schemas.microsoft.com/office/powerpoint/2010/main" val="867921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49AA1-87A5-4CBC-A3E4-ED1969E777D7}"/>
              </a:ext>
            </a:extLst>
          </p:cNvPr>
          <p:cNvSpPr>
            <a:spLocks noGrp="1"/>
          </p:cNvSpPr>
          <p:nvPr>
            <p:ph type="title"/>
          </p:nvPr>
        </p:nvSpPr>
        <p:spPr/>
        <p:txBody>
          <a:bodyPr/>
          <a:lstStyle/>
          <a:p>
            <a:r>
              <a:rPr lang="en-US" dirty="0"/>
              <a:t>What is an instruction?</a:t>
            </a:r>
          </a:p>
        </p:txBody>
      </p:sp>
      <p:sp>
        <p:nvSpPr>
          <p:cNvPr id="3" name="Content Placeholder 2">
            <a:extLst>
              <a:ext uri="{FF2B5EF4-FFF2-40B4-BE49-F238E27FC236}">
                <a16:creationId xmlns:a16="http://schemas.microsoft.com/office/drawing/2014/main" id="{08B3C095-0C11-4AC9-AE53-32ACCD5BE014}"/>
              </a:ext>
            </a:extLst>
          </p:cNvPr>
          <p:cNvSpPr>
            <a:spLocks noGrp="1"/>
          </p:cNvSpPr>
          <p:nvPr>
            <p:ph idx="1"/>
          </p:nvPr>
        </p:nvSpPr>
        <p:spPr/>
        <p:txBody>
          <a:bodyPr/>
          <a:lstStyle/>
          <a:p>
            <a:pPr marL="0" indent="0">
              <a:buNone/>
            </a:pPr>
            <a:r>
              <a:rPr lang="en-US" dirty="0"/>
              <a:t>A series of bits that the CPU interprets in a known way</a:t>
            </a:r>
          </a:p>
          <a:p>
            <a:pPr marL="0" indent="0">
              <a:buNone/>
            </a:pPr>
            <a:endParaRPr lang="en-US" dirty="0"/>
          </a:p>
          <a:p>
            <a:pPr marL="0" indent="0">
              <a:buNone/>
            </a:pPr>
            <a:r>
              <a:rPr lang="en-US" dirty="0"/>
              <a:t>In SIA, the first 4 bits are the “opcode” – operation code. </a:t>
            </a:r>
          </a:p>
          <a:p>
            <a:pPr marL="0" indent="0">
              <a:buNone/>
            </a:pPr>
            <a:endParaRPr lang="en-US" dirty="0"/>
          </a:p>
          <a:p>
            <a:pPr marL="0" indent="0">
              <a:buNone/>
            </a:pPr>
            <a:r>
              <a:rPr lang="en-US" dirty="0"/>
              <a:t>The CPU decides what to do via those 4 bits. </a:t>
            </a:r>
          </a:p>
          <a:p>
            <a:pPr marL="0" indent="0">
              <a:buNone/>
            </a:pPr>
            <a:endParaRPr lang="en-US" dirty="0"/>
          </a:p>
          <a:p>
            <a:pPr marL="0" indent="0">
              <a:buNone/>
            </a:pPr>
            <a:r>
              <a:rPr lang="en-US" dirty="0"/>
              <a:t>MIPS uses 6 bits (and sometimes more!), all at the beginning (like SIA).</a:t>
            </a:r>
          </a:p>
          <a:p>
            <a:pPr marL="0" indent="0">
              <a:buNone/>
            </a:pPr>
            <a:r>
              <a:rPr lang="en-US" dirty="0"/>
              <a:t>What can we tell about SIA and MIPS from this observation?</a:t>
            </a:r>
          </a:p>
        </p:txBody>
      </p:sp>
    </p:spTree>
    <p:extLst>
      <p:ext uri="{BB962C8B-B14F-4D97-AF65-F5344CB8AC3E}">
        <p14:creationId xmlns:p14="http://schemas.microsoft.com/office/powerpoint/2010/main" val="2901850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F71BC-14AE-4127-98D6-B52CD184F636}"/>
              </a:ext>
            </a:extLst>
          </p:cNvPr>
          <p:cNvSpPr>
            <a:spLocks noGrp="1"/>
          </p:cNvSpPr>
          <p:nvPr>
            <p:ph type="title"/>
          </p:nvPr>
        </p:nvSpPr>
        <p:spPr/>
        <p:txBody>
          <a:bodyPr/>
          <a:lstStyle/>
          <a:p>
            <a:r>
              <a:rPr lang="en-US" dirty="0"/>
              <a:t>x86 is not uniform</a:t>
            </a:r>
          </a:p>
        </p:txBody>
      </p:sp>
      <p:sp>
        <p:nvSpPr>
          <p:cNvPr id="3" name="Content Placeholder 2">
            <a:extLst>
              <a:ext uri="{FF2B5EF4-FFF2-40B4-BE49-F238E27FC236}">
                <a16:creationId xmlns:a16="http://schemas.microsoft.com/office/drawing/2014/main" id="{0BF7D527-058D-43F3-B79F-7DBB84188DEC}"/>
              </a:ext>
            </a:extLst>
          </p:cNvPr>
          <p:cNvSpPr>
            <a:spLocks noGrp="1"/>
          </p:cNvSpPr>
          <p:nvPr>
            <p:ph idx="1"/>
          </p:nvPr>
        </p:nvSpPr>
        <p:spPr/>
        <p:txBody>
          <a:bodyPr/>
          <a:lstStyle/>
          <a:p>
            <a:pPr marL="0" indent="0">
              <a:buNone/>
            </a:pPr>
            <a:r>
              <a:rPr lang="en-US" dirty="0"/>
              <a:t>opcode can be in any byte from 0-6.</a:t>
            </a:r>
          </a:p>
          <a:p>
            <a:pPr marL="0" indent="0">
              <a:buNone/>
            </a:pPr>
            <a:endParaRPr lang="en-US" dirty="0"/>
          </a:p>
          <a:p>
            <a:pPr marL="0" indent="0">
              <a:buNone/>
            </a:pPr>
            <a:r>
              <a:rPr lang="en-US" dirty="0"/>
              <a:t>Uniform is good </a:t>
            </a:r>
          </a:p>
          <a:p>
            <a:pPr marL="0" indent="0">
              <a:buNone/>
            </a:pPr>
            <a:r>
              <a:rPr lang="en-US" dirty="0"/>
              <a:t>	easy to decode, easy to parallelize</a:t>
            </a:r>
          </a:p>
          <a:p>
            <a:pPr marL="0" indent="0">
              <a:buNone/>
            </a:pPr>
            <a:endParaRPr lang="en-US" dirty="0"/>
          </a:p>
          <a:p>
            <a:pPr marL="0" indent="0">
              <a:buNone/>
            </a:pPr>
            <a:r>
              <a:rPr lang="en-US" dirty="0"/>
              <a:t>Non-uniform is good</a:t>
            </a:r>
          </a:p>
          <a:p>
            <a:pPr marL="0" indent="0">
              <a:buNone/>
            </a:pPr>
            <a:r>
              <a:rPr lang="en-US" dirty="0"/>
              <a:t>	instruction format less restricted, doesn’t waste space, powerful</a:t>
            </a:r>
          </a:p>
        </p:txBody>
      </p:sp>
    </p:spTree>
    <p:extLst>
      <p:ext uri="{BB962C8B-B14F-4D97-AF65-F5344CB8AC3E}">
        <p14:creationId xmlns:p14="http://schemas.microsoft.com/office/powerpoint/2010/main" val="1292159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B8AE4-7A9F-4D38-91E8-AB362F9E50DB}"/>
              </a:ext>
            </a:extLst>
          </p:cNvPr>
          <p:cNvSpPr>
            <a:spLocks noGrp="1"/>
          </p:cNvSpPr>
          <p:nvPr>
            <p:ph type="title"/>
          </p:nvPr>
        </p:nvSpPr>
        <p:spPr/>
        <p:txBody>
          <a:bodyPr/>
          <a:lstStyle/>
          <a:p>
            <a:r>
              <a:rPr lang="en-US" dirty="0"/>
              <a:t>Tradeoffs – number of bits</a:t>
            </a:r>
          </a:p>
        </p:txBody>
      </p:sp>
      <p:sp>
        <p:nvSpPr>
          <p:cNvPr id="3" name="Content Placeholder 2">
            <a:extLst>
              <a:ext uri="{FF2B5EF4-FFF2-40B4-BE49-F238E27FC236}">
                <a16:creationId xmlns:a16="http://schemas.microsoft.com/office/drawing/2014/main" id="{4852EA6B-721C-4F77-8A79-5B72B3D619CC}"/>
              </a:ext>
            </a:extLst>
          </p:cNvPr>
          <p:cNvSpPr>
            <a:spLocks noGrp="1"/>
          </p:cNvSpPr>
          <p:nvPr>
            <p:ph idx="1"/>
          </p:nvPr>
        </p:nvSpPr>
        <p:spPr>
          <a:xfrm>
            <a:off x="838200" y="1600200"/>
            <a:ext cx="10515600" cy="4576763"/>
          </a:xfrm>
        </p:spPr>
        <p:txBody>
          <a:bodyPr/>
          <a:lstStyle/>
          <a:p>
            <a:pPr marL="0" indent="0">
              <a:buNone/>
            </a:pPr>
            <a:r>
              <a:rPr lang="en-US" dirty="0"/>
              <a:t>Supporting more instructions requires more bits. </a:t>
            </a:r>
          </a:p>
          <a:p>
            <a:pPr marL="0" indent="0">
              <a:buNone/>
            </a:pPr>
            <a:r>
              <a:rPr lang="en-US" dirty="0"/>
              <a:t>It’s only a few bits. Why does that matter?</a:t>
            </a:r>
          </a:p>
          <a:p>
            <a:pPr marL="0" indent="0">
              <a:buNone/>
            </a:pPr>
            <a:endParaRPr lang="en-US" dirty="0"/>
          </a:p>
          <a:p>
            <a:pPr marL="0" indent="0">
              <a:buNone/>
            </a:pPr>
            <a:r>
              <a:rPr lang="en-US" dirty="0"/>
              <a:t>In SIA, most instructions are 16 bits. </a:t>
            </a:r>
          </a:p>
          <a:p>
            <a:pPr marL="0" indent="0">
              <a:buNone/>
            </a:pPr>
            <a:r>
              <a:rPr lang="en-US" dirty="0"/>
              <a:t>If your memory bus is 64 bits wide, how many instructions can you fetch at once?</a:t>
            </a:r>
          </a:p>
          <a:p>
            <a:pPr marL="0" indent="0">
              <a:buNone/>
            </a:pPr>
            <a:r>
              <a:rPr lang="en-US" dirty="0"/>
              <a:t>Most MIPS instructions are 32 bits. How many instructions can you fetch at once on the same bus?</a:t>
            </a:r>
          </a:p>
        </p:txBody>
      </p:sp>
    </p:spTree>
    <p:extLst>
      <p:ext uri="{BB962C8B-B14F-4D97-AF65-F5344CB8AC3E}">
        <p14:creationId xmlns:p14="http://schemas.microsoft.com/office/powerpoint/2010/main" val="3554724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8D412AD-9CF4-4510-97DC-34D6CC8308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643467" y="691992"/>
            <a:ext cx="4025724" cy="552254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C771EA8-D3B0-431D-AF9E-F9E1441BD41F}"/>
              </a:ext>
            </a:extLst>
          </p:cNvPr>
          <p:cNvSpPr>
            <a:spLocks noGrp="1"/>
          </p:cNvSpPr>
          <p:nvPr>
            <p:ph type="title"/>
          </p:nvPr>
        </p:nvSpPr>
        <p:spPr>
          <a:xfrm>
            <a:off x="1072055" y="1019504"/>
            <a:ext cx="3147848" cy="820314"/>
          </a:xfrm>
        </p:spPr>
        <p:txBody>
          <a:bodyPr anchor="b">
            <a:normAutofit/>
          </a:bodyPr>
          <a:lstStyle/>
          <a:p>
            <a:r>
              <a:rPr lang="en-US" sz="4000" dirty="0">
                <a:solidFill>
                  <a:srgbClr val="FFFFFF"/>
                </a:solidFill>
              </a:rPr>
              <a:t>Bit Steering</a:t>
            </a:r>
          </a:p>
        </p:txBody>
      </p:sp>
      <p:sp>
        <p:nvSpPr>
          <p:cNvPr id="3" name="Content Placeholder 2">
            <a:extLst>
              <a:ext uri="{FF2B5EF4-FFF2-40B4-BE49-F238E27FC236}">
                <a16:creationId xmlns:a16="http://schemas.microsoft.com/office/drawing/2014/main" id="{361FE164-F974-4652-A185-85FB49006C3A}"/>
              </a:ext>
            </a:extLst>
          </p:cNvPr>
          <p:cNvSpPr>
            <a:spLocks noGrp="1"/>
          </p:cNvSpPr>
          <p:nvPr>
            <p:ph idx="1"/>
          </p:nvPr>
        </p:nvSpPr>
        <p:spPr>
          <a:xfrm>
            <a:off x="1072056" y="2027104"/>
            <a:ext cx="3147848" cy="3910988"/>
          </a:xfrm>
        </p:spPr>
        <p:txBody>
          <a:bodyPr>
            <a:normAutofit/>
          </a:bodyPr>
          <a:lstStyle/>
          <a:p>
            <a:pPr marL="0" indent="0">
              <a:buNone/>
            </a:pPr>
            <a:r>
              <a:rPr lang="en-US" sz="3200" dirty="0">
                <a:solidFill>
                  <a:srgbClr val="FFFFFF"/>
                </a:solidFill>
              </a:rPr>
              <a:t>Bit steering is the term for a single bit “steering” the CPU – controlling how the next bits are interpreted. An example from the Alpha CPU.</a:t>
            </a:r>
          </a:p>
          <a:p>
            <a:pPr marL="0" indent="0">
              <a:buNone/>
            </a:pPr>
            <a:endParaRPr lang="en-US" sz="1800" dirty="0">
              <a:solidFill>
                <a:srgbClr val="FFFFFF"/>
              </a:solidFill>
            </a:endParaRPr>
          </a:p>
          <a:p>
            <a:pPr marL="0" indent="0">
              <a:buNone/>
            </a:pPr>
            <a:endParaRPr lang="en-US" sz="1800" dirty="0">
              <a:solidFill>
                <a:srgbClr val="FFFFFF"/>
              </a:solidFill>
            </a:endParaRPr>
          </a:p>
        </p:txBody>
      </p:sp>
      <p:pic>
        <p:nvPicPr>
          <p:cNvPr id="4" name="Picture 3">
            <a:extLst>
              <a:ext uri="{FF2B5EF4-FFF2-40B4-BE49-F238E27FC236}">
                <a16:creationId xmlns:a16="http://schemas.microsoft.com/office/drawing/2014/main" id="{8904F13F-EE8B-4A51-BB87-EB473644F59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16539" y="1463231"/>
            <a:ext cx="6331994" cy="400244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01307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71444-6DA8-42AB-86D4-6909077B04A5}"/>
              </a:ext>
            </a:extLst>
          </p:cNvPr>
          <p:cNvSpPr>
            <a:spLocks noGrp="1"/>
          </p:cNvSpPr>
          <p:nvPr>
            <p:ph type="title"/>
          </p:nvPr>
        </p:nvSpPr>
        <p:spPr>
          <a:xfrm>
            <a:off x="838200" y="26797"/>
            <a:ext cx="10515600" cy="805307"/>
          </a:xfrm>
        </p:spPr>
        <p:txBody>
          <a:bodyPr>
            <a:normAutofit/>
          </a:bodyPr>
          <a:lstStyle/>
          <a:p>
            <a:r>
              <a:rPr lang="en-US" dirty="0"/>
              <a:t>Accumulator Architectures</a:t>
            </a:r>
          </a:p>
        </p:txBody>
      </p:sp>
      <p:sp>
        <p:nvSpPr>
          <p:cNvPr id="3" name="Content Placeholder 2">
            <a:extLst>
              <a:ext uri="{FF2B5EF4-FFF2-40B4-BE49-F238E27FC236}">
                <a16:creationId xmlns:a16="http://schemas.microsoft.com/office/drawing/2014/main" id="{4D7CA7D2-86C1-48F2-AE17-324CFAF70F50}"/>
              </a:ext>
            </a:extLst>
          </p:cNvPr>
          <p:cNvSpPr>
            <a:spLocks noGrp="1"/>
          </p:cNvSpPr>
          <p:nvPr>
            <p:ph idx="1"/>
          </p:nvPr>
        </p:nvSpPr>
        <p:spPr>
          <a:xfrm>
            <a:off x="838200" y="978408"/>
            <a:ext cx="10515600" cy="5879591"/>
          </a:xfrm>
        </p:spPr>
        <p:txBody>
          <a:bodyPr>
            <a:normAutofit lnSpcReduction="10000"/>
          </a:bodyPr>
          <a:lstStyle/>
          <a:p>
            <a:pPr marL="0" indent="0">
              <a:buNone/>
            </a:pPr>
            <a:r>
              <a:rPr lang="en-US" dirty="0"/>
              <a:t>Only one data register – the accumulator (for results of computations)</a:t>
            </a:r>
          </a:p>
          <a:p>
            <a:pPr marL="0" indent="0">
              <a:buNone/>
            </a:pPr>
            <a:r>
              <a:rPr lang="en-US" dirty="0"/>
              <a:t>A small (2) number of address registers. </a:t>
            </a:r>
          </a:p>
          <a:p>
            <a:pPr marL="0" indent="0">
              <a:buNone/>
            </a:pPr>
            <a:r>
              <a:rPr lang="en-US" dirty="0"/>
              <a:t>All data is stored in RAM; you change the address registers, then indicate the instruction to be performed on the two address registers.</a:t>
            </a:r>
          </a:p>
          <a:p>
            <a:pPr marL="0" indent="0">
              <a:buNone/>
            </a:pPr>
            <a:r>
              <a:rPr lang="en-US" dirty="0"/>
              <a:t>Example:</a:t>
            </a:r>
          </a:p>
          <a:p>
            <a:pPr marL="0" indent="0">
              <a:buNone/>
            </a:pPr>
            <a:r>
              <a:rPr lang="en-US" dirty="0"/>
              <a:t>LDA #$c0  ;Load the hex value $c0 into the accumulator</a:t>
            </a:r>
          </a:p>
          <a:p>
            <a:pPr marL="0" indent="0">
              <a:buNone/>
            </a:pPr>
            <a:r>
              <a:rPr lang="en-US" dirty="0"/>
              <a:t>TAX       ;Transfer the value in the accumulator to X</a:t>
            </a:r>
          </a:p>
          <a:p>
            <a:pPr marL="0" indent="0">
              <a:buNone/>
            </a:pPr>
            <a:r>
              <a:rPr lang="en-US" dirty="0"/>
              <a:t>INX       ;Increment the value in the X register</a:t>
            </a:r>
          </a:p>
          <a:p>
            <a:pPr marL="0" indent="0">
              <a:buNone/>
            </a:pPr>
            <a:r>
              <a:rPr lang="en-US" dirty="0"/>
              <a:t>ADC #$c4  ;Add the hex value $c4 to the accumulator</a:t>
            </a:r>
          </a:p>
          <a:p>
            <a:pPr marL="0" indent="0">
              <a:buNone/>
            </a:pPr>
            <a:r>
              <a:rPr lang="en-US" dirty="0"/>
              <a:t>BRK       ;Break - we're done</a:t>
            </a:r>
          </a:p>
          <a:p>
            <a:pPr marL="0" indent="0">
              <a:buNone/>
            </a:pPr>
            <a:endParaRPr lang="en-US" dirty="0"/>
          </a:p>
          <a:p>
            <a:pPr marL="0" indent="0">
              <a:buNone/>
            </a:pPr>
            <a:r>
              <a:rPr lang="en-US" dirty="0"/>
              <a:t>6502</a:t>
            </a:r>
          </a:p>
        </p:txBody>
      </p:sp>
    </p:spTree>
    <p:extLst>
      <p:ext uri="{BB962C8B-B14F-4D97-AF65-F5344CB8AC3E}">
        <p14:creationId xmlns:p14="http://schemas.microsoft.com/office/powerpoint/2010/main" val="351834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ED328-D316-431E-9855-518ED6BFA71E}"/>
              </a:ext>
            </a:extLst>
          </p:cNvPr>
          <p:cNvSpPr>
            <a:spLocks noGrp="1"/>
          </p:cNvSpPr>
          <p:nvPr>
            <p:ph type="title"/>
          </p:nvPr>
        </p:nvSpPr>
        <p:spPr>
          <a:xfrm>
            <a:off x="838200" y="-635"/>
            <a:ext cx="10515600" cy="741299"/>
          </a:xfrm>
        </p:spPr>
        <p:txBody>
          <a:bodyPr/>
          <a:lstStyle/>
          <a:p>
            <a:r>
              <a:rPr lang="en-US" dirty="0"/>
              <a:t>Stack Based Architectures</a:t>
            </a:r>
          </a:p>
        </p:txBody>
      </p:sp>
      <p:sp>
        <p:nvSpPr>
          <p:cNvPr id="3" name="Content Placeholder 2">
            <a:extLst>
              <a:ext uri="{FF2B5EF4-FFF2-40B4-BE49-F238E27FC236}">
                <a16:creationId xmlns:a16="http://schemas.microsoft.com/office/drawing/2014/main" id="{C1416984-B6BA-4375-B785-81488DF69DC6}"/>
              </a:ext>
            </a:extLst>
          </p:cNvPr>
          <p:cNvSpPr>
            <a:spLocks noGrp="1"/>
          </p:cNvSpPr>
          <p:nvPr>
            <p:ph idx="1"/>
          </p:nvPr>
        </p:nvSpPr>
        <p:spPr>
          <a:xfrm>
            <a:off x="838200" y="1161288"/>
            <a:ext cx="10515600" cy="5614415"/>
          </a:xfrm>
        </p:spPr>
        <p:txBody>
          <a:bodyPr>
            <a:normAutofit lnSpcReduction="10000"/>
          </a:bodyPr>
          <a:lstStyle/>
          <a:p>
            <a:pPr marL="0" indent="0">
              <a:buNone/>
            </a:pPr>
            <a:r>
              <a:rPr lang="en-US" dirty="0"/>
              <a:t>No registers at all. The CPU works totally in memory.</a:t>
            </a:r>
          </a:p>
          <a:p>
            <a:pPr marL="0" indent="0">
              <a:buNone/>
            </a:pPr>
            <a:r>
              <a:rPr lang="en-US" dirty="0"/>
              <a:t>Very simple to build a CPU for, small instruction set. </a:t>
            </a:r>
          </a:p>
          <a:p>
            <a:pPr marL="0" indent="0">
              <a:buNone/>
            </a:pPr>
            <a:r>
              <a:rPr lang="en-US" dirty="0"/>
              <a:t>A lot more memory references. </a:t>
            </a:r>
          </a:p>
          <a:p>
            <a:pPr marL="0" indent="0">
              <a:buNone/>
            </a:pPr>
            <a:r>
              <a:rPr lang="en-US" dirty="0"/>
              <a:t>Hard to run out of order, pipeline, etc. Not flexible. </a:t>
            </a:r>
          </a:p>
          <a:p>
            <a:pPr marL="0" indent="0">
              <a:buNone/>
            </a:pPr>
            <a:r>
              <a:rPr lang="en-US" dirty="0"/>
              <a:t>Example:</a:t>
            </a:r>
            <a:br>
              <a:rPr lang="en-US" dirty="0"/>
            </a:br>
            <a:r>
              <a:rPr lang="en-US" dirty="0"/>
              <a:t>push 5</a:t>
            </a:r>
          </a:p>
          <a:p>
            <a:pPr marL="0" indent="0">
              <a:buNone/>
            </a:pPr>
            <a:r>
              <a:rPr lang="en-US" dirty="0"/>
              <a:t>push 3</a:t>
            </a:r>
          </a:p>
          <a:p>
            <a:pPr marL="0" indent="0">
              <a:buNone/>
            </a:pPr>
            <a:r>
              <a:rPr lang="en-US" dirty="0"/>
              <a:t>add</a:t>
            </a:r>
          </a:p>
          <a:p>
            <a:pPr marL="0" indent="0">
              <a:buNone/>
            </a:pPr>
            <a:r>
              <a:rPr lang="en-US" dirty="0"/>
              <a:t>push 2</a:t>
            </a:r>
          </a:p>
          <a:p>
            <a:pPr marL="0" indent="0">
              <a:buNone/>
            </a:pPr>
            <a:r>
              <a:rPr lang="en-US" dirty="0"/>
              <a:t>multiply</a:t>
            </a:r>
          </a:p>
          <a:p>
            <a:pPr marL="0" indent="0">
              <a:buNone/>
            </a:pPr>
            <a:endParaRPr lang="en-US" dirty="0"/>
          </a:p>
          <a:p>
            <a:pPr marL="0" indent="0">
              <a:buNone/>
            </a:pPr>
            <a:r>
              <a:rPr lang="en-US" dirty="0"/>
              <a:t>Mostly implemented in virtual machines – rarely in hardware.</a:t>
            </a:r>
          </a:p>
        </p:txBody>
      </p:sp>
    </p:spTree>
    <p:extLst>
      <p:ext uri="{BB962C8B-B14F-4D97-AF65-F5344CB8AC3E}">
        <p14:creationId xmlns:p14="http://schemas.microsoft.com/office/powerpoint/2010/main" val="113132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85522-AD00-458E-A650-BC6219AF68A9}"/>
              </a:ext>
            </a:extLst>
          </p:cNvPr>
          <p:cNvSpPr>
            <a:spLocks noGrp="1"/>
          </p:cNvSpPr>
          <p:nvPr>
            <p:ph type="title"/>
          </p:nvPr>
        </p:nvSpPr>
        <p:spPr/>
        <p:txBody>
          <a:bodyPr/>
          <a:lstStyle/>
          <a:p>
            <a:r>
              <a:rPr lang="en-US" dirty="0"/>
              <a:t>Dataflow Architecture</a:t>
            </a:r>
          </a:p>
        </p:txBody>
      </p:sp>
      <p:sp>
        <p:nvSpPr>
          <p:cNvPr id="3" name="Content Placeholder 2">
            <a:extLst>
              <a:ext uri="{FF2B5EF4-FFF2-40B4-BE49-F238E27FC236}">
                <a16:creationId xmlns:a16="http://schemas.microsoft.com/office/drawing/2014/main" id="{DEEE03E9-6178-46EB-9995-746F94E9621B}"/>
              </a:ext>
            </a:extLst>
          </p:cNvPr>
          <p:cNvSpPr>
            <a:spLocks noGrp="1"/>
          </p:cNvSpPr>
          <p:nvPr>
            <p:ph idx="1"/>
          </p:nvPr>
        </p:nvSpPr>
        <p:spPr/>
        <p:txBody>
          <a:bodyPr/>
          <a:lstStyle/>
          <a:p>
            <a:pPr marL="0" indent="0">
              <a:buNone/>
            </a:pPr>
            <a:r>
              <a:rPr lang="en-US" dirty="0"/>
              <a:t>Instead of thinking of a program as a list of things to do, consider it, instead, as a graph of operations. </a:t>
            </a:r>
          </a:p>
          <a:p>
            <a:pPr marL="0" indent="0">
              <a:buNone/>
            </a:pPr>
            <a:endParaRPr lang="en-US" dirty="0"/>
          </a:p>
          <a:p>
            <a:pPr marL="0" indent="0">
              <a:buNone/>
            </a:pPr>
            <a:r>
              <a:rPr lang="en-US" dirty="0"/>
              <a:t>The CPU executes instructions when their inputs are available. Order of execution is indeterminate, although constrained by the graph of operations.</a:t>
            </a:r>
          </a:p>
          <a:p>
            <a:pPr marL="0" indent="0">
              <a:buNone/>
            </a:pPr>
            <a:endParaRPr lang="en-US" dirty="0"/>
          </a:p>
          <a:p>
            <a:pPr marL="0" indent="0">
              <a:buNone/>
            </a:pPr>
            <a:r>
              <a:rPr lang="en-US" dirty="0"/>
              <a:t>This has never been commercially implemented as a general purpose CPU, but there have been examples in, for example, DSPs.</a:t>
            </a:r>
          </a:p>
        </p:txBody>
      </p:sp>
    </p:spTree>
    <p:extLst>
      <p:ext uri="{BB962C8B-B14F-4D97-AF65-F5344CB8AC3E}">
        <p14:creationId xmlns:p14="http://schemas.microsoft.com/office/powerpoint/2010/main" val="1762330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2B496-B410-4892-BA3C-DC145734A062}"/>
              </a:ext>
            </a:extLst>
          </p:cNvPr>
          <p:cNvSpPr>
            <a:spLocks noGrp="1"/>
          </p:cNvSpPr>
          <p:nvPr>
            <p:ph type="title"/>
          </p:nvPr>
        </p:nvSpPr>
        <p:spPr/>
        <p:txBody>
          <a:bodyPr/>
          <a:lstStyle/>
          <a:p>
            <a:r>
              <a:rPr lang="en-US" dirty="0"/>
              <a:t>CISC </a:t>
            </a:r>
          </a:p>
        </p:txBody>
      </p:sp>
      <p:sp>
        <p:nvSpPr>
          <p:cNvPr id="3" name="Content Placeholder 2">
            <a:extLst>
              <a:ext uri="{FF2B5EF4-FFF2-40B4-BE49-F238E27FC236}">
                <a16:creationId xmlns:a16="http://schemas.microsoft.com/office/drawing/2014/main" id="{BF8D3913-730F-4CD9-8403-6669EC9D7139}"/>
              </a:ext>
            </a:extLst>
          </p:cNvPr>
          <p:cNvSpPr>
            <a:spLocks noGrp="1"/>
          </p:cNvSpPr>
          <p:nvPr>
            <p:ph idx="1"/>
          </p:nvPr>
        </p:nvSpPr>
        <p:spPr/>
        <p:txBody>
          <a:bodyPr>
            <a:normAutofit lnSpcReduction="10000"/>
          </a:bodyPr>
          <a:lstStyle/>
          <a:p>
            <a:pPr marL="0" indent="0">
              <a:buNone/>
            </a:pPr>
            <a:r>
              <a:rPr lang="en-US" dirty="0"/>
              <a:t>Complex Instruction Set Computer</a:t>
            </a:r>
          </a:p>
          <a:p>
            <a:pPr marL="0" indent="0">
              <a:buNone/>
            </a:pPr>
            <a:endParaRPr lang="en-US" dirty="0"/>
          </a:p>
          <a:p>
            <a:pPr marL="0" indent="0">
              <a:buNone/>
            </a:pPr>
            <a:r>
              <a:rPr lang="en-US" dirty="0"/>
              <a:t>The instruction set has lots of complex instructions. VAX was the king of CISC – it had instructions for string operations, like “</a:t>
            </a:r>
            <a:r>
              <a:rPr lang="en-US" dirty="0" err="1"/>
              <a:t>strlen</a:t>
            </a:r>
            <a:r>
              <a:rPr lang="en-US" dirty="0"/>
              <a:t>” and even polynomial evaluation! x86 and x64 are the most popular CISC</a:t>
            </a:r>
          </a:p>
          <a:p>
            <a:pPr marL="0" indent="0">
              <a:buNone/>
            </a:pPr>
            <a:endParaRPr lang="en-US" dirty="0"/>
          </a:p>
          <a:p>
            <a:pPr marL="0" indent="0">
              <a:buNone/>
            </a:pPr>
            <a:r>
              <a:rPr lang="en-US" dirty="0"/>
              <a:t>Easy and fun to write in assembly with all of these toys to play with!</a:t>
            </a:r>
          </a:p>
          <a:p>
            <a:pPr marL="0" indent="0">
              <a:buNone/>
            </a:pPr>
            <a:endParaRPr lang="en-US" dirty="0"/>
          </a:p>
          <a:p>
            <a:pPr marL="0" indent="0">
              <a:buNone/>
            </a:pPr>
            <a:r>
              <a:rPr lang="en-US" dirty="0"/>
              <a:t>How do you think that impacts processor performance? Think about clock rate and memory bandwidth.</a:t>
            </a:r>
          </a:p>
        </p:txBody>
      </p:sp>
    </p:spTree>
    <p:extLst>
      <p:ext uri="{BB962C8B-B14F-4D97-AF65-F5344CB8AC3E}">
        <p14:creationId xmlns:p14="http://schemas.microsoft.com/office/powerpoint/2010/main" val="15600937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F0E08-1A7F-4F95-BABB-D8A9B70DDD72}"/>
              </a:ext>
            </a:extLst>
          </p:cNvPr>
          <p:cNvSpPr>
            <a:spLocks noGrp="1"/>
          </p:cNvSpPr>
          <p:nvPr>
            <p:ph type="title"/>
          </p:nvPr>
        </p:nvSpPr>
        <p:spPr>
          <a:xfrm>
            <a:off x="838200" y="365125"/>
            <a:ext cx="10515600" cy="1325563"/>
          </a:xfrm>
        </p:spPr>
        <p:txBody>
          <a:bodyPr/>
          <a:lstStyle/>
          <a:p>
            <a:r>
              <a:rPr lang="en-US"/>
              <a:t>RISC</a:t>
            </a:r>
            <a:endParaRPr lang="en-US" dirty="0"/>
          </a:p>
        </p:txBody>
      </p:sp>
      <p:sp>
        <p:nvSpPr>
          <p:cNvPr id="3" name="Content Placeholder 2">
            <a:extLst>
              <a:ext uri="{FF2B5EF4-FFF2-40B4-BE49-F238E27FC236}">
                <a16:creationId xmlns:a16="http://schemas.microsoft.com/office/drawing/2014/main" id="{2850B307-95C5-4CCB-93FA-AE2B75352BF6}"/>
              </a:ext>
            </a:extLst>
          </p:cNvPr>
          <p:cNvSpPr>
            <a:spLocks noGrp="1"/>
          </p:cNvSpPr>
          <p:nvPr>
            <p:ph idx="1"/>
          </p:nvPr>
        </p:nvSpPr>
        <p:spPr/>
        <p:txBody>
          <a:bodyPr/>
          <a:lstStyle/>
          <a:p>
            <a:pPr marL="0" indent="0">
              <a:buNone/>
            </a:pPr>
            <a:r>
              <a:rPr lang="en-US" dirty="0"/>
              <a:t>Reduced instruction set computer</a:t>
            </a:r>
          </a:p>
          <a:p>
            <a:pPr marL="0" indent="0">
              <a:buNone/>
            </a:pPr>
            <a:endParaRPr lang="en-US" dirty="0"/>
          </a:p>
          <a:p>
            <a:pPr marL="0" indent="0">
              <a:buNone/>
            </a:pPr>
            <a:r>
              <a:rPr lang="en-US" dirty="0"/>
              <a:t>A reaction to CISC – simplify the instructions, run the clock faster</a:t>
            </a:r>
          </a:p>
          <a:p>
            <a:pPr marL="0" indent="0">
              <a:buNone/>
            </a:pPr>
            <a:endParaRPr lang="en-US" dirty="0"/>
          </a:p>
          <a:p>
            <a:pPr marL="0" indent="0">
              <a:buNone/>
            </a:pPr>
            <a:r>
              <a:rPr lang="en-US" dirty="0"/>
              <a:t>MIPS and ARM are good examples.</a:t>
            </a:r>
          </a:p>
          <a:p>
            <a:pPr marL="0" indent="0">
              <a:buNone/>
            </a:pPr>
            <a:endParaRPr lang="en-US" dirty="0"/>
          </a:p>
          <a:p>
            <a:pPr marL="0" indent="0">
              <a:buNone/>
            </a:pPr>
            <a:r>
              <a:rPr lang="en-US" dirty="0"/>
              <a:t>Consider the tradeoffs from the last slide (clock speed, memory bandwidth) </a:t>
            </a:r>
          </a:p>
        </p:txBody>
      </p:sp>
    </p:spTree>
    <p:extLst>
      <p:ext uri="{BB962C8B-B14F-4D97-AF65-F5344CB8AC3E}">
        <p14:creationId xmlns:p14="http://schemas.microsoft.com/office/powerpoint/2010/main" val="40667039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2B04B-E867-4A7E-8C52-CF4FA2416E52}"/>
              </a:ext>
            </a:extLst>
          </p:cNvPr>
          <p:cNvSpPr>
            <a:spLocks noGrp="1"/>
          </p:cNvSpPr>
          <p:nvPr>
            <p:ph type="title"/>
          </p:nvPr>
        </p:nvSpPr>
        <p:spPr/>
        <p:txBody>
          <a:bodyPr/>
          <a:lstStyle/>
          <a:p>
            <a:r>
              <a:rPr lang="en-US" dirty="0"/>
              <a:t>Hybrid CISC-RISC</a:t>
            </a:r>
          </a:p>
        </p:txBody>
      </p:sp>
      <p:sp>
        <p:nvSpPr>
          <p:cNvPr id="3" name="Content Placeholder 2">
            <a:extLst>
              <a:ext uri="{FF2B5EF4-FFF2-40B4-BE49-F238E27FC236}">
                <a16:creationId xmlns:a16="http://schemas.microsoft.com/office/drawing/2014/main" id="{3983F1D7-7557-4EE7-BAD2-E890F2C9752A}"/>
              </a:ext>
            </a:extLst>
          </p:cNvPr>
          <p:cNvSpPr>
            <a:spLocks noGrp="1"/>
          </p:cNvSpPr>
          <p:nvPr>
            <p:ph idx="1"/>
          </p:nvPr>
        </p:nvSpPr>
        <p:spPr/>
        <p:txBody>
          <a:bodyPr/>
          <a:lstStyle/>
          <a:p>
            <a:pPr marL="0" indent="0">
              <a:buNone/>
            </a:pPr>
            <a:r>
              <a:rPr lang="en-US" dirty="0"/>
              <a:t>Store CISC in memory, convert the instructions to RISC inside the CPU</a:t>
            </a:r>
          </a:p>
          <a:p>
            <a:pPr marL="0" indent="0">
              <a:buNone/>
            </a:pPr>
            <a:endParaRPr lang="en-US" dirty="0"/>
          </a:p>
          <a:p>
            <a:pPr marL="0" indent="0">
              <a:buNone/>
            </a:pPr>
            <a:r>
              <a:rPr lang="en-US" dirty="0"/>
              <a:t>Benefits: Instruction packing in memory, better use of memory bandwidth</a:t>
            </a:r>
          </a:p>
          <a:p>
            <a:pPr marL="0" indent="0">
              <a:buNone/>
            </a:pPr>
            <a:endParaRPr lang="en-US" dirty="0"/>
          </a:p>
          <a:p>
            <a:pPr marL="0" indent="0">
              <a:buNone/>
            </a:pPr>
            <a:r>
              <a:rPr lang="en-US" dirty="0"/>
              <a:t>Downsides: More circuitry to do the unpacking, CPU is more complex and doesn’t match the ISA model exactly</a:t>
            </a:r>
          </a:p>
          <a:p>
            <a:pPr marL="0" indent="0">
              <a:buNone/>
            </a:pPr>
            <a:endParaRPr lang="en-US" dirty="0"/>
          </a:p>
          <a:p>
            <a:pPr marL="0" indent="0">
              <a:buNone/>
            </a:pPr>
            <a:r>
              <a:rPr lang="en-US" dirty="0"/>
              <a:t>Who uses this today?</a:t>
            </a:r>
          </a:p>
        </p:txBody>
      </p:sp>
    </p:spTree>
    <p:extLst>
      <p:ext uri="{BB962C8B-B14F-4D97-AF65-F5344CB8AC3E}">
        <p14:creationId xmlns:p14="http://schemas.microsoft.com/office/powerpoint/2010/main" val="3107232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E2972-F103-4AF6-A49F-16DD9451615D}"/>
              </a:ext>
            </a:extLst>
          </p:cNvPr>
          <p:cNvSpPr>
            <a:spLocks noGrp="1"/>
          </p:cNvSpPr>
          <p:nvPr>
            <p:ph type="title"/>
          </p:nvPr>
        </p:nvSpPr>
        <p:spPr/>
        <p:txBody>
          <a:bodyPr/>
          <a:lstStyle/>
          <a:p>
            <a:r>
              <a:rPr lang="en-US" dirty="0"/>
              <a:t>Registers</a:t>
            </a:r>
          </a:p>
        </p:txBody>
      </p:sp>
      <p:sp>
        <p:nvSpPr>
          <p:cNvPr id="3" name="Content Placeholder 2">
            <a:extLst>
              <a:ext uri="{FF2B5EF4-FFF2-40B4-BE49-F238E27FC236}">
                <a16:creationId xmlns:a16="http://schemas.microsoft.com/office/drawing/2014/main" id="{E34F3CC3-499B-47C8-9030-41265DFBD162}"/>
              </a:ext>
            </a:extLst>
          </p:cNvPr>
          <p:cNvSpPr>
            <a:spLocks noGrp="1"/>
          </p:cNvSpPr>
          <p:nvPr>
            <p:ph idx="1"/>
          </p:nvPr>
        </p:nvSpPr>
        <p:spPr/>
        <p:txBody>
          <a:bodyPr/>
          <a:lstStyle/>
          <a:p>
            <a:pPr marL="0" indent="0">
              <a:buNone/>
            </a:pPr>
            <a:r>
              <a:rPr lang="en-US" dirty="0"/>
              <a:t>Recall that SIA has 16 registers</a:t>
            </a:r>
          </a:p>
          <a:p>
            <a:pPr marL="0" indent="0">
              <a:buNone/>
            </a:pPr>
            <a:r>
              <a:rPr lang="en-US" dirty="0"/>
              <a:t>How many bits do you need to represent 16 registers?</a:t>
            </a:r>
          </a:p>
          <a:p>
            <a:pPr marL="0" indent="0">
              <a:buNone/>
            </a:pPr>
            <a:endParaRPr lang="en-US" dirty="0"/>
          </a:p>
          <a:p>
            <a:pPr marL="0" indent="0">
              <a:buNone/>
            </a:pPr>
            <a:r>
              <a:rPr lang="en-US" dirty="0"/>
              <a:t>Recall that MIPS has 32 registers</a:t>
            </a:r>
          </a:p>
          <a:p>
            <a:pPr marL="0" indent="0">
              <a:buNone/>
            </a:pPr>
            <a:r>
              <a:rPr lang="en-US" dirty="0"/>
              <a:t>How many bits do you need to represent those 32 registers?</a:t>
            </a:r>
          </a:p>
          <a:p>
            <a:pPr marL="0" indent="0">
              <a:buNone/>
            </a:pPr>
            <a:endParaRPr lang="en-US" dirty="0"/>
          </a:p>
          <a:p>
            <a:pPr marL="0" indent="0">
              <a:buNone/>
            </a:pPr>
            <a:r>
              <a:rPr lang="en-US" dirty="0"/>
              <a:t>Why does this matter?</a:t>
            </a:r>
          </a:p>
          <a:p>
            <a:pPr marL="0" indent="0">
              <a:buNone/>
            </a:pPr>
            <a:r>
              <a:rPr lang="en-US" dirty="0"/>
              <a:t>What do you think about a machine with 256 registers?</a:t>
            </a:r>
          </a:p>
        </p:txBody>
      </p:sp>
    </p:spTree>
    <p:extLst>
      <p:ext uri="{BB962C8B-B14F-4D97-AF65-F5344CB8AC3E}">
        <p14:creationId xmlns:p14="http://schemas.microsoft.com/office/powerpoint/2010/main" val="32685038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9013B-405B-46CA-93B4-6E89AE9D6940}"/>
              </a:ext>
            </a:extLst>
          </p:cNvPr>
          <p:cNvSpPr>
            <a:spLocks noGrp="1"/>
          </p:cNvSpPr>
          <p:nvPr>
            <p:ph type="title"/>
          </p:nvPr>
        </p:nvSpPr>
        <p:spPr/>
        <p:txBody>
          <a:bodyPr/>
          <a:lstStyle/>
          <a:p>
            <a:r>
              <a:rPr lang="en-US" dirty="0"/>
              <a:t>Register Use</a:t>
            </a:r>
          </a:p>
        </p:txBody>
      </p:sp>
      <p:sp>
        <p:nvSpPr>
          <p:cNvPr id="3" name="Content Placeholder 2">
            <a:extLst>
              <a:ext uri="{FF2B5EF4-FFF2-40B4-BE49-F238E27FC236}">
                <a16:creationId xmlns:a16="http://schemas.microsoft.com/office/drawing/2014/main" id="{F064F13A-390D-4B4F-BC9D-F4DB6D2A43E2}"/>
              </a:ext>
            </a:extLst>
          </p:cNvPr>
          <p:cNvSpPr>
            <a:spLocks noGrp="1"/>
          </p:cNvSpPr>
          <p:nvPr>
            <p:ph idx="1"/>
          </p:nvPr>
        </p:nvSpPr>
        <p:spPr/>
        <p:txBody>
          <a:bodyPr/>
          <a:lstStyle/>
          <a:p>
            <a:pPr marL="0" indent="0">
              <a:buNone/>
            </a:pPr>
            <a:r>
              <a:rPr lang="en-US" dirty="0"/>
              <a:t>When we don’t have enough registers, just like cache, we “thrash” – we load/store values to main memory. This slows our code.</a:t>
            </a:r>
          </a:p>
          <a:p>
            <a:pPr marL="0" indent="0">
              <a:buNone/>
            </a:pPr>
            <a:endParaRPr lang="en-US" dirty="0"/>
          </a:p>
          <a:p>
            <a:pPr marL="0" indent="0">
              <a:buNone/>
            </a:pPr>
            <a:r>
              <a:rPr lang="en-US" dirty="0"/>
              <a:t>If we have “too many” registers, we paid the price (instruction size, SRAM, power) to have all these registers and we aren’t using them.</a:t>
            </a:r>
          </a:p>
          <a:p>
            <a:pPr marL="0" indent="0">
              <a:buNone/>
            </a:pPr>
            <a:endParaRPr lang="en-US" dirty="0"/>
          </a:p>
          <a:p>
            <a:pPr marL="0" indent="0">
              <a:buNone/>
            </a:pPr>
            <a:r>
              <a:rPr lang="en-US" dirty="0"/>
              <a:t>What’s the right number? Depends on the program that we are running.</a:t>
            </a:r>
          </a:p>
        </p:txBody>
      </p:sp>
    </p:spTree>
    <p:extLst>
      <p:ext uri="{BB962C8B-B14F-4D97-AF65-F5344CB8AC3E}">
        <p14:creationId xmlns:p14="http://schemas.microsoft.com/office/powerpoint/2010/main" val="172213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D4A2E-A37E-461F-8096-E3431E0FE8A0}"/>
              </a:ext>
            </a:extLst>
          </p:cNvPr>
          <p:cNvSpPr>
            <a:spLocks noGrp="1"/>
          </p:cNvSpPr>
          <p:nvPr>
            <p:ph type="title"/>
          </p:nvPr>
        </p:nvSpPr>
        <p:spPr/>
        <p:txBody>
          <a:bodyPr/>
          <a:lstStyle/>
          <a:p>
            <a:r>
              <a:rPr lang="en-US" dirty="0"/>
              <a:t>R0</a:t>
            </a:r>
          </a:p>
        </p:txBody>
      </p:sp>
      <p:sp>
        <p:nvSpPr>
          <p:cNvPr id="3" name="Content Placeholder 2">
            <a:extLst>
              <a:ext uri="{FF2B5EF4-FFF2-40B4-BE49-F238E27FC236}">
                <a16:creationId xmlns:a16="http://schemas.microsoft.com/office/drawing/2014/main" id="{ED924271-85B9-4BF9-9626-747A7AFEB3E8}"/>
              </a:ext>
            </a:extLst>
          </p:cNvPr>
          <p:cNvSpPr>
            <a:spLocks noGrp="1"/>
          </p:cNvSpPr>
          <p:nvPr>
            <p:ph idx="1"/>
          </p:nvPr>
        </p:nvSpPr>
        <p:spPr/>
        <p:txBody>
          <a:bodyPr/>
          <a:lstStyle/>
          <a:p>
            <a:pPr marL="0" indent="0">
              <a:buNone/>
            </a:pPr>
            <a:r>
              <a:rPr lang="en-US" dirty="0"/>
              <a:t>In MIPS (and others), R0 is a read only register that always contains the value 0.</a:t>
            </a:r>
          </a:p>
          <a:p>
            <a:pPr marL="0" indent="0">
              <a:buNone/>
            </a:pPr>
            <a:endParaRPr lang="en-US" dirty="0"/>
          </a:p>
          <a:p>
            <a:pPr marL="0" indent="0">
              <a:buNone/>
            </a:pPr>
            <a:r>
              <a:rPr lang="en-US" dirty="0"/>
              <a:t>Why?</a:t>
            </a:r>
          </a:p>
        </p:txBody>
      </p:sp>
    </p:spTree>
    <p:extLst>
      <p:ext uri="{BB962C8B-B14F-4D97-AF65-F5344CB8AC3E}">
        <p14:creationId xmlns:p14="http://schemas.microsoft.com/office/powerpoint/2010/main" val="5886407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844CF-9E64-4103-913B-70CC310FF14F}"/>
              </a:ext>
            </a:extLst>
          </p:cNvPr>
          <p:cNvSpPr>
            <a:spLocks noGrp="1"/>
          </p:cNvSpPr>
          <p:nvPr>
            <p:ph type="title"/>
          </p:nvPr>
        </p:nvSpPr>
        <p:spPr/>
        <p:txBody>
          <a:bodyPr/>
          <a:lstStyle/>
          <a:p>
            <a:r>
              <a:rPr lang="en-US" dirty="0"/>
              <a:t>Status Register</a:t>
            </a:r>
          </a:p>
        </p:txBody>
      </p:sp>
      <p:sp>
        <p:nvSpPr>
          <p:cNvPr id="3" name="Content Placeholder 2">
            <a:extLst>
              <a:ext uri="{FF2B5EF4-FFF2-40B4-BE49-F238E27FC236}">
                <a16:creationId xmlns:a16="http://schemas.microsoft.com/office/drawing/2014/main" id="{2B7CB3CC-5D9E-4F86-AFF0-C32E42B03237}"/>
              </a:ext>
            </a:extLst>
          </p:cNvPr>
          <p:cNvSpPr>
            <a:spLocks noGrp="1"/>
          </p:cNvSpPr>
          <p:nvPr>
            <p:ph idx="1"/>
          </p:nvPr>
        </p:nvSpPr>
        <p:spPr/>
        <p:txBody>
          <a:bodyPr>
            <a:normAutofit lnSpcReduction="10000"/>
          </a:bodyPr>
          <a:lstStyle/>
          <a:p>
            <a:pPr marL="0" indent="0">
              <a:buNone/>
            </a:pPr>
            <a:r>
              <a:rPr lang="en-US" dirty="0"/>
              <a:t>There are two approaches that can be used for comparing data:</a:t>
            </a:r>
          </a:p>
          <a:p>
            <a:pPr marL="0" indent="0">
              <a:buNone/>
            </a:pPr>
            <a:r>
              <a:rPr lang="en-US" dirty="0"/>
              <a:t>SIA and MIPS both have compare instructions: </a:t>
            </a:r>
          </a:p>
          <a:p>
            <a:pPr marL="457200" lvl="1" indent="0">
              <a:buNone/>
            </a:pPr>
            <a:r>
              <a:rPr lang="en-US" dirty="0"/>
              <a:t>BEQ R1,R2,100</a:t>
            </a:r>
          </a:p>
          <a:p>
            <a:pPr marL="457200" lvl="1" indent="0">
              <a:buNone/>
            </a:pPr>
            <a:endParaRPr lang="en-US" dirty="0"/>
          </a:p>
          <a:p>
            <a:pPr marL="0" indent="0">
              <a:buNone/>
            </a:pPr>
            <a:r>
              <a:rPr lang="en-US" dirty="0"/>
              <a:t>Other CPUs have a special register, the status register, that is updated by the ALU (but also have a specific instruction to do compares). There are branch instructions (BEQ $1000) that branch based on the contents of the status registers.</a:t>
            </a:r>
          </a:p>
          <a:p>
            <a:pPr marL="0" indent="0">
              <a:buNone/>
            </a:pPr>
            <a:endParaRPr lang="en-US" dirty="0"/>
          </a:p>
          <a:p>
            <a:pPr marL="0" indent="0">
              <a:buNone/>
            </a:pPr>
            <a:r>
              <a:rPr lang="en-US" dirty="0"/>
              <a:t>What are the tradeoffs?</a:t>
            </a:r>
          </a:p>
          <a:p>
            <a:pPr marL="457200" lvl="1" indent="0">
              <a:buNone/>
            </a:pPr>
            <a:endParaRPr lang="en-US" dirty="0"/>
          </a:p>
        </p:txBody>
      </p:sp>
    </p:spTree>
    <p:extLst>
      <p:ext uri="{BB962C8B-B14F-4D97-AF65-F5344CB8AC3E}">
        <p14:creationId xmlns:p14="http://schemas.microsoft.com/office/powerpoint/2010/main" val="21075669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82A39-3E69-4C60-9EA8-9AEA3E4F107E}"/>
              </a:ext>
            </a:extLst>
          </p:cNvPr>
          <p:cNvSpPr>
            <a:spLocks noGrp="1"/>
          </p:cNvSpPr>
          <p:nvPr>
            <p:ph type="title"/>
          </p:nvPr>
        </p:nvSpPr>
        <p:spPr/>
        <p:txBody>
          <a:bodyPr/>
          <a:lstStyle/>
          <a:p>
            <a:r>
              <a:rPr lang="en-US" dirty="0"/>
              <a:t>Status Register Tradeoffs</a:t>
            </a:r>
          </a:p>
        </p:txBody>
      </p:sp>
      <p:sp>
        <p:nvSpPr>
          <p:cNvPr id="3" name="Content Placeholder 2">
            <a:extLst>
              <a:ext uri="{FF2B5EF4-FFF2-40B4-BE49-F238E27FC236}">
                <a16:creationId xmlns:a16="http://schemas.microsoft.com/office/drawing/2014/main" id="{CE2D40A3-2212-4831-BC2B-12AEF4645502}"/>
              </a:ext>
            </a:extLst>
          </p:cNvPr>
          <p:cNvSpPr>
            <a:spLocks noGrp="1"/>
          </p:cNvSpPr>
          <p:nvPr>
            <p:ph idx="1"/>
          </p:nvPr>
        </p:nvSpPr>
        <p:spPr/>
        <p:txBody>
          <a:bodyPr>
            <a:normAutofit lnSpcReduction="10000"/>
          </a:bodyPr>
          <a:lstStyle/>
          <a:p>
            <a:pPr marL="0" indent="0">
              <a:buNone/>
            </a:pPr>
            <a:r>
              <a:rPr lang="en-US" dirty="0"/>
              <a:t>Many instructions need to update the status register (more work/op)</a:t>
            </a:r>
          </a:p>
          <a:p>
            <a:pPr marL="0" indent="0">
              <a:buNone/>
            </a:pPr>
            <a:endParaRPr lang="en-US" dirty="0"/>
          </a:p>
          <a:p>
            <a:pPr marL="0" indent="0">
              <a:buNone/>
            </a:pPr>
            <a:r>
              <a:rPr lang="en-US" dirty="0"/>
              <a:t>Programmers need to track which instructions can change which bits in the status register (hard to code for)</a:t>
            </a:r>
          </a:p>
          <a:p>
            <a:pPr marL="0" indent="0">
              <a:buNone/>
            </a:pPr>
            <a:endParaRPr lang="en-US" dirty="0"/>
          </a:p>
          <a:p>
            <a:pPr marL="0" indent="0">
              <a:buNone/>
            </a:pPr>
            <a:r>
              <a:rPr lang="en-US" dirty="0"/>
              <a:t>Conditional branches have more bits for address</a:t>
            </a:r>
          </a:p>
          <a:p>
            <a:pPr marL="0" indent="0">
              <a:buNone/>
            </a:pPr>
            <a:endParaRPr lang="en-US" dirty="0"/>
          </a:p>
          <a:p>
            <a:pPr marL="0" indent="0">
              <a:buNone/>
            </a:pPr>
            <a:r>
              <a:rPr lang="en-US" dirty="0"/>
              <a:t>*IF* the branch condition comes from some other math op, status registers might save effort. If not, the operation will take 2 instructions, compare, then branch</a:t>
            </a:r>
          </a:p>
        </p:txBody>
      </p:sp>
    </p:spTree>
    <p:extLst>
      <p:ext uri="{BB962C8B-B14F-4D97-AF65-F5344CB8AC3E}">
        <p14:creationId xmlns:p14="http://schemas.microsoft.com/office/powerpoint/2010/main" val="36683590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65B3A-CEF5-4E52-A163-12C915770E37}"/>
              </a:ext>
            </a:extLst>
          </p:cNvPr>
          <p:cNvSpPr>
            <a:spLocks noGrp="1"/>
          </p:cNvSpPr>
          <p:nvPr>
            <p:ph type="title"/>
          </p:nvPr>
        </p:nvSpPr>
        <p:spPr>
          <a:xfrm>
            <a:off x="838200" y="365125"/>
            <a:ext cx="10515600" cy="723011"/>
          </a:xfrm>
        </p:spPr>
        <p:txBody>
          <a:bodyPr>
            <a:normAutofit/>
          </a:bodyPr>
          <a:lstStyle/>
          <a:p>
            <a:r>
              <a:rPr lang="en-US" dirty="0"/>
              <a:t>Addressing Modes</a:t>
            </a:r>
          </a:p>
        </p:txBody>
      </p:sp>
      <p:sp>
        <p:nvSpPr>
          <p:cNvPr id="3" name="Content Placeholder 2">
            <a:extLst>
              <a:ext uri="{FF2B5EF4-FFF2-40B4-BE49-F238E27FC236}">
                <a16:creationId xmlns:a16="http://schemas.microsoft.com/office/drawing/2014/main" id="{2A4E0378-6DA4-4384-9E59-D07AAE1DE752}"/>
              </a:ext>
            </a:extLst>
          </p:cNvPr>
          <p:cNvSpPr>
            <a:spLocks noGrp="1"/>
          </p:cNvSpPr>
          <p:nvPr>
            <p:ph idx="1"/>
          </p:nvPr>
        </p:nvSpPr>
        <p:spPr>
          <a:xfrm>
            <a:off x="838200" y="1197864"/>
            <a:ext cx="10515600" cy="5568696"/>
          </a:xfrm>
        </p:spPr>
        <p:txBody>
          <a:bodyPr>
            <a:normAutofit lnSpcReduction="10000"/>
          </a:bodyPr>
          <a:lstStyle/>
          <a:p>
            <a:pPr marL="0" indent="0">
              <a:buNone/>
            </a:pPr>
            <a:r>
              <a:rPr lang="en-US" dirty="0"/>
              <a:t>An addressing mode is the description of what happens to an operand when the instruction processes. In higher level programming languages, these changes are separate steps.</a:t>
            </a:r>
          </a:p>
          <a:p>
            <a:pPr marL="0" indent="0">
              <a:buNone/>
            </a:pPr>
            <a:r>
              <a:rPr lang="en-US" dirty="0"/>
              <a:t>In C, I might say:</a:t>
            </a:r>
          </a:p>
          <a:p>
            <a:pPr marL="0" indent="0">
              <a:buNone/>
            </a:pPr>
            <a:r>
              <a:rPr lang="en-US" dirty="0"/>
              <a:t>*(s+1)=0;</a:t>
            </a:r>
          </a:p>
          <a:p>
            <a:pPr marL="0" indent="0">
              <a:buNone/>
            </a:pPr>
            <a:r>
              <a:rPr lang="en-US" dirty="0"/>
              <a:t>I would describe that as three steps:</a:t>
            </a:r>
          </a:p>
          <a:p>
            <a:pPr marL="0" indent="0">
              <a:buNone/>
            </a:pPr>
            <a:r>
              <a:rPr lang="en-US" dirty="0"/>
              <a:t>Add 1 to s</a:t>
            </a:r>
          </a:p>
          <a:p>
            <a:pPr marL="0" indent="0">
              <a:buNone/>
            </a:pPr>
            <a:r>
              <a:rPr lang="en-US" dirty="0"/>
              <a:t>Dereference s</a:t>
            </a:r>
          </a:p>
          <a:p>
            <a:pPr marL="0" indent="0">
              <a:buNone/>
            </a:pPr>
            <a:r>
              <a:rPr lang="en-US" dirty="0"/>
              <a:t>Assign that address the value 0.</a:t>
            </a:r>
          </a:p>
          <a:p>
            <a:pPr marL="0" indent="0">
              <a:buNone/>
            </a:pPr>
            <a:endParaRPr lang="en-US" dirty="0"/>
          </a:p>
          <a:p>
            <a:pPr marL="0" indent="0">
              <a:buNone/>
            </a:pPr>
            <a:r>
              <a:rPr lang="en-US" dirty="0"/>
              <a:t>In assembly, that might be a single operation:</a:t>
            </a:r>
          </a:p>
          <a:p>
            <a:pPr marL="0" indent="0">
              <a:buNone/>
            </a:pPr>
            <a:r>
              <a:rPr lang="en-US" dirty="0"/>
              <a:t>MOV 1(%s),#0 </a:t>
            </a:r>
          </a:p>
        </p:txBody>
      </p:sp>
    </p:spTree>
    <p:extLst>
      <p:ext uri="{BB962C8B-B14F-4D97-AF65-F5344CB8AC3E}">
        <p14:creationId xmlns:p14="http://schemas.microsoft.com/office/powerpoint/2010/main" val="35904875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9B5CC-C72C-492B-B966-D1F8DCD66AFE}"/>
              </a:ext>
            </a:extLst>
          </p:cNvPr>
          <p:cNvSpPr>
            <a:spLocks noGrp="1"/>
          </p:cNvSpPr>
          <p:nvPr>
            <p:ph type="title"/>
          </p:nvPr>
        </p:nvSpPr>
        <p:spPr>
          <a:xfrm>
            <a:off x="838200" y="365125"/>
            <a:ext cx="10515600" cy="695579"/>
          </a:xfrm>
        </p:spPr>
        <p:txBody>
          <a:bodyPr/>
          <a:lstStyle/>
          <a:p>
            <a:r>
              <a:rPr lang="en-US"/>
              <a:t>Addressing Modes (x86)</a:t>
            </a:r>
            <a:endParaRPr lang="en-US" dirty="0"/>
          </a:p>
        </p:txBody>
      </p:sp>
      <p:sp>
        <p:nvSpPr>
          <p:cNvPr id="3" name="Content Placeholder 2">
            <a:extLst>
              <a:ext uri="{FF2B5EF4-FFF2-40B4-BE49-F238E27FC236}">
                <a16:creationId xmlns:a16="http://schemas.microsoft.com/office/drawing/2014/main" id="{D106EADD-4DDB-47C1-A617-1A3C65CCA1D6}"/>
              </a:ext>
            </a:extLst>
          </p:cNvPr>
          <p:cNvSpPr>
            <a:spLocks noGrp="1"/>
          </p:cNvSpPr>
          <p:nvPr>
            <p:ph idx="1"/>
          </p:nvPr>
        </p:nvSpPr>
        <p:spPr>
          <a:xfrm>
            <a:off x="838200" y="1060704"/>
            <a:ext cx="10515600" cy="5623560"/>
          </a:xfrm>
        </p:spPr>
        <p:txBody>
          <a:bodyPr>
            <a:normAutofit lnSpcReduction="10000"/>
          </a:bodyPr>
          <a:lstStyle/>
          <a:p>
            <a:pPr marL="0" indent="0">
              <a:buNone/>
            </a:pPr>
            <a:r>
              <a:rPr lang="en-US"/>
              <a:t>CISC, being an “assembly first” language, tends to have lots of interesting addressing modes.</a:t>
            </a:r>
          </a:p>
          <a:p>
            <a:pPr marL="0" indent="0">
              <a:buNone/>
            </a:pPr>
            <a:endParaRPr lang="en-US"/>
          </a:p>
          <a:p>
            <a:pPr marL="0" indent="0">
              <a:buNone/>
            </a:pPr>
            <a:r>
              <a:rPr lang="en-US"/>
              <a:t>In x86, a memory location can be specified by:</a:t>
            </a:r>
          </a:p>
          <a:p>
            <a:pPr marL="0" indent="0">
              <a:buNone/>
            </a:pPr>
            <a:r>
              <a:rPr lang="en-US"/>
              <a:t> a constant</a:t>
            </a:r>
          </a:p>
          <a:p>
            <a:pPr marL="0" indent="0">
              <a:buNone/>
            </a:pPr>
            <a:r>
              <a:rPr lang="en-US"/>
              <a:t>a register (which contains a pointer)</a:t>
            </a:r>
          </a:p>
          <a:p>
            <a:pPr marL="0" indent="0">
              <a:buNone/>
            </a:pPr>
            <a:r>
              <a:rPr lang="en-US"/>
              <a:t>a register + a constant</a:t>
            </a:r>
          </a:p>
          <a:p>
            <a:pPr marL="0" indent="0">
              <a:buNone/>
            </a:pPr>
            <a:r>
              <a:rPr lang="en-US"/>
              <a:t>the sum of 2 registers</a:t>
            </a:r>
          </a:p>
          <a:p>
            <a:pPr marL="0" indent="0">
              <a:buNone/>
            </a:pPr>
            <a:r>
              <a:rPr lang="en-US"/>
              <a:t>the sum of 2 registers with one being multiplied by 2,4,8</a:t>
            </a:r>
          </a:p>
          <a:p>
            <a:pPr marL="0" indent="0">
              <a:buNone/>
            </a:pPr>
            <a:r>
              <a:rPr lang="en-US"/>
              <a:t>the sum of 2 registers with one being multiplied by 2,4,8, + a constant</a:t>
            </a:r>
          </a:p>
          <a:p>
            <a:pPr marL="0" indent="0">
              <a:buNone/>
            </a:pPr>
            <a:endParaRPr lang="en-US"/>
          </a:p>
          <a:p>
            <a:pPr marL="0" indent="0">
              <a:buNone/>
            </a:pPr>
            <a:r>
              <a:rPr lang="en-US"/>
              <a:t>conditional branches are offsets from the current instruction</a:t>
            </a:r>
          </a:p>
          <a:p>
            <a:pPr marL="0" indent="0">
              <a:buNone/>
            </a:pPr>
            <a:endParaRPr lang="en-US"/>
          </a:p>
          <a:p>
            <a:pPr marL="0" indent="0">
              <a:buNone/>
            </a:pPr>
            <a:endParaRPr lang="en-US"/>
          </a:p>
          <a:p>
            <a:pPr marL="0" indent="0">
              <a:buNone/>
            </a:pPr>
            <a:endParaRPr lang="en-US"/>
          </a:p>
          <a:p>
            <a:pPr marL="0" indent="0">
              <a:buNone/>
            </a:pPr>
            <a:endParaRPr lang="en-US" dirty="0"/>
          </a:p>
        </p:txBody>
      </p:sp>
    </p:spTree>
    <p:extLst>
      <p:ext uri="{BB962C8B-B14F-4D97-AF65-F5344CB8AC3E}">
        <p14:creationId xmlns:p14="http://schemas.microsoft.com/office/powerpoint/2010/main" val="25505486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B0DF90E-6BAD-4E82-8FDF-717C9A3573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3">
            <a:extLst>
              <a:ext uri="{FF2B5EF4-FFF2-40B4-BE49-F238E27FC236}">
                <a16:creationId xmlns:a16="http://schemas.microsoft.com/office/drawing/2014/main" id="{13DCC859-0434-4BB8-B6C5-09C88AE69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1">
            <a:extLst>
              <a:ext uri="{FF2B5EF4-FFF2-40B4-BE49-F238E27FC236}">
                <a16:creationId xmlns:a16="http://schemas.microsoft.com/office/drawing/2014/main" id="{08E7ACFB-B791-4C23-8B17-013FEDC09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8544BD5-DF70-4AE8-BC5F-79C304023A06}"/>
              </a:ext>
            </a:extLst>
          </p:cNvPr>
          <p:cNvSpPr>
            <a:spLocks noGrp="1"/>
          </p:cNvSpPr>
          <p:nvPr>
            <p:ph type="title"/>
          </p:nvPr>
        </p:nvSpPr>
        <p:spPr>
          <a:xfrm>
            <a:off x="833002" y="365125"/>
            <a:ext cx="10520702" cy="1325563"/>
          </a:xfrm>
        </p:spPr>
        <p:txBody>
          <a:bodyPr>
            <a:normAutofit/>
          </a:bodyPr>
          <a:lstStyle/>
          <a:p>
            <a:r>
              <a:rPr lang="en-US"/>
              <a:t>Other CISC addressing modes</a:t>
            </a:r>
            <a:endParaRPr lang="en-US" dirty="0"/>
          </a:p>
        </p:txBody>
      </p:sp>
      <p:graphicFrame>
        <p:nvGraphicFramePr>
          <p:cNvPr id="5" name="Content Placeholder 2">
            <a:extLst>
              <a:ext uri="{FF2B5EF4-FFF2-40B4-BE49-F238E27FC236}">
                <a16:creationId xmlns:a16="http://schemas.microsoft.com/office/drawing/2014/main" id="{785AC41C-5793-4432-8A56-4F312A552954}"/>
              </a:ext>
            </a:extLst>
          </p:cNvPr>
          <p:cNvGraphicFramePr>
            <a:graphicFrameLocks noGrp="1"/>
          </p:cNvGraphicFramePr>
          <p:nvPr>
            <p:ph idx="1"/>
            <p:extLst>
              <p:ext uri="{D42A27DB-BD31-4B8C-83A1-F6EECF244321}">
                <p14:modId xmlns:p14="http://schemas.microsoft.com/office/powerpoint/2010/main" val="3224656695"/>
              </p:ext>
            </p:extLst>
          </p:nvPr>
        </p:nvGraphicFramePr>
        <p:xfrm>
          <a:off x="838200" y="2022475"/>
          <a:ext cx="10515600" cy="41544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54513114"/>
      </p:ext>
    </p:extLst>
  </p:cSld>
  <p:clrMapOvr>
    <a:overrideClrMapping bg1="dk1" tx1="lt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95D989-81FA-4BAD-9AD5-E46CEDA91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3"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E3BEC49-3791-4C29-A675-52098D988A07}"/>
              </a:ext>
            </a:extLst>
          </p:cNvPr>
          <p:cNvSpPr>
            <a:spLocks noGrp="1"/>
          </p:cNvSpPr>
          <p:nvPr>
            <p:ph type="title"/>
          </p:nvPr>
        </p:nvSpPr>
        <p:spPr>
          <a:xfrm>
            <a:off x="838200" y="811161"/>
            <a:ext cx="3335594" cy="5403370"/>
          </a:xfrm>
        </p:spPr>
        <p:txBody>
          <a:bodyPr>
            <a:normAutofit/>
          </a:bodyPr>
          <a:lstStyle/>
          <a:p>
            <a:r>
              <a:rPr lang="en-US">
                <a:solidFill>
                  <a:srgbClr val="FFFFFF"/>
                </a:solidFill>
              </a:rPr>
              <a:t>Addressing Modes (MIPS)</a:t>
            </a:r>
          </a:p>
        </p:txBody>
      </p:sp>
      <p:sp>
        <p:nvSpPr>
          <p:cNvPr id="12" name="Rectangle 11">
            <a:extLst>
              <a:ext uri="{FF2B5EF4-FFF2-40B4-BE49-F238E27FC236}">
                <a16:creationId xmlns:a16="http://schemas.microsoft.com/office/drawing/2014/main" id="{156189E5-8A3E-4CFD-B71B-CCD0F8495E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3" y="0"/>
            <a:ext cx="142074" cy="6858000"/>
          </a:xfrm>
          <a:prstGeom prst="rect">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6" name="Content Placeholder 2">
            <a:extLst>
              <a:ext uri="{FF2B5EF4-FFF2-40B4-BE49-F238E27FC236}">
                <a16:creationId xmlns:a16="http://schemas.microsoft.com/office/drawing/2014/main" id="{0F43027A-0FB8-4C2D-9339-DEC62B44DCB2}"/>
              </a:ext>
            </a:extLst>
          </p:cNvPr>
          <p:cNvGraphicFramePr>
            <a:graphicFrameLocks noGrp="1"/>
          </p:cNvGraphicFramePr>
          <p:nvPr>
            <p:ph idx="1"/>
            <p:extLst>
              <p:ext uri="{D42A27DB-BD31-4B8C-83A1-F6EECF244321}">
                <p14:modId xmlns:p14="http://schemas.microsoft.com/office/powerpoint/2010/main" val="2151030181"/>
              </p:ext>
            </p:extLst>
          </p:nvPr>
        </p:nvGraphicFramePr>
        <p:xfrm>
          <a:off x="5459413" y="642938"/>
          <a:ext cx="6089650" cy="5572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579866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15" name="Rectangle 9">
            <a:extLst>
              <a:ext uri="{FF2B5EF4-FFF2-40B4-BE49-F238E27FC236}">
                <a16:creationId xmlns:a16="http://schemas.microsoft.com/office/drawing/2014/main" id="{3B0DF90E-6BAD-4E82-8FDF-717C9A3573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13">
            <a:extLst>
              <a:ext uri="{FF2B5EF4-FFF2-40B4-BE49-F238E27FC236}">
                <a16:creationId xmlns:a16="http://schemas.microsoft.com/office/drawing/2014/main" id="{13DCC859-0434-4BB8-B6C5-09C88AE69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1">
            <a:extLst>
              <a:ext uri="{FF2B5EF4-FFF2-40B4-BE49-F238E27FC236}">
                <a16:creationId xmlns:a16="http://schemas.microsoft.com/office/drawing/2014/main" id="{08E7ACFB-B791-4C23-8B17-013FEDC09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CBCB477-7CE9-4586-B8A3-8E045FFF628A}"/>
              </a:ext>
            </a:extLst>
          </p:cNvPr>
          <p:cNvSpPr>
            <a:spLocks noGrp="1"/>
          </p:cNvSpPr>
          <p:nvPr>
            <p:ph type="title"/>
          </p:nvPr>
        </p:nvSpPr>
        <p:spPr>
          <a:xfrm>
            <a:off x="833002" y="365125"/>
            <a:ext cx="10520702" cy="1325563"/>
          </a:xfrm>
        </p:spPr>
        <p:txBody>
          <a:bodyPr>
            <a:normAutofit/>
          </a:bodyPr>
          <a:lstStyle/>
          <a:p>
            <a:r>
              <a:rPr lang="en-US"/>
              <a:t>Orthogonality</a:t>
            </a:r>
            <a:endParaRPr lang="en-US" dirty="0"/>
          </a:p>
        </p:txBody>
      </p:sp>
      <p:graphicFrame>
        <p:nvGraphicFramePr>
          <p:cNvPr id="17" name="Content Placeholder 2">
            <a:extLst>
              <a:ext uri="{FF2B5EF4-FFF2-40B4-BE49-F238E27FC236}">
                <a16:creationId xmlns:a16="http://schemas.microsoft.com/office/drawing/2014/main" id="{5BCD5999-E85E-47F6-A8C5-231843A5530F}"/>
              </a:ext>
            </a:extLst>
          </p:cNvPr>
          <p:cNvGraphicFramePr>
            <a:graphicFrameLocks noGrp="1"/>
          </p:cNvGraphicFramePr>
          <p:nvPr>
            <p:ph idx="1"/>
            <p:extLst>
              <p:ext uri="{D42A27DB-BD31-4B8C-83A1-F6EECF244321}">
                <p14:modId xmlns:p14="http://schemas.microsoft.com/office/powerpoint/2010/main" val="4093522761"/>
              </p:ext>
            </p:extLst>
          </p:nvPr>
        </p:nvGraphicFramePr>
        <p:xfrm>
          <a:off x="838200" y="2022475"/>
          <a:ext cx="10515600" cy="41544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33880140"/>
      </p:ext>
    </p:extLst>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56C20283-73E0-40EC-8AD8-057F581F64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28">
            <a:extLst>
              <a:ext uri="{FF2B5EF4-FFF2-40B4-BE49-F238E27FC236}">
                <a16:creationId xmlns:a16="http://schemas.microsoft.com/office/drawing/2014/main" id="{3FCC729B-E528-40C3-82D3-BA4375575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960120" y="0"/>
            <a:ext cx="11218661" cy="6858000"/>
          </a:xfrm>
          <a:custGeom>
            <a:avLst/>
            <a:gdLst>
              <a:gd name="connsiteX0" fmla="*/ 0 w 11218661"/>
              <a:gd name="connsiteY0" fmla="*/ 0 h 6858000"/>
              <a:gd name="connsiteX1" fmla="*/ 8042507 w 11218661"/>
              <a:gd name="connsiteY1" fmla="*/ 0 h 6858000"/>
              <a:gd name="connsiteX2" fmla="*/ 11218661 w 11218661"/>
              <a:gd name="connsiteY2" fmla="*/ 6858000 h 6858000"/>
              <a:gd name="connsiteX3" fmla="*/ 0 w 1121866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218661" h="6858000">
                <a:moveTo>
                  <a:pt x="0" y="0"/>
                </a:moveTo>
                <a:lnTo>
                  <a:pt x="8042507" y="0"/>
                </a:lnTo>
                <a:lnTo>
                  <a:pt x="11218661" y="6858000"/>
                </a:lnTo>
                <a:lnTo>
                  <a:pt x="0" y="6858000"/>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5" name="Freeform 26">
            <a:extLst>
              <a:ext uri="{FF2B5EF4-FFF2-40B4-BE49-F238E27FC236}">
                <a16:creationId xmlns:a16="http://schemas.microsoft.com/office/drawing/2014/main" id="{58F1FB8D-1842-4A04-998D-6CF047AB2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420248" y="0"/>
            <a:ext cx="10771752" cy="6858000"/>
          </a:xfrm>
          <a:custGeom>
            <a:avLst/>
            <a:gdLst>
              <a:gd name="connsiteX0" fmla="*/ 0 w 10771752"/>
              <a:gd name="connsiteY0" fmla="*/ 0 h 6858000"/>
              <a:gd name="connsiteX1" fmla="*/ 7595598 w 10771752"/>
              <a:gd name="connsiteY1" fmla="*/ 0 h 6858000"/>
              <a:gd name="connsiteX2" fmla="*/ 10771752 w 10771752"/>
              <a:gd name="connsiteY2" fmla="*/ 6858000 h 6858000"/>
              <a:gd name="connsiteX3" fmla="*/ 0 w 1077175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771752" h="6858000">
                <a:moveTo>
                  <a:pt x="0" y="0"/>
                </a:moveTo>
                <a:lnTo>
                  <a:pt x="7595598" y="0"/>
                </a:lnTo>
                <a:lnTo>
                  <a:pt x="10771752" y="6858000"/>
                </a:lnTo>
                <a:lnTo>
                  <a:pt x="0" y="685800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DA988BE-F046-4253-BE4F-79BC585F97F6}"/>
              </a:ext>
            </a:extLst>
          </p:cNvPr>
          <p:cNvSpPr>
            <a:spLocks noGrp="1"/>
          </p:cNvSpPr>
          <p:nvPr>
            <p:ph type="title"/>
          </p:nvPr>
        </p:nvSpPr>
        <p:spPr>
          <a:xfrm>
            <a:off x="4384039" y="365126"/>
            <a:ext cx="7164493" cy="769612"/>
          </a:xfrm>
        </p:spPr>
        <p:txBody>
          <a:bodyPr>
            <a:normAutofit/>
          </a:bodyPr>
          <a:lstStyle/>
          <a:p>
            <a:r>
              <a:rPr lang="en-US" dirty="0"/>
              <a:t>Alignment</a:t>
            </a:r>
          </a:p>
        </p:txBody>
      </p:sp>
      <p:pic>
        <p:nvPicPr>
          <p:cNvPr id="3074" name="Picture 2" descr="Image result for bus error">
            <a:extLst>
              <a:ext uri="{FF2B5EF4-FFF2-40B4-BE49-F238E27FC236}">
                <a16:creationId xmlns:a16="http://schemas.microsoft.com/office/drawing/2014/main" id="{46FC77F8-C609-431D-8A47-3B309604BD0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609" r="9767"/>
          <a:stretch/>
        </p:blipFill>
        <p:spPr bwMode="auto">
          <a:xfrm>
            <a:off x="0" y="2302526"/>
            <a:ext cx="4569512" cy="2049137"/>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16171C42-E6D6-43CB-856E-3C137A895A97}"/>
              </a:ext>
            </a:extLst>
          </p:cNvPr>
          <p:cNvSpPr>
            <a:spLocks noGrp="1"/>
          </p:cNvSpPr>
          <p:nvPr>
            <p:ph idx="1"/>
          </p:nvPr>
        </p:nvSpPr>
        <p:spPr>
          <a:xfrm>
            <a:off x="4596838" y="1244907"/>
            <a:ext cx="7510702" cy="5530466"/>
          </a:xfrm>
        </p:spPr>
        <p:txBody>
          <a:bodyPr>
            <a:noAutofit/>
          </a:bodyPr>
          <a:lstStyle/>
          <a:p>
            <a:pPr marL="0" indent="0">
              <a:buNone/>
            </a:pPr>
            <a:r>
              <a:rPr lang="en-US" sz="2400" dirty="0"/>
              <a:t>Some CPUs require instructions and/or data to be aligned.</a:t>
            </a:r>
          </a:p>
          <a:p>
            <a:pPr marL="0" indent="0">
              <a:buNone/>
            </a:pPr>
            <a:r>
              <a:rPr lang="en-US" sz="2400" dirty="0"/>
              <a:t>A 4 byte alignment means that any address that is fetched mod 4 == 0.</a:t>
            </a:r>
          </a:p>
          <a:p>
            <a:pPr marL="0" indent="0">
              <a:buNone/>
            </a:pPr>
            <a:endParaRPr lang="en-US" sz="2400" dirty="0"/>
          </a:p>
          <a:p>
            <a:pPr marL="0" indent="0">
              <a:buNone/>
            </a:pPr>
            <a:r>
              <a:rPr lang="en-US" sz="2400" dirty="0"/>
              <a:t>Why?</a:t>
            </a:r>
          </a:p>
          <a:p>
            <a:pPr marL="0" indent="0">
              <a:buNone/>
            </a:pPr>
            <a:endParaRPr lang="en-US" sz="2400" dirty="0"/>
          </a:p>
          <a:p>
            <a:pPr marL="0" indent="0">
              <a:buNone/>
            </a:pPr>
            <a:r>
              <a:rPr lang="en-US" sz="2400" dirty="0"/>
              <a:t>Performance, Simplification</a:t>
            </a:r>
          </a:p>
          <a:p>
            <a:pPr marL="0" indent="0">
              <a:buNone/>
            </a:pPr>
            <a:r>
              <a:rPr lang="en-US" sz="2400" dirty="0"/>
              <a:t>Also, if we know that a word has to be 4 byte aligned, we can leave the bottom 2 bits off of the address in the instruction.</a:t>
            </a:r>
          </a:p>
          <a:p>
            <a:pPr marL="0" indent="0">
              <a:buNone/>
            </a:pPr>
            <a:endParaRPr lang="en-US" sz="2400" dirty="0"/>
          </a:p>
          <a:p>
            <a:pPr marL="0" indent="0">
              <a:buNone/>
            </a:pPr>
            <a:r>
              <a:rPr lang="en-US" sz="2400" dirty="0"/>
              <a:t>Why?</a:t>
            </a:r>
          </a:p>
        </p:txBody>
      </p:sp>
    </p:spTree>
    <p:extLst>
      <p:ext uri="{BB962C8B-B14F-4D97-AF65-F5344CB8AC3E}">
        <p14:creationId xmlns:p14="http://schemas.microsoft.com/office/powerpoint/2010/main" val="1660012641"/>
      </p:ext>
    </p:extLst>
  </p:cSld>
  <p:clrMapOvr>
    <a:overrideClrMapping bg1="dk1" tx1="lt1" bg2="dk2" tx2="lt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B0DF90E-6BAD-4E82-8FDF-717C9A3573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3">
            <a:extLst>
              <a:ext uri="{FF2B5EF4-FFF2-40B4-BE49-F238E27FC236}">
                <a16:creationId xmlns:a16="http://schemas.microsoft.com/office/drawing/2014/main" id="{13DCC859-0434-4BB8-B6C5-09C88AE69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1">
            <a:extLst>
              <a:ext uri="{FF2B5EF4-FFF2-40B4-BE49-F238E27FC236}">
                <a16:creationId xmlns:a16="http://schemas.microsoft.com/office/drawing/2014/main" id="{08E7ACFB-B791-4C23-8B17-013FEDC09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2715E99-35AA-4990-B03E-B02E66B4F28F}"/>
              </a:ext>
            </a:extLst>
          </p:cNvPr>
          <p:cNvSpPr>
            <a:spLocks noGrp="1"/>
          </p:cNvSpPr>
          <p:nvPr>
            <p:ph type="title"/>
          </p:nvPr>
        </p:nvSpPr>
        <p:spPr>
          <a:xfrm>
            <a:off x="833002" y="365125"/>
            <a:ext cx="10520702" cy="1325563"/>
          </a:xfrm>
        </p:spPr>
        <p:txBody>
          <a:bodyPr>
            <a:normAutofit/>
          </a:bodyPr>
          <a:lstStyle/>
          <a:p>
            <a:r>
              <a:rPr lang="en-US" dirty="0"/>
              <a:t>Load/Store vs Memory-Memory</a:t>
            </a:r>
          </a:p>
        </p:txBody>
      </p:sp>
      <p:graphicFrame>
        <p:nvGraphicFramePr>
          <p:cNvPr id="5" name="Content Placeholder 2">
            <a:extLst>
              <a:ext uri="{FF2B5EF4-FFF2-40B4-BE49-F238E27FC236}">
                <a16:creationId xmlns:a16="http://schemas.microsoft.com/office/drawing/2014/main" id="{B93ED04A-5709-4E0D-8FEE-0E60BC59F231}"/>
              </a:ext>
            </a:extLst>
          </p:cNvPr>
          <p:cNvGraphicFramePr>
            <a:graphicFrameLocks noGrp="1"/>
          </p:cNvGraphicFramePr>
          <p:nvPr>
            <p:ph idx="1"/>
            <p:extLst>
              <p:ext uri="{D42A27DB-BD31-4B8C-83A1-F6EECF244321}">
                <p14:modId xmlns:p14="http://schemas.microsoft.com/office/powerpoint/2010/main" val="3656082985"/>
              </p:ext>
            </p:extLst>
          </p:nvPr>
        </p:nvGraphicFramePr>
        <p:xfrm>
          <a:off x="838200" y="2022475"/>
          <a:ext cx="10515600" cy="41544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8870478"/>
      </p:ext>
    </p:extLst>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6BCC5-8197-456E-8659-31D1927C9E24}"/>
              </a:ext>
            </a:extLst>
          </p:cNvPr>
          <p:cNvSpPr>
            <a:spLocks noGrp="1"/>
          </p:cNvSpPr>
          <p:nvPr>
            <p:ph type="title"/>
          </p:nvPr>
        </p:nvSpPr>
        <p:spPr/>
        <p:txBody>
          <a:bodyPr/>
          <a:lstStyle/>
          <a:p>
            <a:r>
              <a:rPr lang="en-US" dirty="0"/>
              <a:t>Variable Vs Fixed Width Instructions</a:t>
            </a:r>
          </a:p>
        </p:txBody>
      </p:sp>
      <p:sp>
        <p:nvSpPr>
          <p:cNvPr id="3" name="Content Placeholder 2">
            <a:extLst>
              <a:ext uri="{FF2B5EF4-FFF2-40B4-BE49-F238E27FC236}">
                <a16:creationId xmlns:a16="http://schemas.microsoft.com/office/drawing/2014/main" id="{1B7BCC68-F705-481A-8660-4B97197D7A32}"/>
              </a:ext>
            </a:extLst>
          </p:cNvPr>
          <p:cNvSpPr>
            <a:spLocks noGrp="1"/>
          </p:cNvSpPr>
          <p:nvPr>
            <p:ph idx="1"/>
          </p:nvPr>
        </p:nvSpPr>
        <p:spPr/>
        <p:txBody>
          <a:bodyPr/>
          <a:lstStyle/>
          <a:p>
            <a:pPr marL="0" indent="0">
              <a:buNone/>
            </a:pPr>
            <a:r>
              <a:rPr lang="en-US" dirty="0"/>
              <a:t>Most RISC designs have fixed width (32 bit is most common) encodings</a:t>
            </a:r>
          </a:p>
          <a:p>
            <a:pPr marL="0" indent="0">
              <a:buNone/>
            </a:pPr>
            <a:endParaRPr lang="en-US" dirty="0"/>
          </a:p>
          <a:p>
            <a:pPr marL="0" indent="0">
              <a:buNone/>
            </a:pPr>
            <a:r>
              <a:rPr lang="en-US" dirty="0"/>
              <a:t>Most CISC designs have variable width instructions</a:t>
            </a:r>
          </a:p>
          <a:p>
            <a:pPr marL="0" indent="0">
              <a:buNone/>
            </a:pPr>
            <a:endParaRPr lang="en-US" dirty="0"/>
          </a:p>
          <a:p>
            <a:pPr marL="0" indent="0">
              <a:buNone/>
            </a:pPr>
            <a:r>
              <a:rPr lang="en-US" dirty="0"/>
              <a:t>What are the tradeoffs?</a:t>
            </a:r>
          </a:p>
        </p:txBody>
      </p:sp>
    </p:spTree>
    <p:extLst>
      <p:ext uri="{BB962C8B-B14F-4D97-AF65-F5344CB8AC3E}">
        <p14:creationId xmlns:p14="http://schemas.microsoft.com/office/powerpoint/2010/main" val="14110582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16CEAE-78AA-4895-ACDA-427C7B08271C}"/>
              </a:ext>
            </a:extLst>
          </p:cNvPr>
          <p:cNvSpPr>
            <a:spLocks noGrp="1"/>
          </p:cNvSpPr>
          <p:nvPr>
            <p:ph type="body" idx="1"/>
          </p:nvPr>
        </p:nvSpPr>
        <p:spPr>
          <a:xfrm>
            <a:off x="839788" y="547307"/>
            <a:ext cx="5157787" cy="823912"/>
          </a:xfrm>
        </p:spPr>
        <p:txBody>
          <a:bodyPr/>
          <a:lstStyle/>
          <a:p>
            <a:r>
              <a:rPr lang="en-US" dirty="0"/>
              <a:t>Fixed Width</a:t>
            </a:r>
          </a:p>
        </p:txBody>
      </p:sp>
      <p:sp>
        <p:nvSpPr>
          <p:cNvPr id="3" name="Content Placeholder 2">
            <a:extLst>
              <a:ext uri="{FF2B5EF4-FFF2-40B4-BE49-F238E27FC236}">
                <a16:creationId xmlns:a16="http://schemas.microsoft.com/office/drawing/2014/main" id="{1C8A8D1F-AFA7-4BE4-8025-6D3C0858A1D5}"/>
              </a:ext>
            </a:extLst>
          </p:cNvPr>
          <p:cNvSpPr>
            <a:spLocks noGrp="1"/>
          </p:cNvSpPr>
          <p:nvPr>
            <p:ph sz="half" idx="2"/>
          </p:nvPr>
        </p:nvSpPr>
        <p:spPr>
          <a:xfrm>
            <a:off x="839788" y="1563624"/>
            <a:ext cx="5157787" cy="4626039"/>
          </a:xfrm>
        </p:spPr>
        <p:txBody>
          <a:bodyPr/>
          <a:lstStyle/>
          <a:p>
            <a:pPr marL="0" indent="0">
              <a:buNone/>
            </a:pPr>
            <a:r>
              <a:rPr lang="en-US" dirty="0"/>
              <a:t>All instructions are constant size</a:t>
            </a:r>
          </a:p>
          <a:p>
            <a:pPr marL="0" indent="0">
              <a:buNone/>
            </a:pPr>
            <a:r>
              <a:rPr lang="en-US" dirty="0"/>
              <a:t>Branches can be calculated easily</a:t>
            </a:r>
          </a:p>
          <a:p>
            <a:pPr marL="0" indent="0">
              <a:buNone/>
            </a:pPr>
            <a:r>
              <a:rPr lang="en-US" dirty="0"/>
              <a:t>All fetches are aligned – no shifts</a:t>
            </a:r>
          </a:p>
          <a:p>
            <a:pPr marL="0" indent="0">
              <a:buNone/>
            </a:pPr>
            <a:r>
              <a:rPr lang="en-US" dirty="0"/>
              <a:t>Easier to implement hardware</a:t>
            </a:r>
          </a:p>
          <a:p>
            <a:pPr marL="0" indent="0">
              <a:buNone/>
            </a:pPr>
            <a:r>
              <a:rPr lang="en-US" dirty="0"/>
              <a:t>Easier to decode in parallel</a:t>
            </a:r>
          </a:p>
        </p:txBody>
      </p:sp>
      <p:sp>
        <p:nvSpPr>
          <p:cNvPr id="5" name="Text Placeholder 4">
            <a:extLst>
              <a:ext uri="{FF2B5EF4-FFF2-40B4-BE49-F238E27FC236}">
                <a16:creationId xmlns:a16="http://schemas.microsoft.com/office/drawing/2014/main" id="{A1B4FB09-B2F3-473A-B9AF-06ABD144DE63}"/>
              </a:ext>
            </a:extLst>
          </p:cNvPr>
          <p:cNvSpPr>
            <a:spLocks noGrp="1"/>
          </p:cNvSpPr>
          <p:nvPr>
            <p:ph type="body" sz="quarter" idx="3"/>
          </p:nvPr>
        </p:nvSpPr>
        <p:spPr>
          <a:xfrm>
            <a:off x="6169024" y="547307"/>
            <a:ext cx="5183188" cy="823912"/>
          </a:xfrm>
        </p:spPr>
        <p:txBody>
          <a:bodyPr/>
          <a:lstStyle/>
          <a:p>
            <a:r>
              <a:rPr lang="en-US" dirty="0"/>
              <a:t>Variable Width</a:t>
            </a:r>
          </a:p>
        </p:txBody>
      </p:sp>
      <p:sp>
        <p:nvSpPr>
          <p:cNvPr id="6" name="Content Placeholder 5">
            <a:extLst>
              <a:ext uri="{FF2B5EF4-FFF2-40B4-BE49-F238E27FC236}">
                <a16:creationId xmlns:a16="http://schemas.microsoft.com/office/drawing/2014/main" id="{74CFB530-FC03-4F5F-B4CB-296B6D7F5EAF}"/>
              </a:ext>
            </a:extLst>
          </p:cNvPr>
          <p:cNvSpPr>
            <a:spLocks noGrp="1"/>
          </p:cNvSpPr>
          <p:nvPr>
            <p:ph sz="quarter" idx="4"/>
          </p:nvPr>
        </p:nvSpPr>
        <p:spPr>
          <a:xfrm>
            <a:off x="6172200" y="1563624"/>
            <a:ext cx="5183188" cy="4626039"/>
          </a:xfrm>
        </p:spPr>
        <p:txBody>
          <a:bodyPr/>
          <a:lstStyle/>
          <a:p>
            <a:pPr marL="0" indent="0">
              <a:buNone/>
            </a:pPr>
            <a:r>
              <a:rPr lang="en-US" dirty="0"/>
              <a:t>Less wasted space</a:t>
            </a:r>
          </a:p>
          <a:p>
            <a:pPr marL="0" indent="0">
              <a:buNone/>
            </a:pPr>
            <a:r>
              <a:rPr lang="en-US" dirty="0"/>
              <a:t>Fewer compromises</a:t>
            </a:r>
          </a:p>
          <a:p>
            <a:pPr marL="0" indent="0">
              <a:buNone/>
            </a:pPr>
            <a:r>
              <a:rPr lang="en-US" dirty="0"/>
              <a:t>More flexible</a:t>
            </a:r>
          </a:p>
          <a:p>
            <a:pPr marL="0" indent="0">
              <a:buNone/>
            </a:pPr>
            <a:r>
              <a:rPr lang="en-US" dirty="0"/>
              <a:t>More future proof</a:t>
            </a:r>
          </a:p>
          <a:p>
            <a:pPr marL="0" indent="0">
              <a:buNone/>
            </a:pPr>
            <a:r>
              <a:rPr lang="en-US" dirty="0"/>
              <a:t>Can Huffman encode</a:t>
            </a:r>
          </a:p>
        </p:txBody>
      </p:sp>
    </p:spTree>
    <p:extLst>
      <p:ext uri="{BB962C8B-B14F-4D97-AF65-F5344CB8AC3E}">
        <p14:creationId xmlns:p14="http://schemas.microsoft.com/office/powerpoint/2010/main" val="25621339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0CBDC-19AD-408E-92E9-F5045FB86849}"/>
              </a:ext>
            </a:extLst>
          </p:cNvPr>
          <p:cNvSpPr>
            <a:spLocks noGrp="1"/>
          </p:cNvSpPr>
          <p:nvPr>
            <p:ph type="title"/>
          </p:nvPr>
        </p:nvSpPr>
        <p:spPr/>
        <p:txBody>
          <a:bodyPr/>
          <a:lstStyle/>
          <a:p>
            <a:r>
              <a:rPr lang="en-US" dirty="0"/>
              <a:t>Alternate Encodings</a:t>
            </a:r>
          </a:p>
        </p:txBody>
      </p:sp>
      <p:sp>
        <p:nvSpPr>
          <p:cNvPr id="3" name="Content Placeholder 2">
            <a:extLst>
              <a:ext uri="{FF2B5EF4-FFF2-40B4-BE49-F238E27FC236}">
                <a16:creationId xmlns:a16="http://schemas.microsoft.com/office/drawing/2014/main" id="{8B8DD18F-73C4-4E41-AB7B-7A2F692C2A72}"/>
              </a:ext>
            </a:extLst>
          </p:cNvPr>
          <p:cNvSpPr>
            <a:spLocks noGrp="1"/>
          </p:cNvSpPr>
          <p:nvPr>
            <p:ph idx="1"/>
          </p:nvPr>
        </p:nvSpPr>
        <p:spPr/>
        <p:txBody>
          <a:bodyPr/>
          <a:lstStyle/>
          <a:p>
            <a:pPr marL="0" indent="0">
              <a:buNone/>
            </a:pPr>
            <a:r>
              <a:rPr lang="en-US" dirty="0"/>
              <a:t>Sometimes, in CISC designs, a particular instruction is used SO frequently, it makes sense to have an “alias” – a shorter encoding of the same instruction.</a:t>
            </a:r>
          </a:p>
          <a:p>
            <a:pPr marL="0" indent="0">
              <a:buNone/>
            </a:pPr>
            <a:endParaRPr lang="en-US" dirty="0"/>
          </a:p>
          <a:p>
            <a:pPr marL="0" indent="0">
              <a:buNone/>
            </a:pPr>
            <a:r>
              <a:rPr lang="en-US" dirty="0"/>
              <a:t>For example – </a:t>
            </a:r>
          </a:p>
          <a:p>
            <a:pPr marL="0" indent="0">
              <a:buNone/>
            </a:pPr>
            <a:r>
              <a:rPr lang="en-US" dirty="0"/>
              <a:t>add </a:t>
            </a:r>
            <a:r>
              <a:rPr lang="en-US" dirty="0" err="1"/>
              <a:t>eax</a:t>
            </a:r>
            <a:r>
              <a:rPr lang="en-US" dirty="0"/>
              <a:t>, constant</a:t>
            </a:r>
          </a:p>
          <a:p>
            <a:pPr marL="0" indent="0">
              <a:buNone/>
            </a:pPr>
            <a:r>
              <a:rPr lang="en-US" dirty="0"/>
              <a:t>normally, you have to encode the addressing mode for each operand.</a:t>
            </a:r>
          </a:p>
          <a:p>
            <a:pPr marL="0" indent="0">
              <a:buNone/>
            </a:pPr>
            <a:r>
              <a:rPr lang="en-US" dirty="0"/>
              <a:t>If you instead use opcode 5, you don’t need to specify addressing mode – just the 5 then then constant.</a:t>
            </a:r>
          </a:p>
        </p:txBody>
      </p:sp>
    </p:spTree>
    <p:extLst>
      <p:ext uri="{BB962C8B-B14F-4D97-AF65-F5344CB8AC3E}">
        <p14:creationId xmlns:p14="http://schemas.microsoft.com/office/powerpoint/2010/main" val="11985622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EC8C8-02CF-409B-BD36-93B2EF09D645}"/>
              </a:ext>
            </a:extLst>
          </p:cNvPr>
          <p:cNvSpPr>
            <a:spLocks noGrp="1"/>
          </p:cNvSpPr>
          <p:nvPr>
            <p:ph type="title"/>
          </p:nvPr>
        </p:nvSpPr>
        <p:spPr/>
        <p:txBody>
          <a:bodyPr/>
          <a:lstStyle/>
          <a:p>
            <a:r>
              <a:rPr lang="en-US" dirty="0"/>
              <a:t>Data Types</a:t>
            </a:r>
          </a:p>
        </p:txBody>
      </p:sp>
      <p:sp>
        <p:nvSpPr>
          <p:cNvPr id="3" name="Content Placeholder 2">
            <a:extLst>
              <a:ext uri="{FF2B5EF4-FFF2-40B4-BE49-F238E27FC236}">
                <a16:creationId xmlns:a16="http://schemas.microsoft.com/office/drawing/2014/main" id="{1F9026A8-01E7-4637-8461-11717F2E9713}"/>
              </a:ext>
            </a:extLst>
          </p:cNvPr>
          <p:cNvSpPr>
            <a:spLocks noGrp="1"/>
          </p:cNvSpPr>
          <p:nvPr>
            <p:ph idx="1"/>
          </p:nvPr>
        </p:nvSpPr>
        <p:spPr/>
        <p:txBody>
          <a:bodyPr/>
          <a:lstStyle/>
          <a:p>
            <a:pPr marL="0" indent="0">
              <a:buNone/>
            </a:pPr>
            <a:r>
              <a:rPr lang="en-US" dirty="0"/>
              <a:t>While CPUs don’t have data type protection like a compiler, the operations that a CPU can execute have to follow the rules for the data type. </a:t>
            </a:r>
          </a:p>
          <a:p>
            <a:pPr marL="0" indent="0">
              <a:buNone/>
            </a:pPr>
            <a:endParaRPr lang="en-US" dirty="0"/>
          </a:p>
          <a:p>
            <a:pPr marL="0" indent="0">
              <a:buNone/>
            </a:pPr>
            <a:r>
              <a:rPr lang="en-US" dirty="0"/>
              <a:t>Examples:</a:t>
            </a:r>
          </a:p>
          <a:p>
            <a:pPr marL="0" indent="0">
              <a:buNone/>
            </a:pPr>
            <a:r>
              <a:rPr lang="en-US" dirty="0"/>
              <a:t>integer, floating point, character, BCD</a:t>
            </a:r>
          </a:p>
          <a:p>
            <a:pPr marL="0" indent="0">
              <a:buNone/>
            </a:pPr>
            <a:endParaRPr lang="en-US" dirty="0"/>
          </a:p>
          <a:p>
            <a:pPr marL="0" indent="0">
              <a:buNone/>
            </a:pPr>
            <a:r>
              <a:rPr lang="en-US" dirty="0"/>
              <a:t>Some CPUs have instructions for strings, lists, queues</a:t>
            </a:r>
          </a:p>
        </p:txBody>
      </p:sp>
    </p:spTree>
    <p:extLst>
      <p:ext uri="{BB962C8B-B14F-4D97-AF65-F5344CB8AC3E}">
        <p14:creationId xmlns:p14="http://schemas.microsoft.com/office/powerpoint/2010/main" val="30530515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376A4-CD9D-466D-9791-DD111D7C5654}"/>
              </a:ext>
            </a:extLst>
          </p:cNvPr>
          <p:cNvSpPr>
            <a:spLocks noGrp="1"/>
          </p:cNvSpPr>
          <p:nvPr>
            <p:ph type="title"/>
          </p:nvPr>
        </p:nvSpPr>
        <p:spPr/>
        <p:txBody>
          <a:bodyPr/>
          <a:lstStyle/>
          <a:p>
            <a:r>
              <a:rPr lang="en-US" dirty="0"/>
              <a:t>Semantic Gap</a:t>
            </a:r>
          </a:p>
        </p:txBody>
      </p:sp>
      <p:sp>
        <p:nvSpPr>
          <p:cNvPr id="3" name="Content Placeholder 2">
            <a:extLst>
              <a:ext uri="{FF2B5EF4-FFF2-40B4-BE49-F238E27FC236}">
                <a16:creationId xmlns:a16="http://schemas.microsoft.com/office/drawing/2014/main" id="{3C6B268E-05DE-4362-9424-CC98BEB6B8D0}"/>
              </a:ext>
            </a:extLst>
          </p:cNvPr>
          <p:cNvSpPr>
            <a:spLocks noGrp="1"/>
          </p:cNvSpPr>
          <p:nvPr>
            <p:ph idx="1"/>
          </p:nvPr>
        </p:nvSpPr>
        <p:spPr/>
        <p:txBody>
          <a:bodyPr/>
          <a:lstStyle/>
          <a:p>
            <a:pPr marL="0" indent="0">
              <a:buNone/>
            </a:pPr>
            <a:r>
              <a:rPr lang="en-US" dirty="0"/>
              <a:t>The difference between what the software people are trying to do and what the hardware people have built into the hardware.</a:t>
            </a:r>
          </a:p>
          <a:p>
            <a:pPr marL="0" indent="0">
              <a:buNone/>
            </a:pPr>
            <a:endParaRPr lang="en-US" dirty="0"/>
          </a:p>
          <a:p>
            <a:pPr marL="0" indent="0">
              <a:buNone/>
            </a:pPr>
            <a:r>
              <a:rPr lang="en-US" dirty="0"/>
              <a:t>For example – if there is no hardware support for bytes, that is a semantic gap.</a:t>
            </a:r>
          </a:p>
          <a:p>
            <a:pPr marL="0" indent="0">
              <a:buNone/>
            </a:pPr>
            <a:endParaRPr lang="en-US" dirty="0"/>
          </a:p>
          <a:p>
            <a:pPr marL="0" indent="0">
              <a:buNone/>
            </a:pPr>
            <a:r>
              <a:rPr lang="en-US" dirty="0"/>
              <a:t>This is part of the tradeoff between implementing at the CPU level and in software.</a:t>
            </a:r>
          </a:p>
        </p:txBody>
      </p:sp>
    </p:spTree>
    <p:extLst>
      <p:ext uri="{BB962C8B-B14F-4D97-AF65-F5344CB8AC3E}">
        <p14:creationId xmlns:p14="http://schemas.microsoft.com/office/powerpoint/2010/main" val="10831060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3A3E1-2EC0-4E53-880B-5AA6354E3033}"/>
              </a:ext>
            </a:extLst>
          </p:cNvPr>
          <p:cNvSpPr>
            <a:spLocks noGrp="1"/>
          </p:cNvSpPr>
          <p:nvPr>
            <p:ph type="title"/>
          </p:nvPr>
        </p:nvSpPr>
        <p:spPr/>
        <p:txBody>
          <a:bodyPr/>
          <a:lstStyle/>
          <a:p>
            <a:r>
              <a:rPr lang="en-US" dirty="0"/>
              <a:t>Complex Instructions</a:t>
            </a:r>
          </a:p>
        </p:txBody>
      </p:sp>
      <p:sp>
        <p:nvSpPr>
          <p:cNvPr id="3" name="Content Placeholder 2">
            <a:extLst>
              <a:ext uri="{FF2B5EF4-FFF2-40B4-BE49-F238E27FC236}">
                <a16:creationId xmlns:a16="http://schemas.microsoft.com/office/drawing/2014/main" id="{95A4B876-0762-4AEE-A6B6-6BCEAEEEBFD7}"/>
              </a:ext>
            </a:extLst>
          </p:cNvPr>
          <p:cNvSpPr>
            <a:spLocks noGrp="1"/>
          </p:cNvSpPr>
          <p:nvPr>
            <p:ph idx="1"/>
          </p:nvPr>
        </p:nvSpPr>
        <p:spPr/>
        <p:txBody>
          <a:bodyPr/>
          <a:lstStyle/>
          <a:p>
            <a:pPr marL="0" indent="0">
              <a:buNone/>
            </a:pPr>
            <a:r>
              <a:rPr lang="en-US" dirty="0"/>
              <a:t>If an ISA supports complex instructions:</a:t>
            </a:r>
          </a:p>
          <a:p>
            <a:r>
              <a:rPr lang="en-US" dirty="0"/>
              <a:t>Fewer instructions are needed</a:t>
            </a:r>
          </a:p>
          <a:p>
            <a:pPr marL="457200" lvl="1" indent="0">
              <a:buNone/>
            </a:pPr>
            <a:r>
              <a:rPr lang="en-US" dirty="0"/>
              <a:t>Better for memory/cache </a:t>
            </a:r>
          </a:p>
          <a:p>
            <a:r>
              <a:rPr lang="en-US" dirty="0"/>
              <a:t>Simpler Compiler </a:t>
            </a:r>
          </a:p>
          <a:p>
            <a:pPr marL="457200" lvl="1" indent="0">
              <a:buNone/>
            </a:pPr>
            <a:r>
              <a:rPr lang="en-US" dirty="0"/>
              <a:t>Better mapping between high level language and CPU</a:t>
            </a:r>
          </a:p>
          <a:p>
            <a:r>
              <a:rPr lang="en-US" dirty="0"/>
              <a:t>Burden of backward compatibility</a:t>
            </a:r>
          </a:p>
          <a:p>
            <a:r>
              <a:rPr lang="en-US" dirty="0"/>
              <a:t>How often is this instruction actually used?</a:t>
            </a:r>
          </a:p>
        </p:txBody>
      </p:sp>
    </p:spTree>
    <p:extLst>
      <p:ext uri="{BB962C8B-B14F-4D97-AF65-F5344CB8AC3E}">
        <p14:creationId xmlns:p14="http://schemas.microsoft.com/office/powerpoint/2010/main" val="18804450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4E5D0-BA8A-4F72-A736-3C7CF4AD9DAD}"/>
              </a:ext>
            </a:extLst>
          </p:cNvPr>
          <p:cNvSpPr>
            <a:spLocks noGrp="1"/>
          </p:cNvSpPr>
          <p:nvPr>
            <p:ph type="title"/>
          </p:nvPr>
        </p:nvSpPr>
        <p:spPr/>
        <p:txBody>
          <a:bodyPr/>
          <a:lstStyle/>
          <a:p>
            <a:r>
              <a:rPr lang="en-US" dirty="0"/>
              <a:t>Simple Instructions</a:t>
            </a:r>
          </a:p>
        </p:txBody>
      </p:sp>
      <p:sp>
        <p:nvSpPr>
          <p:cNvPr id="3" name="Content Placeholder 2">
            <a:extLst>
              <a:ext uri="{FF2B5EF4-FFF2-40B4-BE49-F238E27FC236}">
                <a16:creationId xmlns:a16="http://schemas.microsoft.com/office/drawing/2014/main" id="{BFF78B0E-58DC-4E84-861B-5CE376248441}"/>
              </a:ext>
            </a:extLst>
          </p:cNvPr>
          <p:cNvSpPr>
            <a:spLocks noGrp="1"/>
          </p:cNvSpPr>
          <p:nvPr>
            <p:ph idx="1"/>
          </p:nvPr>
        </p:nvSpPr>
        <p:spPr>
          <a:xfrm>
            <a:off x="838200" y="1825625"/>
            <a:ext cx="10515600" cy="4351338"/>
          </a:xfrm>
        </p:spPr>
        <p:txBody>
          <a:bodyPr/>
          <a:lstStyle/>
          <a:p>
            <a:pPr marL="0" indent="0">
              <a:buNone/>
            </a:pPr>
            <a:r>
              <a:rPr lang="en-US" dirty="0"/>
              <a:t>If an ISA supports only simple instructions:</a:t>
            </a:r>
          </a:p>
          <a:p>
            <a:r>
              <a:rPr lang="en-US" dirty="0"/>
              <a:t>Simpler chip design</a:t>
            </a:r>
          </a:p>
          <a:p>
            <a:pPr marL="0" indent="0">
              <a:buNone/>
            </a:pPr>
            <a:r>
              <a:rPr lang="en-US" dirty="0"/>
              <a:t>	Fewer bugs</a:t>
            </a:r>
          </a:p>
          <a:p>
            <a:pPr marL="0" indent="0">
              <a:buNone/>
            </a:pPr>
            <a:r>
              <a:rPr lang="en-US" dirty="0"/>
              <a:t>	Easier to clock faster/pipeline more/Reorder instructions</a:t>
            </a:r>
          </a:p>
          <a:p>
            <a:r>
              <a:rPr lang="en-US" dirty="0"/>
              <a:t>Assembly Programmer/Compiler has to do a lot more work</a:t>
            </a:r>
          </a:p>
          <a:p>
            <a:r>
              <a:rPr lang="en-US" dirty="0"/>
              <a:t>More memory accesses (because the instructions do less)</a:t>
            </a:r>
          </a:p>
          <a:p>
            <a:endParaRPr lang="en-US" dirty="0"/>
          </a:p>
        </p:txBody>
      </p:sp>
    </p:spTree>
    <p:extLst>
      <p:ext uri="{BB962C8B-B14F-4D97-AF65-F5344CB8AC3E}">
        <p14:creationId xmlns:p14="http://schemas.microsoft.com/office/powerpoint/2010/main" val="38399466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0B2B9-6A43-4F58-918F-64663DA7CD16}"/>
              </a:ext>
            </a:extLst>
          </p:cNvPr>
          <p:cNvSpPr>
            <a:spLocks noGrp="1"/>
          </p:cNvSpPr>
          <p:nvPr>
            <p:ph type="title"/>
          </p:nvPr>
        </p:nvSpPr>
        <p:spPr/>
        <p:txBody>
          <a:bodyPr/>
          <a:lstStyle/>
          <a:p>
            <a:r>
              <a:rPr lang="en-US" dirty="0"/>
              <a:t>How Can We Have It All?</a:t>
            </a:r>
          </a:p>
        </p:txBody>
      </p:sp>
      <p:sp>
        <p:nvSpPr>
          <p:cNvPr id="3" name="Content Placeholder 2">
            <a:extLst>
              <a:ext uri="{FF2B5EF4-FFF2-40B4-BE49-F238E27FC236}">
                <a16:creationId xmlns:a16="http://schemas.microsoft.com/office/drawing/2014/main" id="{CF42C140-16AE-4510-916C-EB633E9EC3A7}"/>
              </a:ext>
            </a:extLst>
          </p:cNvPr>
          <p:cNvSpPr>
            <a:spLocks noGrp="1"/>
          </p:cNvSpPr>
          <p:nvPr>
            <p:ph idx="1"/>
          </p:nvPr>
        </p:nvSpPr>
        <p:spPr/>
        <p:txBody>
          <a:bodyPr/>
          <a:lstStyle/>
          <a:p>
            <a:pPr marL="0" indent="0">
              <a:buNone/>
            </a:pPr>
            <a:r>
              <a:rPr lang="en-US" dirty="0"/>
              <a:t>What if we had a CISC, with all of the benefits of a complex instruction set, but ran it on a RISC CPU and got all of the benefits of a fast RISC implementation?</a:t>
            </a:r>
          </a:p>
          <a:p>
            <a:pPr marL="0" indent="0">
              <a:buNone/>
            </a:pPr>
            <a:endParaRPr lang="en-US" dirty="0"/>
          </a:p>
          <a:p>
            <a:pPr marL="0" indent="0">
              <a:buNone/>
            </a:pPr>
            <a:r>
              <a:rPr lang="en-US" dirty="0"/>
              <a:t>How?</a:t>
            </a:r>
          </a:p>
          <a:p>
            <a:pPr marL="0" indent="0">
              <a:buNone/>
            </a:pPr>
            <a:endParaRPr lang="en-US" dirty="0"/>
          </a:p>
          <a:p>
            <a:pPr marL="0" indent="0">
              <a:buNone/>
            </a:pPr>
            <a:r>
              <a:rPr lang="en-US" dirty="0"/>
              <a:t>Translate CISC instructions into RISC instructions just before we execute them!</a:t>
            </a:r>
          </a:p>
        </p:txBody>
      </p:sp>
    </p:spTree>
    <p:extLst>
      <p:ext uri="{BB962C8B-B14F-4D97-AF65-F5344CB8AC3E}">
        <p14:creationId xmlns:p14="http://schemas.microsoft.com/office/powerpoint/2010/main" val="5362663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A60E6-E3A2-4C08-98E7-ED81AA2A0BB6}"/>
              </a:ext>
            </a:extLst>
          </p:cNvPr>
          <p:cNvSpPr>
            <a:spLocks noGrp="1"/>
          </p:cNvSpPr>
          <p:nvPr>
            <p:ph type="title"/>
          </p:nvPr>
        </p:nvSpPr>
        <p:spPr/>
        <p:txBody>
          <a:bodyPr/>
          <a:lstStyle/>
          <a:p>
            <a:r>
              <a:rPr lang="en-US" dirty="0"/>
              <a:t>Finished!</a:t>
            </a:r>
          </a:p>
        </p:txBody>
      </p:sp>
      <p:sp>
        <p:nvSpPr>
          <p:cNvPr id="3" name="Content Placeholder 2">
            <a:extLst>
              <a:ext uri="{FF2B5EF4-FFF2-40B4-BE49-F238E27FC236}">
                <a16:creationId xmlns:a16="http://schemas.microsoft.com/office/drawing/2014/main" id="{51E0D9C0-7AC6-4B10-B5F0-06978F9EAE8E}"/>
              </a:ext>
            </a:extLst>
          </p:cNvPr>
          <p:cNvSpPr>
            <a:spLocks noGrp="1"/>
          </p:cNvSpPr>
          <p:nvPr>
            <p:ph idx="1"/>
          </p:nvPr>
        </p:nvSpPr>
        <p:spPr>
          <a:xfrm>
            <a:off x="838200" y="1362456"/>
            <a:ext cx="10515600" cy="4814507"/>
          </a:xfrm>
        </p:spPr>
        <p:txBody>
          <a:bodyPr>
            <a:normAutofit lnSpcReduction="10000"/>
          </a:bodyPr>
          <a:lstStyle/>
          <a:p>
            <a:pPr marL="0" indent="0">
              <a:buNone/>
            </a:pPr>
            <a:r>
              <a:rPr lang="en-US" dirty="0"/>
              <a:t>Intel and AMD have been doing this for CENTURIES (2)</a:t>
            </a:r>
          </a:p>
          <a:p>
            <a:pPr marL="0" indent="0">
              <a:buNone/>
            </a:pPr>
            <a:endParaRPr lang="en-US" dirty="0"/>
          </a:p>
          <a:p>
            <a:pPr marL="0" indent="0">
              <a:buNone/>
            </a:pPr>
            <a:r>
              <a:rPr lang="en-US" dirty="0"/>
              <a:t>The actual CPU code doesn’t speak x86 or x64 at all.</a:t>
            </a:r>
          </a:p>
          <a:p>
            <a:pPr marL="0" indent="0">
              <a:buNone/>
            </a:pPr>
            <a:endParaRPr lang="en-US" dirty="0"/>
          </a:p>
          <a:p>
            <a:pPr marL="0" indent="0">
              <a:buNone/>
            </a:pPr>
            <a:r>
              <a:rPr lang="en-US" dirty="0"/>
              <a:t>There is a hardware translator that converts a CISC instruction to one or more instructions that run on the RISC core.</a:t>
            </a:r>
          </a:p>
          <a:p>
            <a:pPr marL="0" indent="0">
              <a:buNone/>
            </a:pPr>
            <a:endParaRPr lang="en-US" dirty="0"/>
          </a:p>
          <a:p>
            <a:pPr marL="0" indent="0">
              <a:buNone/>
            </a:pPr>
            <a:r>
              <a:rPr lang="en-US" dirty="0"/>
              <a:t>This is why RISC has not surpassed x86 in performance – RISC has the disadvantages of RISC and none of the benefits of CISC. x86 has (mostly) only the benefits. There is a HW/heat cost of translation, but it is very reasonable compared to the benefits.</a:t>
            </a:r>
          </a:p>
        </p:txBody>
      </p:sp>
    </p:spTree>
    <p:extLst>
      <p:ext uri="{BB962C8B-B14F-4D97-AF65-F5344CB8AC3E}">
        <p14:creationId xmlns:p14="http://schemas.microsoft.com/office/powerpoint/2010/main" val="33244443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0363A-846E-43EE-9238-F5DFBF6E7146}"/>
              </a:ext>
            </a:extLst>
          </p:cNvPr>
          <p:cNvSpPr>
            <a:spLocks noGrp="1"/>
          </p:cNvSpPr>
          <p:nvPr>
            <p:ph type="title"/>
          </p:nvPr>
        </p:nvSpPr>
        <p:spPr/>
        <p:txBody>
          <a:bodyPr/>
          <a:lstStyle/>
          <a:p>
            <a:r>
              <a:rPr lang="en-US" dirty="0"/>
              <a:t>Microcode</a:t>
            </a:r>
          </a:p>
        </p:txBody>
      </p:sp>
      <p:sp>
        <p:nvSpPr>
          <p:cNvPr id="3" name="Content Placeholder 2">
            <a:extLst>
              <a:ext uri="{FF2B5EF4-FFF2-40B4-BE49-F238E27FC236}">
                <a16:creationId xmlns:a16="http://schemas.microsoft.com/office/drawing/2014/main" id="{85866CBD-F598-4FD8-82C7-887CE451AB02}"/>
              </a:ext>
            </a:extLst>
          </p:cNvPr>
          <p:cNvSpPr>
            <a:spLocks noGrp="1"/>
          </p:cNvSpPr>
          <p:nvPr>
            <p:ph idx="1"/>
          </p:nvPr>
        </p:nvSpPr>
        <p:spPr/>
        <p:txBody>
          <a:bodyPr/>
          <a:lstStyle/>
          <a:p>
            <a:pPr marL="0" indent="0">
              <a:buNone/>
            </a:pPr>
            <a:r>
              <a:rPr lang="en-US" dirty="0"/>
              <a:t>This process is called microcode. </a:t>
            </a:r>
          </a:p>
          <a:p>
            <a:pPr marL="0" indent="0">
              <a:buNone/>
            </a:pPr>
            <a:endParaRPr lang="en-US" dirty="0"/>
          </a:p>
          <a:p>
            <a:pPr marL="0" indent="0">
              <a:buNone/>
            </a:pPr>
            <a:r>
              <a:rPr lang="en-US" dirty="0"/>
              <a:t>One interesting note – the mapping from CISC to RISC is stored in the CPU in memory that CAN BE updated.</a:t>
            </a:r>
          </a:p>
          <a:p>
            <a:pPr marL="0" indent="0">
              <a:buNone/>
            </a:pPr>
            <a:endParaRPr lang="en-US" dirty="0"/>
          </a:p>
          <a:p>
            <a:pPr marL="0" indent="0">
              <a:buNone/>
            </a:pPr>
            <a:r>
              <a:rPr lang="en-US" dirty="0"/>
              <a:t>Both AMD and Intel will occasionally update their microcode. Sometimes this is used to fix security issues, sometimes to fix bugs.</a:t>
            </a:r>
          </a:p>
        </p:txBody>
      </p:sp>
    </p:spTree>
    <p:extLst>
      <p:ext uri="{BB962C8B-B14F-4D97-AF65-F5344CB8AC3E}">
        <p14:creationId xmlns:p14="http://schemas.microsoft.com/office/powerpoint/2010/main" val="31933880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70">
            <a:extLst>
              <a:ext uri="{FF2B5EF4-FFF2-40B4-BE49-F238E27FC236}">
                <a16:creationId xmlns:a16="http://schemas.microsoft.com/office/drawing/2014/main" id="{CEB41C5C-0F34-4DDA-9D7C-5E717F35F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6134677" y="303591"/>
            <a:ext cx="5735590" cy="5896743"/>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A501D7-A4FF-461E-93F1-8C276B8A6CFC}"/>
              </a:ext>
            </a:extLst>
          </p:cNvPr>
          <p:cNvSpPr>
            <a:spLocks noGrp="1"/>
          </p:cNvSpPr>
          <p:nvPr>
            <p:ph type="title"/>
          </p:nvPr>
        </p:nvSpPr>
        <p:spPr>
          <a:xfrm>
            <a:off x="6392598" y="640263"/>
            <a:ext cx="5221266" cy="1344975"/>
          </a:xfrm>
        </p:spPr>
        <p:txBody>
          <a:bodyPr>
            <a:normAutofit/>
          </a:bodyPr>
          <a:lstStyle/>
          <a:p>
            <a:pPr algn="ctr"/>
            <a:r>
              <a:rPr lang="en-US" sz="4000"/>
              <a:t>Big Endian vs Little Endian</a:t>
            </a:r>
          </a:p>
        </p:txBody>
      </p:sp>
      <p:pic>
        <p:nvPicPr>
          <p:cNvPr id="1026" name="Picture 2" descr="Image result for egg">
            <a:extLst>
              <a:ext uri="{FF2B5EF4-FFF2-40B4-BE49-F238E27FC236}">
                <a16:creationId xmlns:a16="http://schemas.microsoft.com/office/drawing/2014/main" id="{4F7032C1-0536-40EE-A4B0-A0F5F0AC0F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186" y="484632"/>
            <a:ext cx="4801627" cy="5733287"/>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E1B94284-E0E9-4806-9FEE-5A1F90D1B2BB}"/>
              </a:ext>
            </a:extLst>
          </p:cNvPr>
          <p:cNvSpPr>
            <a:spLocks noGrp="1"/>
          </p:cNvSpPr>
          <p:nvPr>
            <p:ph idx="1"/>
          </p:nvPr>
        </p:nvSpPr>
        <p:spPr>
          <a:xfrm>
            <a:off x="6391903" y="1985238"/>
            <a:ext cx="5235490" cy="4063022"/>
          </a:xfrm>
        </p:spPr>
        <p:txBody>
          <a:bodyPr>
            <a:noAutofit/>
          </a:bodyPr>
          <a:lstStyle/>
          <a:p>
            <a:pPr marL="0" indent="0">
              <a:buNone/>
            </a:pPr>
            <a:r>
              <a:rPr lang="en-US" sz="3600" dirty="0"/>
              <a:t>In Gulliver’s Travels, there are two islands – Lilliput and Blefuscu. On one island (Blefuscu), they break their hard boiled eggs on the “big end.” The other island breaks their eggs on the small end.</a:t>
            </a:r>
          </a:p>
        </p:txBody>
      </p:sp>
    </p:spTree>
    <p:extLst>
      <p:ext uri="{BB962C8B-B14F-4D97-AF65-F5344CB8AC3E}">
        <p14:creationId xmlns:p14="http://schemas.microsoft.com/office/powerpoint/2010/main" val="35749309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F9CFD-B38D-42E6-B2EA-C6802ABF9454}"/>
              </a:ext>
            </a:extLst>
          </p:cNvPr>
          <p:cNvSpPr>
            <a:spLocks noGrp="1"/>
          </p:cNvSpPr>
          <p:nvPr>
            <p:ph type="title"/>
          </p:nvPr>
        </p:nvSpPr>
        <p:spPr/>
        <p:txBody>
          <a:bodyPr/>
          <a:lstStyle/>
          <a:p>
            <a:r>
              <a:rPr lang="en-US" dirty="0"/>
              <a:t>How Do We Write Numbers?</a:t>
            </a:r>
          </a:p>
        </p:txBody>
      </p:sp>
      <p:sp>
        <p:nvSpPr>
          <p:cNvPr id="3" name="Content Placeholder 2">
            <a:extLst>
              <a:ext uri="{FF2B5EF4-FFF2-40B4-BE49-F238E27FC236}">
                <a16:creationId xmlns:a16="http://schemas.microsoft.com/office/drawing/2014/main" id="{8EDAB212-1E81-4F54-9D1B-001F57030951}"/>
              </a:ext>
            </a:extLst>
          </p:cNvPr>
          <p:cNvSpPr>
            <a:spLocks noGrp="1"/>
          </p:cNvSpPr>
          <p:nvPr>
            <p:ph idx="1"/>
          </p:nvPr>
        </p:nvSpPr>
        <p:spPr>
          <a:xfrm>
            <a:off x="838200" y="1825625"/>
            <a:ext cx="10515600" cy="2590927"/>
          </a:xfrm>
        </p:spPr>
        <p:txBody>
          <a:bodyPr/>
          <a:lstStyle/>
          <a:p>
            <a:pPr marL="0" indent="0">
              <a:buNone/>
            </a:pPr>
            <a:r>
              <a:rPr lang="en-US" dirty="0"/>
              <a:t>In Arabic numbers, we write the most significant digits on the left.</a:t>
            </a:r>
          </a:p>
          <a:p>
            <a:pPr marL="0" indent="0">
              <a:buNone/>
            </a:pPr>
            <a:r>
              <a:rPr lang="en-US" dirty="0"/>
              <a:t>123,456 </a:t>
            </a:r>
            <a:r>
              <a:rPr lang="en-US" dirty="0">
                <a:sym typeface="Wingdings" panose="05000000000000000000" pitchFamily="2" charset="2"/>
              </a:rPr>
              <a:t> 1 is the most significant</a:t>
            </a:r>
          </a:p>
          <a:p>
            <a:pPr marL="0" indent="0">
              <a:buNone/>
            </a:pPr>
            <a:r>
              <a:rPr lang="en-US" dirty="0">
                <a:sym typeface="Wingdings" panose="05000000000000000000" pitchFamily="2" charset="2"/>
              </a:rPr>
              <a:t>This is a big endian arrangement. </a:t>
            </a:r>
          </a:p>
          <a:p>
            <a:pPr marL="0" indent="0">
              <a:buNone/>
            </a:pPr>
            <a:endParaRPr lang="en-US" dirty="0"/>
          </a:p>
          <a:p>
            <a:pPr marL="0" indent="0">
              <a:buNone/>
            </a:pPr>
            <a:r>
              <a:rPr lang="en-US" dirty="0"/>
              <a:t>If you wanted to store 0x1234:</a:t>
            </a:r>
          </a:p>
        </p:txBody>
      </p:sp>
      <p:graphicFrame>
        <p:nvGraphicFramePr>
          <p:cNvPr id="4" name="Table 3">
            <a:extLst>
              <a:ext uri="{FF2B5EF4-FFF2-40B4-BE49-F238E27FC236}">
                <a16:creationId xmlns:a16="http://schemas.microsoft.com/office/drawing/2014/main" id="{6999EA4F-799C-4F82-81BF-48904DF9C252}"/>
              </a:ext>
            </a:extLst>
          </p:cNvPr>
          <p:cNvGraphicFramePr>
            <a:graphicFrameLocks noGrp="1"/>
          </p:cNvGraphicFramePr>
          <p:nvPr>
            <p:extLst>
              <p:ext uri="{D42A27DB-BD31-4B8C-83A1-F6EECF244321}">
                <p14:modId xmlns:p14="http://schemas.microsoft.com/office/powerpoint/2010/main" val="2005424997"/>
              </p:ext>
            </p:extLst>
          </p:nvPr>
        </p:nvGraphicFramePr>
        <p:xfrm>
          <a:off x="1834896" y="4551489"/>
          <a:ext cx="8127999" cy="1112520"/>
        </p:xfrm>
        <a:graphic>
          <a:graphicData uri="http://schemas.openxmlformats.org/drawingml/2006/table">
            <a:tbl>
              <a:tblPr firstRow="1" bandRow="1">
                <a:tableStyleId>{D113A9D2-9D6B-4929-AA2D-F23B5EE8CBE7}</a:tableStyleId>
              </a:tblPr>
              <a:tblGrid>
                <a:gridCol w="2709333">
                  <a:extLst>
                    <a:ext uri="{9D8B030D-6E8A-4147-A177-3AD203B41FA5}">
                      <a16:colId xmlns:a16="http://schemas.microsoft.com/office/drawing/2014/main" val="3555717079"/>
                    </a:ext>
                  </a:extLst>
                </a:gridCol>
                <a:gridCol w="2709333">
                  <a:extLst>
                    <a:ext uri="{9D8B030D-6E8A-4147-A177-3AD203B41FA5}">
                      <a16:colId xmlns:a16="http://schemas.microsoft.com/office/drawing/2014/main" val="3250771965"/>
                    </a:ext>
                  </a:extLst>
                </a:gridCol>
                <a:gridCol w="2709333">
                  <a:extLst>
                    <a:ext uri="{9D8B030D-6E8A-4147-A177-3AD203B41FA5}">
                      <a16:colId xmlns:a16="http://schemas.microsoft.com/office/drawing/2014/main" val="3638669143"/>
                    </a:ext>
                  </a:extLst>
                </a:gridCol>
              </a:tblGrid>
              <a:tr h="370840">
                <a:tc>
                  <a:txBody>
                    <a:bodyPr/>
                    <a:lstStyle/>
                    <a:p>
                      <a:r>
                        <a:rPr lang="en-US" dirty="0"/>
                        <a:t>Endian</a:t>
                      </a:r>
                    </a:p>
                  </a:txBody>
                  <a:tcPr/>
                </a:tc>
                <a:tc>
                  <a:txBody>
                    <a:bodyPr/>
                    <a:lstStyle/>
                    <a:p>
                      <a:r>
                        <a:rPr lang="en-US" dirty="0"/>
                        <a:t>Address 0</a:t>
                      </a:r>
                    </a:p>
                  </a:txBody>
                  <a:tcPr/>
                </a:tc>
                <a:tc>
                  <a:txBody>
                    <a:bodyPr/>
                    <a:lstStyle/>
                    <a:p>
                      <a:r>
                        <a:rPr lang="en-US" dirty="0"/>
                        <a:t>Address 1</a:t>
                      </a:r>
                    </a:p>
                  </a:txBody>
                  <a:tcPr/>
                </a:tc>
                <a:extLst>
                  <a:ext uri="{0D108BD9-81ED-4DB2-BD59-A6C34878D82A}">
                    <a16:rowId xmlns:a16="http://schemas.microsoft.com/office/drawing/2014/main" val="1889516667"/>
                  </a:ext>
                </a:extLst>
              </a:tr>
              <a:tr h="370840">
                <a:tc>
                  <a:txBody>
                    <a:bodyPr/>
                    <a:lstStyle/>
                    <a:p>
                      <a:r>
                        <a:rPr lang="en-US" dirty="0"/>
                        <a:t>Little</a:t>
                      </a:r>
                    </a:p>
                  </a:txBody>
                  <a:tcPr/>
                </a:tc>
                <a:tc>
                  <a:txBody>
                    <a:bodyPr/>
                    <a:lstStyle/>
                    <a:p>
                      <a:r>
                        <a:rPr lang="en-US" dirty="0"/>
                        <a:t>0x34</a:t>
                      </a:r>
                    </a:p>
                  </a:txBody>
                  <a:tcPr/>
                </a:tc>
                <a:tc>
                  <a:txBody>
                    <a:bodyPr/>
                    <a:lstStyle/>
                    <a:p>
                      <a:r>
                        <a:rPr lang="en-US" dirty="0"/>
                        <a:t>0x12</a:t>
                      </a:r>
                    </a:p>
                  </a:txBody>
                  <a:tcPr/>
                </a:tc>
                <a:extLst>
                  <a:ext uri="{0D108BD9-81ED-4DB2-BD59-A6C34878D82A}">
                    <a16:rowId xmlns:a16="http://schemas.microsoft.com/office/drawing/2014/main" val="1028513317"/>
                  </a:ext>
                </a:extLst>
              </a:tr>
              <a:tr h="370840">
                <a:tc>
                  <a:txBody>
                    <a:bodyPr/>
                    <a:lstStyle/>
                    <a:p>
                      <a:r>
                        <a:rPr lang="en-US" dirty="0"/>
                        <a:t>Big</a:t>
                      </a:r>
                    </a:p>
                  </a:txBody>
                  <a:tcPr/>
                </a:tc>
                <a:tc>
                  <a:txBody>
                    <a:bodyPr/>
                    <a:lstStyle/>
                    <a:p>
                      <a:r>
                        <a:rPr lang="en-US" dirty="0"/>
                        <a:t>0x12</a:t>
                      </a:r>
                    </a:p>
                  </a:txBody>
                  <a:tcPr/>
                </a:tc>
                <a:tc>
                  <a:txBody>
                    <a:bodyPr/>
                    <a:lstStyle/>
                    <a:p>
                      <a:r>
                        <a:rPr lang="en-US" dirty="0"/>
                        <a:t>0x34</a:t>
                      </a:r>
                    </a:p>
                  </a:txBody>
                  <a:tcPr/>
                </a:tc>
                <a:extLst>
                  <a:ext uri="{0D108BD9-81ED-4DB2-BD59-A6C34878D82A}">
                    <a16:rowId xmlns:a16="http://schemas.microsoft.com/office/drawing/2014/main" val="2587148289"/>
                  </a:ext>
                </a:extLst>
              </a:tr>
            </a:tbl>
          </a:graphicData>
        </a:graphic>
      </p:graphicFrame>
    </p:spTree>
    <p:extLst>
      <p:ext uri="{BB962C8B-B14F-4D97-AF65-F5344CB8AC3E}">
        <p14:creationId xmlns:p14="http://schemas.microsoft.com/office/powerpoint/2010/main" val="15872863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CCBE9-1F77-48E2-BBA7-3A93EC094FC5}"/>
              </a:ext>
            </a:extLst>
          </p:cNvPr>
          <p:cNvSpPr>
            <a:spLocks noGrp="1"/>
          </p:cNvSpPr>
          <p:nvPr>
            <p:ph type="title"/>
          </p:nvPr>
        </p:nvSpPr>
        <p:spPr/>
        <p:txBody>
          <a:bodyPr/>
          <a:lstStyle/>
          <a:p>
            <a:r>
              <a:rPr lang="en-US" dirty="0"/>
              <a:t>Why? </a:t>
            </a:r>
          </a:p>
        </p:txBody>
      </p:sp>
      <p:sp>
        <p:nvSpPr>
          <p:cNvPr id="3" name="Content Placeholder 2">
            <a:extLst>
              <a:ext uri="{FF2B5EF4-FFF2-40B4-BE49-F238E27FC236}">
                <a16:creationId xmlns:a16="http://schemas.microsoft.com/office/drawing/2014/main" id="{87574418-C60D-4C98-9B83-849A5FABAB05}"/>
              </a:ext>
            </a:extLst>
          </p:cNvPr>
          <p:cNvSpPr>
            <a:spLocks noGrp="1"/>
          </p:cNvSpPr>
          <p:nvPr>
            <p:ph idx="1"/>
          </p:nvPr>
        </p:nvSpPr>
        <p:spPr>
          <a:xfrm>
            <a:off x="838200" y="1825625"/>
            <a:ext cx="10756392" cy="4351338"/>
          </a:xfrm>
        </p:spPr>
        <p:txBody>
          <a:bodyPr>
            <a:normAutofit fontScale="92500" lnSpcReduction="10000"/>
          </a:bodyPr>
          <a:lstStyle/>
          <a:p>
            <a:pPr marL="0" indent="0">
              <a:buNone/>
            </a:pPr>
            <a:r>
              <a:rPr lang="en-US" dirty="0"/>
              <a:t>Little endian, while being counterintuitive, has a couple of advantages:</a:t>
            </a:r>
          </a:p>
          <a:p>
            <a:pPr marL="514350" indent="-514350">
              <a:buAutoNum type="arabicParenR"/>
            </a:pPr>
            <a:r>
              <a:rPr lang="en-US" dirty="0"/>
              <a:t>I can tell if a number is even or odd from looking only at the first byte</a:t>
            </a:r>
          </a:p>
          <a:p>
            <a:pPr marL="514350" indent="-514350">
              <a:buAutoNum type="arabicParenR"/>
            </a:pPr>
            <a:r>
              <a:rPr lang="en-US" dirty="0"/>
              <a:t>Multi-precision math (i.e. adding a 16 bit to a 32) is easier to write</a:t>
            </a:r>
          </a:p>
          <a:p>
            <a:pPr marL="514350" indent="-514350">
              <a:buAutoNum type="arabicParenR"/>
            </a:pPr>
            <a:r>
              <a:rPr lang="en-US" dirty="0"/>
              <a:t>Intel picked it</a:t>
            </a:r>
          </a:p>
          <a:p>
            <a:pPr marL="514350" indent="-514350">
              <a:buAutoNum type="arabicParenR"/>
            </a:pPr>
            <a:endParaRPr lang="en-US" dirty="0"/>
          </a:p>
          <a:p>
            <a:pPr marL="0" indent="0">
              <a:buNone/>
            </a:pPr>
            <a:r>
              <a:rPr lang="en-US" dirty="0"/>
              <a:t>Big Endian:</a:t>
            </a:r>
          </a:p>
          <a:p>
            <a:pPr marL="514350" indent="-514350">
              <a:buAutoNum type="arabicParenR"/>
            </a:pPr>
            <a:r>
              <a:rPr lang="en-US" dirty="0"/>
              <a:t>Intuitive</a:t>
            </a:r>
          </a:p>
          <a:p>
            <a:pPr marL="514350" indent="-514350">
              <a:buAutoNum type="arabicParenR"/>
            </a:pPr>
            <a:r>
              <a:rPr lang="en-US" dirty="0"/>
              <a:t>I can tell if a number is positive or negative by looking at the first byte (why?)</a:t>
            </a:r>
          </a:p>
          <a:p>
            <a:pPr marL="514350" indent="-514350">
              <a:buAutoNum type="arabicParenR"/>
            </a:pPr>
            <a:r>
              <a:rPr lang="en-US" dirty="0"/>
              <a:t>Binary to decimal is easy to write</a:t>
            </a:r>
          </a:p>
        </p:txBody>
      </p:sp>
    </p:spTree>
    <p:extLst>
      <p:ext uri="{BB962C8B-B14F-4D97-AF65-F5344CB8AC3E}">
        <p14:creationId xmlns:p14="http://schemas.microsoft.com/office/powerpoint/2010/main" val="23247488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56C20283-73E0-40EC-8AD8-057F581F64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Image result for have a bad time">
            <a:extLst>
              <a:ext uri="{FF2B5EF4-FFF2-40B4-BE49-F238E27FC236}">
                <a16:creationId xmlns:a16="http://schemas.microsoft.com/office/drawing/2014/main" id="{D38D4794-0A47-403A-883C-57C4916214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19" y="4005891"/>
            <a:ext cx="3425957" cy="2852109"/>
          </a:xfrm>
          <a:prstGeom prst="rect">
            <a:avLst/>
          </a:prstGeom>
          <a:noFill/>
          <a:extLst>
            <a:ext uri="{909E8E84-426E-40DD-AFC4-6F175D3DCCD1}">
              <a14:hiddenFill xmlns:a14="http://schemas.microsoft.com/office/drawing/2010/main">
                <a:solidFill>
                  <a:srgbClr val="FFFFFF"/>
                </a:solidFill>
              </a14:hiddenFill>
            </a:ext>
          </a:extLst>
        </p:spPr>
      </p:pic>
      <p:sp>
        <p:nvSpPr>
          <p:cNvPr id="73" name="Freeform 28">
            <a:extLst>
              <a:ext uri="{FF2B5EF4-FFF2-40B4-BE49-F238E27FC236}">
                <a16:creationId xmlns:a16="http://schemas.microsoft.com/office/drawing/2014/main" id="{3FCC729B-E528-40C3-82D3-BA4375575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960120" y="0"/>
            <a:ext cx="11218661" cy="6858000"/>
          </a:xfrm>
          <a:custGeom>
            <a:avLst/>
            <a:gdLst>
              <a:gd name="connsiteX0" fmla="*/ 0 w 11218661"/>
              <a:gd name="connsiteY0" fmla="*/ 0 h 6858000"/>
              <a:gd name="connsiteX1" fmla="*/ 8042507 w 11218661"/>
              <a:gd name="connsiteY1" fmla="*/ 0 h 6858000"/>
              <a:gd name="connsiteX2" fmla="*/ 11218661 w 11218661"/>
              <a:gd name="connsiteY2" fmla="*/ 6858000 h 6858000"/>
              <a:gd name="connsiteX3" fmla="*/ 0 w 1121866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218661" h="6858000">
                <a:moveTo>
                  <a:pt x="0" y="0"/>
                </a:moveTo>
                <a:lnTo>
                  <a:pt x="8042507" y="0"/>
                </a:lnTo>
                <a:lnTo>
                  <a:pt x="11218661" y="6858000"/>
                </a:lnTo>
                <a:lnTo>
                  <a:pt x="0" y="6858000"/>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5" name="Freeform 26">
            <a:extLst>
              <a:ext uri="{FF2B5EF4-FFF2-40B4-BE49-F238E27FC236}">
                <a16:creationId xmlns:a16="http://schemas.microsoft.com/office/drawing/2014/main" id="{58F1FB8D-1842-4A04-998D-6CF047AB2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420248" y="0"/>
            <a:ext cx="10771752" cy="6858000"/>
          </a:xfrm>
          <a:custGeom>
            <a:avLst/>
            <a:gdLst>
              <a:gd name="connsiteX0" fmla="*/ 0 w 10771752"/>
              <a:gd name="connsiteY0" fmla="*/ 0 h 6858000"/>
              <a:gd name="connsiteX1" fmla="*/ 7595598 w 10771752"/>
              <a:gd name="connsiteY1" fmla="*/ 0 h 6858000"/>
              <a:gd name="connsiteX2" fmla="*/ 10771752 w 10771752"/>
              <a:gd name="connsiteY2" fmla="*/ 6858000 h 6858000"/>
              <a:gd name="connsiteX3" fmla="*/ 0 w 1077175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771752" h="6858000">
                <a:moveTo>
                  <a:pt x="0" y="0"/>
                </a:moveTo>
                <a:lnTo>
                  <a:pt x="7595598" y="0"/>
                </a:lnTo>
                <a:lnTo>
                  <a:pt x="10771752" y="6858000"/>
                </a:lnTo>
                <a:lnTo>
                  <a:pt x="0" y="685800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8EBAB62-4E18-4D77-98BA-DDFA1E0E34AD}"/>
              </a:ext>
            </a:extLst>
          </p:cNvPr>
          <p:cNvSpPr>
            <a:spLocks noGrp="1"/>
          </p:cNvSpPr>
          <p:nvPr>
            <p:ph type="title"/>
          </p:nvPr>
        </p:nvSpPr>
        <p:spPr>
          <a:xfrm>
            <a:off x="4384039" y="365125"/>
            <a:ext cx="7164493" cy="1325563"/>
          </a:xfrm>
        </p:spPr>
        <p:txBody>
          <a:bodyPr>
            <a:normAutofit/>
          </a:bodyPr>
          <a:lstStyle/>
          <a:p>
            <a:r>
              <a:rPr lang="en-US" dirty="0"/>
              <a:t>And why does this matter?</a:t>
            </a:r>
          </a:p>
        </p:txBody>
      </p:sp>
      <p:sp>
        <p:nvSpPr>
          <p:cNvPr id="3" name="Content Placeholder 2">
            <a:extLst>
              <a:ext uri="{FF2B5EF4-FFF2-40B4-BE49-F238E27FC236}">
                <a16:creationId xmlns:a16="http://schemas.microsoft.com/office/drawing/2014/main" id="{EC4016EB-BCBF-4FF6-977C-725DE726ADB1}"/>
              </a:ext>
            </a:extLst>
          </p:cNvPr>
          <p:cNvSpPr>
            <a:spLocks noGrp="1"/>
          </p:cNvSpPr>
          <p:nvPr>
            <p:ph idx="1"/>
          </p:nvPr>
        </p:nvSpPr>
        <p:spPr>
          <a:xfrm>
            <a:off x="4387515" y="2022601"/>
            <a:ext cx="7161017" cy="4154361"/>
          </a:xfrm>
        </p:spPr>
        <p:txBody>
          <a:bodyPr>
            <a:normAutofit/>
          </a:bodyPr>
          <a:lstStyle/>
          <a:p>
            <a:pPr marL="0" indent="0">
              <a:buNone/>
            </a:pPr>
            <a:r>
              <a:rPr lang="en-US" sz="2000"/>
              <a:t>Assemblers and compilers handle this for you. If you are writing one of those, you should know which the CPU needs.</a:t>
            </a:r>
          </a:p>
          <a:p>
            <a:pPr marL="0" indent="0">
              <a:buNone/>
            </a:pPr>
            <a:endParaRPr lang="en-US" sz="2000"/>
          </a:p>
          <a:p>
            <a:pPr marL="0" indent="0">
              <a:buNone/>
            </a:pPr>
            <a:r>
              <a:rPr lang="en-US" sz="2000"/>
              <a:t>Data interchange – if I store, for example, an IPV4 address as int32 on a little endian and I send that to a big endian computer, I will have a bad time…</a:t>
            </a:r>
          </a:p>
          <a:p>
            <a:pPr marL="0" indent="0">
              <a:buNone/>
            </a:pPr>
            <a:endParaRPr lang="en-US" sz="2000"/>
          </a:p>
          <a:p>
            <a:pPr marL="0" indent="0">
              <a:buNone/>
            </a:pPr>
            <a:r>
              <a:rPr lang="en-US" sz="2000"/>
              <a:t>Work arounds? </a:t>
            </a:r>
          </a:p>
          <a:p>
            <a:r>
              <a:rPr lang="en-US" sz="2000"/>
              <a:t>Create a standard (always big or little) for interchange. </a:t>
            </a:r>
          </a:p>
          <a:p>
            <a:r>
              <a:rPr lang="en-US" sz="2000"/>
              <a:t>Use a flag indicating which the following address is.</a:t>
            </a:r>
          </a:p>
          <a:p>
            <a:r>
              <a:rPr lang="en-US" sz="2000"/>
              <a:t>Write everything to text.</a:t>
            </a:r>
          </a:p>
        </p:txBody>
      </p:sp>
    </p:spTree>
    <p:extLst>
      <p:ext uri="{BB962C8B-B14F-4D97-AF65-F5344CB8AC3E}">
        <p14:creationId xmlns:p14="http://schemas.microsoft.com/office/powerpoint/2010/main" val="2124192757"/>
      </p:ext>
    </p:extLst>
  </p:cSld>
  <p:clrMapOvr>
    <a:overrideClrMapping bg1="dk1" tx1="lt1" bg2="dk2" tx2="lt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7684C-CD94-4D66-A425-17A21CB73023}"/>
              </a:ext>
            </a:extLst>
          </p:cNvPr>
          <p:cNvSpPr>
            <a:spLocks noGrp="1"/>
          </p:cNvSpPr>
          <p:nvPr>
            <p:ph type="title"/>
          </p:nvPr>
        </p:nvSpPr>
        <p:spPr/>
        <p:txBody>
          <a:bodyPr/>
          <a:lstStyle/>
          <a:p>
            <a:r>
              <a:rPr lang="en-US" dirty="0"/>
              <a:t>Instruction Classes</a:t>
            </a:r>
          </a:p>
        </p:txBody>
      </p:sp>
      <p:sp>
        <p:nvSpPr>
          <p:cNvPr id="3" name="Content Placeholder 2">
            <a:extLst>
              <a:ext uri="{FF2B5EF4-FFF2-40B4-BE49-F238E27FC236}">
                <a16:creationId xmlns:a16="http://schemas.microsoft.com/office/drawing/2014/main" id="{470D318A-7EA5-46AD-9049-2DFD8D4EB94D}"/>
              </a:ext>
            </a:extLst>
          </p:cNvPr>
          <p:cNvSpPr>
            <a:spLocks noGrp="1"/>
          </p:cNvSpPr>
          <p:nvPr>
            <p:ph idx="1"/>
          </p:nvPr>
        </p:nvSpPr>
        <p:spPr/>
        <p:txBody>
          <a:bodyPr/>
          <a:lstStyle/>
          <a:p>
            <a:pPr marL="0" indent="0">
              <a:buNone/>
            </a:pPr>
            <a:r>
              <a:rPr lang="en-US" dirty="0"/>
              <a:t>Operation Instructions</a:t>
            </a:r>
          </a:p>
          <a:p>
            <a:pPr marL="0" indent="0">
              <a:buNone/>
            </a:pPr>
            <a:r>
              <a:rPr lang="en-US" dirty="0"/>
              <a:t>	Process data, ALU</a:t>
            </a:r>
          </a:p>
          <a:p>
            <a:pPr marL="0" indent="0">
              <a:buNone/>
            </a:pPr>
            <a:endParaRPr lang="en-US" dirty="0"/>
          </a:p>
          <a:p>
            <a:pPr marL="0" indent="0">
              <a:buNone/>
            </a:pPr>
            <a:r>
              <a:rPr lang="en-US" dirty="0"/>
              <a:t>Data Movement</a:t>
            </a:r>
          </a:p>
          <a:p>
            <a:pPr marL="0" indent="0">
              <a:buNone/>
            </a:pPr>
            <a:r>
              <a:rPr lang="en-US" dirty="0"/>
              <a:t>	MOVE, IN, OUT – copies data between registers, RAM, I/O</a:t>
            </a:r>
          </a:p>
          <a:p>
            <a:pPr marL="0" indent="0">
              <a:buNone/>
            </a:pPr>
            <a:endParaRPr lang="en-US" dirty="0"/>
          </a:p>
          <a:p>
            <a:pPr marL="0" indent="0">
              <a:buNone/>
            </a:pPr>
            <a:r>
              <a:rPr lang="en-US" dirty="0"/>
              <a:t>Control Flow Operations</a:t>
            </a:r>
          </a:p>
          <a:p>
            <a:pPr marL="0" indent="0">
              <a:buNone/>
            </a:pPr>
            <a:r>
              <a:rPr lang="en-US" dirty="0"/>
              <a:t>	JUMP, Bcc, CALL</a:t>
            </a:r>
          </a:p>
        </p:txBody>
      </p:sp>
    </p:spTree>
    <p:extLst>
      <p:ext uri="{BB962C8B-B14F-4D97-AF65-F5344CB8AC3E}">
        <p14:creationId xmlns:p14="http://schemas.microsoft.com/office/powerpoint/2010/main" val="5651935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8A770-3B10-4436-B3F7-0D18A24619B6}"/>
              </a:ext>
            </a:extLst>
          </p:cNvPr>
          <p:cNvSpPr>
            <a:spLocks noGrp="1"/>
          </p:cNvSpPr>
          <p:nvPr>
            <p:ph type="title"/>
          </p:nvPr>
        </p:nvSpPr>
        <p:spPr>
          <a:xfrm>
            <a:off x="530352" y="365125"/>
            <a:ext cx="11137392" cy="1325563"/>
          </a:xfrm>
        </p:spPr>
        <p:txBody>
          <a:bodyPr/>
          <a:lstStyle/>
          <a:p>
            <a:r>
              <a:rPr lang="en-US" dirty="0"/>
              <a:t>How to decide what instructions go in your ISA</a:t>
            </a:r>
          </a:p>
        </p:txBody>
      </p:sp>
      <p:sp>
        <p:nvSpPr>
          <p:cNvPr id="3" name="Content Placeholder 2">
            <a:extLst>
              <a:ext uri="{FF2B5EF4-FFF2-40B4-BE49-F238E27FC236}">
                <a16:creationId xmlns:a16="http://schemas.microsoft.com/office/drawing/2014/main" id="{B3A1C5C9-43A6-4BC9-A35F-880A94B27C2D}"/>
              </a:ext>
            </a:extLst>
          </p:cNvPr>
          <p:cNvSpPr>
            <a:spLocks noGrp="1"/>
          </p:cNvSpPr>
          <p:nvPr>
            <p:ph idx="1"/>
          </p:nvPr>
        </p:nvSpPr>
        <p:spPr>
          <a:xfrm>
            <a:off x="530352" y="1825625"/>
            <a:ext cx="11137392" cy="4351338"/>
          </a:xfrm>
        </p:spPr>
        <p:txBody>
          <a:bodyPr/>
          <a:lstStyle/>
          <a:p>
            <a:pPr marL="0" indent="0">
              <a:buNone/>
            </a:pPr>
            <a:r>
              <a:rPr lang="en-US" dirty="0"/>
              <a:t>First, are you starting from a truly blank slate?</a:t>
            </a:r>
          </a:p>
          <a:p>
            <a:pPr marL="0" indent="0">
              <a:buNone/>
            </a:pPr>
            <a:r>
              <a:rPr lang="en-US" dirty="0"/>
              <a:t>	Do you need to be backward compatible with something?</a:t>
            </a:r>
          </a:p>
          <a:p>
            <a:pPr marL="0" indent="0">
              <a:buNone/>
            </a:pPr>
            <a:r>
              <a:rPr lang="en-US" dirty="0"/>
              <a:t>	Has this been done before? Can we stand on the shoulders of giants?</a:t>
            </a:r>
          </a:p>
          <a:p>
            <a:pPr marL="0" indent="0">
              <a:buNone/>
            </a:pPr>
            <a:endParaRPr lang="en-US" dirty="0"/>
          </a:p>
          <a:p>
            <a:pPr marL="0" indent="0">
              <a:buNone/>
            </a:pPr>
            <a:r>
              <a:rPr lang="en-US" dirty="0"/>
              <a:t>Consider the work that needs to be done (high level)</a:t>
            </a:r>
          </a:p>
          <a:p>
            <a:pPr marL="0" indent="0">
              <a:buNone/>
            </a:pPr>
            <a:r>
              <a:rPr lang="en-US" dirty="0"/>
              <a:t>	Is this a purpose built chip or “generic”?</a:t>
            </a:r>
          </a:p>
          <a:p>
            <a:pPr marL="0" indent="0">
              <a:buNone/>
            </a:pPr>
            <a:r>
              <a:rPr lang="en-US" dirty="0"/>
              <a:t>	Purpose built chips (embedded, for example) can be very specific</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8797711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948F8-72FE-4F12-9E16-A4F40F32C265}"/>
              </a:ext>
            </a:extLst>
          </p:cNvPr>
          <p:cNvSpPr>
            <a:spLocks noGrp="1"/>
          </p:cNvSpPr>
          <p:nvPr>
            <p:ph type="title"/>
          </p:nvPr>
        </p:nvSpPr>
        <p:spPr/>
        <p:txBody>
          <a:bodyPr/>
          <a:lstStyle/>
          <a:p>
            <a:r>
              <a:rPr lang="en-US" dirty="0"/>
              <a:t>This is an art…</a:t>
            </a:r>
          </a:p>
        </p:txBody>
      </p:sp>
      <p:sp>
        <p:nvSpPr>
          <p:cNvPr id="3" name="Content Placeholder 2">
            <a:extLst>
              <a:ext uri="{FF2B5EF4-FFF2-40B4-BE49-F238E27FC236}">
                <a16:creationId xmlns:a16="http://schemas.microsoft.com/office/drawing/2014/main" id="{6A90B7BF-A8F6-438D-8550-0CF022185DB8}"/>
              </a:ext>
            </a:extLst>
          </p:cNvPr>
          <p:cNvSpPr>
            <a:spLocks noGrp="1"/>
          </p:cNvSpPr>
          <p:nvPr>
            <p:ph idx="1"/>
          </p:nvPr>
        </p:nvSpPr>
        <p:spPr/>
        <p:txBody>
          <a:bodyPr/>
          <a:lstStyle/>
          <a:p>
            <a:pPr marL="0" indent="0">
              <a:buNone/>
            </a:pPr>
            <a:r>
              <a:rPr lang="en-US" dirty="0"/>
              <a:t>There is no algorithm, no book, no step by step plan</a:t>
            </a:r>
          </a:p>
          <a:p>
            <a:pPr marL="0" indent="0">
              <a:buNone/>
            </a:pPr>
            <a:endParaRPr lang="en-US" dirty="0"/>
          </a:p>
          <a:p>
            <a:pPr marL="0" indent="0">
              <a:buNone/>
            </a:pPr>
            <a:r>
              <a:rPr lang="en-US" dirty="0"/>
              <a:t>The best thing that we know is to build it (simulation) and test it.</a:t>
            </a:r>
          </a:p>
          <a:p>
            <a:pPr marL="0" indent="0">
              <a:buNone/>
            </a:pPr>
            <a:endParaRPr lang="en-US" dirty="0"/>
          </a:p>
          <a:p>
            <a:pPr marL="0" indent="0">
              <a:buNone/>
            </a:pPr>
            <a:r>
              <a:rPr lang="en-US" dirty="0"/>
              <a:t>There are some general ideas and guidelines, though…</a:t>
            </a:r>
          </a:p>
        </p:txBody>
      </p:sp>
    </p:spTree>
    <p:extLst>
      <p:ext uri="{BB962C8B-B14F-4D97-AF65-F5344CB8AC3E}">
        <p14:creationId xmlns:p14="http://schemas.microsoft.com/office/powerpoint/2010/main" val="28144030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DCFFA-24A0-4F90-926A-D618746DAC69}"/>
              </a:ext>
            </a:extLst>
          </p:cNvPr>
          <p:cNvSpPr>
            <a:spLocks noGrp="1"/>
          </p:cNvSpPr>
          <p:nvPr>
            <p:ph type="title"/>
          </p:nvPr>
        </p:nvSpPr>
        <p:spPr/>
        <p:txBody>
          <a:bodyPr/>
          <a:lstStyle/>
          <a:p>
            <a:r>
              <a:rPr lang="en-US" dirty="0"/>
              <a:t>Measure twice, cut once</a:t>
            </a:r>
          </a:p>
        </p:txBody>
      </p:sp>
      <p:sp>
        <p:nvSpPr>
          <p:cNvPr id="3" name="Content Placeholder 2">
            <a:extLst>
              <a:ext uri="{FF2B5EF4-FFF2-40B4-BE49-F238E27FC236}">
                <a16:creationId xmlns:a16="http://schemas.microsoft.com/office/drawing/2014/main" id="{15F5684A-6EB7-4CE5-915D-7197614C6C68}"/>
              </a:ext>
            </a:extLst>
          </p:cNvPr>
          <p:cNvSpPr>
            <a:spLocks noGrp="1"/>
          </p:cNvSpPr>
          <p:nvPr>
            <p:ph idx="1"/>
          </p:nvPr>
        </p:nvSpPr>
        <p:spPr/>
        <p:txBody>
          <a:bodyPr/>
          <a:lstStyle/>
          <a:p>
            <a:pPr marL="0" indent="0">
              <a:buNone/>
            </a:pPr>
            <a:r>
              <a:rPr lang="en-US" dirty="0"/>
              <a:t>Chose a body of software that represents the kinds of applications you think will be run on your CPU</a:t>
            </a:r>
          </a:p>
          <a:p>
            <a:pPr marL="0" indent="0">
              <a:buNone/>
            </a:pPr>
            <a:r>
              <a:rPr lang="en-US" dirty="0"/>
              <a:t>	Probably not “League of Legends” – smaller, more self contained tests. SPEC92, for example.</a:t>
            </a:r>
          </a:p>
          <a:p>
            <a:pPr marL="0" indent="0">
              <a:buNone/>
            </a:pPr>
            <a:endParaRPr lang="en-US" dirty="0"/>
          </a:p>
          <a:p>
            <a:pPr marL="0" indent="0">
              <a:buNone/>
            </a:pPr>
            <a:r>
              <a:rPr lang="en-US" dirty="0"/>
              <a:t>Either build a compiler back end OR hand-code the application in your assembly language, then test it on your simulator</a:t>
            </a:r>
          </a:p>
          <a:p>
            <a:pPr marL="0" indent="0">
              <a:buNone/>
            </a:pPr>
            <a:endParaRPr lang="en-US" dirty="0"/>
          </a:p>
          <a:p>
            <a:pPr marL="0" indent="0">
              <a:buNone/>
            </a:pPr>
            <a:r>
              <a:rPr lang="en-US" dirty="0"/>
              <a:t>This is MUCH easier if you are modifying an existing architecture</a:t>
            </a:r>
          </a:p>
        </p:txBody>
      </p:sp>
    </p:spTree>
    <p:extLst>
      <p:ext uri="{BB962C8B-B14F-4D97-AF65-F5344CB8AC3E}">
        <p14:creationId xmlns:p14="http://schemas.microsoft.com/office/powerpoint/2010/main" val="33099042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3CE0C-63D5-4140-AA62-C32F2EC401A8}"/>
              </a:ext>
            </a:extLst>
          </p:cNvPr>
          <p:cNvSpPr>
            <a:spLocks noGrp="1"/>
          </p:cNvSpPr>
          <p:nvPr>
            <p:ph type="title"/>
          </p:nvPr>
        </p:nvSpPr>
        <p:spPr/>
        <p:txBody>
          <a:bodyPr/>
          <a:lstStyle/>
          <a:p>
            <a:r>
              <a:rPr lang="en-US" dirty="0"/>
              <a:t>Amdahl's law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CC7DCDD-0C76-46DE-8358-94AF9224D976}"/>
                  </a:ext>
                </a:extLst>
              </p:cNvPr>
              <p:cNvSpPr>
                <a:spLocks noGrp="1"/>
              </p:cNvSpPr>
              <p:nvPr>
                <p:ph idx="1"/>
              </p:nvPr>
            </p:nvSpPr>
            <p:spPr>
              <a:xfrm>
                <a:off x="838200" y="1825624"/>
                <a:ext cx="10515600" cy="4401439"/>
              </a:xfrm>
            </p:spPr>
            <p:txBody>
              <a:bodyPr/>
              <a:lstStyle/>
              <a:p>
                <a:pPr marL="0" indent="0">
                  <a:buNone/>
                </a:pPr>
                <a:r>
                  <a:rPr lang="en-US" dirty="0"/>
                  <a:t>Common sense definition – the maximum speedup of a whole program that you can get from a change is directly proportional to the amount that change is used.</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𝑆𝑝𝑒𝑒𝑑𝑢𝑝</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𝑃</m:t>
                              </m:r>
                            </m:e>
                          </m:d>
                          <m:r>
                            <a:rPr lang="en-US" b="0" i="1" smtClean="0">
                              <a:latin typeface="Cambria Math" panose="02040503050406030204" pitchFamily="18" charset="0"/>
                            </a:rPr>
                            <m:t>+ </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𝑃</m:t>
                                  </m:r>
                                </m:num>
                                <m:den>
                                  <m:r>
                                    <a:rPr lang="en-US" b="0" i="1" smtClean="0">
                                      <a:latin typeface="Cambria Math" panose="02040503050406030204" pitchFamily="18" charset="0"/>
                                    </a:rPr>
                                    <m:t>𝑆</m:t>
                                  </m:r>
                                </m:den>
                              </m:f>
                            </m:e>
                          </m:box>
                        </m:den>
                      </m:f>
                    </m:oMath>
                  </m:oMathPara>
                </a14:m>
                <a:endParaRPr lang="en-US" dirty="0"/>
              </a:p>
              <a:p>
                <a:pPr marL="0" indent="0">
                  <a:buNone/>
                </a:pPr>
                <a:r>
                  <a:rPr lang="en-US" dirty="0"/>
                  <a:t>P = Percentage of problem you are impacting</a:t>
                </a:r>
              </a:p>
              <a:p>
                <a:pPr marL="0" indent="0">
                  <a:buNone/>
                </a:pPr>
                <a:r>
                  <a:rPr lang="en-US" dirty="0"/>
                  <a:t>S = Number of times faster your implementation is</a:t>
                </a:r>
              </a:p>
            </p:txBody>
          </p:sp>
        </mc:Choice>
        <mc:Fallback xmlns="">
          <p:sp>
            <p:nvSpPr>
              <p:cNvPr id="3" name="Content Placeholder 2">
                <a:extLst>
                  <a:ext uri="{FF2B5EF4-FFF2-40B4-BE49-F238E27FC236}">
                    <a16:creationId xmlns:a16="http://schemas.microsoft.com/office/drawing/2014/main" id="{2CC7DCDD-0C76-46DE-8358-94AF9224D976}"/>
                  </a:ext>
                </a:extLst>
              </p:cNvPr>
              <p:cNvSpPr>
                <a:spLocks noGrp="1" noRot="1" noChangeAspect="1" noMove="1" noResize="1" noEditPoints="1" noAdjustHandles="1" noChangeArrowheads="1" noChangeShapeType="1" noTextEdit="1"/>
              </p:cNvSpPr>
              <p:nvPr>
                <p:ph idx="1"/>
              </p:nvPr>
            </p:nvSpPr>
            <p:spPr>
              <a:xfrm>
                <a:off x="838200" y="1825624"/>
                <a:ext cx="10515600" cy="4401439"/>
              </a:xfrm>
              <a:blipFill>
                <a:blip r:embed="rId2"/>
                <a:stretch>
                  <a:fillRect l="-1217" t="-2216" r="-1275"/>
                </a:stretch>
              </a:blipFill>
            </p:spPr>
            <p:txBody>
              <a:bodyPr/>
              <a:lstStyle/>
              <a:p>
                <a:r>
                  <a:rPr lang="en-US">
                    <a:noFill/>
                  </a:rPr>
                  <a:t> </a:t>
                </a:r>
              </a:p>
            </p:txBody>
          </p:sp>
        </mc:Fallback>
      </mc:AlternateContent>
    </p:spTree>
    <p:extLst>
      <p:ext uri="{BB962C8B-B14F-4D97-AF65-F5344CB8AC3E}">
        <p14:creationId xmlns:p14="http://schemas.microsoft.com/office/powerpoint/2010/main" val="7549450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197C9-922C-412E-8CAB-30A9A9491BAE}"/>
              </a:ext>
            </a:extLst>
          </p:cNvPr>
          <p:cNvSpPr>
            <a:spLocks noGrp="1"/>
          </p:cNvSpPr>
          <p:nvPr>
            <p:ph type="title"/>
          </p:nvPr>
        </p:nvSpPr>
        <p:spPr/>
        <p:txBody>
          <a:bodyPr/>
          <a:lstStyle/>
          <a:p>
            <a:r>
              <a:rPr lang="en-US" dirty="0"/>
              <a:t>Amdahl's law example</a:t>
            </a:r>
          </a:p>
        </p:txBody>
      </p:sp>
      <p:sp>
        <p:nvSpPr>
          <p:cNvPr id="3" name="Content Placeholder 2">
            <a:extLst>
              <a:ext uri="{FF2B5EF4-FFF2-40B4-BE49-F238E27FC236}">
                <a16:creationId xmlns:a16="http://schemas.microsoft.com/office/drawing/2014/main" id="{EE77871B-FD45-4D4E-87D0-8B212F1D2FE7}"/>
              </a:ext>
            </a:extLst>
          </p:cNvPr>
          <p:cNvSpPr>
            <a:spLocks noGrp="1"/>
          </p:cNvSpPr>
          <p:nvPr>
            <p:ph idx="1"/>
          </p:nvPr>
        </p:nvSpPr>
        <p:spPr/>
        <p:txBody>
          <a:bodyPr/>
          <a:lstStyle/>
          <a:p>
            <a:pPr marL="0" indent="0">
              <a:buNone/>
            </a:pPr>
            <a:r>
              <a:rPr lang="en-US" dirty="0"/>
              <a:t>You are considering adding a “</a:t>
            </a:r>
            <a:r>
              <a:rPr lang="en-US" dirty="0" err="1"/>
              <a:t>strlen</a:t>
            </a:r>
            <a:r>
              <a:rPr lang="en-US" dirty="0"/>
              <a:t>” function to your CPU.</a:t>
            </a:r>
          </a:p>
          <a:p>
            <a:pPr marL="0" indent="0">
              <a:buNone/>
            </a:pPr>
            <a:r>
              <a:rPr lang="en-US" dirty="0"/>
              <a:t>You have measured that you can make </a:t>
            </a:r>
            <a:r>
              <a:rPr lang="en-US" dirty="0" err="1"/>
              <a:t>strlen</a:t>
            </a:r>
            <a:r>
              <a:rPr lang="en-US" dirty="0"/>
              <a:t> 4 times faster by doing it inside the CPU and that </a:t>
            </a:r>
            <a:r>
              <a:rPr lang="en-US" dirty="0" err="1"/>
              <a:t>strlen</a:t>
            </a:r>
            <a:r>
              <a:rPr lang="en-US" dirty="0"/>
              <a:t> is about 10% of the runtime of your example code.</a:t>
            </a:r>
          </a:p>
          <a:p>
            <a:pPr marL="0" indent="0">
              <a:buNone/>
            </a:pPr>
            <a:endParaRPr lang="en-US" dirty="0"/>
          </a:p>
          <a:p>
            <a:pPr marL="0" indent="0">
              <a:buNone/>
            </a:pPr>
            <a:r>
              <a:rPr lang="en-US" dirty="0"/>
              <a:t>Speedup = 1/(1-.10) + (.1/4) = 1/(.9 + .025) = 1/.925 = 8% speedup</a:t>
            </a:r>
          </a:p>
          <a:p>
            <a:pPr marL="0" indent="0">
              <a:buNone/>
            </a:pPr>
            <a:endParaRPr lang="en-US" dirty="0"/>
          </a:p>
          <a:p>
            <a:pPr marL="0" indent="0">
              <a:buNone/>
            </a:pPr>
            <a:r>
              <a:rPr lang="en-US" dirty="0"/>
              <a:t>Hint – the speedup is FAR less important than the frequency of use</a:t>
            </a:r>
          </a:p>
        </p:txBody>
      </p:sp>
    </p:spTree>
    <p:extLst>
      <p:ext uri="{BB962C8B-B14F-4D97-AF65-F5344CB8AC3E}">
        <p14:creationId xmlns:p14="http://schemas.microsoft.com/office/powerpoint/2010/main" val="27460316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7F047-2C16-41CB-9DF3-A54E5361CCD5}"/>
              </a:ext>
            </a:extLst>
          </p:cNvPr>
          <p:cNvSpPr>
            <a:spLocks noGrp="1"/>
          </p:cNvSpPr>
          <p:nvPr>
            <p:ph type="title"/>
          </p:nvPr>
        </p:nvSpPr>
        <p:spPr/>
        <p:txBody>
          <a:bodyPr/>
          <a:lstStyle/>
          <a:p>
            <a:r>
              <a:rPr lang="en-US" dirty="0"/>
              <a:t>Amdahl’s Law and Parallelism</a:t>
            </a:r>
          </a:p>
        </p:txBody>
      </p:sp>
      <p:sp>
        <p:nvSpPr>
          <p:cNvPr id="3" name="Content Placeholder 2">
            <a:extLst>
              <a:ext uri="{FF2B5EF4-FFF2-40B4-BE49-F238E27FC236}">
                <a16:creationId xmlns:a16="http://schemas.microsoft.com/office/drawing/2014/main" id="{BEF26868-1F76-4653-93F3-9A81C3936CEB}"/>
              </a:ext>
            </a:extLst>
          </p:cNvPr>
          <p:cNvSpPr>
            <a:spLocks noGrp="1"/>
          </p:cNvSpPr>
          <p:nvPr>
            <p:ph idx="1"/>
          </p:nvPr>
        </p:nvSpPr>
        <p:spPr/>
        <p:txBody>
          <a:bodyPr/>
          <a:lstStyle/>
          <a:p>
            <a:pPr marL="0" indent="0">
              <a:buNone/>
            </a:pPr>
            <a:r>
              <a:rPr lang="en-US" dirty="0"/>
              <a:t>This same law applies to making your code run in parallel</a:t>
            </a:r>
          </a:p>
          <a:p>
            <a:pPr marL="0" indent="0">
              <a:buNone/>
            </a:pPr>
            <a:endParaRPr lang="en-US" dirty="0"/>
          </a:p>
          <a:p>
            <a:pPr marL="0" indent="0">
              <a:buNone/>
            </a:pPr>
            <a:r>
              <a:rPr lang="en-US" dirty="0"/>
              <a:t>If your code has some code that can NOT be parallelized (startup, accessing common resources), the P will be the percentage of code that CAN be parallelized and the speedup will be the number of threads you can use.</a:t>
            </a:r>
          </a:p>
          <a:p>
            <a:pPr marL="0" indent="0">
              <a:buNone/>
            </a:pPr>
            <a:endParaRPr lang="en-US" dirty="0"/>
          </a:p>
          <a:p>
            <a:pPr marL="0" indent="0">
              <a:buNone/>
            </a:pPr>
            <a:r>
              <a:rPr lang="en-US" dirty="0"/>
              <a:t>Keep in mind – Amdahl’s is theoretical MAXIMUM. It’s not a guarantee of that number. Only testing will give you that.</a:t>
            </a:r>
          </a:p>
        </p:txBody>
      </p:sp>
    </p:spTree>
    <p:extLst>
      <p:ext uri="{BB962C8B-B14F-4D97-AF65-F5344CB8AC3E}">
        <p14:creationId xmlns:p14="http://schemas.microsoft.com/office/powerpoint/2010/main" val="34624877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8852E-BB1A-4204-98FC-A004810E4E1F}"/>
              </a:ext>
            </a:extLst>
          </p:cNvPr>
          <p:cNvSpPr>
            <a:spLocks noGrp="1"/>
          </p:cNvSpPr>
          <p:nvPr>
            <p:ph type="title"/>
          </p:nvPr>
        </p:nvSpPr>
        <p:spPr/>
        <p:txBody>
          <a:bodyPr/>
          <a:lstStyle/>
          <a:p>
            <a:r>
              <a:rPr lang="en-US" dirty="0"/>
              <a:t>CPI</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683A5A6-7CF0-4D1B-AB85-8F3EF49EECB9}"/>
                  </a:ext>
                </a:extLst>
              </p:cNvPr>
              <p:cNvSpPr>
                <a:spLocks noGrp="1"/>
              </p:cNvSpPr>
              <p:nvPr>
                <p:ph idx="1"/>
              </p:nvPr>
            </p:nvSpPr>
            <p:spPr>
              <a:xfrm>
                <a:off x="838200" y="1825625"/>
                <a:ext cx="10515600" cy="4667250"/>
              </a:xfrm>
            </p:spPr>
            <p:txBody>
              <a:bodyPr/>
              <a:lstStyle/>
              <a:p>
                <a:pPr marL="0" indent="0">
                  <a:buNone/>
                </a:pPr>
                <a:r>
                  <a:rPr lang="en-US" dirty="0"/>
                  <a:t>Another measurement tool that you can use to determine performance is cycles per instruction. This measures how many clock cycles it takes to execute a single instruction, on average. This is a calculated value.</a:t>
                </a:r>
              </a:p>
              <a:p>
                <a:pPr marL="0" indent="0">
                  <a:buNone/>
                </a:pPr>
                <a:endParaRPr lang="en-US" dirty="0"/>
              </a:p>
              <a:p>
                <a:pPr marL="0" indent="0">
                  <a:buNone/>
                </a:pPr>
                <a14:m>
                  <m:oMath xmlns:m="http://schemas.openxmlformats.org/officeDocument/2006/math">
                    <m:f>
                      <m:fPr>
                        <m:ctrlPr>
                          <a:rPr lang="en-US" i="1" dirty="0" smtClean="0">
                            <a:latin typeface="Cambria Math" panose="02040503050406030204" pitchFamily="18" charset="0"/>
                          </a:rPr>
                        </m:ctrlPr>
                      </m:fPr>
                      <m:num>
                        <m:r>
                          <a:rPr lang="en-US" b="0" i="1" dirty="0" smtClean="0">
                            <a:latin typeface="Cambria Math" panose="02040503050406030204" pitchFamily="18" charset="0"/>
                          </a:rPr>
                          <m:t>𝑠𝑒𝑐𝑜𝑛𝑑𝑠</m:t>
                        </m:r>
                      </m:num>
                      <m:den>
                        <m:r>
                          <a:rPr lang="en-US" b="0" i="1" dirty="0" smtClean="0">
                            <a:latin typeface="Cambria Math" panose="02040503050406030204" pitchFamily="18" charset="0"/>
                          </a:rPr>
                          <m:t>𝑝𝑟𝑜𝑔𝑟𝑎𝑚</m:t>
                        </m:r>
                      </m:den>
                    </m:f>
                  </m:oMath>
                </a14:m>
                <a:r>
                  <a:rPr lang="en-US" dirty="0"/>
                  <a:t>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𝑖𝑛𝑠𝑡𝑟𝑢𝑐𝑡𝑖𝑜𝑛𝑠</m:t>
                        </m:r>
                      </m:num>
                      <m:den>
                        <m:r>
                          <a:rPr lang="en-US" b="0" i="1" smtClean="0">
                            <a:latin typeface="Cambria Math" panose="02040503050406030204" pitchFamily="18" charset="0"/>
                          </a:rPr>
                          <m:t>𝑝𝑟𝑜𝑔𝑟𝑎𝑚</m:t>
                        </m:r>
                      </m:den>
                    </m:f>
                  </m:oMath>
                </a14:m>
                <a:r>
                  <a:rPr lang="en-US" dirty="0"/>
                  <a:t> X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𝑐𝑦𝑐𝑙𝑒𝑠</m:t>
                        </m:r>
                      </m:num>
                      <m:den>
                        <m:r>
                          <a:rPr lang="en-US" b="0" i="1" smtClean="0">
                            <a:latin typeface="Cambria Math" panose="02040503050406030204" pitchFamily="18" charset="0"/>
                          </a:rPr>
                          <m:t>𝑖𝑛𝑠𝑡𝑟𝑢𝑐𝑡𝑖𝑜𝑛</m:t>
                        </m:r>
                      </m:den>
                    </m:f>
                  </m:oMath>
                </a14:m>
                <a:r>
                  <a:rPr lang="en-US" dirty="0"/>
                  <a:t> X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𝑠𝑒𝑐𝑜𝑛𝑑</m:t>
                        </m:r>
                      </m:num>
                      <m:den>
                        <m:r>
                          <a:rPr lang="en-US" b="0" i="1" smtClean="0">
                            <a:latin typeface="Cambria Math" panose="02040503050406030204" pitchFamily="18" charset="0"/>
                          </a:rPr>
                          <m:t>𝑐𝑙𝑜𝑐𝑘</m:t>
                        </m:r>
                        <m:r>
                          <a:rPr lang="en-US" b="0" i="1" smtClean="0">
                            <a:latin typeface="Cambria Math" panose="02040503050406030204" pitchFamily="18" charset="0"/>
                          </a:rPr>
                          <m:t> </m:t>
                        </m:r>
                        <m:r>
                          <a:rPr lang="en-US" b="0" i="1" smtClean="0">
                            <a:latin typeface="Cambria Math" panose="02040503050406030204" pitchFamily="18" charset="0"/>
                          </a:rPr>
                          <m:t>𝑐𝑦𝑐𝑙𝑒𝑠</m:t>
                        </m:r>
                      </m:den>
                    </m:f>
                  </m:oMath>
                </a14:m>
                <a:endParaRPr lang="en-US" baseline="30000" dirty="0"/>
              </a:p>
              <a:p>
                <a:pPr marL="0" indent="0">
                  <a:buNone/>
                </a:pPr>
                <a:endParaRPr lang="en-US" baseline="30000" dirty="0"/>
              </a:p>
              <a:p>
                <a:pPr marL="0" indent="0">
                  <a:buNone/>
                </a:pPr>
                <a:r>
                  <a:rPr lang="en-US" dirty="0"/>
                  <a:t>A little algebra…</a:t>
                </a:r>
              </a:p>
              <a:p>
                <a:pPr marL="0" indent="0">
                  <a:buNone/>
                </a:pPr>
                <a14:m>
                  <m:oMath xmlns:m="http://schemas.openxmlformats.org/officeDocument/2006/math">
                    <m:f>
                      <m:fPr>
                        <m:ctrlPr>
                          <a:rPr lang="en-US" i="1" dirty="0" smtClean="0">
                            <a:latin typeface="Cambria Math" panose="02040503050406030204" pitchFamily="18" charset="0"/>
                          </a:rPr>
                        </m:ctrlPr>
                      </m:fPr>
                      <m:num>
                        <m:r>
                          <a:rPr lang="en-US" b="0" i="1" dirty="0" smtClean="0">
                            <a:latin typeface="Cambria Math" panose="02040503050406030204" pitchFamily="18" charset="0"/>
                          </a:rPr>
                          <m:t>𝑠𝑒𝑐𝑜𝑛𝑑𝑠</m:t>
                        </m:r>
                      </m:num>
                      <m:den>
                        <m:r>
                          <a:rPr lang="en-US" b="0" i="1" dirty="0" smtClean="0">
                            <a:latin typeface="Cambria Math" panose="02040503050406030204" pitchFamily="18" charset="0"/>
                          </a:rPr>
                          <m:t>𝑝𝑟𝑜𝑔𝑟𝑎𝑚</m:t>
                        </m:r>
                      </m:den>
                    </m:f>
                  </m:oMath>
                </a14:m>
                <a:r>
                  <a:rPr lang="en-US" dirty="0"/>
                  <a:t> X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𝑐𝑙𝑜𝑐𝑘</m:t>
                        </m:r>
                        <m:r>
                          <a:rPr lang="en-US" b="0" i="1" smtClean="0">
                            <a:latin typeface="Cambria Math" panose="02040503050406030204" pitchFamily="18" charset="0"/>
                          </a:rPr>
                          <m:t> </m:t>
                        </m:r>
                        <m:r>
                          <a:rPr lang="en-US" b="0" i="1" smtClean="0">
                            <a:latin typeface="Cambria Math" panose="02040503050406030204" pitchFamily="18" charset="0"/>
                          </a:rPr>
                          <m:t>𝑐𝑦𝑐𝑙𝑒𝑠</m:t>
                        </m:r>
                      </m:num>
                      <m:den>
                        <m:r>
                          <a:rPr lang="en-US" b="0" i="1" smtClean="0">
                            <a:latin typeface="Cambria Math" panose="02040503050406030204" pitchFamily="18" charset="0"/>
                          </a:rPr>
                          <m:t>𝑠𝑒𝑐𝑜𝑛𝑑</m:t>
                        </m:r>
                      </m:den>
                    </m:f>
                  </m:oMath>
                </a14:m>
                <a:r>
                  <a:rPr lang="en-US" dirty="0"/>
                  <a:t>  X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𝑝𝑟𝑜𝑔𝑟𝑎𝑚</m:t>
                        </m:r>
                      </m:num>
                      <m:den>
                        <m:r>
                          <a:rPr lang="en-US" b="0" i="1" smtClean="0">
                            <a:latin typeface="Cambria Math" panose="02040503050406030204" pitchFamily="18" charset="0"/>
                          </a:rPr>
                          <m:t>𝑖𝑛𝑠𝑡𝑟𝑢𝑐𝑡𝑖𝑜𝑛𝑠</m:t>
                        </m:r>
                      </m:den>
                    </m:f>
                    <m:r>
                      <a:rPr lang="en-US" b="0" i="1" smtClean="0">
                        <a:latin typeface="Cambria Math" panose="02040503050406030204" pitchFamily="18" charset="0"/>
                      </a:rPr>
                      <m:t> </m:t>
                    </m:r>
                  </m:oMath>
                </a14:m>
                <a:r>
                  <a:rPr lang="en-US" dirty="0"/>
                  <a:t>=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𝑐𝑦𝑐𝑙𝑒𝑠</m:t>
                        </m:r>
                      </m:num>
                      <m:den>
                        <m:r>
                          <a:rPr lang="en-US" b="0" i="1" smtClean="0">
                            <a:latin typeface="Cambria Math" panose="02040503050406030204" pitchFamily="18" charset="0"/>
                          </a:rPr>
                          <m:t>𝑖𝑛𝑠𝑡𝑟𝑢𝑐𝑡𝑖𝑜𝑛</m:t>
                        </m:r>
                      </m:den>
                    </m:f>
                  </m:oMath>
                </a14:m>
                <a:endParaRPr lang="en-US" dirty="0"/>
              </a:p>
            </p:txBody>
          </p:sp>
        </mc:Choice>
        <mc:Fallback xmlns="">
          <p:sp>
            <p:nvSpPr>
              <p:cNvPr id="3" name="Content Placeholder 2">
                <a:extLst>
                  <a:ext uri="{FF2B5EF4-FFF2-40B4-BE49-F238E27FC236}">
                    <a16:creationId xmlns:a16="http://schemas.microsoft.com/office/drawing/2014/main" id="{3683A5A6-7CF0-4D1B-AB85-8F3EF49EECB9}"/>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1217" t="-2089" r="-1739"/>
                </a:stretch>
              </a:blipFill>
            </p:spPr>
            <p:txBody>
              <a:bodyPr/>
              <a:lstStyle/>
              <a:p>
                <a:r>
                  <a:rPr lang="en-US">
                    <a:noFill/>
                  </a:rPr>
                  <a:t> </a:t>
                </a:r>
              </a:p>
            </p:txBody>
          </p:sp>
        </mc:Fallback>
      </mc:AlternateContent>
    </p:spTree>
    <p:extLst>
      <p:ext uri="{BB962C8B-B14F-4D97-AF65-F5344CB8AC3E}">
        <p14:creationId xmlns:p14="http://schemas.microsoft.com/office/powerpoint/2010/main" val="26273514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B15D0-A91F-46A1-B5B0-0C2F9533B514}"/>
              </a:ext>
            </a:extLst>
          </p:cNvPr>
          <p:cNvSpPr>
            <a:spLocks noGrp="1"/>
          </p:cNvSpPr>
          <p:nvPr>
            <p:ph type="title"/>
          </p:nvPr>
        </p:nvSpPr>
        <p:spPr/>
        <p:txBody>
          <a:bodyPr/>
          <a:lstStyle/>
          <a:p>
            <a:r>
              <a:rPr lang="en-US" dirty="0"/>
              <a:t>CPI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8B6427E-57A7-4097-A02F-A5C9A1244473}"/>
                  </a:ext>
                </a:extLst>
              </p:cNvPr>
              <p:cNvSpPr>
                <a:spLocks noGrp="1"/>
              </p:cNvSpPr>
              <p:nvPr>
                <p:ph idx="1"/>
              </p:nvPr>
            </p:nvSpPr>
            <p:spPr/>
            <p:txBody>
              <a:bodyPr/>
              <a:lstStyle/>
              <a:p>
                <a:pPr marL="0" indent="0">
                  <a:buNone/>
                </a:pPr>
                <a:r>
                  <a:rPr lang="en-US" dirty="0"/>
                  <a:t>If my program takes 1 seconds to run and I count 10 billion instructions on my 3ghz processor:</a:t>
                </a:r>
              </a:p>
              <a:p>
                <a:pPr marL="0" indent="0">
                  <a:buNone/>
                </a:pPr>
                <a:endParaRPr lang="en-US" i="1" dirty="0">
                  <a:latin typeface="Cambria Math" panose="02040503050406030204" pitchFamily="18" charset="0"/>
                </a:endParaRPr>
              </a:p>
              <a:p>
                <a:pPr marL="0" indent="0">
                  <a:buNone/>
                </a:pPr>
                <a14:m>
                  <m:oMath xmlns:m="http://schemas.openxmlformats.org/officeDocument/2006/math">
                    <m:f>
                      <m:fPr>
                        <m:ctrlPr>
                          <a:rPr lang="en-US" i="1" dirty="0" smtClean="0">
                            <a:latin typeface="Cambria Math" panose="02040503050406030204" pitchFamily="18" charset="0"/>
                          </a:rPr>
                        </m:ctrlPr>
                      </m:fPr>
                      <m:num>
                        <m:r>
                          <a:rPr lang="en-US" b="0" i="1" dirty="0" smtClean="0">
                            <a:latin typeface="Cambria Math" panose="02040503050406030204" pitchFamily="18" charset="0"/>
                          </a:rPr>
                          <m:t>𝑠𝑒𝑐𝑜𝑛𝑑𝑠</m:t>
                        </m:r>
                      </m:num>
                      <m:den>
                        <m:r>
                          <a:rPr lang="en-US" b="0" i="1" dirty="0" smtClean="0">
                            <a:latin typeface="Cambria Math" panose="02040503050406030204" pitchFamily="18" charset="0"/>
                          </a:rPr>
                          <m:t>𝑝𝑟𝑜𝑔𝑟𝑎𝑚</m:t>
                        </m:r>
                      </m:den>
                    </m:f>
                  </m:oMath>
                </a14:m>
                <a:r>
                  <a:rPr lang="en-US" dirty="0"/>
                  <a:t> X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𝑐𝑙𝑜𝑐𝑘</m:t>
                        </m:r>
                        <m:r>
                          <a:rPr lang="en-US" b="0" i="1" smtClean="0">
                            <a:latin typeface="Cambria Math" panose="02040503050406030204" pitchFamily="18" charset="0"/>
                          </a:rPr>
                          <m:t> </m:t>
                        </m:r>
                        <m:r>
                          <a:rPr lang="en-US" b="0" i="1" smtClean="0">
                            <a:latin typeface="Cambria Math" panose="02040503050406030204" pitchFamily="18" charset="0"/>
                          </a:rPr>
                          <m:t>𝑐𝑦𝑐𝑙𝑒𝑠</m:t>
                        </m:r>
                      </m:num>
                      <m:den>
                        <m:r>
                          <a:rPr lang="en-US" b="0" i="1" smtClean="0">
                            <a:latin typeface="Cambria Math" panose="02040503050406030204" pitchFamily="18" charset="0"/>
                          </a:rPr>
                          <m:t>𝑠𝑒𝑐𝑜𝑛𝑑</m:t>
                        </m:r>
                      </m:den>
                    </m:f>
                  </m:oMath>
                </a14:m>
                <a:r>
                  <a:rPr lang="en-US" dirty="0"/>
                  <a:t>  X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𝑝𝑟𝑜𝑔𝑟𝑎𝑚</m:t>
                        </m:r>
                      </m:num>
                      <m:den>
                        <m:r>
                          <a:rPr lang="en-US" b="0" i="1" smtClean="0">
                            <a:latin typeface="Cambria Math" panose="02040503050406030204" pitchFamily="18" charset="0"/>
                          </a:rPr>
                          <m:t>𝑖𝑛𝑠𝑡𝑟𝑢𝑐𝑡𝑖𝑜𝑛𝑠</m:t>
                        </m:r>
                      </m:den>
                    </m:f>
                    <m:r>
                      <a:rPr lang="en-US" b="0" i="1" smtClean="0">
                        <a:latin typeface="Cambria Math" panose="02040503050406030204" pitchFamily="18" charset="0"/>
                      </a:rPr>
                      <m:t> </m:t>
                    </m:r>
                  </m:oMath>
                </a14:m>
                <a:r>
                  <a:rPr lang="en-US" dirty="0"/>
                  <a:t>=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𝑐𝑦𝑐𝑙𝑒𝑠</m:t>
                        </m:r>
                      </m:num>
                      <m:den>
                        <m:r>
                          <a:rPr lang="en-US" b="0" i="1" smtClean="0">
                            <a:latin typeface="Cambria Math" panose="02040503050406030204" pitchFamily="18" charset="0"/>
                          </a:rPr>
                          <m:t>𝑖𝑛𝑠𝑡𝑟𝑢𝑐𝑡𝑖𝑜𝑛</m:t>
                        </m:r>
                      </m:den>
                    </m:f>
                  </m:oMath>
                </a14:m>
                <a:endParaRPr lang="en-US" dirty="0"/>
              </a:p>
              <a:p>
                <a:pPr marL="0" indent="0">
                  <a:buNone/>
                </a:pPr>
                <a:endParaRPr lang="en-US" dirty="0"/>
              </a:p>
              <a:p>
                <a:pPr marL="0" indent="0">
                  <a:buNone/>
                </a:pPr>
                <a:r>
                  <a:rPr lang="en-US" dirty="0"/>
                  <a:t>1 * 3,000,000,000 X (1 / 10,000,000,000) = .3 CPI</a:t>
                </a:r>
              </a:p>
            </p:txBody>
          </p:sp>
        </mc:Choice>
        <mc:Fallback xmlns="">
          <p:sp>
            <p:nvSpPr>
              <p:cNvPr id="3" name="Content Placeholder 2">
                <a:extLst>
                  <a:ext uri="{FF2B5EF4-FFF2-40B4-BE49-F238E27FC236}">
                    <a16:creationId xmlns:a16="http://schemas.microsoft.com/office/drawing/2014/main" id="{68B6427E-57A7-4097-A02F-A5C9A1244473}"/>
                  </a:ext>
                </a:extLst>
              </p:cNvPr>
              <p:cNvSpPr>
                <a:spLocks noGrp="1" noRot="1" noChangeAspect="1" noMove="1" noResize="1" noEditPoints="1" noAdjustHandles="1" noChangeArrowheads="1" noChangeShapeType="1" noTextEdit="1"/>
              </p:cNvSpPr>
              <p:nvPr>
                <p:ph idx="1"/>
              </p:nvPr>
            </p:nvSpPr>
            <p:spPr>
              <a:blipFill>
                <a:blip r:embed="rId2"/>
                <a:stretch>
                  <a:fillRect l="-1217" t="-2241" r="-870"/>
                </a:stretch>
              </a:blipFill>
            </p:spPr>
            <p:txBody>
              <a:bodyPr/>
              <a:lstStyle/>
              <a:p>
                <a:r>
                  <a:rPr lang="en-US">
                    <a:noFill/>
                  </a:rPr>
                  <a:t> </a:t>
                </a:r>
              </a:p>
            </p:txBody>
          </p:sp>
        </mc:Fallback>
      </mc:AlternateContent>
    </p:spTree>
    <p:extLst>
      <p:ext uri="{BB962C8B-B14F-4D97-AF65-F5344CB8AC3E}">
        <p14:creationId xmlns:p14="http://schemas.microsoft.com/office/powerpoint/2010/main" val="28226730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5A3D9-85BC-4A2E-BAFA-3B64E126597B}"/>
              </a:ext>
            </a:extLst>
          </p:cNvPr>
          <p:cNvSpPr>
            <a:spLocks noGrp="1"/>
          </p:cNvSpPr>
          <p:nvPr>
            <p:ph type="title"/>
          </p:nvPr>
        </p:nvSpPr>
        <p:spPr/>
        <p:txBody>
          <a:bodyPr/>
          <a:lstStyle/>
          <a:p>
            <a:r>
              <a:rPr lang="en-US" dirty="0"/>
              <a:t>Wait a second…</a:t>
            </a:r>
          </a:p>
        </p:txBody>
      </p:sp>
      <p:sp>
        <p:nvSpPr>
          <p:cNvPr id="3" name="Content Placeholder 2">
            <a:extLst>
              <a:ext uri="{FF2B5EF4-FFF2-40B4-BE49-F238E27FC236}">
                <a16:creationId xmlns:a16="http://schemas.microsoft.com/office/drawing/2014/main" id="{21B06C15-3662-474D-BFB9-F58720C803BF}"/>
              </a:ext>
            </a:extLst>
          </p:cNvPr>
          <p:cNvSpPr>
            <a:spLocks noGrp="1"/>
          </p:cNvSpPr>
          <p:nvPr>
            <p:ph idx="1"/>
          </p:nvPr>
        </p:nvSpPr>
        <p:spPr/>
        <p:txBody>
          <a:bodyPr/>
          <a:lstStyle/>
          <a:p>
            <a:pPr marL="0" indent="0">
              <a:buNone/>
            </a:pPr>
            <a:r>
              <a:rPr lang="en-US" dirty="0"/>
              <a:t>You are right – that doesn’t take a LOT into account – it is sort of a finished product measure.</a:t>
            </a:r>
          </a:p>
          <a:p>
            <a:pPr marL="0" indent="0">
              <a:buNone/>
            </a:pPr>
            <a:endParaRPr lang="en-US" dirty="0"/>
          </a:p>
          <a:p>
            <a:pPr marL="0" indent="0">
              <a:buNone/>
            </a:pPr>
            <a:r>
              <a:rPr lang="en-US" dirty="0"/>
              <a:t>This measures performance of cache, memory, CPU, operating system, compiler, optimizer, timer accuracy, everything.</a:t>
            </a:r>
          </a:p>
          <a:p>
            <a:pPr marL="0" indent="0">
              <a:buNone/>
            </a:pPr>
            <a:endParaRPr lang="en-US" dirty="0"/>
          </a:p>
          <a:p>
            <a:pPr marL="0" indent="0">
              <a:buNone/>
            </a:pPr>
            <a:r>
              <a:rPr lang="en-US" dirty="0"/>
              <a:t>How can we make that better?</a:t>
            </a:r>
          </a:p>
        </p:txBody>
      </p:sp>
    </p:spTree>
    <p:extLst>
      <p:ext uri="{BB962C8B-B14F-4D97-AF65-F5344CB8AC3E}">
        <p14:creationId xmlns:p14="http://schemas.microsoft.com/office/powerpoint/2010/main" val="28265096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899DC-6C8B-4831-BC97-5C5D7C6C7BED}"/>
              </a:ext>
            </a:extLst>
          </p:cNvPr>
          <p:cNvSpPr>
            <a:spLocks noGrp="1"/>
          </p:cNvSpPr>
          <p:nvPr>
            <p:ph type="title"/>
          </p:nvPr>
        </p:nvSpPr>
        <p:spPr>
          <a:xfrm>
            <a:off x="838200" y="365125"/>
            <a:ext cx="10515600" cy="521843"/>
          </a:xfrm>
        </p:spPr>
        <p:txBody>
          <a:bodyPr>
            <a:normAutofit fontScale="90000"/>
          </a:bodyPr>
          <a:lstStyle/>
          <a:p>
            <a:r>
              <a:rPr lang="en-US" dirty="0"/>
              <a:t>Getting an accurate CPI</a:t>
            </a:r>
          </a:p>
        </p:txBody>
      </p:sp>
      <p:sp>
        <p:nvSpPr>
          <p:cNvPr id="3" name="Content Placeholder 2">
            <a:extLst>
              <a:ext uri="{FF2B5EF4-FFF2-40B4-BE49-F238E27FC236}">
                <a16:creationId xmlns:a16="http://schemas.microsoft.com/office/drawing/2014/main" id="{ABCE6CB5-E69A-42D8-813F-E4B6C4E0AF41}"/>
              </a:ext>
            </a:extLst>
          </p:cNvPr>
          <p:cNvSpPr>
            <a:spLocks noGrp="1"/>
          </p:cNvSpPr>
          <p:nvPr>
            <p:ph idx="1"/>
          </p:nvPr>
        </p:nvSpPr>
        <p:spPr>
          <a:xfrm>
            <a:off x="838200" y="886968"/>
            <a:ext cx="10515600" cy="5605907"/>
          </a:xfrm>
        </p:spPr>
        <p:txBody>
          <a:bodyPr>
            <a:normAutofit/>
          </a:bodyPr>
          <a:lstStyle/>
          <a:p>
            <a:pPr marL="514350" indent="-514350">
              <a:buFont typeface="+mj-lt"/>
              <a:buAutoNum type="arabicPeriod"/>
            </a:pPr>
            <a:r>
              <a:rPr lang="en-US" dirty="0"/>
              <a:t>Run your code a lot of times in a tight loop. This negates the effect of memory fetches, since your code will always (except the first time) be in cache. </a:t>
            </a:r>
          </a:p>
          <a:p>
            <a:pPr marL="514350" indent="-514350">
              <a:buFont typeface="+mj-lt"/>
              <a:buAutoNum type="arabicPeriod"/>
            </a:pPr>
            <a:r>
              <a:rPr lang="en-US" dirty="0"/>
              <a:t>Make sure that your test takes a while (increase your loop size). This negates timer inaccuracy and reduces operating system overhead.</a:t>
            </a:r>
          </a:p>
          <a:p>
            <a:pPr marL="514350" indent="-514350">
              <a:buFont typeface="+mj-lt"/>
              <a:buAutoNum type="arabicPeriod"/>
            </a:pPr>
            <a:r>
              <a:rPr lang="en-US" dirty="0"/>
              <a:t>Unless you are explicitly trying to test memory, make your code small and simple enough to run in a register.</a:t>
            </a:r>
          </a:p>
          <a:p>
            <a:pPr marL="514350" indent="-514350">
              <a:buFont typeface="+mj-lt"/>
              <a:buAutoNum type="arabicPeriod"/>
            </a:pPr>
            <a:r>
              <a:rPr lang="en-US" dirty="0"/>
              <a:t>Look at the output from the compiler. Is the instruction that you are trying to test even in there? Did it get optimized out? Consider writing the loop code in assembly. </a:t>
            </a:r>
          </a:p>
          <a:p>
            <a:pPr marL="514350" indent="-514350">
              <a:buFont typeface="+mj-lt"/>
              <a:buAutoNum type="arabicPeriod"/>
            </a:pPr>
            <a:r>
              <a:rPr lang="en-US" dirty="0"/>
              <a:t>Make sure that there are no function calls at all in your loop. The overhead of calling and returning will undercut your accuracy.</a:t>
            </a:r>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p:txBody>
      </p:sp>
    </p:spTree>
    <p:extLst>
      <p:ext uri="{BB962C8B-B14F-4D97-AF65-F5344CB8AC3E}">
        <p14:creationId xmlns:p14="http://schemas.microsoft.com/office/powerpoint/2010/main" val="13702219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19F3A-9AA1-4BEF-AA5C-BF48D01D1B80}"/>
              </a:ext>
            </a:extLst>
          </p:cNvPr>
          <p:cNvSpPr>
            <a:spLocks noGrp="1"/>
          </p:cNvSpPr>
          <p:nvPr>
            <p:ph type="title"/>
          </p:nvPr>
        </p:nvSpPr>
        <p:spPr/>
        <p:txBody>
          <a:bodyPr/>
          <a:lstStyle/>
          <a:p>
            <a:r>
              <a:rPr lang="en-US" dirty="0"/>
              <a:t>What’s it good for?</a:t>
            </a:r>
          </a:p>
        </p:txBody>
      </p:sp>
      <p:sp>
        <p:nvSpPr>
          <p:cNvPr id="3" name="Content Placeholder 2">
            <a:extLst>
              <a:ext uri="{FF2B5EF4-FFF2-40B4-BE49-F238E27FC236}">
                <a16:creationId xmlns:a16="http://schemas.microsoft.com/office/drawing/2014/main" id="{B1576016-3A02-4E9A-93B8-C2893ECB4B62}"/>
              </a:ext>
            </a:extLst>
          </p:cNvPr>
          <p:cNvSpPr>
            <a:spLocks noGrp="1"/>
          </p:cNvSpPr>
          <p:nvPr>
            <p:ph idx="1"/>
          </p:nvPr>
        </p:nvSpPr>
        <p:spPr/>
        <p:txBody>
          <a:bodyPr/>
          <a:lstStyle/>
          <a:p>
            <a:pPr marL="0" indent="0">
              <a:buNone/>
            </a:pPr>
            <a:r>
              <a:rPr lang="en-US" dirty="0"/>
              <a:t>CPI can only be used within an ISA. CPI measures between, say, x86 and MIPS are useless because an instruction is not constant.</a:t>
            </a:r>
          </a:p>
          <a:p>
            <a:pPr marL="0" indent="0">
              <a:buNone/>
            </a:pPr>
            <a:endParaRPr lang="en-US" dirty="0"/>
          </a:p>
          <a:p>
            <a:pPr marL="0" indent="0">
              <a:buNone/>
            </a:pPr>
            <a:r>
              <a:rPr lang="en-US" dirty="0"/>
              <a:t>But, you could use it to compare different models of the same processor (say, AMD and Intel x86’s).</a:t>
            </a:r>
          </a:p>
          <a:p>
            <a:pPr marL="0" indent="0">
              <a:buNone/>
            </a:pPr>
            <a:endParaRPr lang="en-US" dirty="0"/>
          </a:p>
          <a:p>
            <a:pPr marL="0" indent="0">
              <a:buNone/>
            </a:pPr>
            <a:r>
              <a:rPr lang="en-US" dirty="0"/>
              <a:t>It might be interesting to compare two different RISC machines using CPI *IF* the instruction set was </a:t>
            </a:r>
            <a:r>
              <a:rPr lang="en-US"/>
              <a:t>very close.</a:t>
            </a:r>
            <a:endParaRPr lang="en-US" dirty="0"/>
          </a:p>
        </p:txBody>
      </p:sp>
    </p:spTree>
    <p:extLst>
      <p:ext uri="{BB962C8B-B14F-4D97-AF65-F5344CB8AC3E}">
        <p14:creationId xmlns:p14="http://schemas.microsoft.com/office/powerpoint/2010/main" val="14617423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56C20283-73E0-40EC-8AD8-057F581F64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28">
            <a:extLst>
              <a:ext uri="{FF2B5EF4-FFF2-40B4-BE49-F238E27FC236}">
                <a16:creationId xmlns:a16="http://schemas.microsoft.com/office/drawing/2014/main" id="{3FCC729B-E528-40C3-82D3-BA4375575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960120" y="0"/>
            <a:ext cx="11218661" cy="6858000"/>
          </a:xfrm>
          <a:custGeom>
            <a:avLst/>
            <a:gdLst>
              <a:gd name="connsiteX0" fmla="*/ 0 w 11218661"/>
              <a:gd name="connsiteY0" fmla="*/ 0 h 6858000"/>
              <a:gd name="connsiteX1" fmla="*/ 8042507 w 11218661"/>
              <a:gd name="connsiteY1" fmla="*/ 0 h 6858000"/>
              <a:gd name="connsiteX2" fmla="*/ 11218661 w 11218661"/>
              <a:gd name="connsiteY2" fmla="*/ 6858000 h 6858000"/>
              <a:gd name="connsiteX3" fmla="*/ 0 w 1121866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218661" h="6858000">
                <a:moveTo>
                  <a:pt x="0" y="0"/>
                </a:moveTo>
                <a:lnTo>
                  <a:pt x="8042507" y="0"/>
                </a:lnTo>
                <a:lnTo>
                  <a:pt x="11218661" y="6858000"/>
                </a:lnTo>
                <a:lnTo>
                  <a:pt x="0" y="6858000"/>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5" name="Freeform 26">
            <a:extLst>
              <a:ext uri="{FF2B5EF4-FFF2-40B4-BE49-F238E27FC236}">
                <a16:creationId xmlns:a16="http://schemas.microsoft.com/office/drawing/2014/main" id="{58F1FB8D-1842-4A04-998D-6CF047AB2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420248" y="0"/>
            <a:ext cx="10771752" cy="6858000"/>
          </a:xfrm>
          <a:custGeom>
            <a:avLst/>
            <a:gdLst>
              <a:gd name="connsiteX0" fmla="*/ 0 w 10771752"/>
              <a:gd name="connsiteY0" fmla="*/ 0 h 6858000"/>
              <a:gd name="connsiteX1" fmla="*/ 7595598 w 10771752"/>
              <a:gd name="connsiteY1" fmla="*/ 0 h 6858000"/>
              <a:gd name="connsiteX2" fmla="*/ 10771752 w 10771752"/>
              <a:gd name="connsiteY2" fmla="*/ 6858000 h 6858000"/>
              <a:gd name="connsiteX3" fmla="*/ 0 w 1077175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771752" h="6858000">
                <a:moveTo>
                  <a:pt x="0" y="0"/>
                </a:moveTo>
                <a:lnTo>
                  <a:pt x="7595598" y="0"/>
                </a:lnTo>
                <a:lnTo>
                  <a:pt x="10771752" y="6858000"/>
                </a:lnTo>
                <a:lnTo>
                  <a:pt x="0" y="685800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8589D56-AB8F-439B-88D3-C60F5FA115BE}"/>
              </a:ext>
            </a:extLst>
          </p:cNvPr>
          <p:cNvSpPr>
            <a:spLocks noGrp="1"/>
          </p:cNvSpPr>
          <p:nvPr>
            <p:ph type="title"/>
          </p:nvPr>
        </p:nvSpPr>
        <p:spPr>
          <a:xfrm>
            <a:off x="2601457" y="206601"/>
            <a:ext cx="4759463" cy="780952"/>
          </a:xfrm>
        </p:spPr>
        <p:txBody>
          <a:bodyPr>
            <a:normAutofit/>
          </a:bodyPr>
          <a:lstStyle/>
          <a:p>
            <a:r>
              <a:rPr lang="en-US" dirty="0"/>
              <a:t>The shield is still up!</a:t>
            </a:r>
          </a:p>
        </p:txBody>
      </p:sp>
      <p:pic>
        <p:nvPicPr>
          <p:cNvPr id="1026" name="Picture 2" descr="Image result for ackbar meme">
            <a:extLst>
              <a:ext uri="{FF2B5EF4-FFF2-40B4-BE49-F238E27FC236}">
                <a16:creationId xmlns:a16="http://schemas.microsoft.com/office/drawing/2014/main" id="{E128FFCB-150E-4609-8058-4C8B29279D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 y="2114049"/>
            <a:ext cx="5245040" cy="4025567"/>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30297655-CF82-49F7-B255-6F75A7AF839B}"/>
              </a:ext>
            </a:extLst>
          </p:cNvPr>
          <p:cNvSpPr>
            <a:spLocks noGrp="1"/>
          </p:cNvSpPr>
          <p:nvPr>
            <p:ph idx="1"/>
          </p:nvPr>
        </p:nvSpPr>
        <p:spPr>
          <a:xfrm>
            <a:off x="6185228" y="1487277"/>
            <a:ext cx="5711880" cy="4788837"/>
          </a:xfrm>
          <a:ln>
            <a:solidFill>
              <a:schemeClr val="tx1"/>
            </a:solidFill>
          </a:ln>
        </p:spPr>
        <p:txBody>
          <a:bodyPr>
            <a:normAutofit/>
          </a:bodyPr>
          <a:lstStyle/>
          <a:p>
            <a:pPr marL="0" indent="0">
              <a:buNone/>
            </a:pPr>
            <a:r>
              <a:rPr lang="en-US" dirty="0"/>
              <a:t>All of the above will lead you into doing what has already been done.</a:t>
            </a:r>
          </a:p>
          <a:p>
            <a:pPr marL="0" indent="0">
              <a:buNone/>
            </a:pPr>
            <a:endParaRPr lang="en-US" dirty="0"/>
          </a:p>
          <a:p>
            <a:pPr marL="0" indent="0">
              <a:buNone/>
            </a:pPr>
            <a:r>
              <a:rPr lang="en-US" dirty="0"/>
              <a:t>Why?</a:t>
            </a:r>
          </a:p>
          <a:p>
            <a:pPr marL="0" indent="0">
              <a:buNone/>
            </a:pPr>
            <a:endParaRPr lang="en-US" dirty="0"/>
          </a:p>
          <a:p>
            <a:pPr marL="0" indent="0">
              <a:buNone/>
            </a:pPr>
            <a:r>
              <a:rPr lang="en-US" dirty="0"/>
              <a:t>Compiler back ends are designed for an instruction set. Instruction sets are designed to go faster based on what the compiler outputs.</a:t>
            </a:r>
          </a:p>
        </p:txBody>
      </p:sp>
    </p:spTree>
    <p:extLst>
      <p:ext uri="{BB962C8B-B14F-4D97-AF65-F5344CB8AC3E}">
        <p14:creationId xmlns:p14="http://schemas.microsoft.com/office/powerpoint/2010/main" val="1915157238"/>
      </p:ext>
    </p:extLst>
  </p:cSld>
  <p:clrMapOvr>
    <a:overrideClrMapping bg1="dk1" tx1="lt1" bg2="dk2" tx2="lt2" accent1="accent1" accent2="accent2" accent3="accent3" accent4="accent4" accent5="accent5" accent6="accent6" hlink="hlink" folHlink="folHlink"/>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455F1-6344-4FB0-85F9-58DA2BA9BB25}"/>
              </a:ext>
            </a:extLst>
          </p:cNvPr>
          <p:cNvSpPr>
            <a:spLocks noGrp="1"/>
          </p:cNvSpPr>
          <p:nvPr>
            <p:ph type="title"/>
          </p:nvPr>
        </p:nvSpPr>
        <p:spPr>
          <a:xfrm>
            <a:off x="838200" y="365125"/>
            <a:ext cx="10515600" cy="585851"/>
          </a:xfrm>
        </p:spPr>
        <p:txBody>
          <a:bodyPr>
            <a:normAutofit fontScale="90000"/>
          </a:bodyPr>
          <a:lstStyle/>
          <a:p>
            <a:r>
              <a:rPr lang="en-US" dirty="0"/>
              <a:t>So what do you do?</a:t>
            </a:r>
          </a:p>
        </p:txBody>
      </p:sp>
      <p:sp>
        <p:nvSpPr>
          <p:cNvPr id="3" name="Content Placeholder 2">
            <a:extLst>
              <a:ext uri="{FF2B5EF4-FFF2-40B4-BE49-F238E27FC236}">
                <a16:creationId xmlns:a16="http://schemas.microsoft.com/office/drawing/2014/main" id="{C76891EF-DE50-4C8D-BE48-9DC0128521B9}"/>
              </a:ext>
            </a:extLst>
          </p:cNvPr>
          <p:cNvSpPr>
            <a:spLocks noGrp="1"/>
          </p:cNvSpPr>
          <p:nvPr>
            <p:ph sz="half" idx="1"/>
          </p:nvPr>
        </p:nvSpPr>
        <p:spPr>
          <a:xfrm>
            <a:off x="838200" y="1825625"/>
            <a:ext cx="3688080" cy="2307463"/>
          </a:xfrm>
        </p:spPr>
        <p:txBody>
          <a:bodyPr>
            <a:normAutofit fontScale="85000" lnSpcReduction="20000"/>
          </a:bodyPr>
          <a:lstStyle/>
          <a:p>
            <a:pPr marL="0" indent="0">
              <a:buNone/>
            </a:pPr>
            <a:r>
              <a:rPr lang="en-US" dirty="0"/>
              <a:t>Give up</a:t>
            </a:r>
          </a:p>
          <a:p>
            <a:pPr marL="0" indent="0">
              <a:buNone/>
            </a:pPr>
            <a:endParaRPr lang="en-US" dirty="0"/>
          </a:p>
          <a:p>
            <a:pPr marL="0" indent="0">
              <a:buNone/>
            </a:pPr>
            <a:r>
              <a:rPr lang="en-US" dirty="0"/>
              <a:t>EASY! </a:t>
            </a:r>
          </a:p>
          <a:p>
            <a:pPr marL="0" indent="0">
              <a:buNone/>
            </a:pPr>
            <a:r>
              <a:rPr lang="en-US" dirty="0"/>
              <a:t>No one will fault you</a:t>
            </a:r>
          </a:p>
          <a:p>
            <a:pPr marL="0" indent="0">
              <a:buNone/>
            </a:pPr>
            <a:r>
              <a:rPr lang="en-US" dirty="0"/>
              <a:t>There is still lots of software to write and work to do…</a:t>
            </a:r>
          </a:p>
          <a:p>
            <a:pPr marL="514350" indent="-514350">
              <a:buFont typeface="+mj-lt"/>
              <a:buAutoNum type="arabicPeriod"/>
            </a:pPr>
            <a:endParaRPr lang="en-US" dirty="0"/>
          </a:p>
          <a:p>
            <a:pPr marL="0" indent="0">
              <a:buNone/>
            </a:pPr>
            <a:endParaRPr lang="en-US" dirty="0"/>
          </a:p>
        </p:txBody>
      </p:sp>
      <p:sp>
        <p:nvSpPr>
          <p:cNvPr id="4" name="Content Placeholder 3">
            <a:extLst>
              <a:ext uri="{FF2B5EF4-FFF2-40B4-BE49-F238E27FC236}">
                <a16:creationId xmlns:a16="http://schemas.microsoft.com/office/drawing/2014/main" id="{281D4679-5DC3-4DDB-BEF0-0F7AA9BA5FF3}"/>
              </a:ext>
            </a:extLst>
          </p:cNvPr>
          <p:cNvSpPr>
            <a:spLocks noGrp="1"/>
          </p:cNvSpPr>
          <p:nvPr>
            <p:ph sz="half" idx="2"/>
          </p:nvPr>
        </p:nvSpPr>
        <p:spPr>
          <a:xfrm>
            <a:off x="6096000" y="1481328"/>
            <a:ext cx="5480304" cy="5129784"/>
          </a:xfrm>
        </p:spPr>
        <p:txBody>
          <a:bodyPr>
            <a:normAutofit fontScale="85000" lnSpcReduction="20000"/>
          </a:bodyPr>
          <a:lstStyle/>
          <a:p>
            <a:pPr marL="0" indent="0">
              <a:buNone/>
            </a:pPr>
            <a:r>
              <a:rPr lang="en-US" dirty="0"/>
              <a:t>Build it all</a:t>
            </a:r>
          </a:p>
          <a:p>
            <a:pPr marL="0" indent="0">
              <a:buNone/>
            </a:pPr>
            <a:endParaRPr lang="en-US" dirty="0"/>
          </a:p>
          <a:p>
            <a:pPr marL="0" indent="0">
              <a:buNone/>
            </a:pPr>
            <a:r>
              <a:rPr lang="en-US" dirty="0"/>
              <a:t>Recognize that an existing compiler (and maybe an existing language!) won’t conform to your ideas</a:t>
            </a:r>
          </a:p>
          <a:p>
            <a:pPr marL="0" indent="0">
              <a:buNone/>
            </a:pPr>
            <a:endParaRPr lang="en-US" dirty="0"/>
          </a:p>
          <a:p>
            <a:pPr marL="0" indent="0">
              <a:buNone/>
            </a:pPr>
            <a:r>
              <a:rPr lang="en-US" dirty="0"/>
              <a:t>Build a new architecture, compiler, language (maybe)</a:t>
            </a:r>
          </a:p>
          <a:p>
            <a:pPr marL="0" indent="0">
              <a:buNone/>
            </a:pPr>
            <a:endParaRPr lang="en-US" dirty="0"/>
          </a:p>
          <a:p>
            <a:pPr marL="0" indent="0">
              <a:buNone/>
            </a:pPr>
            <a:r>
              <a:rPr lang="en-US" dirty="0"/>
              <a:t>…</a:t>
            </a:r>
          </a:p>
          <a:p>
            <a:pPr marL="0" indent="0">
              <a:buNone/>
            </a:pPr>
            <a:endParaRPr lang="en-US" dirty="0"/>
          </a:p>
          <a:p>
            <a:pPr marL="0" indent="0">
              <a:buNone/>
            </a:pPr>
            <a:r>
              <a:rPr lang="en-US" dirty="0"/>
              <a:t>Profit?</a:t>
            </a:r>
          </a:p>
        </p:txBody>
      </p:sp>
    </p:spTree>
    <p:extLst>
      <p:ext uri="{BB962C8B-B14F-4D97-AF65-F5344CB8AC3E}">
        <p14:creationId xmlns:p14="http://schemas.microsoft.com/office/powerpoint/2010/main" val="36960132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61AEF-BCB4-49DE-896F-B8F9A42A0C72}"/>
              </a:ext>
            </a:extLst>
          </p:cNvPr>
          <p:cNvSpPr>
            <a:spLocks noGrp="1"/>
          </p:cNvSpPr>
          <p:nvPr>
            <p:ph type="title"/>
          </p:nvPr>
        </p:nvSpPr>
        <p:spPr/>
        <p:txBody>
          <a:bodyPr/>
          <a:lstStyle/>
          <a:p>
            <a:r>
              <a:rPr lang="en-US" dirty="0"/>
              <a:t>Hardware Interaction</a:t>
            </a:r>
          </a:p>
        </p:txBody>
      </p:sp>
      <p:sp>
        <p:nvSpPr>
          <p:cNvPr id="3" name="Content Placeholder 2">
            <a:extLst>
              <a:ext uri="{FF2B5EF4-FFF2-40B4-BE49-F238E27FC236}">
                <a16:creationId xmlns:a16="http://schemas.microsoft.com/office/drawing/2014/main" id="{621EC0B0-E14A-4ACA-81B0-936B9682589C}"/>
              </a:ext>
            </a:extLst>
          </p:cNvPr>
          <p:cNvSpPr>
            <a:spLocks noGrp="1"/>
          </p:cNvSpPr>
          <p:nvPr>
            <p:ph idx="1"/>
          </p:nvPr>
        </p:nvSpPr>
        <p:spPr>
          <a:xfrm>
            <a:off x="521208" y="1825625"/>
            <a:ext cx="10832592" cy="4351338"/>
          </a:xfrm>
        </p:spPr>
        <p:txBody>
          <a:bodyPr/>
          <a:lstStyle/>
          <a:p>
            <a:pPr marL="0" indent="0">
              <a:buNone/>
            </a:pPr>
            <a:r>
              <a:rPr lang="en-US" dirty="0"/>
              <a:t>x86 uses “hardware ports”, with IN and OUT opcodes</a:t>
            </a:r>
          </a:p>
          <a:p>
            <a:pPr marL="0" indent="0">
              <a:buNone/>
            </a:pPr>
            <a:r>
              <a:rPr lang="en-US" dirty="0"/>
              <a:t>	the portions of the system that are unchanged from the 	1980’s 	use this: timers, interrupt controllers</a:t>
            </a:r>
          </a:p>
          <a:p>
            <a:pPr marL="0" indent="0">
              <a:buNone/>
            </a:pPr>
            <a:r>
              <a:rPr lang="en-US" dirty="0"/>
              <a:t>	but some more modern hardware has hardware ports as well as 	mapped memory</a:t>
            </a:r>
          </a:p>
          <a:p>
            <a:pPr marL="0" indent="0">
              <a:buNone/>
            </a:pPr>
            <a:endParaRPr lang="en-US" dirty="0"/>
          </a:p>
          <a:p>
            <a:pPr marL="0" indent="0">
              <a:buNone/>
            </a:pPr>
            <a:r>
              <a:rPr lang="en-US" dirty="0"/>
              <a:t>memory mapping – assign a range of memory that is routed to hardware </a:t>
            </a:r>
          </a:p>
          <a:p>
            <a:pPr marL="0" indent="0">
              <a:buNone/>
            </a:pPr>
            <a:r>
              <a:rPr lang="en-US" dirty="0"/>
              <a:t>	All of the newer components are mapped into memory</a:t>
            </a:r>
          </a:p>
          <a:p>
            <a:pPr marL="0" indent="0">
              <a:buNone/>
            </a:pPr>
            <a:r>
              <a:rPr lang="en-US" dirty="0"/>
              <a:t>	This memory mapping is “just” for control registers</a:t>
            </a:r>
          </a:p>
        </p:txBody>
      </p:sp>
    </p:spTree>
    <p:extLst>
      <p:ext uri="{BB962C8B-B14F-4D97-AF65-F5344CB8AC3E}">
        <p14:creationId xmlns:p14="http://schemas.microsoft.com/office/powerpoint/2010/main" val="15331040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F3597-A89F-4BB7-B918-6B8E2B41C88B}"/>
              </a:ext>
            </a:extLst>
          </p:cNvPr>
          <p:cNvSpPr>
            <a:spLocks noGrp="1"/>
          </p:cNvSpPr>
          <p:nvPr>
            <p:ph type="title"/>
          </p:nvPr>
        </p:nvSpPr>
        <p:spPr/>
        <p:txBody>
          <a:bodyPr/>
          <a:lstStyle/>
          <a:p>
            <a:r>
              <a:rPr lang="en-US" dirty="0"/>
              <a:t>A (very) bad design for I/O</a:t>
            </a:r>
          </a:p>
        </p:txBody>
      </p:sp>
      <p:sp>
        <p:nvSpPr>
          <p:cNvPr id="3" name="Content Placeholder 2">
            <a:extLst>
              <a:ext uri="{FF2B5EF4-FFF2-40B4-BE49-F238E27FC236}">
                <a16:creationId xmlns:a16="http://schemas.microsoft.com/office/drawing/2014/main" id="{5CE7BEBC-4555-4EF6-B6E5-ADEFA7CCFF1C}"/>
              </a:ext>
            </a:extLst>
          </p:cNvPr>
          <p:cNvSpPr>
            <a:spLocks noGrp="1"/>
          </p:cNvSpPr>
          <p:nvPr>
            <p:ph idx="1"/>
          </p:nvPr>
        </p:nvSpPr>
        <p:spPr/>
        <p:txBody>
          <a:bodyPr>
            <a:normAutofit lnSpcReduction="10000"/>
          </a:bodyPr>
          <a:lstStyle/>
          <a:p>
            <a:pPr marL="0" indent="0">
              <a:buNone/>
            </a:pPr>
            <a:r>
              <a:rPr lang="en-US" dirty="0"/>
              <a:t>Let’s assume that we are designing a disk controller.</a:t>
            </a:r>
          </a:p>
          <a:p>
            <a:pPr marL="0" indent="0">
              <a:buNone/>
            </a:pPr>
            <a:r>
              <a:rPr lang="en-US" dirty="0"/>
              <a:t>We have a read register. We write a value into that register indicating which word on the disk we want to read.</a:t>
            </a:r>
          </a:p>
          <a:p>
            <a:pPr marL="0" indent="0">
              <a:buNone/>
            </a:pPr>
            <a:endParaRPr lang="en-US" dirty="0"/>
          </a:p>
          <a:p>
            <a:pPr marL="0" indent="0">
              <a:buNone/>
            </a:pPr>
            <a:r>
              <a:rPr lang="en-US" dirty="0"/>
              <a:t>The CPU then looks every so often at a status register. When the status register indicates the read is complete, the CPU then copies that word into memory somewhere and writes the next address to the read register.</a:t>
            </a:r>
          </a:p>
          <a:p>
            <a:pPr marL="0" indent="0">
              <a:buNone/>
            </a:pPr>
            <a:endParaRPr lang="en-US" dirty="0"/>
          </a:p>
          <a:p>
            <a:pPr marL="0" indent="0">
              <a:buNone/>
            </a:pPr>
            <a:r>
              <a:rPr lang="en-US" dirty="0"/>
              <a:t>Why is this a bad design?</a:t>
            </a:r>
          </a:p>
        </p:txBody>
      </p:sp>
    </p:spTree>
    <p:extLst>
      <p:ext uri="{BB962C8B-B14F-4D97-AF65-F5344CB8AC3E}">
        <p14:creationId xmlns:p14="http://schemas.microsoft.com/office/powerpoint/2010/main" val="178243642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E60D2-2067-4CB2-8249-72A82EA0518B}"/>
              </a:ext>
            </a:extLst>
          </p:cNvPr>
          <p:cNvSpPr>
            <a:spLocks noGrp="1"/>
          </p:cNvSpPr>
          <p:nvPr>
            <p:ph type="title"/>
          </p:nvPr>
        </p:nvSpPr>
        <p:spPr/>
        <p:txBody>
          <a:bodyPr/>
          <a:lstStyle/>
          <a:p>
            <a:r>
              <a:rPr lang="en-US" dirty="0"/>
              <a:t>Interrupt Processing</a:t>
            </a:r>
          </a:p>
        </p:txBody>
      </p:sp>
      <p:sp>
        <p:nvSpPr>
          <p:cNvPr id="3" name="Content Placeholder 2">
            <a:extLst>
              <a:ext uri="{FF2B5EF4-FFF2-40B4-BE49-F238E27FC236}">
                <a16:creationId xmlns:a16="http://schemas.microsoft.com/office/drawing/2014/main" id="{18F29A2E-2688-4929-8392-EC536B12ACA7}"/>
              </a:ext>
            </a:extLst>
          </p:cNvPr>
          <p:cNvSpPr>
            <a:spLocks noGrp="1"/>
          </p:cNvSpPr>
          <p:nvPr>
            <p:ph idx="1"/>
          </p:nvPr>
        </p:nvSpPr>
        <p:spPr/>
        <p:txBody>
          <a:bodyPr/>
          <a:lstStyle/>
          <a:p>
            <a:pPr marL="0" indent="0">
              <a:buNone/>
            </a:pPr>
            <a:r>
              <a:rPr lang="en-US" dirty="0"/>
              <a:t>All CPUs have a mechanism to interrupt normal processing. When one or more of the interrupt pins are raised (current is passed through them), the CPU finishes the current instruction, then jumps to an interrupt handler. </a:t>
            </a:r>
          </a:p>
          <a:p>
            <a:pPr marL="0" indent="0">
              <a:buNone/>
            </a:pPr>
            <a:endParaRPr lang="en-US" dirty="0"/>
          </a:p>
          <a:p>
            <a:pPr marL="0" indent="0">
              <a:buNone/>
            </a:pPr>
            <a:r>
              <a:rPr lang="en-US" dirty="0"/>
              <a:t>Some CPUs just have a single interrupt pin. When they are interrupted, they have to poll each device to see if that device interrupted them. These are called polled interrupts. It is an idea that has (thankfully) been replaced.</a:t>
            </a:r>
          </a:p>
        </p:txBody>
      </p:sp>
    </p:spTree>
    <p:extLst>
      <p:ext uri="{BB962C8B-B14F-4D97-AF65-F5344CB8AC3E}">
        <p14:creationId xmlns:p14="http://schemas.microsoft.com/office/powerpoint/2010/main" val="22478039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B4181-ECBF-439A-93AB-71E9E29CE179}"/>
              </a:ext>
            </a:extLst>
          </p:cNvPr>
          <p:cNvSpPr>
            <a:spLocks noGrp="1"/>
          </p:cNvSpPr>
          <p:nvPr>
            <p:ph type="title"/>
          </p:nvPr>
        </p:nvSpPr>
        <p:spPr/>
        <p:txBody>
          <a:bodyPr/>
          <a:lstStyle/>
          <a:p>
            <a:r>
              <a:rPr lang="en-US" dirty="0"/>
              <a:t>Vectored Interrupts</a:t>
            </a:r>
          </a:p>
        </p:txBody>
      </p:sp>
      <p:sp>
        <p:nvSpPr>
          <p:cNvPr id="3" name="Content Placeholder 2">
            <a:extLst>
              <a:ext uri="{FF2B5EF4-FFF2-40B4-BE49-F238E27FC236}">
                <a16:creationId xmlns:a16="http://schemas.microsoft.com/office/drawing/2014/main" id="{B1258E86-47A6-4684-8CA7-A45A3FD1681C}"/>
              </a:ext>
            </a:extLst>
          </p:cNvPr>
          <p:cNvSpPr>
            <a:spLocks noGrp="1"/>
          </p:cNvSpPr>
          <p:nvPr>
            <p:ph idx="1"/>
          </p:nvPr>
        </p:nvSpPr>
        <p:spPr/>
        <p:txBody>
          <a:bodyPr>
            <a:normAutofit lnSpcReduction="10000"/>
          </a:bodyPr>
          <a:lstStyle/>
          <a:p>
            <a:pPr marL="0" indent="0">
              <a:buNone/>
            </a:pPr>
            <a:r>
              <a:rPr lang="en-US" dirty="0"/>
              <a:t>The CPU has some number of pins/lines that define an interrupt. On x86, there are 8 interrupt lines (how many interrupts are possible?). </a:t>
            </a:r>
          </a:p>
          <a:p>
            <a:pPr marL="0" indent="0">
              <a:buNone/>
            </a:pPr>
            <a:endParaRPr lang="en-US" dirty="0"/>
          </a:p>
          <a:p>
            <a:pPr marL="0" indent="0">
              <a:buNone/>
            </a:pPr>
            <a:r>
              <a:rPr lang="en-US" dirty="0"/>
              <a:t>An array of “slots” exist that the operating system must manage. When an interrupt occurs, the “slot” corresponding to the interrupt is used to determine the address of the code to process the interrupt.</a:t>
            </a:r>
          </a:p>
          <a:p>
            <a:pPr marL="0" indent="0">
              <a:buNone/>
            </a:pPr>
            <a:endParaRPr lang="en-US" dirty="0"/>
          </a:p>
          <a:p>
            <a:pPr marL="0" indent="0">
              <a:buNone/>
            </a:pPr>
            <a:r>
              <a:rPr lang="en-US" dirty="0"/>
              <a:t>Most interrupts can be defined by the operating system and invoked by the INT instruction. Others (like divide by zero and control-alt-delete) are system defined.</a:t>
            </a:r>
          </a:p>
        </p:txBody>
      </p:sp>
    </p:spTree>
    <p:extLst>
      <p:ext uri="{BB962C8B-B14F-4D97-AF65-F5344CB8AC3E}">
        <p14:creationId xmlns:p14="http://schemas.microsoft.com/office/powerpoint/2010/main" val="130462184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F3597-A89F-4BB7-B918-6B8E2B41C88B}"/>
              </a:ext>
            </a:extLst>
          </p:cNvPr>
          <p:cNvSpPr>
            <a:spLocks noGrp="1"/>
          </p:cNvSpPr>
          <p:nvPr>
            <p:ph type="title"/>
          </p:nvPr>
        </p:nvSpPr>
        <p:spPr/>
        <p:txBody>
          <a:bodyPr/>
          <a:lstStyle/>
          <a:p>
            <a:r>
              <a:rPr lang="en-US" dirty="0"/>
              <a:t>A bad design for I/O</a:t>
            </a:r>
          </a:p>
        </p:txBody>
      </p:sp>
      <p:sp>
        <p:nvSpPr>
          <p:cNvPr id="3" name="Content Placeholder 2">
            <a:extLst>
              <a:ext uri="{FF2B5EF4-FFF2-40B4-BE49-F238E27FC236}">
                <a16:creationId xmlns:a16="http://schemas.microsoft.com/office/drawing/2014/main" id="{5CE7BEBC-4555-4EF6-B6E5-ADEFA7CCFF1C}"/>
              </a:ext>
            </a:extLst>
          </p:cNvPr>
          <p:cNvSpPr>
            <a:spLocks noGrp="1"/>
          </p:cNvSpPr>
          <p:nvPr>
            <p:ph idx="1"/>
          </p:nvPr>
        </p:nvSpPr>
        <p:spPr/>
        <p:txBody>
          <a:bodyPr/>
          <a:lstStyle/>
          <a:p>
            <a:pPr marL="0" indent="0">
              <a:buNone/>
            </a:pPr>
            <a:r>
              <a:rPr lang="en-US" dirty="0"/>
              <a:t>Let’s assume that we are designing a disk controller.</a:t>
            </a:r>
          </a:p>
          <a:p>
            <a:pPr marL="0" indent="0">
              <a:buNone/>
            </a:pPr>
            <a:r>
              <a:rPr lang="en-US" dirty="0"/>
              <a:t>We have a read register ($0). We write a value into that register indicating which word on the disk we want to read.</a:t>
            </a:r>
          </a:p>
          <a:p>
            <a:pPr marL="0" indent="0">
              <a:buNone/>
            </a:pPr>
            <a:endParaRPr lang="en-US" dirty="0"/>
          </a:p>
          <a:p>
            <a:pPr marL="0" indent="0">
              <a:buNone/>
            </a:pPr>
            <a:r>
              <a:rPr lang="en-US" dirty="0"/>
              <a:t>When that word has been read, an interrupt happens. The CPU then copies that word into memory somewhere and writes the next address to the read register.</a:t>
            </a:r>
          </a:p>
          <a:p>
            <a:pPr marL="0" indent="0">
              <a:buNone/>
            </a:pPr>
            <a:endParaRPr lang="en-US" dirty="0"/>
          </a:p>
          <a:p>
            <a:pPr marL="0" indent="0">
              <a:buNone/>
            </a:pPr>
            <a:r>
              <a:rPr lang="en-US" dirty="0"/>
              <a:t>Why is this a bad design?</a:t>
            </a:r>
          </a:p>
        </p:txBody>
      </p:sp>
    </p:spTree>
    <p:extLst>
      <p:ext uri="{BB962C8B-B14F-4D97-AF65-F5344CB8AC3E}">
        <p14:creationId xmlns:p14="http://schemas.microsoft.com/office/powerpoint/2010/main" val="178277031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C1FA5-0CF9-4145-8927-87D27920AE2A}"/>
              </a:ext>
            </a:extLst>
          </p:cNvPr>
          <p:cNvSpPr>
            <a:spLocks noGrp="1"/>
          </p:cNvSpPr>
          <p:nvPr>
            <p:ph type="title"/>
          </p:nvPr>
        </p:nvSpPr>
        <p:spPr>
          <a:xfrm>
            <a:off x="762001" y="803325"/>
            <a:ext cx="5314536" cy="1325563"/>
          </a:xfrm>
        </p:spPr>
        <p:txBody>
          <a:bodyPr>
            <a:normAutofit/>
          </a:bodyPr>
          <a:lstStyle/>
          <a:p>
            <a:r>
              <a:rPr lang="en-US"/>
              <a:t>DMA – Direct Memory Access</a:t>
            </a:r>
            <a:endParaRPr lang="en-US" dirty="0"/>
          </a:p>
        </p:txBody>
      </p:sp>
      <p:sp>
        <p:nvSpPr>
          <p:cNvPr id="3" name="Content Placeholder 2">
            <a:extLst>
              <a:ext uri="{FF2B5EF4-FFF2-40B4-BE49-F238E27FC236}">
                <a16:creationId xmlns:a16="http://schemas.microsoft.com/office/drawing/2014/main" id="{2ADEA570-B655-4764-BA41-1E1478416B1F}"/>
              </a:ext>
            </a:extLst>
          </p:cNvPr>
          <p:cNvSpPr>
            <a:spLocks noGrp="1"/>
          </p:cNvSpPr>
          <p:nvPr>
            <p:ph idx="1"/>
          </p:nvPr>
        </p:nvSpPr>
        <p:spPr>
          <a:xfrm>
            <a:off x="762000" y="2279018"/>
            <a:ext cx="5314543" cy="3375920"/>
          </a:xfrm>
        </p:spPr>
        <p:txBody>
          <a:bodyPr anchor="t">
            <a:normAutofit/>
          </a:bodyPr>
          <a:lstStyle/>
          <a:p>
            <a:pPr marL="0" indent="0">
              <a:buNone/>
            </a:pPr>
            <a:r>
              <a:rPr lang="en-US" sz="1500"/>
              <a:t>Instead of the device writing a word into a memory mapped area, then having the CPU copy the data into other memory, it would free the CPU up if it didn’t have to copy the memory around. </a:t>
            </a:r>
          </a:p>
          <a:p>
            <a:pPr marL="0" indent="0">
              <a:buNone/>
            </a:pPr>
            <a:endParaRPr lang="en-US" sz="1500"/>
          </a:p>
          <a:p>
            <a:pPr marL="0" indent="0">
              <a:buNone/>
            </a:pPr>
            <a:r>
              <a:rPr lang="en-US" sz="1500"/>
              <a:t>A tiny co-processor, called a DMA controller, does this work. The DMA controller is set up as another peripheral using hardware ports.</a:t>
            </a:r>
          </a:p>
          <a:p>
            <a:pPr marL="0" indent="0">
              <a:buNone/>
            </a:pPr>
            <a:endParaRPr lang="en-US" sz="1500"/>
          </a:p>
          <a:p>
            <a:pPr marL="0" indent="0">
              <a:buNone/>
            </a:pPr>
            <a:r>
              <a:rPr lang="en-US" sz="1500"/>
              <a:t>The device driver (software) tells the DMA co-processor to manage the process and it does. When the process is complete, an interrupt occurs and the transfer is complete.</a:t>
            </a:r>
          </a:p>
        </p:txBody>
      </p:sp>
      <p:sp>
        <p:nvSpPr>
          <p:cNvPr id="2052" name="Freeform: Shape 70">
            <a:extLst>
              <a:ext uri="{FF2B5EF4-FFF2-40B4-BE49-F238E27FC236}">
                <a16:creationId xmlns:a16="http://schemas.microsoft.com/office/drawing/2014/main" id="{CF62D2A7-8207-488C-9F46-316BA81A1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8278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050" name="Picture 2" descr="Image result for dma design logo">
            <a:extLst>
              <a:ext uri="{FF2B5EF4-FFF2-40B4-BE49-F238E27FC236}">
                <a16:creationId xmlns:a16="http://schemas.microsoft.com/office/drawing/2014/main" id="{D9BCDF0B-94A9-4657-9C59-6BC2B3640B6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644" r="18209" b="-2"/>
          <a:stretch/>
        </p:blipFill>
        <p:spPr bwMode="auto">
          <a:xfrm>
            <a:off x="6750141" y="-2"/>
            <a:ext cx="5441859" cy="5654940"/>
          </a:xfrm>
          <a:custGeom>
            <a:avLst/>
            <a:gdLst>
              <a:gd name="connsiteX0" fmla="*/ 1041368 w 5441859"/>
              <a:gd name="connsiteY0" fmla="*/ 0 h 5654940"/>
              <a:gd name="connsiteX1" fmla="*/ 5441859 w 5441859"/>
              <a:gd name="connsiteY1" fmla="*/ 0 h 5654940"/>
              <a:gd name="connsiteX2" fmla="*/ 5441859 w 5441859"/>
              <a:gd name="connsiteY2" fmla="*/ 4820612 h 5654940"/>
              <a:gd name="connsiteX3" fmla="*/ 5285166 w 5441859"/>
              <a:gd name="connsiteY3" fmla="*/ 4957981 h 5654940"/>
              <a:gd name="connsiteX4" fmla="*/ 3267719 w 5441859"/>
              <a:gd name="connsiteY4" fmla="*/ 5654940 h 5654940"/>
              <a:gd name="connsiteX5" fmla="*/ 0 w 5441859"/>
              <a:gd name="connsiteY5" fmla="*/ 2387221 h 5654940"/>
              <a:gd name="connsiteX6" fmla="*/ 957093 w 5441859"/>
              <a:gd name="connsiteY6" fmla="*/ 76595 h 565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41859" h="5654940">
                <a:moveTo>
                  <a:pt x="1041368" y="0"/>
                </a:moveTo>
                <a:lnTo>
                  <a:pt x="5441859" y="0"/>
                </a:lnTo>
                <a:lnTo>
                  <a:pt x="5441859" y="4820612"/>
                </a:lnTo>
                <a:lnTo>
                  <a:pt x="5285166" y="4957981"/>
                </a:lnTo>
                <a:cubicBezTo>
                  <a:pt x="4729628" y="5394557"/>
                  <a:pt x="4029081" y="5654940"/>
                  <a:pt x="3267719" y="5654940"/>
                </a:cubicBezTo>
                <a:cubicBezTo>
                  <a:pt x="1463008" y="5654940"/>
                  <a:pt x="0" y="4191932"/>
                  <a:pt x="0" y="2387221"/>
                </a:cubicBezTo>
                <a:cubicBezTo>
                  <a:pt x="0" y="1484866"/>
                  <a:pt x="365752" y="667936"/>
                  <a:pt x="957093" y="76595"/>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3451943"/>
      </p:ext>
    </p:extLst>
  </p:cSld>
  <p:clrMapOvr>
    <a:overrideClrMapping bg1="dk1" tx1="lt1" bg2="dk2" tx2="lt2" accent1="accent1" accent2="accent2" accent3="accent3" accent4="accent4" accent5="accent5" accent6="accent6" hlink="hlink" folHlink="folHlink"/>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39D26-3516-4724-9292-2AFD6199FA61}"/>
              </a:ext>
            </a:extLst>
          </p:cNvPr>
          <p:cNvSpPr>
            <a:spLocks noGrp="1"/>
          </p:cNvSpPr>
          <p:nvPr>
            <p:ph type="title"/>
          </p:nvPr>
        </p:nvSpPr>
        <p:spPr/>
        <p:txBody>
          <a:bodyPr/>
          <a:lstStyle/>
          <a:p>
            <a:r>
              <a:rPr lang="en-US" dirty="0"/>
              <a:t>A Note About Performance…</a:t>
            </a:r>
          </a:p>
        </p:txBody>
      </p:sp>
      <p:sp>
        <p:nvSpPr>
          <p:cNvPr id="3" name="Content Placeholder 2">
            <a:extLst>
              <a:ext uri="{FF2B5EF4-FFF2-40B4-BE49-F238E27FC236}">
                <a16:creationId xmlns:a16="http://schemas.microsoft.com/office/drawing/2014/main" id="{EFF29AC0-643F-43B7-B194-C8230707EC03}"/>
              </a:ext>
            </a:extLst>
          </p:cNvPr>
          <p:cNvSpPr>
            <a:spLocks noGrp="1"/>
          </p:cNvSpPr>
          <p:nvPr>
            <p:ph idx="1"/>
          </p:nvPr>
        </p:nvSpPr>
        <p:spPr/>
        <p:txBody>
          <a:bodyPr/>
          <a:lstStyle/>
          <a:p>
            <a:pPr marL="0" indent="0">
              <a:buNone/>
            </a:pPr>
            <a:r>
              <a:rPr lang="en-US" dirty="0"/>
              <a:t>DMA is wonderful, because it frees the CPU from copying byte by byte or word for word</a:t>
            </a:r>
          </a:p>
          <a:p>
            <a:pPr marL="0" indent="0">
              <a:buNone/>
            </a:pPr>
            <a:endParaRPr lang="en-US" dirty="0"/>
          </a:p>
          <a:p>
            <a:pPr marL="0" indent="0">
              <a:buNone/>
            </a:pPr>
            <a:r>
              <a:rPr lang="en-US" dirty="0"/>
              <a:t>However, it does need to write to memory. Which, as we remember, is a resource that is always under pressure.</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4002924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7D7A7-8240-4BEC-BADB-7C12C2B88744}"/>
              </a:ext>
            </a:extLst>
          </p:cNvPr>
          <p:cNvSpPr>
            <a:spLocks noGrp="1"/>
          </p:cNvSpPr>
          <p:nvPr>
            <p:ph type="title"/>
          </p:nvPr>
        </p:nvSpPr>
        <p:spPr/>
        <p:txBody>
          <a:bodyPr/>
          <a:lstStyle/>
          <a:p>
            <a:r>
              <a:rPr lang="en-US" dirty="0"/>
              <a:t>Calling Conventions</a:t>
            </a:r>
          </a:p>
        </p:txBody>
      </p:sp>
      <p:sp>
        <p:nvSpPr>
          <p:cNvPr id="3" name="Content Placeholder 2">
            <a:extLst>
              <a:ext uri="{FF2B5EF4-FFF2-40B4-BE49-F238E27FC236}">
                <a16:creationId xmlns:a16="http://schemas.microsoft.com/office/drawing/2014/main" id="{B4F2427B-CCB6-475E-BB29-284492C94EB2}"/>
              </a:ext>
            </a:extLst>
          </p:cNvPr>
          <p:cNvSpPr>
            <a:spLocks noGrp="1"/>
          </p:cNvSpPr>
          <p:nvPr>
            <p:ph idx="1"/>
          </p:nvPr>
        </p:nvSpPr>
        <p:spPr/>
        <p:txBody>
          <a:bodyPr>
            <a:normAutofit fontScale="92500" lnSpcReduction="10000"/>
          </a:bodyPr>
          <a:lstStyle/>
          <a:p>
            <a:pPr marL="0" indent="0">
              <a:buNone/>
            </a:pPr>
            <a:r>
              <a:rPr lang="en-US" dirty="0"/>
              <a:t>CPUs don’t (usually) have any enforced rules about how to call a function. They sometimes have instructions to assist, though. </a:t>
            </a:r>
          </a:p>
          <a:p>
            <a:pPr marL="0" indent="0">
              <a:buNone/>
            </a:pPr>
            <a:endParaRPr lang="en-US" dirty="0"/>
          </a:p>
          <a:p>
            <a:pPr marL="0" indent="0">
              <a:buNone/>
            </a:pPr>
            <a:r>
              <a:rPr lang="en-US" dirty="0"/>
              <a:t>For example – x86 has a “call” and a “ret” instruction. Call pushes the current Instruction Pointer onto the stack and jump to the parameter. Ret pops the IP off of the stack into the register.</a:t>
            </a:r>
          </a:p>
          <a:p>
            <a:pPr marL="0" indent="0">
              <a:buNone/>
            </a:pPr>
            <a:endParaRPr lang="en-US" dirty="0"/>
          </a:p>
          <a:p>
            <a:pPr marL="0" indent="0">
              <a:buNone/>
            </a:pPr>
            <a:r>
              <a:rPr lang="en-US" dirty="0"/>
              <a:t>MIPS’ “link” instructions put the return address in a register. JR jumps to the address in a register, which can be used as “ret”</a:t>
            </a:r>
          </a:p>
          <a:p>
            <a:pPr marL="0" indent="0">
              <a:buNone/>
            </a:pPr>
            <a:endParaRPr lang="en-US" dirty="0"/>
          </a:p>
          <a:p>
            <a:pPr marL="0" indent="0">
              <a:buNone/>
            </a:pPr>
            <a:r>
              <a:rPr lang="en-US" dirty="0"/>
              <a:t>What if one MIPS function calls another function?</a:t>
            </a:r>
          </a:p>
        </p:txBody>
      </p:sp>
    </p:spTree>
    <p:extLst>
      <p:ext uri="{BB962C8B-B14F-4D97-AF65-F5344CB8AC3E}">
        <p14:creationId xmlns:p14="http://schemas.microsoft.com/office/powerpoint/2010/main" val="427501876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6D5E1-E8FE-4DAE-A198-485E0CBD362D}"/>
              </a:ext>
            </a:extLst>
          </p:cNvPr>
          <p:cNvSpPr>
            <a:spLocks noGrp="1"/>
          </p:cNvSpPr>
          <p:nvPr>
            <p:ph type="title"/>
          </p:nvPr>
        </p:nvSpPr>
        <p:spPr/>
        <p:txBody>
          <a:bodyPr/>
          <a:lstStyle/>
          <a:p>
            <a:r>
              <a:rPr lang="en-US" dirty="0"/>
              <a:t>Register Spilling</a:t>
            </a:r>
          </a:p>
        </p:txBody>
      </p:sp>
      <p:sp>
        <p:nvSpPr>
          <p:cNvPr id="3" name="Content Placeholder 2">
            <a:extLst>
              <a:ext uri="{FF2B5EF4-FFF2-40B4-BE49-F238E27FC236}">
                <a16:creationId xmlns:a16="http://schemas.microsoft.com/office/drawing/2014/main" id="{648E2EB7-B6F6-42AD-8EB5-E6D00958D0FD}"/>
              </a:ext>
            </a:extLst>
          </p:cNvPr>
          <p:cNvSpPr>
            <a:spLocks noGrp="1"/>
          </p:cNvSpPr>
          <p:nvPr>
            <p:ph idx="1"/>
          </p:nvPr>
        </p:nvSpPr>
        <p:spPr>
          <a:xfrm>
            <a:off x="838200" y="1834251"/>
            <a:ext cx="10515600" cy="4351338"/>
          </a:xfrm>
        </p:spPr>
        <p:txBody>
          <a:bodyPr/>
          <a:lstStyle/>
          <a:p>
            <a:pPr marL="0" indent="0">
              <a:buNone/>
            </a:pPr>
            <a:r>
              <a:rPr lang="en-US" dirty="0"/>
              <a:t>When a function calls another function, the registers must be written into memory so that the data is not lost. </a:t>
            </a:r>
          </a:p>
          <a:p>
            <a:pPr marL="0" indent="0">
              <a:buNone/>
            </a:pPr>
            <a:r>
              <a:rPr lang="en-US" dirty="0"/>
              <a:t>There are a few approaches:</a:t>
            </a:r>
          </a:p>
          <a:p>
            <a:pPr marL="514350" indent="-514350">
              <a:buAutoNum type="arabicParenR"/>
            </a:pPr>
            <a:r>
              <a:rPr lang="en-US" dirty="0"/>
              <a:t>Caller writes the registers. (it knows what has data)</a:t>
            </a:r>
          </a:p>
          <a:p>
            <a:pPr marL="514350" indent="-514350">
              <a:buAutoNum type="arabicParenR"/>
            </a:pPr>
            <a:r>
              <a:rPr lang="en-US" dirty="0" err="1"/>
              <a:t>Callee</a:t>
            </a:r>
            <a:r>
              <a:rPr lang="en-US" dirty="0"/>
              <a:t> writes the registers. (it knows what it will overwrite)</a:t>
            </a:r>
          </a:p>
          <a:p>
            <a:pPr marL="514350" indent="-514350">
              <a:buAutoNum type="arabicParenR"/>
            </a:pPr>
            <a:r>
              <a:rPr lang="en-US" dirty="0"/>
              <a:t>Split the difference – define some set of registers each is responsible for.</a:t>
            </a:r>
          </a:p>
        </p:txBody>
      </p:sp>
    </p:spTree>
    <p:extLst>
      <p:ext uri="{BB962C8B-B14F-4D97-AF65-F5344CB8AC3E}">
        <p14:creationId xmlns:p14="http://schemas.microsoft.com/office/powerpoint/2010/main" val="185589085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79EEA-B036-4828-A2F1-5D006AF8C2DB}"/>
              </a:ext>
            </a:extLst>
          </p:cNvPr>
          <p:cNvSpPr>
            <a:spLocks noGrp="1"/>
          </p:cNvSpPr>
          <p:nvPr>
            <p:ph type="title"/>
          </p:nvPr>
        </p:nvSpPr>
        <p:spPr/>
        <p:txBody>
          <a:bodyPr/>
          <a:lstStyle/>
          <a:p>
            <a:r>
              <a:rPr lang="en-US" dirty="0"/>
              <a:t>Stack ‘</a:t>
            </a:r>
            <a:r>
              <a:rPr lang="en-US" dirty="0" err="1"/>
              <a:t>em</a:t>
            </a:r>
            <a:r>
              <a:rPr lang="en-US" dirty="0"/>
              <a:t> up!</a:t>
            </a:r>
          </a:p>
        </p:txBody>
      </p:sp>
      <p:sp>
        <p:nvSpPr>
          <p:cNvPr id="3" name="Content Placeholder 2">
            <a:extLst>
              <a:ext uri="{FF2B5EF4-FFF2-40B4-BE49-F238E27FC236}">
                <a16:creationId xmlns:a16="http://schemas.microsoft.com/office/drawing/2014/main" id="{88188A84-F389-4798-9DAA-77D073209F0D}"/>
              </a:ext>
            </a:extLst>
          </p:cNvPr>
          <p:cNvSpPr>
            <a:spLocks noGrp="1"/>
          </p:cNvSpPr>
          <p:nvPr>
            <p:ph idx="1"/>
          </p:nvPr>
        </p:nvSpPr>
        <p:spPr/>
        <p:txBody>
          <a:bodyPr/>
          <a:lstStyle/>
          <a:p>
            <a:pPr marL="0" indent="0">
              <a:buNone/>
            </a:pPr>
            <a:r>
              <a:rPr lang="en-US" dirty="0"/>
              <a:t>Another approach is to give up on registers. </a:t>
            </a:r>
          </a:p>
          <a:p>
            <a:pPr marL="0" indent="0">
              <a:buNone/>
            </a:pPr>
            <a:r>
              <a:rPr lang="en-US" dirty="0"/>
              <a:t>Push all of the parameters onto the stack.</a:t>
            </a:r>
          </a:p>
          <a:p>
            <a:pPr marL="0" indent="0">
              <a:buNone/>
            </a:pPr>
            <a:r>
              <a:rPr lang="en-US" dirty="0"/>
              <a:t>The </a:t>
            </a:r>
            <a:r>
              <a:rPr lang="en-US" dirty="0" err="1"/>
              <a:t>callee</a:t>
            </a:r>
            <a:r>
              <a:rPr lang="en-US" dirty="0"/>
              <a:t> can then use stack relative references to access the parameter data.</a:t>
            </a:r>
          </a:p>
          <a:p>
            <a:pPr marL="0" indent="0">
              <a:buNone/>
            </a:pPr>
            <a:r>
              <a:rPr lang="en-US" dirty="0"/>
              <a:t>Clean up is as easy as moving the stack pointer.</a:t>
            </a:r>
          </a:p>
          <a:p>
            <a:pPr marL="0" indent="0">
              <a:buNone/>
            </a:pPr>
            <a:endParaRPr lang="en-US" dirty="0"/>
          </a:p>
          <a:p>
            <a:pPr marL="0" indent="0">
              <a:buNone/>
            </a:pPr>
            <a:r>
              <a:rPr lang="en-US" dirty="0"/>
              <a:t>x86 uses a number of different approaches – </a:t>
            </a:r>
            <a:r>
              <a:rPr lang="en-US" dirty="0" err="1"/>
              <a:t>fastcall</a:t>
            </a:r>
            <a:r>
              <a:rPr lang="en-US" dirty="0"/>
              <a:t> (registers, then stack), </a:t>
            </a:r>
            <a:r>
              <a:rPr lang="en-US" dirty="0" err="1"/>
              <a:t>cdecl</a:t>
            </a:r>
            <a:r>
              <a:rPr lang="en-US" dirty="0"/>
              <a:t> (stack), many more</a:t>
            </a:r>
          </a:p>
        </p:txBody>
      </p:sp>
    </p:spTree>
    <p:extLst>
      <p:ext uri="{BB962C8B-B14F-4D97-AF65-F5344CB8AC3E}">
        <p14:creationId xmlns:p14="http://schemas.microsoft.com/office/powerpoint/2010/main" val="329451424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391CC-1EBB-4599-99AD-323AE3FDDFA2}"/>
              </a:ext>
            </a:extLst>
          </p:cNvPr>
          <p:cNvSpPr>
            <a:spLocks noGrp="1"/>
          </p:cNvSpPr>
          <p:nvPr>
            <p:ph type="title"/>
          </p:nvPr>
        </p:nvSpPr>
        <p:spPr/>
        <p:txBody>
          <a:bodyPr/>
          <a:lstStyle/>
          <a:p>
            <a:r>
              <a:rPr lang="en-US" dirty="0"/>
              <a:t>Operating Systems</a:t>
            </a:r>
          </a:p>
        </p:txBody>
      </p:sp>
      <p:sp>
        <p:nvSpPr>
          <p:cNvPr id="3" name="Content Placeholder 2">
            <a:extLst>
              <a:ext uri="{FF2B5EF4-FFF2-40B4-BE49-F238E27FC236}">
                <a16:creationId xmlns:a16="http://schemas.microsoft.com/office/drawing/2014/main" id="{EE2BC0A8-9A55-4C14-88FD-D7789DD7CA0B}"/>
              </a:ext>
            </a:extLst>
          </p:cNvPr>
          <p:cNvSpPr>
            <a:spLocks noGrp="1"/>
          </p:cNvSpPr>
          <p:nvPr>
            <p:ph idx="1"/>
          </p:nvPr>
        </p:nvSpPr>
        <p:spPr/>
        <p:txBody>
          <a:bodyPr/>
          <a:lstStyle/>
          <a:p>
            <a:pPr marL="0" indent="0">
              <a:buNone/>
            </a:pPr>
            <a:r>
              <a:rPr lang="en-US" dirty="0"/>
              <a:t>So far, we have talked about the CPU without regard to the operating system. </a:t>
            </a:r>
          </a:p>
          <a:p>
            <a:pPr marL="0" indent="0">
              <a:buNone/>
            </a:pPr>
            <a:endParaRPr lang="en-US" dirty="0"/>
          </a:p>
          <a:p>
            <a:pPr marL="0" indent="0">
              <a:buNone/>
            </a:pPr>
            <a:r>
              <a:rPr lang="en-US" dirty="0"/>
              <a:t>The operating system’s job is </a:t>
            </a:r>
          </a:p>
          <a:p>
            <a:pPr marL="514350" indent="-514350">
              <a:buAutoNum type="arabicParenR"/>
            </a:pPr>
            <a:r>
              <a:rPr lang="en-US" dirty="0"/>
              <a:t>Resource Management</a:t>
            </a:r>
          </a:p>
          <a:p>
            <a:pPr marL="514350" indent="-514350">
              <a:buAutoNum type="arabicParenR"/>
            </a:pPr>
            <a:r>
              <a:rPr lang="en-US" dirty="0"/>
              <a:t>To provide an abstract platform for software to run on</a:t>
            </a:r>
          </a:p>
        </p:txBody>
      </p:sp>
    </p:spTree>
    <p:extLst>
      <p:ext uri="{BB962C8B-B14F-4D97-AF65-F5344CB8AC3E}">
        <p14:creationId xmlns:p14="http://schemas.microsoft.com/office/powerpoint/2010/main" val="68645695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54FAB-E0A5-4C4A-91B9-75FE1DBD3DC6}"/>
              </a:ext>
            </a:extLst>
          </p:cNvPr>
          <p:cNvSpPr>
            <a:spLocks noGrp="1"/>
          </p:cNvSpPr>
          <p:nvPr>
            <p:ph type="title"/>
          </p:nvPr>
        </p:nvSpPr>
        <p:spPr/>
        <p:txBody>
          <a:bodyPr/>
          <a:lstStyle/>
          <a:p>
            <a:r>
              <a:rPr lang="en-US" dirty="0"/>
              <a:t>Resource Management</a:t>
            </a:r>
          </a:p>
        </p:txBody>
      </p:sp>
      <p:sp>
        <p:nvSpPr>
          <p:cNvPr id="3" name="Content Placeholder 2">
            <a:extLst>
              <a:ext uri="{FF2B5EF4-FFF2-40B4-BE49-F238E27FC236}">
                <a16:creationId xmlns:a16="http://schemas.microsoft.com/office/drawing/2014/main" id="{CE4725D7-A62C-4047-AF58-116BF552AA87}"/>
              </a:ext>
            </a:extLst>
          </p:cNvPr>
          <p:cNvSpPr>
            <a:spLocks noGrp="1"/>
          </p:cNvSpPr>
          <p:nvPr>
            <p:ph idx="1"/>
          </p:nvPr>
        </p:nvSpPr>
        <p:spPr/>
        <p:txBody>
          <a:bodyPr/>
          <a:lstStyle/>
          <a:p>
            <a:pPr marL="0" indent="0">
              <a:buNone/>
            </a:pPr>
            <a:r>
              <a:rPr lang="en-US" dirty="0"/>
              <a:t>When we run an application, it gets a pool of memory to work with (the heap and the stack). What would happen if that pool of memory overlapped with someone else’s memory?</a:t>
            </a:r>
          </a:p>
          <a:p>
            <a:pPr marL="0" indent="0">
              <a:buNone/>
            </a:pPr>
            <a:endParaRPr lang="en-US" dirty="0"/>
          </a:p>
          <a:p>
            <a:pPr marL="0" indent="0">
              <a:buNone/>
            </a:pPr>
            <a:r>
              <a:rPr lang="en-US" dirty="0"/>
              <a:t>Likewise, all of the hardware in the system is managed by the operating system – keyboard, mouse, display(s), everything.</a:t>
            </a:r>
          </a:p>
          <a:p>
            <a:pPr marL="0" indent="0">
              <a:buNone/>
            </a:pPr>
            <a:endParaRPr lang="en-US" dirty="0"/>
          </a:p>
          <a:p>
            <a:pPr marL="0" indent="0">
              <a:buNone/>
            </a:pPr>
            <a:r>
              <a:rPr lang="en-US" dirty="0"/>
              <a:t>In order to protect those resources, there has to be a way to ensure that some software has more rights than other software.</a:t>
            </a:r>
          </a:p>
        </p:txBody>
      </p:sp>
    </p:spTree>
    <p:extLst>
      <p:ext uri="{BB962C8B-B14F-4D97-AF65-F5344CB8AC3E}">
        <p14:creationId xmlns:p14="http://schemas.microsoft.com/office/powerpoint/2010/main" val="16801346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5F6C5-F9EE-46A9-9A47-15AA65104E30}"/>
              </a:ext>
            </a:extLst>
          </p:cNvPr>
          <p:cNvSpPr>
            <a:spLocks noGrp="1"/>
          </p:cNvSpPr>
          <p:nvPr>
            <p:ph type="title"/>
          </p:nvPr>
        </p:nvSpPr>
        <p:spPr/>
        <p:txBody>
          <a:bodyPr/>
          <a:lstStyle/>
          <a:p>
            <a:r>
              <a:rPr lang="en-US" dirty="0"/>
              <a:t>Kernel Mode</a:t>
            </a:r>
          </a:p>
        </p:txBody>
      </p:sp>
      <p:sp>
        <p:nvSpPr>
          <p:cNvPr id="3" name="Content Placeholder 2">
            <a:extLst>
              <a:ext uri="{FF2B5EF4-FFF2-40B4-BE49-F238E27FC236}">
                <a16:creationId xmlns:a16="http://schemas.microsoft.com/office/drawing/2014/main" id="{BAD71DFA-621C-44ED-A49C-541D3CDDEFB4}"/>
              </a:ext>
            </a:extLst>
          </p:cNvPr>
          <p:cNvSpPr>
            <a:spLocks noGrp="1"/>
          </p:cNvSpPr>
          <p:nvPr>
            <p:ph idx="1"/>
          </p:nvPr>
        </p:nvSpPr>
        <p:spPr/>
        <p:txBody>
          <a:bodyPr/>
          <a:lstStyle/>
          <a:p>
            <a:pPr marL="0" indent="0">
              <a:buNone/>
            </a:pPr>
            <a:r>
              <a:rPr lang="en-US" dirty="0"/>
              <a:t>Called Ring 0 on x86</a:t>
            </a:r>
          </a:p>
          <a:p>
            <a:pPr marL="0" indent="0">
              <a:buNone/>
            </a:pPr>
            <a:endParaRPr lang="en-US" dirty="0"/>
          </a:p>
          <a:p>
            <a:pPr marL="0" indent="0">
              <a:buNone/>
            </a:pPr>
            <a:r>
              <a:rPr lang="en-US" dirty="0"/>
              <a:t>Can access all memory </a:t>
            </a:r>
          </a:p>
          <a:p>
            <a:pPr marL="0" indent="0">
              <a:buNone/>
            </a:pPr>
            <a:r>
              <a:rPr lang="en-US" dirty="0"/>
              <a:t>Has access to all I/O</a:t>
            </a:r>
          </a:p>
          <a:p>
            <a:pPr marL="0" indent="0">
              <a:buNone/>
            </a:pPr>
            <a:r>
              <a:rPr lang="en-US" dirty="0"/>
              <a:t>Can perform other, CPU specific tasks (examples – switch 32/64 bit mode, on some processors you can switch big and little endian).</a:t>
            </a:r>
          </a:p>
          <a:p>
            <a:pPr marL="0" indent="0">
              <a:buNone/>
            </a:pPr>
            <a:r>
              <a:rPr lang="en-US" dirty="0"/>
              <a:t>Some CPUs have instructions that only run in Kernel Mode</a:t>
            </a:r>
          </a:p>
          <a:p>
            <a:pPr marL="0" indent="0">
              <a:buNone/>
            </a:pPr>
            <a:endParaRPr lang="en-US" dirty="0"/>
          </a:p>
        </p:txBody>
      </p:sp>
    </p:spTree>
    <p:extLst>
      <p:ext uri="{BB962C8B-B14F-4D97-AF65-F5344CB8AC3E}">
        <p14:creationId xmlns:p14="http://schemas.microsoft.com/office/powerpoint/2010/main" val="365759588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783BB-53A0-4E52-B349-0C580B6CA02D}"/>
              </a:ext>
            </a:extLst>
          </p:cNvPr>
          <p:cNvSpPr>
            <a:spLocks noGrp="1"/>
          </p:cNvSpPr>
          <p:nvPr>
            <p:ph type="title"/>
          </p:nvPr>
        </p:nvSpPr>
        <p:spPr/>
        <p:txBody>
          <a:bodyPr/>
          <a:lstStyle/>
          <a:p>
            <a:r>
              <a:rPr lang="en-US" dirty="0"/>
              <a:t>Task Switching</a:t>
            </a:r>
          </a:p>
        </p:txBody>
      </p:sp>
      <p:sp>
        <p:nvSpPr>
          <p:cNvPr id="3" name="Content Placeholder 2">
            <a:extLst>
              <a:ext uri="{FF2B5EF4-FFF2-40B4-BE49-F238E27FC236}">
                <a16:creationId xmlns:a16="http://schemas.microsoft.com/office/drawing/2014/main" id="{F9338089-8A77-49E5-8062-9A2A01F822D6}"/>
              </a:ext>
            </a:extLst>
          </p:cNvPr>
          <p:cNvSpPr>
            <a:spLocks noGrp="1"/>
          </p:cNvSpPr>
          <p:nvPr>
            <p:ph idx="1"/>
          </p:nvPr>
        </p:nvSpPr>
        <p:spPr/>
        <p:txBody>
          <a:bodyPr/>
          <a:lstStyle/>
          <a:p>
            <a:pPr marL="0" indent="0">
              <a:buNone/>
            </a:pPr>
            <a:r>
              <a:rPr lang="en-US" dirty="0"/>
              <a:t>Although our CPUs have multiple cores today, the CPU doesn’t do one thing continually until it is finished. </a:t>
            </a:r>
          </a:p>
          <a:p>
            <a:pPr marL="0" indent="0">
              <a:buNone/>
            </a:pPr>
            <a:endParaRPr lang="en-US" dirty="0"/>
          </a:p>
          <a:p>
            <a:pPr marL="0" indent="0">
              <a:buNone/>
            </a:pPr>
            <a:r>
              <a:rPr lang="en-US" dirty="0"/>
              <a:t>Why?</a:t>
            </a:r>
          </a:p>
          <a:p>
            <a:pPr marL="0" indent="0">
              <a:buNone/>
            </a:pPr>
            <a:endParaRPr lang="en-US" dirty="0"/>
          </a:p>
          <a:p>
            <a:pPr marL="0" indent="0">
              <a:buNone/>
            </a:pPr>
            <a:r>
              <a:rPr lang="en-US" dirty="0"/>
              <a:t>1) Waiting for I/O, timers, other applications would be wasteful</a:t>
            </a:r>
          </a:p>
          <a:p>
            <a:pPr marL="0" indent="0">
              <a:buNone/>
            </a:pPr>
            <a:r>
              <a:rPr lang="en-US" dirty="0"/>
              <a:t>2) To “be fair” to all of the tasks that need to be done</a:t>
            </a:r>
          </a:p>
        </p:txBody>
      </p:sp>
    </p:spTree>
    <p:extLst>
      <p:ext uri="{BB962C8B-B14F-4D97-AF65-F5344CB8AC3E}">
        <p14:creationId xmlns:p14="http://schemas.microsoft.com/office/powerpoint/2010/main" val="3388468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B2E4F-65BE-4A25-B77B-B4499B90D17E}"/>
              </a:ext>
            </a:extLst>
          </p:cNvPr>
          <p:cNvSpPr>
            <a:spLocks noGrp="1"/>
          </p:cNvSpPr>
          <p:nvPr>
            <p:ph type="title"/>
          </p:nvPr>
        </p:nvSpPr>
        <p:spPr/>
        <p:txBody>
          <a:bodyPr/>
          <a:lstStyle/>
          <a:p>
            <a:r>
              <a:rPr lang="en-US" dirty="0"/>
              <a:t>Task Switching</a:t>
            </a:r>
          </a:p>
        </p:txBody>
      </p:sp>
      <p:sp>
        <p:nvSpPr>
          <p:cNvPr id="3" name="Content Placeholder 2">
            <a:extLst>
              <a:ext uri="{FF2B5EF4-FFF2-40B4-BE49-F238E27FC236}">
                <a16:creationId xmlns:a16="http://schemas.microsoft.com/office/drawing/2014/main" id="{0B096BF9-0DB3-4F74-B600-17D81EEF799D}"/>
              </a:ext>
            </a:extLst>
          </p:cNvPr>
          <p:cNvSpPr>
            <a:spLocks noGrp="1"/>
          </p:cNvSpPr>
          <p:nvPr>
            <p:ph idx="1"/>
          </p:nvPr>
        </p:nvSpPr>
        <p:spPr/>
        <p:txBody>
          <a:bodyPr/>
          <a:lstStyle/>
          <a:p>
            <a:pPr marL="0" indent="0">
              <a:buNone/>
            </a:pPr>
            <a:r>
              <a:rPr lang="en-US" dirty="0"/>
              <a:t>A timer is set from kernel mode</a:t>
            </a:r>
          </a:p>
          <a:p>
            <a:pPr marL="0" indent="0">
              <a:buNone/>
            </a:pPr>
            <a:r>
              <a:rPr lang="en-US" dirty="0"/>
              <a:t>The kernel “jumps to” user mode</a:t>
            </a:r>
          </a:p>
          <a:p>
            <a:pPr marL="0" indent="0">
              <a:buNone/>
            </a:pPr>
            <a:r>
              <a:rPr lang="en-US" dirty="0"/>
              <a:t>One of two things happen:</a:t>
            </a:r>
          </a:p>
          <a:p>
            <a:pPr marL="0" indent="0">
              <a:buNone/>
            </a:pPr>
            <a:r>
              <a:rPr lang="en-US" dirty="0"/>
              <a:t>	1) The timer expires, causing an interrupt</a:t>
            </a:r>
          </a:p>
          <a:p>
            <a:pPr marL="0" indent="0">
              <a:buNone/>
            </a:pPr>
            <a:r>
              <a:rPr lang="en-US" dirty="0"/>
              <a:t>	2) The user software calls (some) kernel function (say, load a file)</a:t>
            </a:r>
          </a:p>
          <a:p>
            <a:pPr marL="0" indent="0">
              <a:buNone/>
            </a:pPr>
            <a:r>
              <a:rPr lang="en-US" dirty="0"/>
              <a:t>The kernel stores all registers, including the instruction pointer, to an area in memory the OS manages for this process.</a:t>
            </a:r>
          </a:p>
          <a:p>
            <a:pPr marL="0" indent="0">
              <a:buNone/>
            </a:pPr>
            <a:r>
              <a:rPr lang="en-US" dirty="0"/>
              <a:t>Another process is chosen, its registers are copied out of the area in memory for this process, then (jump to top of slide)</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01858212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EFB3E-0A46-44A7-B503-27EE9AC942C5}"/>
              </a:ext>
            </a:extLst>
          </p:cNvPr>
          <p:cNvSpPr>
            <a:spLocks noGrp="1"/>
          </p:cNvSpPr>
          <p:nvPr>
            <p:ph type="title"/>
          </p:nvPr>
        </p:nvSpPr>
        <p:spPr/>
        <p:txBody>
          <a:bodyPr/>
          <a:lstStyle/>
          <a:p>
            <a:r>
              <a:rPr lang="en-US" dirty="0"/>
              <a:t>Debugging Support</a:t>
            </a:r>
          </a:p>
        </p:txBody>
      </p:sp>
      <p:sp>
        <p:nvSpPr>
          <p:cNvPr id="3" name="Content Placeholder 2">
            <a:extLst>
              <a:ext uri="{FF2B5EF4-FFF2-40B4-BE49-F238E27FC236}">
                <a16:creationId xmlns:a16="http://schemas.microsoft.com/office/drawing/2014/main" id="{245D85CB-6CB7-4CA2-9EA3-E66BBC8E99DA}"/>
              </a:ext>
            </a:extLst>
          </p:cNvPr>
          <p:cNvSpPr>
            <a:spLocks noGrp="1"/>
          </p:cNvSpPr>
          <p:nvPr>
            <p:ph idx="1"/>
          </p:nvPr>
        </p:nvSpPr>
        <p:spPr/>
        <p:txBody>
          <a:bodyPr>
            <a:normAutofit/>
          </a:bodyPr>
          <a:lstStyle/>
          <a:p>
            <a:pPr marL="0" indent="0">
              <a:buNone/>
            </a:pPr>
            <a:r>
              <a:rPr lang="en-US" dirty="0"/>
              <a:t>The processor “must” provide support for debuggers. There is no other way for a debugger to be able to walk through the code.</a:t>
            </a:r>
          </a:p>
          <a:p>
            <a:pPr marL="0" indent="0">
              <a:buNone/>
            </a:pPr>
            <a:endParaRPr lang="en-US" dirty="0"/>
          </a:p>
          <a:p>
            <a:pPr marL="0" indent="0">
              <a:buNone/>
            </a:pPr>
            <a:r>
              <a:rPr lang="en-US" dirty="0"/>
              <a:t>MIPS provides a “SDBBP” instruction that causes a debug interrupt. A debugger can insert these into a program before it runs. This corresponds to a breakpoint in the debugger. The operating system, when this break point occurs, can gather information from the registers and make the debugger the current process.</a:t>
            </a:r>
          </a:p>
        </p:txBody>
      </p:sp>
    </p:spTree>
    <p:extLst>
      <p:ext uri="{BB962C8B-B14F-4D97-AF65-F5344CB8AC3E}">
        <p14:creationId xmlns:p14="http://schemas.microsoft.com/office/powerpoint/2010/main" val="408664673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2A983-1E5D-4848-BCC6-19700811B133}"/>
              </a:ext>
            </a:extLst>
          </p:cNvPr>
          <p:cNvSpPr>
            <a:spLocks noGrp="1"/>
          </p:cNvSpPr>
          <p:nvPr>
            <p:ph type="title"/>
          </p:nvPr>
        </p:nvSpPr>
        <p:spPr/>
        <p:txBody>
          <a:bodyPr/>
          <a:lstStyle/>
          <a:p>
            <a:r>
              <a:rPr lang="en-US" dirty="0"/>
              <a:t>Debugging Support – Single Step</a:t>
            </a:r>
          </a:p>
        </p:txBody>
      </p:sp>
      <p:sp>
        <p:nvSpPr>
          <p:cNvPr id="3" name="Content Placeholder 2">
            <a:extLst>
              <a:ext uri="{FF2B5EF4-FFF2-40B4-BE49-F238E27FC236}">
                <a16:creationId xmlns:a16="http://schemas.microsoft.com/office/drawing/2014/main" id="{E591E851-BD12-4F47-93FD-CF6C7E3D1CB6}"/>
              </a:ext>
            </a:extLst>
          </p:cNvPr>
          <p:cNvSpPr>
            <a:spLocks noGrp="1"/>
          </p:cNvSpPr>
          <p:nvPr>
            <p:ph idx="1"/>
          </p:nvPr>
        </p:nvSpPr>
        <p:spPr/>
        <p:txBody>
          <a:bodyPr/>
          <a:lstStyle/>
          <a:p>
            <a:pPr marL="0" indent="0">
              <a:buNone/>
            </a:pPr>
            <a:r>
              <a:rPr lang="en-US" dirty="0"/>
              <a:t>When you step through a program, every instruction executed in the target program causes a debug interrupt.</a:t>
            </a:r>
          </a:p>
          <a:p>
            <a:pPr marL="0" indent="0">
              <a:buNone/>
            </a:pPr>
            <a:endParaRPr lang="en-US" dirty="0"/>
          </a:p>
          <a:p>
            <a:pPr marL="0" indent="0">
              <a:buNone/>
            </a:pPr>
            <a:r>
              <a:rPr lang="en-US" dirty="0"/>
              <a:t>There is a significant performance loss from running in single step.</a:t>
            </a:r>
          </a:p>
        </p:txBody>
      </p:sp>
    </p:spTree>
    <p:extLst>
      <p:ext uri="{BB962C8B-B14F-4D97-AF65-F5344CB8AC3E}">
        <p14:creationId xmlns:p14="http://schemas.microsoft.com/office/powerpoint/2010/main" val="360717318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E710B-27C9-495E-8AE2-B165ACEA043D}"/>
              </a:ext>
            </a:extLst>
          </p:cNvPr>
          <p:cNvSpPr>
            <a:spLocks noGrp="1"/>
          </p:cNvSpPr>
          <p:nvPr>
            <p:ph type="title"/>
          </p:nvPr>
        </p:nvSpPr>
        <p:spPr/>
        <p:txBody>
          <a:bodyPr/>
          <a:lstStyle/>
          <a:p>
            <a:r>
              <a:rPr lang="en-US" dirty="0"/>
              <a:t>Virtual Memory</a:t>
            </a:r>
          </a:p>
        </p:txBody>
      </p:sp>
      <p:sp>
        <p:nvSpPr>
          <p:cNvPr id="3" name="Content Placeholder 2">
            <a:extLst>
              <a:ext uri="{FF2B5EF4-FFF2-40B4-BE49-F238E27FC236}">
                <a16:creationId xmlns:a16="http://schemas.microsoft.com/office/drawing/2014/main" id="{97147CB6-FD5D-4C5E-91DB-00455407FBC8}"/>
              </a:ext>
            </a:extLst>
          </p:cNvPr>
          <p:cNvSpPr>
            <a:spLocks noGrp="1"/>
          </p:cNvSpPr>
          <p:nvPr>
            <p:ph idx="1"/>
          </p:nvPr>
        </p:nvSpPr>
        <p:spPr/>
        <p:txBody>
          <a:bodyPr/>
          <a:lstStyle/>
          <a:p>
            <a:pPr marL="0" indent="0">
              <a:buNone/>
            </a:pPr>
            <a:r>
              <a:rPr lang="en-US" dirty="0"/>
              <a:t>In the (recent) past, people needed more memory than they could afford or even fit in a single PC. </a:t>
            </a:r>
          </a:p>
          <a:p>
            <a:pPr marL="0" indent="0">
              <a:buNone/>
            </a:pPr>
            <a:endParaRPr lang="en-US" dirty="0"/>
          </a:p>
          <a:p>
            <a:pPr marL="0" indent="0">
              <a:buNone/>
            </a:pPr>
            <a:r>
              <a:rPr lang="en-US" dirty="0"/>
              <a:t>The best solution (there were others) to this solution was to consider memory in pages (say, 4k each). Insert a layer of hardware in the memory controller that maps a “virtual” address to a physical address. When a virtual memory access occurs, one of 3 things happens</a:t>
            </a:r>
          </a:p>
        </p:txBody>
      </p:sp>
    </p:spTree>
    <p:extLst>
      <p:ext uri="{BB962C8B-B14F-4D97-AF65-F5344CB8AC3E}">
        <p14:creationId xmlns:p14="http://schemas.microsoft.com/office/powerpoint/2010/main" val="371417490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F60FF-D991-4C9D-B955-C25CDE3194FF}"/>
              </a:ext>
            </a:extLst>
          </p:cNvPr>
          <p:cNvSpPr>
            <a:spLocks noGrp="1"/>
          </p:cNvSpPr>
          <p:nvPr>
            <p:ph type="title"/>
          </p:nvPr>
        </p:nvSpPr>
        <p:spPr/>
        <p:txBody>
          <a:bodyPr/>
          <a:lstStyle/>
          <a:p>
            <a:r>
              <a:rPr lang="en-US" dirty="0"/>
              <a:t>Virtual Memory</a:t>
            </a:r>
          </a:p>
        </p:txBody>
      </p:sp>
      <p:sp>
        <p:nvSpPr>
          <p:cNvPr id="3" name="Content Placeholder 2">
            <a:extLst>
              <a:ext uri="{FF2B5EF4-FFF2-40B4-BE49-F238E27FC236}">
                <a16:creationId xmlns:a16="http://schemas.microsoft.com/office/drawing/2014/main" id="{AE320A84-D646-4211-B8EC-A8C35C2746DF}"/>
              </a:ext>
            </a:extLst>
          </p:cNvPr>
          <p:cNvSpPr>
            <a:spLocks noGrp="1"/>
          </p:cNvSpPr>
          <p:nvPr>
            <p:ph idx="1"/>
          </p:nvPr>
        </p:nvSpPr>
        <p:spPr/>
        <p:txBody>
          <a:bodyPr>
            <a:normAutofit fontScale="92500"/>
          </a:bodyPr>
          <a:lstStyle/>
          <a:p>
            <a:pPr marL="0" indent="0">
              <a:buNone/>
            </a:pPr>
            <a:r>
              <a:rPr lang="en-US" dirty="0"/>
              <a:t>The virtual address maps to a real address. In that case, the top 20 (why?) address bits are changed and the memory controller lets the request happen.</a:t>
            </a:r>
          </a:p>
          <a:p>
            <a:pPr marL="0" indent="0">
              <a:buNone/>
            </a:pPr>
            <a:endParaRPr lang="en-US" dirty="0"/>
          </a:p>
          <a:p>
            <a:pPr marL="0" indent="0">
              <a:buNone/>
            </a:pPr>
            <a:r>
              <a:rPr lang="en-US" dirty="0"/>
              <a:t>The virtual address has no real address. In this case, an interrupt (PAGE FAULT) occurs. The operating system finds 4k of real memory, “fixes” the mapping file, loads data from disk into that 4k, then continues the process.</a:t>
            </a:r>
          </a:p>
          <a:p>
            <a:pPr marL="0" indent="0">
              <a:buNone/>
            </a:pPr>
            <a:endParaRPr lang="en-US" dirty="0"/>
          </a:p>
          <a:p>
            <a:pPr marL="0" indent="0">
              <a:buNone/>
            </a:pPr>
            <a:r>
              <a:rPr lang="en-US" dirty="0"/>
              <a:t>The virtual address is not valid (for this process). This is caught in the page fault and the process is killed (usually).</a:t>
            </a:r>
          </a:p>
        </p:txBody>
      </p:sp>
    </p:spTree>
    <p:extLst>
      <p:ext uri="{BB962C8B-B14F-4D97-AF65-F5344CB8AC3E}">
        <p14:creationId xmlns:p14="http://schemas.microsoft.com/office/powerpoint/2010/main" val="189980173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13974-8375-4CDA-B60C-9233A06E5A15}"/>
              </a:ext>
            </a:extLst>
          </p:cNvPr>
          <p:cNvSpPr>
            <a:spLocks noGrp="1"/>
          </p:cNvSpPr>
          <p:nvPr>
            <p:ph type="title"/>
          </p:nvPr>
        </p:nvSpPr>
        <p:spPr/>
        <p:txBody>
          <a:bodyPr/>
          <a:lstStyle/>
          <a:p>
            <a:r>
              <a:rPr lang="en-US" dirty="0"/>
              <a:t>Writing Memory to Disk</a:t>
            </a:r>
          </a:p>
        </p:txBody>
      </p:sp>
      <p:sp>
        <p:nvSpPr>
          <p:cNvPr id="3" name="Content Placeholder 2">
            <a:extLst>
              <a:ext uri="{FF2B5EF4-FFF2-40B4-BE49-F238E27FC236}">
                <a16:creationId xmlns:a16="http://schemas.microsoft.com/office/drawing/2014/main" id="{EDD0DE33-59B1-4FFF-91FD-CC0248566C4D}"/>
              </a:ext>
            </a:extLst>
          </p:cNvPr>
          <p:cNvSpPr>
            <a:spLocks noGrp="1"/>
          </p:cNvSpPr>
          <p:nvPr>
            <p:ph idx="1"/>
          </p:nvPr>
        </p:nvSpPr>
        <p:spPr/>
        <p:txBody>
          <a:bodyPr/>
          <a:lstStyle/>
          <a:p>
            <a:pPr marL="0" indent="0">
              <a:buNone/>
            </a:pPr>
            <a:r>
              <a:rPr lang="en-US" dirty="0"/>
              <a:t>In the last slide, we mentioned that the OS loads the contents of the memory from disk. How did it get there? When the OS needs RAM, it can write a page to disk, mark the page as unmapped, then add the page to the free memory list.</a:t>
            </a:r>
          </a:p>
          <a:p>
            <a:pPr marL="0" indent="0">
              <a:buNone/>
            </a:pPr>
            <a:endParaRPr lang="en-US" dirty="0"/>
          </a:p>
          <a:p>
            <a:pPr marL="0" indent="0">
              <a:buNone/>
            </a:pPr>
            <a:r>
              <a:rPr lang="en-US" dirty="0"/>
              <a:t>Isn’t this slow? </a:t>
            </a:r>
          </a:p>
          <a:p>
            <a:pPr marL="0" indent="0">
              <a:buNone/>
            </a:pPr>
            <a:endParaRPr lang="en-US" dirty="0"/>
          </a:p>
          <a:p>
            <a:pPr marL="0" indent="0">
              <a:buNone/>
            </a:pPr>
            <a:r>
              <a:rPr lang="en-US" dirty="0"/>
              <a:t>Yes. The alternative, though, is to run out of memory or have the OS start killing processes.</a:t>
            </a:r>
          </a:p>
        </p:txBody>
      </p:sp>
    </p:spTree>
    <p:extLst>
      <p:ext uri="{BB962C8B-B14F-4D97-AF65-F5344CB8AC3E}">
        <p14:creationId xmlns:p14="http://schemas.microsoft.com/office/powerpoint/2010/main" val="28343523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0B2CA-5418-4E27-896E-561E954B3513}"/>
              </a:ext>
            </a:extLst>
          </p:cNvPr>
          <p:cNvSpPr>
            <a:spLocks noGrp="1"/>
          </p:cNvSpPr>
          <p:nvPr>
            <p:ph type="title"/>
          </p:nvPr>
        </p:nvSpPr>
        <p:spPr/>
        <p:txBody>
          <a:bodyPr/>
          <a:lstStyle/>
          <a:p>
            <a:r>
              <a:rPr lang="en-US" dirty="0"/>
              <a:t>Why do we care about Virtual Memory</a:t>
            </a:r>
          </a:p>
        </p:txBody>
      </p:sp>
      <p:sp>
        <p:nvSpPr>
          <p:cNvPr id="3" name="Content Placeholder 2">
            <a:extLst>
              <a:ext uri="{FF2B5EF4-FFF2-40B4-BE49-F238E27FC236}">
                <a16:creationId xmlns:a16="http://schemas.microsoft.com/office/drawing/2014/main" id="{0304E316-EB7D-442A-9A50-BF1F346ACEB5}"/>
              </a:ext>
            </a:extLst>
          </p:cNvPr>
          <p:cNvSpPr>
            <a:spLocks noGrp="1"/>
          </p:cNvSpPr>
          <p:nvPr>
            <p:ph idx="1"/>
          </p:nvPr>
        </p:nvSpPr>
        <p:spPr/>
        <p:txBody>
          <a:bodyPr/>
          <a:lstStyle/>
          <a:p>
            <a:pPr marL="0" indent="0">
              <a:buNone/>
            </a:pPr>
            <a:r>
              <a:rPr lang="en-US" dirty="0"/>
              <a:t>It’s not “useful” anymore, right? Well, for the most part, no.</a:t>
            </a:r>
          </a:p>
          <a:p>
            <a:pPr marL="0" indent="0">
              <a:buNone/>
            </a:pPr>
            <a:r>
              <a:rPr lang="en-US" dirty="0"/>
              <a:t>The still interesting aspect is that the virtual memory system does other things.</a:t>
            </a:r>
          </a:p>
          <a:p>
            <a:pPr marL="0" indent="0">
              <a:buNone/>
            </a:pPr>
            <a:endParaRPr lang="en-US" dirty="0"/>
          </a:p>
          <a:p>
            <a:pPr marL="0" indent="0">
              <a:buNone/>
            </a:pPr>
            <a:endParaRPr lang="en-US" dirty="0"/>
          </a:p>
          <a:p>
            <a:pPr marL="0" indent="0">
              <a:buNone/>
            </a:pPr>
            <a:r>
              <a:rPr lang="en-US" dirty="0"/>
              <a:t>One aspect is memory access control.</a:t>
            </a:r>
          </a:p>
          <a:p>
            <a:pPr marL="0" indent="0">
              <a:buNone/>
            </a:pPr>
            <a:endParaRPr lang="en-US" dirty="0"/>
          </a:p>
          <a:p>
            <a:pPr marL="0" indent="0">
              <a:buNone/>
            </a:pPr>
            <a:r>
              <a:rPr lang="en-US" dirty="0"/>
              <a:t>Another is mmap.</a:t>
            </a:r>
          </a:p>
        </p:txBody>
      </p:sp>
    </p:spTree>
    <p:extLst>
      <p:ext uri="{BB962C8B-B14F-4D97-AF65-F5344CB8AC3E}">
        <p14:creationId xmlns:p14="http://schemas.microsoft.com/office/powerpoint/2010/main" val="336729341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C9B06-84F7-4980-8065-F674D824FCC5}"/>
              </a:ext>
            </a:extLst>
          </p:cNvPr>
          <p:cNvSpPr>
            <a:spLocks noGrp="1"/>
          </p:cNvSpPr>
          <p:nvPr>
            <p:ph type="title"/>
          </p:nvPr>
        </p:nvSpPr>
        <p:spPr/>
        <p:txBody>
          <a:bodyPr/>
          <a:lstStyle/>
          <a:p>
            <a:r>
              <a:rPr lang="en-US" dirty="0"/>
              <a:t>Memory Access Control</a:t>
            </a:r>
          </a:p>
        </p:txBody>
      </p:sp>
      <p:sp>
        <p:nvSpPr>
          <p:cNvPr id="3" name="Content Placeholder 2">
            <a:extLst>
              <a:ext uri="{FF2B5EF4-FFF2-40B4-BE49-F238E27FC236}">
                <a16:creationId xmlns:a16="http://schemas.microsoft.com/office/drawing/2014/main" id="{4D692A16-37B7-4012-A066-ADCB98AACE57}"/>
              </a:ext>
            </a:extLst>
          </p:cNvPr>
          <p:cNvSpPr>
            <a:spLocks noGrp="1"/>
          </p:cNvSpPr>
          <p:nvPr>
            <p:ph idx="1"/>
          </p:nvPr>
        </p:nvSpPr>
        <p:spPr/>
        <p:txBody>
          <a:bodyPr/>
          <a:lstStyle/>
          <a:p>
            <a:pPr marL="0" indent="0">
              <a:buNone/>
            </a:pPr>
            <a:r>
              <a:rPr lang="en-US" dirty="0"/>
              <a:t>In the “old days”, any program could read/write to any memory address. This worked reasonably well when you ran one program at a time. Multi-tasking and multi-user systems made this freedom infeasible; a bad pointer can cause illicit reads or writes through other applications.</a:t>
            </a:r>
          </a:p>
          <a:p>
            <a:pPr marL="0" indent="0">
              <a:buNone/>
            </a:pPr>
            <a:endParaRPr lang="en-US" dirty="0"/>
          </a:p>
          <a:p>
            <a:pPr marL="0" indent="0">
              <a:buNone/>
            </a:pPr>
            <a:r>
              <a:rPr lang="en-US" dirty="0"/>
              <a:t>With virtual memory, an application can only read or write from memory that is assigned to them.</a:t>
            </a:r>
          </a:p>
        </p:txBody>
      </p:sp>
    </p:spTree>
    <p:extLst>
      <p:ext uri="{BB962C8B-B14F-4D97-AF65-F5344CB8AC3E}">
        <p14:creationId xmlns:p14="http://schemas.microsoft.com/office/powerpoint/2010/main" val="248744616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8B37D-FEB3-4910-927B-7D1C8A686021}"/>
              </a:ext>
            </a:extLst>
          </p:cNvPr>
          <p:cNvSpPr>
            <a:spLocks noGrp="1"/>
          </p:cNvSpPr>
          <p:nvPr>
            <p:ph type="title"/>
          </p:nvPr>
        </p:nvSpPr>
        <p:spPr/>
        <p:txBody>
          <a:bodyPr/>
          <a:lstStyle/>
          <a:p>
            <a:r>
              <a:rPr lang="en-US" dirty="0"/>
              <a:t>mmap</a:t>
            </a:r>
          </a:p>
        </p:txBody>
      </p:sp>
      <p:sp>
        <p:nvSpPr>
          <p:cNvPr id="3" name="Content Placeholder 2">
            <a:extLst>
              <a:ext uri="{FF2B5EF4-FFF2-40B4-BE49-F238E27FC236}">
                <a16:creationId xmlns:a16="http://schemas.microsoft.com/office/drawing/2014/main" id="{B671F67C-C83A-430F-B2E6-E0B55BE7E332}"/>
              </a:ext>
            </a:extLst>
          </p:cNvPr>
          <p:cNvSpPr>
            <a:spLocks noGrp="1"/>
          </p:cNvSpPr>
          <p:nvPr>
            <p:ph idx="1"/>
          </p:nvPr>
        </p:nvSpPr>
        <p:spPr>
          <a:xfrm>
            <a:off x="838200" y="1825624"/>
            <a:ext cx="10515600" cy="4773583"/>
          </a:xfrm>
        </p:spPr>
        <p:txBody>
          <a:bodyPr>
            <a:normAutofit/>
          </a:bodyPr>
          <a:lstStyle/>
          <a:p>
            <a:pPr marL="0" indent="0">
              <a:buNone/>
            </a:pPr>
            <a:r>
              <a:rPr lang="en-US" dirty="0"/>
              <a:t>Assume, for a moment, that you had to search a 1TB file. The search is context sensitive and you have to compare a bunch of lines to each other.</a:t>
            </a:r>
          </a:p>
          <a:p>
            <a:pPr marL="0" indent="0">
              <a:buNone/>
            </a:pPr>
            <a:r>
              <a:rPr lang="en-US" dirty="0"/>
              <a:t>You could make some buffering system where you load lines and store them in a rotating list of buffer strings. That’s ugly and hard.</a:t>
            </a:r>
          </a:p>
          <a:p>
            <a:pPr marL="0" indent="0">
              <a:buNone/>
            </a:pPr>
            <a:endParaRPr lang="en-US" dirty="0"/>
          </a:p>
          <a:p>
            <a:pPr marL="0" indent="0">
              <a:buNone/>
            </a:pPr>
            <a:r>
              <a:rPr lang="en-US" dirty="0"/>
              <a:t>The operating system has “mmap” – map a memory region to a file. This works using the </a:t>
            </a:r>
            <a:r>
              <a:rPr lang="en-US" dirty="0" err="1"/>
              <a:t>vm</a:t>
            </a:r>
            <a:r>
              <a:rPr lang="en-US" dirty="0"/>
              <a:t> system, so it is really fast to set up and use. </a:t>
            </a:r>
          </a:p>
          <a:p>
            <a:pPr marL="0" indent="0">
              <a:buNone/>
            </a:pPr>
            <a:r>
              <a:rPr lang="en-US" sz="2400" dirty="0"/>
              <a:t>void *mmap(void *</a:t>
            </a:r>
            <a:r>
              <a:rPr lang="en-US" sz="2400" dirty="0" err="1"/>
              <a:t>addr</a:t>
            </a:r>
            <a:r>
              <a:rPr lang="en-US" sz="2400" dirty="0"/>
              <a:t>, </a:t>
            </a:r>
            <a:r>
              <a:rPr lang="en-US" sz="2400" dirty="0" err="1"/>
              <a:t>size_t</a:t>
            </a:r>
            <a:r>
              <a:rPr lang="en-US" sz="2400" dirty="0"/>
              <a:t> length, int </a:t>
            </a:r>
            <a:r>
              <a:rPr lang="en-US" sz="2400" dirty="0" err="1"/>
              <a:t>prot</a:t>
            </a:r>
            <a:r>
              <a:rPr lang="en-US" sz="2400" dirty="0"/>
              <a:t>, int flags, int </a:t>
            </a:r>
            <a:r>
              <a:rPr lang="en-US" sz="2400" dirty="0" err="1"/>
              <a:t>fd</a:t>
            </a:r>
            <a:r>
              <a:rPr lang="en-US" sz="2400" dirty="0"/>
              <a:t>, </a:t>
            </a:r>
            <a:r>
              <a:rPr lang="en-US" sz="2400" dirty="0" err="1"/>
              <a:t>off_t</a:t>
            </a:r>
            <a:r>
              <a:rPr lang="en-US" sz="2400" dirty="0"/>
              <a:t> offset);</a:t>
            </a:r>
          </a:p>
          <a:p>
            <a:pPr marL="0" indent="0">
              <a:buNone/>
            </a:pPr>
            <a:r>
              <a:rPr lang="en-US" sz="2400" dirty="0" err="1"/>
              <a:t>prot</a:t>
            </a:r>
            <a:r>
              <a:rPr lang="en-US" sz="2400" dirty="0"/>
              <a:t> : EXEC|READ|WRITE|NONE, flags: SHARED, PRIVATE, FIXED</a:t>
            </a:r>
          </a:p>
        </p:txBody>
      </p:sp>
    </p:spTree>
    <p:extLst>
      <p:ext uri="{BB962C8B-B14F-4D97-AF65-F5344CB8AC3E}">
        <p14:creationId xmlns:p14="http://schemas.microsoft.com/office/powerpoint/2010/main" val="224166554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D204F-537C-43BD-8815-7679395BFD9D}"/>
              </a:ext>
            </a:extLst>
          </p:cNvPr>
          <p:cNvSpPr>
            <a:spLocks noGrp="1"/>
          </p:cNvSpPr>
          <p:nvPr>
            <p:ph type="title"/>
          </p:nvPr>
        </p:nvSpPr>
        <p:spPr/>
        <p:txBody>
          <a:bodyPr/>
          <a:lstStyle/>
          <a:p>
            <a:r>
              <a:rPr lang="en-US" dirty="0"/>
              <a:t>Segmentation</a:t>
            </a:r>
          </a:p>
        </p:txBody>
      </p:sp>
      <p:sp>
        <p:nvSpPr>
          <p:cNvPr id="3" name="Content Placeholder 2">
            <a:extLst>
              <a:ext uri="{FF2B5EF4-FFF2-40B4-BE49-F238E27FC236}">
                <a16:creationId xmlns:a16="http://schemas.microsoft.com/office/drawing/2014/main" id="{987D1C94-4381-4AA3-9753-EC1B8C5B952E}"/>
              </a:ext>
            </a:extLst>
          </p:cNvPr>
          <p:cNvSpPr>
            <a:spLocks noGrp="1"/>
          </p:cNvSpPr>
          <p:nvPr>
            <p:ph idx="1"/>
          </p:nvPr>
        </p:nvSpPr>
        <p:spPr>
          <a:xfrm>
            <a:off x="838200" y="1380226"/>
            <a:ext cx="10515600" cy="5382883"/>
          </a:xfrm>
        </p:spPr>
        <p:txBody>
          <a:bodyPr/>
          <a:lstStyle/>
          <a:p>
            <a:pPr marL="0" indent="0">
              <a:buNone/>
            </a:pPr>
            <a:r>
              <a:rPr lang="en-US" dirty="0"/>
              <a:t>Before paging became popular on PCs (before hard drives to page to/from), there was another mechanism for memory protection – segmentation. This is no longer a common architecture outside of x86. segmentation is (mostly) disabled in x64.</a:t>
            </a:r>
          </a:p>
          <a:p>
            <a:pPr marL="0" indent="0">
              <a:buNone/>
            </a:pPr>
            <a:endParaRPr lang="en-US" dirty="0"/>
          </a:p>
          <a:p>
            <a:pPr marL="0" indent="0">
              <a:buNone/>
            </a:pPr>
            <a:r>
              <a:rPr lang="en-US" dirty="0"/>
              <a:t>There are a series of segment registers – code, data, stack and 3 additional (ES, FS, GS). These point to segment descriptors – a small area of memory that holds a base address, a limit and access controls. </a:t>
            </a:r>
          </a:p>
          <a:p>
            <a:pPr marL="0" indent="0">
              <a:buNone/>
            </a:pPr>
            <a:r>
              <a:rPr lang="en-US" dirty="0"/>
              <a:t>The base address and limit give a memory range. Code, data and stack accesses are automatically checked to ensure that they are within the segment. If not, an interrupt occurs. When specifying an address, you can specify the segment.</a:t>
            </a:r>
          </a:p>
        </p:txBody>
      </p:sp>
    </p:spTree>
    <p:extLst>
      <p:ext uri="{BB962C8B-B14F-4D97-AF65-F5344CB8AC3E}">
        <p14:creationId xmlns:p14="http://schemas.microsoft.com/office/powerpoint/2010/main" val="40776293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603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3">
            <a:extLst>
              <a:ext uri="{FF2B5EF4-FFF2-40B4-BE49-F238E27FC236}">
                <a16:creationId xmlns:a16="http://schemas.microsoft.com/office/drawing/2014/main" id="{D367EC5A-5F09-45AD-9FC1-9B9C59767243}"/>
              </a:ext>
            </a:extLst>
          </p:cNvPr>
          <p:cNvPicPr>
            <a:picLocks noGrp="1" noChangeAspect="1"/>
          </p:cNvPicPr>
          <p:nvPr>
            <p:ph idx="1"/>
          </p:nvPr>
        </p:nvPicPr>
        <p:blipFill>
          <a:blip r:embed="rId2"/>
          <a:stretch>
            <a:fillRect/>
          </a:stretch>
        </p:blipFill>
        <p:spPr>
          <a:xfrm>
            <a:off x="2409825" y="480060"/>
            <a:ext cx="7372350" cy="5897879"/>
          </a:xfrm>
          <a:prstGeom prst="rect">
            <a:avLst/>
          </a:prstGeom>
        </p:spPr>
      </p:pic>
    </p:spTree>
    <p:extLst>
      <p:ext uri="{BB962C8B-B14F-4D97-AF65-F5344CB8AC3E}">
        <p14:creationId xmlns:p14="http://schemas.microsoft.com/office/powerpoint/2010/main" val="230221634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4924E-B723-4B93-8E07-B28087CD3E01}"/>
              </a:ext>
            </a:extLst>
          </p:cNvPr>
          <p:cNvSpPr>
            <a:spLocks noGrp="1"/>
          </p:cNvSpPr>
          <p:nvPr>
            <p:ph type="title"/>
          </p:nvPr>
        </p:nvSpPr>
        <p:spPr>
          <a:xfrm>
            <a:off x="563632" y="194303"/>
            <a:ext cx="2728965" cy="730145"/>
          </a:xfrm>
        </p:spPr>
        <p:txBody>
          <a:bodyPr/>
          <a:lstStyle/>
          <a:p>
            <a:r>
              <a:rPr lang="en-US" dirty="0"/>
              <a:t>x64 paging</a:t>
            </a:r>
          </a:p>
        </p:txBody>
      </p:sp>
      <p:pic>
        <p:nvPicPr>
          <p:cNvPr id="5" name="Content Placeholder 4" descr="A screenshot of a cell phone&#10;&#10;Description generated with very high confidence">
            <a:extLst>
              <a:ext uri="{FF2B5EF4-FFF2-40B4-BE49-F238E27FC236}">
                <a16:creationId xmlns:a16="http://schemas.microsoft.com/office/drawing/2014/main" id="{F59346D4-A698-4ABF-BFCF-3B1FFBCAECC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18480" y="0"/>
            <a:ext cx="6573520" cy="6858000"/>
          </a:xfrm>
        </p:spPr>
      </p:pic>
      <p:sp>
        <p:nvSpPr>
          <p:cNvPr id="6" name="TextBox 5">
            <a:extLst>
              <a:ext uri="{FF2B5EF4-FFF2-40B4-BE49-F238E27FC236}">
                <a16:creationId xmlns:a16="http://schemas.microsoft.com/office/drawing/2014/main" id="{2971658B-F23A-4CE5-9F13-E15F4BFF5307}"/>
              </a:ext>
            </a:extLst>
          </p:cNvPr>
          <p:cNvSpPr txBox="1"/>
          <p:nvPr/>
        </p:nvSpPr>
        <p:spPr>
          <a:xfrm>
            <a:off x="251210" y="1858945"/>
            <a:ext cx="5506496" cy="3693319"/>
          </a:xfrm>
          <a:prstGeom prst="rect">
            <a:avLst/>
          </a:prstGeom>
          <a:noFill/>
        </p:spPr>
        <p:txBody>
          <a:bodyPr wrap="square" rtlCol="0">
            <a:spAutoFit/>
          </a:bodyPr>
          <a:lstStyle/>
          <a:p>
            <a:r>
              <a:rPr lang="en-US" dirty="0"/>
              <a:t>3 possible page sizes: 4k, 2mb, 1gb. There are 4 layers. The 64 bit address is broken into 5 offsets. </a:t>
            </a:r>
          </a:p>
          <a:p>
            <a:endParaRPr lang="en-US" dirty="0"/>
          </a:p>
          <a:p>
            <a:r>
              <a:rPr lang="en-US" dirty="0"/>
              <a:t>All addresses start from the Page Map Level 4 table. </a:t>
            </a:r>
          </a:p>
          <a:p>
            <a:r>
              <a:rPr lang="en-US" dirty="0"/>
              <a:t>The general algorithm is:</a:t>
            </a:r>
          </a:p>
          <a:p>
            <a:pPr marL="342900" indent="-342900">
              <a:buAutoNum type="arabicParenR"/>
            </a:pPr>
            <a:r>
              <a:rPr lang="en-US" dirty="0"/>
              <a:t>given a currently selected table, use the offset as an index into the table</a:t>
            </a:r>
          </a:p>
          <a:p>
            <a:pPr marL="342900" indent="-342900">
              <a:buAutoNum type="arabicParenR"/>
            </a:pPr>
            <a:r>
              <a:rPr lang="en-US" dirty="0"/>
              <a:t>that entry will point to the next table</a:t>
            </a:r>
          </a:p>
          <a:p>
            <a:pPr marL="342900" indent="-342900">
              <a:buAutoNum type="arabicParenR"/>
            </a:pPr>
            <a:r>
              <a:rPr lang="en-US" dirty="0" err="1"/>
              <a:t>goto</a:t>
            </a:r>
            <a:r>
              <a:rPr lang="en-US" dirty="0"/>
              <a:t> 1 unless this is the page table offset table</a:t>
            </a:r>
          </a:p>
          <a:p>
            <a:pPr marL="342900" indent="-342900">
              <a:buAutoNum type="arabicParenR"/>
            </a:pPr>
            <a:r>
              <a:rPr lang="en-US" dirty="0"/>
              <a:t>We now have a physical address (with the offset).</a:t>
            </a:r>
          </a:p>
          <a:p>
            <a:pPr marL="342900" indent="-342900">
              <a:buAutoNum type="arabicParenR"/>
            </a:pPr>
            <a:endParaRPr lang="en-US" dirty="0"/>
          </a:p>
          <a:p>
            <a:r>
              <a:rPr lang="en-US" dirty="0"/>
              <a:t>Notice that a single memory access could require 5 memory accesses.</a:t>
            </a:r>
          </a:p>
        </p:txBody>
      </p:sp>
    </p:spTree>
    <p:extLst>
      <p:ext uri="{BB962C8B-B14F-4D97-AF65-F5344CB8AC3E}">
        <p14:creationId xmlns:p14="http://schemas.microsoft.com/office/powerpoint/2010/main" val="361986592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B4FC2-CB13-44D8-97F0-E3097DBB6E87}"/>
              </a:ext>
            </a:extLst>
          </p:cNvPr>
          <p:cNvSpPr>
            <a:spLocks noGrp="1"/>
          </p:cNvSpPr>
          <p:nvPr>
            <p:ph type="title"/>
          </p:nvPr>
        </p:nvSpPr>
        <p:spPr/>
        <p:txBody>
          <a:bodyPr/>
          <a:lstStyle/>
          <a:p>
            <a:r>
              <a:rPr lang="en-US" dirty="0"/>
              <a:t>Wait – isn’t that an infinite loop?</a:t>
            </a:r>
          </a:p>
        </p:txBody>
      </p:sp>
      <p:sp>
        <p:nvSpPr>
          <p:cNvPr id="3" name="Content Placeholder 2">
            <a:extLst>
              <a:ext uri="{FF2B5EF4-FFF2-40B4-BE49-F238E27FC236}">
                <a16:creationId xmlns:a16="http://schemas.microsoft.com/office/drawing/2014/main" id="{AAE4957C-0898-4BF1-9B59-4DA53D28BCCE}"/>
              </a:ext>
            </a:extLst>
          </p:cNvPr>
          <p:cNvSpPr>
            <a:spLocks noGrp="1"/>
          </p:cNvSpPr>
          <p:nvPr>
            <p:ph idx="1"/>
          </p:nvPr>
        </p:nvSpPr>
        <p:spPr/>
        <p:txBody>
          <a:bodyPr/>
          <a:lstStyle/>
          <a:p>
            <a:pPr marL="0" indent="0">
              <a:buNone/>
            </a:pPr>
            <a:r>
              <a:rPr lang="en-US" dirty="0"/>
              <a:t>No – the paging tables are in physical, not virtual memory.</a:t>
            </a:r>
          </a:p>
          <a:p>
            <a:pPr marL="0" indent="0">
              <a:buNone/>
            </a:pPr>
            <a:endParaRPr lang="en-US" dirty="0"/>
          </a:p>
          <a:p>
            <a:pPr marL="0" indent="0">
              <a:buNone/>
            </a:pPr>
            <a:r>
              <a:rPr lang="en-US" dirty="0"/>
              <a:t>Isn’t this outstandingly SLOW? </a:t>
            </a:r>
          </a:p>
          <a:p>
            <a:pPr marL="0" indent="0">
              <a:buNone/>
            </a:pPr>
            <a:endParaRPr lang="en-US" dirty="0"/>
          </a:p>
          <a:p>
            <a:pPr marL="0" indent="0">
              <a:buNone/>
            </a:pPr>
            <a:r>
              <a:rPr lang="en-US" dirty="0"/>
              <a:t>It would be, except that the memory controller has TLBs – translation lookaside buffers. These cache the mapping from a virtual address to a physical address. These are flushed every time CR3 changes. </a:t>
            </a:r>
          </a:p>
          <a:p>
            <a:pPr marL="0" indent="0">
              <a:buNone/>
            </a:pPr>
            <a:endParaRPr lang="en-US" dirty="0"/>
          </a:p>
          <a:p>
            <a:pPr marL="0" indent="0">
              <a:buNone/>
            </a:pPr>
            <a:r>
              <a:rPr lang="en-US" dirty="0"/>
              <a:t>When might CR3 change?</a:t>
            </a:r>
          </a:p>
        </p:txBody>
      </p:sp>
    </p:spTree>
    <p:extLst>
      <p:ext uri="{BB962C8B-B14F-4D97-AF65-F5344CB8AC3E}">
        <p14:creationId xmlns:p14="http://schemas.microsoft.com/office/powerpoint/2010/main" val="133593056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26934-7DCA-4562-A944-85858C39B118}"/>
              </a:ext>
            </a:extLst>
          </p:cNvPr>
          <p:cNvSpPr>
            <a:spLocks noGrp="1"/>
          </p:cNvSpPr>
          <p:nvPr>
            <p:ph type="title"/>
          </p:nvPr>
        </p:nvSpPr>
        <p:spPr/>
        <p:txBody>
          <a:bodyPr/>
          <a:lstStyle/>
          <a:p>
            <a:r>
              <a:rPr lang="en-US" dirty="0"/>
              <a:t>What else is in the page table entry?</a:t>
            </a:r>
          </a:p>
        </p:txBody>
      </p:sp>
      <p:sp>
        <p:nvSpPr>
          <p:cNvPr id="3" name="Content Placeholder 2">
            <a:extLst>
              <a:ext uri="{FF2B5EF4-FFF2-40B4-BE49-F238E27FC236}">
                <a16:creationId xmlns:a16="http://schemas.microsoft.com/office/drawing/2014/main" id="{06814A8D-41C5-4B18-B617-493B235EC56A}"/>
              </a:ext>
            </a:extLst>
          </p:cNvPr>
          <p:cNvSpPr>
            <a:spLocks noGrp="1"/>
          </p:cNvSpPr>
          <p:nvPr>
            <p:ph idx="1"/>
          </p:nvPr>
        </p:nvSpPr>
        <p:spPr/>
        <p:txBody>
          <a:bodyPr/>
          <a:lstStyle/>
          <a:p>
            <a:r>
              <a:rPr lang="en-US" dirty="0"/>
              <a:t>Present – is this page present in memory?</a:t>
            </a:r>
          </a:p>
          <a:p>
            <a:r>
              <a:rPr lang="en-US" dirty="0"/>
              <a:t>Is Page Read Only?</a:t>
            </a:r>
          </a:p>
          <a:p>
            <a:r>
              <a:rPr lang="en-US" dirty="0"/>
              <a:t>Is this page kernel only?</a:t>
            </a:r>
          </a:p>
          <a:p>
            <a:r>
              <a:rPr lang="en-US" dirty="0"/>
              <a:t>Is this page write-through or write-back?</a:t>
            </a:r>
          </a:p>
          <a:p>
            <a:r>
              <a:rPr lang="en-US" dirty="0"/>
              <a:t>Is this page cacheable?</a:t>
            </a:r>
          </a:p>
          <a:p>
            <a:r>
              <a:rPr lang="en-US" dirty="0"/>
              <a:t>Has this page ever been accessed?</a:t>
            </a:r>
          </a:p>
          <a:p>
            <a:r>
              <a:rPr lang="en-US" dirty="0"/>
              <a:t>Is this page dirty (has been written to)</a:t>
            </a:r>
          </a:p>
          <a:p>
            <a:r>
              <a:rPr lang="en-US" dirty="0"/>
              <a:t>Is this page executable (contains code)?</a:t>
            </a:r>
          </a:p>
        </p:txBody>
      </p:sp>
    </p:spTree>
    <p:extLst>
      <p:ext uri="{BB962C8B-B14F-4D97-AF65-F5344CB8AC3E}">
        <p14:creationId xmlns:p14="http://schemas.microsoft.com/office/powerpoint/2010/main" val="260926646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D5E8A-73F7-4350-807B-221D80BD2C38}"/>
              </a:ext>
            </a:extLst>
          </p:cNvPr>
          <p:cNvSpPr>
            <a:spLocks noGrp="1"/>
          </p:cNvSpPr>
          <p:nvPr>
            <p:ph type="title"/>
          </p:nvPr>
        </p:nvSpPr>
        <p:spPr/>
        <p:txBody>
          <a:bodyPr/>
          <a:lstStyle/>
          <a:p>
            <a:r>
              <a:rPr lang="en-US" dirty="0"/>
              <a:t>MIPS virtual memory </a:t>
            </a:r>
            <a:r>
              <a:rPr lang="en-US"/>
              <a:t>(easier!)</a:t>
            </a:r>
          </a:p>
        </p:txBody>
      </p:sp>
      <p:sp>
        <p:nvSpPr>
          <p:cNvPr id="3" name="Content Placeholder 2">
            <a:extLst>
              <a:ext uri="{FF2B5EF4-FFF2-40B4-BE49-F238E27FC236}">
                <a16:creationId xmlns:a16="http://schemas.microsoft.com/office/drawing/2014/main" id="{2D6F0689-6CF9-4A09-9DD0-F708299C2D49}"/>
              </a:ext>
            </a:extLst>
          </p:cNvPr>
          <p:cNvSpPr>
            <a:spLocks noGrp="1"/>
          </p:cNvSpPr>
          <p:nvPr>
            <p:ph idx="1"/>
          </p:nvPr>
        </p:nvSpPr>
        <p:spPr>
          <a:xfrm>
            <a:off x="508958" y="1825625"/>
            <a:ext cx="11291978" cy="4667250"/>
          </a:xfrm>
        </p:spPr>
        <p:txBody>
          <a:bodyPr>
            <a:normAutofit/>
          </a:bodyPr>
          <a:lstStyle/>
          <a:p>
            <a:pPr marL="0" indent="0">
              <a:buNone/>
            </a:pPr>
            <a:r>
              <a:rPr lang="en-US" dirty="0"/>
              <a:t>A MIPS TLB (page table entry) contains: </a:t>
            </a:r>
          </a:p>
          <a:p>
            <a:pPr marL="0" indent="0">
              <a:buNone/>
            </a:pPr>
            <a:r>
              <a:rPr lang="en-US" dirty="0"/>
              <a:t>Page Mask: Indicates the page size by choosing bits that must match VPN</a:t>
            </a:r>
          </a:p>
          <a:p>
            <a:pPr marL="0" indent="0">
              <a:buNone/>
            </a:pPr>
            <a:r>
              <a:rPr lang="en-US" dirty="0"/>
              <a:t>VPN/2: Virtual address/2 (each TLB maps 2 pages)</a:t>
            </a:r>
          </a:p>
          <a:p>
            <a:pPr marL="0" indent="0">
              <a:buNone/>
            </a:pPr>
            <a:r>
              <a:rPr lang="en-US" dirty="0"/>
              <a:t>Global Bit: Does this apply to every process</a:t>
            </a:r>
          </a:p>
          <a:p>
            <a:pPr marL="0" indent="0">
              <a:buNone/>
            </a:pPr>
            <a:r>
              <a:rPr lang="en-US" dirty="0"/>
              <a:t>Address Space ID: If not global, the id of the process that this applies to</a:t>
            </a:r>
          </a:p>
          <a:p>
            <a:pPr marL="0" indent="0">
              <a:buNone/>
            </a:pPr>
            <a:r>
              <a:rPr lang="en-US" dirty="0"/>
              <a:t>2 Physical page numbers (1 page for VPN, 1 page for VPN+1)</a:t>
            </a:r>
          </a:p>
          <a:p>
            <a:pPr marL="0" indent="0">
              <a:buNone/>
            </a:pPr>
            <a:r>
              <a:rPr lang="en-US" dirty="0"/>
              <a:t>	Cache coherency : Cacheable, uncached</a:t>
            </a:r>
          </a:p>
          <a:p>
            <a:pPr marL="0" indent="0">
              <a:buNone/>
            </a:pPr>
            <a:r>
              <a:rPr lang="en-US" dirty="0"/>
              <a:t>	Dirty: Is this page dirty/writable?</a:t>
            </a:r>
          </a:p>
          <a:p>
            <a:pPr marL="0" indent="0">
              <a:buNone/>
            </a:pPr>
            <a:r>
              <a:rPr lang="en-US" dirty="0"/>
              <a:t>	Valid: Is this page valid?</a:t>
            </a:r>
          </a:p>
          <a:p>
            <a:pPr marL="0" indent="0">
              <a:buNone/>
            </a:pPr>
            <a:endParaRPr lang="en-US" dirty="0"/>
          </a:p>
        </p:txBody>
      </p:sp>
    </p:spTree>
    <p:extLst>
      <p:ext uri="{BB962C8B-B14F-4D97-AF65-F5344CB8AC3E}">
        <p14:creationId xmlns:p14="http://schemas.microsoft.com/office/powerpoint/2010/main" val="426375235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0BC55-C7C4-45B2-9057-AD867EF8106E}"/>
              </a:ext>
            </a:extLst>
          </p:cNvPr>
          <p:cNvSpPr>
            <a:spLocks noGrp="1"/>
          </p:cNvSpPr>
          <p:nvPr>
            <p:ph type="title"/>
          </p:nvPr>
        </p:nvSpPr>
        <p:spPr/>
        <p:txBody>
          <a:bodyPr/>
          <a:lstStyle/>
          <a:p>
            <a:r>
              <a:rPr lang="en-US" dirty="0"/>
              <a:t>More MIPS VM</a:t>
            </a:r>
          </a:p>
        </p:txBody>
      </p:sp>
      <p:sp>
        <p:nvSpPr>
          <p:cNvPr id="3" name="Content Placeholder 2">
            <a:extLst>
              <a:ext uri="{FF2B5EF4-FFF2-40B4-BE49-F238E27FC236}">
                <a16:creationId xmlns:a16="http://schemas.microsoft.com/office/drawing/2014/main" id="{5C31770E-939C-4841-9CFA-AC717A048CAC}"/>
              </a:ext>
            </a:extLst>
          </p:cNvPr>
          <p:cNvSpPr>
            <a:spLocks noGrp="1"/>
          </p:cNvSpPr>
          <p:nvPr>
            <p:ph idx="1"/>
          </p:nvPr>
        </p:nvSpPr>
        <p:spPr/>
        <p:txBody>
          <a:bodyPr/>
          <a:lstStyle/>
          <a:p>
            <a:pPr marL="0" indent="0">
              <a:buNone/>
            </a:pPr>
            <a:r>
              <a:rPr lang="en-US" dirty="0"/>
              <a:t>PTE sizes: 4k, 16k, 64k, 256k, 1mb, 4mb, 16mb, 64mb, 256mb</a:t>
            </a:r>
          </a:p>
          <a:p>
            <a:pPr marL="0" indent="0">
              <a:buNone/>
            </a:pPr>
            <a:r>
              <a:rPr lang="en-US" dirty="0"/>
              <a:t>There is a register (</a:t>
            </a:r>
            <a:r>
              <a:rPr lang="en-US" dirty="0" err="1"/>
              <a:t>EntryHi</a:t>
            </a:r>
            <a:r>
              <a:rPr lang="en-US" dirty="0"/>
              <a:t>) that holds the current ASID. The OS needs to change it when processes change.</a:t>
            </a:r>
          </a:p>
          <a:p>
            <a:pPr marL="0" indent="0">
              <a:buNone/>
            </a:pPr>
            <a:endParaRPr lang="en-US" dirty="0"/>
          </a:p>
          <a:p>
            <a:pPr marL="0" indent="0">
              <a:buNone/>
            </a:pPr>
            <a:r>
              <a:rPr lang="en-US" dirty="0"/>
              <a:t>Interrupts: Non-word-aligned memory reference</a:t>
            </a:r>
          </a:p>
          <a:p>
            <a:pPr marL="0" indent="0">
              <a:buNone/>
            </a:pPr>
            <a:r>
              <a:rPr lang="en-US" dirty="0"/>
              <a:t>	</a:t>
            </a:r>
            <a:r>
              <a:rPr lang="en-US" dirty="0" err="1"/>
              <a:t>TLBRefill</a:t>
            </a:r>
            <a:r>
              <a:rPr lang="en-US" dirty="0"/>
              <a:t> – no mapping for the requested address</a:t>
            </a:r>
          </a:p>
          <a:p>
            <a:pPr marL="0" indent="0">
              <a:buNone/>
            </a:pPr>
            <a:r>
              <a:rPr lang="en-US" dirty="0"/>
              <a:t>	</a:t>
            </a:r>
            <a:r>
              <a:rPr lang="en-US" dirty="0" err="1"/>
              <a:t>TLBInvalid</a:t>
            </a:r>
            <a:r>
              <a:rPr lang="en-US" dirty="0"/>
              <a:t> – mapping has “valid” off</a:t>
            </a:r>
          </a:p>
          <a:p>
            <a:pPr marL="0" indent="0">
              <a:buNone/>
            </a:pPr>
            <a:r>
              <a:rPr lang="en-US" dirty="0"/>
              <a:t>	</a:t>
            </a:r>
            <a:r>
              <a:rPr lang="en-US" dirty="0" err="1"/>
              <a:t>TLBModified</a:t>
            </a:r>
            <a:r>
              <a:rPr lang="en-US" dirty="0"/>
              <a:t> – valid mapping, but </a:t>
            </a:r>
          </a:p>
        </p:txBody>
      </p:sp>
    </p:spTree>
    <p:extLst>
      <p:ext uri="{BB962C8B-B14F-4D97-AF65-F5344CB8AC3E}">
        <p14:creationId xmlns:p14="http://schemas.microsoft.com/office/powerpoint/2010/main" val="379346749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914ECF3-3C02-4B53-B9B8-2165971D0E5D}"/>
              </a:ext>
            </a:extLst>
          </p:cNvPr>
          <p:cNvPicPr>
            <a:picLocks noChangeAspect="1"/>
          </p:cNvPicPr>
          <p:nvPr/>
        </p:nvPicPr>
        <p:blipFill>
          <a:blip r:embed="rId2"/>
          <a:stretch>
            <a:fillRect/>
          </a:stretch>
        </p:blipFill>
        <p:spPr>
          <a:xfrm>
            <a:off x="1058950" y="0"/>
            <a:ext cx="11058525" cy="6762750"/>
          </a:xfrm>
          <a:prstGeom prst="rect">
            <a:avLst/>
          </a:prstGeom>
        </p:spPr>
      </p:pic>
      <p:sp>
        <p:nvSpPr>
          <p:cNvPr id="3" name="Content Placeholder 2">
            <a:extLst>
              <a:ext uri="{FF2B5EF4-FFF2-40B4-BE49-F238E27FC236}">
                <a16:creationId xmlns:a16="http://schemas.microsoft.com/office/drawing/2014/main" id="{94F090EE-7E29-406D-AC9B-83CDDC2D10DF}"/>
              </a:ext>
            </a:extLst>
          </p:cNvPr>
          <p:cNvSpPr>
            <a:spLocks noGrp="1"/>
          </p:cNvSpPr>
          <p:nvPr>
            <p:ph idx="1"/>
          </p:nvPr>
        </p:nvSpPr>
        <p:spPr>
          <a:xfrm>
            <a:off x="74525" y="4803112"/>
            <a:ext cx="7491884" cy="2054888"/>
          </a:xfrm>
        </p:spPr>
        <p:txBody>
          <a:bodyPr>
            <a:normAutofit/>
          </a:bodyPr>
          <a:lstStyle/>
          <a:p>
            <a:pPr marL="0" indent="0">
              <a:buNone/>
            </a:pPr>
            <a:r>
              <a:rPr lang="en-US" sz="4400" dirty="0">
                <a:solidFill>
                  <a:prstClr val="black"/>
                </a:solidFill>
                <a:latin typeface="Calibri Light" panose="020F0302020204030204"/>
                <a:ea typeface="+mj-ea"/>
                <a:cs typeface="+mj-cs"/>
              </a:rPr>
              <a:t>The 90’s were a crazy time…</a:t>
            </a:r>
          </a:p>
          <a:p>
            <a:pPr marL="0" indent="0">
              <a:buNone/>
            </a:pPr>
            <a:r>
              <a:rPr lang="en-US" sz="4400" dirty="0">
                <a:solidFill>
                  <a:prstClr val="black"/>
                </a:solidFill>
                <a:latin typeface="Calibri Light" panose="020F0302020204030204"/>
                <a:ea typeface="+mj-ea"/>
                <a:cs typeface="+mj-cs"/>
              </a:rPr>
              <a:t>$1,000 in 1995 == 1,653 in 2018</a:t>
            </a:r>
            <a:endParaRPr lang="en-US" dirty="0"/>
          </a:p>
        </p:txBody>
      </p:sp>
    </p:spTree>
    <p:extLst>
      <p:ext uri="{BB962C8B-B14F-4D97-AF65-F5344CB8AC3E}">
        <p14:creationId xmlns:p14="http://schemas.microsoft.com/office/powerpoint/2010/main" val="89197015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36828-715C-4DBF-8CB5-EF4EEEB4DF71}"/>
              </a:ext>
            </a:extLst>
          </p:cNvPr>
          <p:cNvSpPr>
            <a:spLocks noGrp="1"/>
          </p:cNvSpPr>
          <p:nvPr>
            <p:ph type="title"/>
          </p:nvPr>
        </p:nvSpPr>
        <p:spPr/>
        <p:txBody>
          <a:bodyPr/>
          <a:lstStyle/>
          <a:p>
            <a:r>
              <a:rPr lang="en-US" dirty="0"/>
              <a:t>Multimedia</a:t>
            </a:r>
          </a:p>
        </p:txBody>
      </p:sp>
      <p:sp>
        <p:nvSpPr>
          <p:cNvPr id="3" name="Content Placeholder 2">
            <a:extLst>
              <a:ext uri="{FF2B5EF4-FFF2-40B4-BE49-F238E27FC236}">
                <a16:creationId xmlns:a16="http://schemas.microsoft.com/office/drawing/2014/main" id="{5F6C2212-0482-4FD3-8CE4-953281C061D1}"/>
              </a:ext>
            </a:extLst>
          </p:cNvPr>
          <p:cNvSpPr>
            <a:spLocks noGrp="1"/>
          </p:cNvSpPr>
          <p:nvPr>
            <p:ph idx="1"/>
          </p:nvPr>
        </p:nvSpPr>
        <p:spPr/>
        <p:txBody>
          <a:bodyPr>
            <a:normAutofit lnSpcReduction="10000"/>
          </a:bodyPr>
          <a:lstStyle/>
          <a:p>
            <a:pPr marL="0" indent="0">
              <a:buNone/>
            </a:pPr>
            <a:r>
              <a:rPr lang="en-US" dirty="0"/>
              <a:t>Multimedia was THE THING in the mid 90’s.</a:t>
            </a:r>
          </a:p>
          <a:p>
            <a:pPr marL="0" indent="0">
              <a:buNone/>
            </a:pPr>
            <a:endParaRPr lang="en-US" dirty="0"/>
          </a:p>
          <a:p>
            <a:pPr marL="0" indent="0">
              <a:buNone/>
            </a:pPr>
            <a:r>
              <a:rPr lang="en-US" dirty="0"/>
              <a:t>Remember, the internet was SLOW. Transferring “big” amounts of data was CDs or sneaker net.</a:t>
            </a:r>
          </a:p>
          <a:p>
            <a:pPr marL="0" indent="0">
              <a:buNone/>
            </a:pPr>
            <a:endParaRPr lang="en-US" dirty="0"/>
          </a:p>
          <a:p>
            <a:pPr marL="0" indent="0">
              <a:buNone/>
            </a:pPr>
            <a:r>
              <a:rPr lang="en-US" dirty="0"/>
              <a:t>CPUs were just becoming superscalar and pipelining was new (on the desktop).</a:t>
            </a:r>
          </a:p>
          <a:p>
            <a:pPr marL="0" indent="0">
              <a:buNone/>
            </a:pPr>
            <a:endParaRPr lang="en-US" dirty="0"/>
          </a:p>
          <a:p>
            <a:pPr marL="0" indent="0">
              <a:buNone/>
            </a:pPr>
            <a:r>
              <a:rPr lang="en-US" dirty="0"/>
              <a:t>DOOM (the first one!) was new and “everyone” wanted videos and games on their PCs. The 100mhz chips of the day couldn’t keep up.</a:t>
            </a:r>
          </a:p>
        </p:txBody>
      </p:sp>
    </p:spTree>
    <p:extLst>
      <p:ext uri="{BB962C8B-B14F-4D97-AF65-F5344CB8AC3E}">
        <p14:creationId xmlns:p14="http://schemas.microsoft.com/office/powerpoint/2010/main" val="19142953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B4528-E4AE-417A-A1E2-4709068C5097}"/>
              </a:ext>
            </a:extLst>
          </p:cNvPr>
          <p:cNvSpPr>
            <a:spLocks noGrp="1"/>
          </p:cNvSpPr>
          <p:nvPr>
            <p:ph type="title"/>
          </p:nvPr>
        </p:nvSpPr>
        <p:spPr/>
        <p:txBody>
          <a:bodyPr/>
          <a:lstStyle/>
          <a:p>
            <a:r>
              <a:rPr lang="en-US" dirty="0"/>
              <a:t>MMX and 3DNow</a:t>
            </a:r>
          </a:p>
        </p:txBody>
      </p:sp>
      <p:sp>
        <p:nvSpPr>
          <p:cNvPr id="3" name="Content Placeholder 2">
            <a:extLst>
              <a:ext uri="{FF2B5EF4-FFF2-40B4-BE49-F238E27FC236}">
                <a16:creationId xmlns:a16="http://schemas.microsoft.com/office/drawing/2014/main" id="{FC48305D-0690-45F8-B490-99959FD06A97}"/>
              </a:ext>
            </a:extLst>
          </p:cNvPr>
          <p:cNvSpPr>
            <a:spLocks noGrp="1"/>
          </p:cNvSpPr>
          <p:nvPr>
            <p:ph idx="1"/>
          </p:nvPr>
        </p:nvSpPr>
        <p:spPr/>
        <p:txBody>
          <a:bodyPr/>
          <a:lstStyle/>
          <a:p>
            <a:pPr marL="0" indent="0">
              <a:buNone/>
            </a:pPr>
            <a:r>
              <a:rPr lang="en-US" dirty="0"/>
              <a:t>Intel (MMX, 1997) and AMD (3DNow, 1998) reacted to this by adding new CPU instructions.</a:t>
            </a:r>
          </a:p>
          <a:p>
            <a:pPr marL="0" indent="0">
              <a:buNone/>
            </a:pPr>
            <a:endParaRPr lang="en-US" dirty="0"/>
          </a:p>
          <a:p>
            <a:pPr marL="0" indent="0">
              <a:buNone/>
            </a:pPr>
            <a:r>
              <a:rPr lang="en-US" dirty="0"/>
              <a:t>Most of the instructions that we have dealt with so far have been SISD – a single instruction works on a single data item (a=</a:t>
            </a:r>
            <a:r>
              <a:rPr lang="en-US" dirty="0" err="1"/>
              <a:t>b+c</a:t>
            </a:r>
            <a:r>
              <a:rPr lang="en-US" dirty="0"/>
              <a:t>)</a:t>
            </a:r>
          </a:p>
          <a:p>
            <a:pPr marL="0" indent="0">
              <a:buNone/>
            </a:pPr>
            <a:endParaRPr lang="en-US" dirty="0"/>
          </a:p>
          <a:p>
            <a:pPr marL="0" indent="0">
              <a:buNone/>
            </a:pPr>
            <a:r>
              <a:rPr lang="en-US" dirty="0"/>
              <a:t>These are SIMD – single instruction, multiple data</a:t>
            </a:r>
          </a:p>
          <a:p>
            <a:pPr marL="0" indent="0">
              <a:buNone/>
            </a:pPr>
            <a:r>
              <a:rPr lang="en-US" dirty="0"/>
              <a:t>One instructions, can perform the same operation on a range of data</a:t>
            </a:r>
          </a:p>
        </p:txBody>
      </p:sp>
    </p:spTree>
    <p:extLst>
      <p:ext uri="{BB962C8B-B14F-4D97-AF65-F5344CB8AC3E}">
        <p14:creationId xmlns:p14="http://schemas.microsoft.com/office/powerpoint/2010/main" val="341252185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E329D-11AD-40E1-A0E3-8175978A90BA}"/>
              </a:ext>
            </a:extLst>
          </p:cNvPr>
          <p:cNvSpPr>
            <a:spLocks noGrp="1"/>
          </p:cNvSpPr>
          <p:nvPr>
            <p:ph type="title"/>
          </p:nvPr>
        </p:nvSpPr>
        <p:spPr/>
        <p:txBody>
          <a:bodyPr/>
          <a:lstStyle/>
          <a:p>
            <a:r>
              <a:rPr lang="en-US" dirty="0"/>
              <a:t>Flynn’s Taxonomy</a:t>
            </a:r>
          </a:p>
        </p:txBody>
      </p:sp>
      <p:sp>
        <p:nvSpPr>
          <p:cNvPr id="3" name="Content Placeholder 2">
            <a:extLst>
              <a:ext uri="{FF2B5EF4-FFF2-40B4-BE49-F238E27FC236}">
                <a16:creationId xmlns:a16="http://schemas.microsoft.com/office/drawing/2014/main" id="{FB5AA32D-53FA-4580-9E2E-961C0D4EB396}"/>
              </a:ext>
            </a:extLst>
          </p:cNvPr>
          <p:cNvSpPr>
            <a:spLocks noGrp="1"/>
          </p:cNvSpPr>
          <p:nvPr>
            <p:ph idx="1"/>
          </p:nvPr>
        </p:nvSpPr>
        <p:spPr>
          <a:xfrm>
            <a:off x="390699" y="1825625"/>
            <a:ext cx="11238806" cy="4351338"/>
          </a:xfrm>
        </p:spPr>
        <p:txBody>
          <a:bodyPr/>
          <a:lstStyle/>
          <a:p>
            <a:pPr marL="0" indent="0">
              <a:buNone/>
            </a:pPr>
            <a:r>
              <a:rPr lang="en-US"/>
              <a:t>SISD – single </a:t>
            </a:r>
            <a:r>
              <a:rPr lang="en-US" dirty="0"/>
              <a:t>instruction, single </a:t>
            </a:r>
            <a:r>
              <a:rPr lang="en-US"/>
              <a:t>data item - classic processors</a:t>
            </a:r>
            <a:endParaRPr lang="en-US" dirty="0"/>
          </a:p>
          <a:p>
            <a:pPr marL="0" indent="0">
              <a:buNone/>
            </a:pPr>
            <a:endParaRPr lang="en-US" dirty="0"/>
          </a:p>
          <a:p>
            <a:pPr marL="0" indent="0">
              <a:buNone/>
            </a:pPr>
            <a:r>
              <a:rPr lang="en-US" dirty="0"/>
              <a:t>SIMD – single instruction multiple data – used in GPUs</a:t>
            </a:r>
          </a:p>
          <a:p>
            <a:pPr marL="0" indent="0">
              <a:buNone/>
            </a:pPr>
            <a:endParaRPr lang="en-US" dirty="0"/>
          </a:p>
          <a:p>
            <a:pPr marL="0" indent="0">
              <a:buNone/>
            </a:pPr>
            <a:r>
              <a:rPr lang="en-US" dirty="0"/>
              <a:t>MISD – multiple instructions operating on the same data (fault tolerance)</a:t>
            </a:r>
          </a:p>
          <a:p>
            <a:pPr marL="0" indent="0">
              <a:buNone/>
            </a:pPr>
            <a:endParaRPr lang="en-US" dirty="0"/>
          </a:p>
          <a:p>
            <a:pPr marL="0" indent="0">
              <a:buNone/>
            </a:pPr>
            <a:r>
              <a:rPr lang="en-US" dirty="0"/>
              <a:t>MIMD - multiple instructions, multiple data - multi-core super scalar, distributed systems</a:t>
            </a:r>
          </a:p>
        </p:txBody>
      </p:sp>
    </p:spTree>
    <p:extLst>
      <p:ext uri="{BB962C8B-B14F-4D97-AF65-F5344CB8AC3E}">
        <p14:creationId xmlns:p14="http://schemas.microsoft.com/office/powerpoint/2010/main" val="226711033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2E332-73A1-440D-B101-37B7B4F3CA74}"/>
              </a:ext>
            </a:extLst>
          </p:cNvPr>
          <p:cNvSpPr>
            <a:spLocks noGrp="1"/>
          </p:cNvSpPr>
          <p:nvPr>
            <p:ph type="title"/>
          </p:nvPr>
        </p:nvSpPr>
        <p:spPr/>
        <p:txBody>
          <a:bodyPr/>
          <a:lstStyle/>
          <a:p>
            <a:r>
              <a:rPr lang="en-US" dirty="0"/>
              <a:t>MMX Example</a:t>
            </a:r>
          </a:p>
        </p:txBody>
      </p:sp>
      <p:sp>
        <p:nvSpPr>
          <p:cNvPr id="3" name="Content Placeholder 2">
            <a:extLst>
              <a:ext uri="{FF2B5EF4-FFF2-40B4-BE49-F238E27FC236}">
                <a16:creationId xmlns:a16="http://schemas.microsoft.com/office/drawing/2014/main" id="{6976368A-04F5-4CDE-8CA4-047B1EDE414B}"/>
              </a:ext>
            </a:extLst>
          </p:cNvPr>
          <p:cNvSpPr>
            <a:spLocks noGrp="1"/>
          </p:cNvSpPr>
          <p:nvPr>
            <p:ph idx="1"/>
          </p:nvPr>
        </p:nvSpPr>
        <p:spPr/>
        <p:txBody>
          <a:bodyPr>
            <a:normAutofit fontScale="92500" lnSpcReduction="10000"/>
          </a:bodyPr>
          <a:lstStyle/>
          <a:p>
            <a:pPr marL="0" indent="0">
              <a:buNone/>
            </a:pPr>
            <a:r>
              <a:rPr lang="en-US" dirty="0"/>
              <a:t>Imagine you have a person in front of a green screen and a scene you want to insert the person into(called chroma key).</a:t>
            </a:r>
          </a:p>
          <a:p>
            <a:pPr marL="0" indent="0">
              <a:buNone/>
            </a:pPr>
            <a:r>
              <a:rPr lang="en-US" dirty="0"/>
              <a:t>This can be done in a few steps:</a:t>
            </a:r>
          </a:p>
          <a:p>
            <a:pPr marL="514350" indent="-514350">
              <a:buAutoNum type="arabicParenR"/>
            </a:pPr>
            <a:r>
              <a:rPr lang="en-US" dirty="0"/>
              <a:t>Generate a bitmap that is a perfect green screen</a:t>
            </a:r>
          </a:p>
          <a:p>
            <a:pPr marL="514350" indent="-514350">
              <a:buAutoNum type="arabicParenR"/>
            </a:pPr>
            <a:r>
              <a:rPr lang="en-US" dirty="0"/>
              <a:t>Use PCMEQ (packed compare for equality) on the person and green screen to get a mask (the shadow) of the person </a:t>
            </a:r>
          </a:p>
          <a:p>
            <a:pPr marL="514350" indent="-514350">
              <a:buAutoNum type="arabicParenR"/>
            </a:pPr>
            <a:r>
              <a:rPr lang="en-US" dirty="0"/>
              <a:t>Use PANDN  (packed NAND) on the original image and the mask to get the person without the green screen</a:t>
            </a:r>
          </a:p>
          <a:p>
            <a:pPr marL="514350" indent="-514350">
              <a:buAutoNum type="arabicParenR"/>
            </a:pPr>
            <a:r>
              <a:rPr lang="en-US" dirty="0"/>
              <a:t>Use PAND on the mask and the scene to get the scene with the shadow “missing” (white where the person will go).</a:t>
            </a:r>
          </a:p>
          <a:p>
            <a:pPr marL="514350" indent="-514350">
              <a:buAutoNum type="arabicParenR"/>
            </a:pPr>
            <a:r>
              <a:rPr lang="en-US" dirty="0"/>
              <a:t>Use POR on #3 and #4 to get the scene with the person in the scene.</a:t>
            </a:r>
          </a:p>
          <a:p>
            <a:pPr marL="514350" indent="-514350">
              <a:buAutoNum type="arabicParenR"/>
            </a:pPr>
            <a:endParaRPr lang="en-US" dirty="0"/>
          </a:p>
          <a:p>
            <a:pPr marL="514350" indent="-514350">
              <a:buAutoNum type="arabicParenR"/>
            </a:pPr>
            <a:endParaRPr lang="en-US" dirty="0"/>
          </a:p>
          <a:p>
            <a:pPr marL="0" indent="0">
              <a:buNone/>
            </a:pPr>
            <a:endParaRPr lang="en-US" dirty="0"/>
          </a:p>
        </p:txBody>
      </p:sp>
    </p:spTree>
    <p:extLst>
      <p:ext uri="{BB962C8B-B14F-4D97-AF65-F5344CB8AC3E}">
        <p14:creationId xmlns:p14="http://schemas.microsoft.com/office/powerpoint/2010/main" val="379913908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939CA-4F5B-4097-BDD4-AF499A12035B}"/>
              </a:ext>
            </a:extLst>
          </p:cNvPr>
          <p:cNvSpPr>
            <a:spLocks noGrp="1"/>
          </p:cNvSpPr>
          <p:nvPr>
            <p:ph type="title"/>
          </p:nvPr>
        </p:nvSpPr>
        <p:spPr/>
        <p:txBody>
          <a:bodyPr/>
          <a:lstStyle/>
          <a:p>
            <a:r>
              <a:rPr lang="en-US" dirty="0"/>
              <a:t>How does this work?</a:t>
            </a:r>
          </a:p>
        </p:txBody>
      </p:sp>
      <p:sp>
        <p:nvSpPr>
          <p:cNvPr id="3" name="Content Placeholder 2">
            <a:extLst>
              <a:ext uri="{FF2B5EF4-FFF2-40B4-BE49-F238E27FC236}">
                <a16:creationId xmlns:a16="http://schemas.microsoft.com/office/drawing/2014/main" id="{F15A0971-40AA-4476-9EA5-74C90EA1B67D}"/>
              </a:ext>
            </a:extLst>
          </p:cNvPr>
          <p:cNvSpPr>
            <a:spLocks noGrp="1"/>
          </p:cNvSpPr>
          <p:nvPr>
            <p:ph idx="1"/>
          </p:nvPr>
        </p:nvSpPr>
        <p:spPr/>
        <p:txBody>
          <a:bodyPr>
            <a:normAutofit fontScale="92500" lnSpcReduction="10000"/>
          </a:bodyPr>
          <a:lstStyle/>
          <a:p>
            <a:pPr marL="0" indent="0">
              <a:buNone/>
            </a:pPr>
            <a:r>
              <a:rPr lang="en-US" dirty="0"/>
              <a:t>MMX introduces 8 new 64 bit registers (remember, many people were running 16 bit mode, some 32 bit mode). MM0-MM7 are the same SRAM as the floating point registers; there is a mode for FP math and one for MMX.</a:t>
            </a:r>
          </a:p>
          <a:p>
            <a:pPr marL="0" indent="0">
              <a:buNone/>
            </a:pPr>
            <a:endParaRPr lang="en-US" dirty="0"/>
          </a:p>
          <a:p>
            <a:pPr marL="0" indent="0">
              <a:buNone/>
            </a:pPr>
            <a:r>
              <a:rPr lang="en-US" dirty="0"/>
              <a:t>Each instruction operand can be either a register or a memory location. </a:t>
            </a:r>
          </a:p>
          <a:p>
            <a:pPr marL="0" indent="0">
              <a:buNone/>
            </a:pPr>
            <a:endParaRPr lang="en-US" dirty="0"/>
          </a:p>
          <a:p>
            <a:pPr marL="0" indent="0">
              <a:buNone/>
            </a:pPr>
            <a:r>
              <a:rPr lang="en-US" dirty="0"/>
              <a:t>The operands are packed – if a data source is an array of bytes, MMX considers 64 bits as a package of 8 bytes.</a:t>
            </a:r>
          </a:p>
          <a:p>
            <a:pPr marL="0" indent="0">
              <a:buNone/>
            </a:pPr>
            <a:endParaRPr lang="en-US" dirty="0"/>
          </a:p>
          <a:p>
            <a:pPr marL="0" indent="0">
              <a:buNone/>
            </a:pPr>
            <a:r>
              <a:rPr lang="en-US" dirty="0"/>
              <a:t>One operation can work on 8 (byte), 4 (word), 2 (longword) or 1 (quadword) data items at a time.</a:t>
            </a:r>
          </a:p>
        </p:txBody>
      </p:sp>
    </p:spTree>
    <p:extLst>
      <p:ext uri="{BB962C8B-B14F-4D97-AF65-F5344CB8AC3E}">
        <p14:creationId xmlns:p14="http://schemas.microsoft.com/office/powerpoint/2010/main" val="17973616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752B5-CAD1-4819-AACD-9A892329F685}"/>
              </a:ext>
            </a:extLst>
          </p:cNvPr>
          <p:cNvSpPr>
            <a:spLocks noGrp="1"/>
          </p:cNvSpPr>
          <p:nvPr>
            <p:ph type="title"/>
          </p:nvPr>
        </p:nvSpPr>
        <p:spPr>
          <a:xfrm>
            <a:off x="261256" y="338999"/>
            <a:ext cx="6174378" cy="1367881"/>
          </a:xfrm>
        </p:spPr>
        <p:txBody>
          <a:bodyPr/>
          <a:lstStyle/>
          <a:p>
            <a:r>
              <a:rPr lang="en-US" dirty="0"/>
              <a:t>How well did this work?</a:t>
            </a:r>
          </a:p>
        </p:txBody>
      </p:sp>
      <p:graphicFrame>
        <p:nvGraphicFramePr>
          <p:cNvPr id="4" name="Content Placeholder 3">
            <a:extLst>
              <a:ext uri="{FF2B5EF4-FFF2-40B4-BE49-F238E27FC236}">
                <a16:creationId xmlns:a16="http://schemas.microsoft.com/office/drawing/2014/main" id="{58745541-6270-4DA5-9D0D-D7EAAB326382}"/>
              </a:ext>
            </a:extLst>
          </p:cNvPr>
          <p:cNvGraphicFramePr>
            <a:graphicFrameLocks noGrp="1"/>
          </p:cNvGraphicFramePr>
          <p:nvPr>
            <p:ph idx="1"/>
            <p:extLst>
              <p:ext uri="{D42A27DB-BD31-4B8C-83A1-F6EECF244321}">
                <p14:modId xmlns:p14="http://schemas.microsoft.com/office/powerpoint/2010/main" val="2579154741"/>
              </p:ext>
            </p:extLst>
          </p:nvPr>
        </p:nvGraphicFramePr>
        <p:xfrm>
          <a:off x="7254240" y="0"/>
          <a:ext cx="4099560" cy="6847488"/>
        </p:xfrm>
        <a:graphic>
          <a:graphicData uri="http://schemas.openxmlformats.org/drawingml/2006/table">
            <a:tbl>
              <a:tblPr>
                <a:tableStyleId>{793D81CF-94F2-401A-BA57-92F5A7B2D0C5}</a:tableStyleId>
              </a:tblPr>
              <a:tblGrid>
                <a:gridCol w="3169920">
                  <a:extLst>
                    <a:ext uri="{9D8B030D-6E8A-4147-A177-3AD203B41FA5}">
                      <a16:colId xmlns:a16="http://schemas.microsoft.com/office/drawing/2014/main" val="1231395840"/>
                    </a:ext>
                  </a:extLst>
                </a:gridCol>
                <a:gridCol w="929640">
                  <a:extLst>
                    <a:ext uri="{9D8B030D-6E8A-4147-A177-3AD203B41FA5}">
                      <a16:colId xmlns:a16="http://schemas.microsoft.com/office/drawing/2014/main" val="2995564930"/>
                    </a:ext>
                  </a:extLst>
                </a:gridCol>
              </a:tblGrid>
              <a:tr h="213984">
                <a:tc>
                  <a:txBody>
                    <a:bodyPr/>
                    <a:lstStyle/>
                    <a:p>
                      <a:pPr algn="l" rtl="0" fontAlgn="ctr"/>
                      <a:r>
                        <a:rPr lang="en-US" sz="1300" b="0" i="0" u="none" strike="noStrike">
                          <a:solidFill>
                            <a:srgbClr val="000000"/>
                          </a:solidFill>
                          <a:effectLst/>
                          <a:latin typeface="Calibri" panose="020F0502020204030204" pitchFamily="34" charset="0"/>
                        </a:rPr>
                        <a:t>Title</a:t>
                      </a:r>
                    </a:p>
                  </a:txBody>
                  <a:tcPr marL="15506" marR="15506" marT="15506" marB="0" anchor="ctr">
                    <a:solidFill>
                      <a:schemeClr val="accent4"/>
                    </a:solidFill>
                  </a:tcPr>
                </a:tc>
                <a:tc>
                  <a:txBody>
                    <a:bodyPr/>
                    <a:lstStyle/>
                    <a:p>
                      <a:pPr algn="l" rtl="0" fontAlgn="ctr"/>
                      <a:r>
                        <a:rPr lang="en-US" sz="1300" b="0" i="0" u="none" strike="noStrike" dirty="0">
                          <a:solidFill>
                            <a:srgbClr val="000000"/>
                          </a:solidFill>
                          <a:effectLst/>
                          <a:latin typeface="Calibri" panose="020F0502020204030204" pitchFamily="34" charset="0"/>
                        </a:rPr>
                        <a:t>Speed-up</a:t>
                      </a:r>
                    </a:p>
                  </a:txBody>
                  <a:tcPr marL="15506" marR="15506" marT="15506" marB="0" anchor="ctr">
                    <a:solidFill>
                      <a:schemeClr val="accent4"/>
                    </a:solidFill>
                  </a:tcPr>
                </a:tc>
                <a:extLst>
                  <a:ext uri="{0D108BD9-81ED-4DB2-BD59-A6C34878D82A}">
                    <a16:rowId xmlns:a16="http://schemas.microsoft.com/office/drawing/2014/main" val="1057057430"/>
                  </a:ext>
                </a:extLst>
              </a:tr>
              <a:tr h="213984">
                <a:tc>
                  <a:txBody>
                    <a:bodyPr/>
                    <a:lstStyle/>
                    <a:p>
                      <a:pPr algn="l" rtl="0" fontAlgn="ctr"/>
                      <a:r>
                        <a:rPr lang="en-US" sz="1300" b="0" i="0" u="none" strike="noStrike" dirty="0">
                          <a:solidFill>
                            <a:srgbClr val="000000"/>
                          </a:solidFill>
                          <a:effectLst/>
                          <a:latin typeface="Calibri" panose="020F0502020204030204" pitchFamily="34" charset="0"/>
                        </a:rPr>
                        <a:t>Audio</a:t>
                      </a:r>
                    </a:p>
                  </a:txBody>
                  <a:tcPr marL="15506" marR="15506" marT="15506" marB="0" anchor="ctr">
                    <a:solidFill>
                      <a:schemeClr val="bg2"/>
                    </a:solidFill>
                  </a:tcPr>
                </a:tc>
                <a:tc>
                  <a:txBody>
                    <a:bodyPr/>
                    <a:lstStyle/>
                    <a:p>
                      <a:pPr algn="l" fontAlgn="ctr"/>
                      <a:r>
                        <a:rPr lang="en-US" sz="1300" b="0" i="0" u="none" strike="noStrike" dirty="0">
                          <a:solidFill>
                            <a:srgbClr val="000000"/>
                          </a:solidFill>
                          <a:effectLst/>
                          <a:latin typeface="Calibri" panose="020F0502020204030204" pitchFamily="34" charset="0"/>
                        </a:rPr>
                        <a:t> </a:t>
                      </a:r>
                    </a:p>
                  </a:txBody>
                  <a:tcPr marL="15506" marR="15506" marT="15506" marB="0" anchor="ctr">
                    <a:solidFill>
                      <a:schemeClr val="bg2"/>
                    </a:solidFill>
                  </a:tcPr>
                </a:tc>
                <a:extLst>
                  <a:ext uri="{0D108BD9-81ED-4DB2-BD59-A6C34878D82A}">
                    <a16:rowId xmlns:a16="http://schemas.microsoft.com/office/drawing/2014/main" val="2637759590"/>
                  </a:ext>
                </a:extLst>
              </a:tr>
              <a:tr h="213984">
                <a:tc>
                  <a:txBody>
                    <a:bodyPr/>
                    <a:lstStyle/>
                    <a:p>
                      <a:pPr algn="l" rtl="0" fontAlgn="ctr"/>
                      <a:r>
                        <a:rPr lang="en-US" sz="1300" b="0" i="0" u="none" strike="noStrike">
                          <a:solidFill>
                            <a:srgbClr val="000000"/>
                          </a:solidFill>
                          <a:effectLst/>
                          <a:latin typeface="Calibri" panose="020F0502020204030204" pitchFamily="34" charset="0"/>
                        </a:rPr>
                        <a:t>Audio Echo Effects</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5.9x</a:t>
                      </a:r>
                    </a:p>
                  </a:txBody>
                  <a:tcPr marL="15506" marR="15506" marT="15506" marB="0" anchor="ctr"/>
                </a:tc>
                <a:extLst>
                  <a:ext uri="{0D108BD9-81ED-4DB2-BD59-A6C34878D82A}">
                    <a16:rowId xmlns:a16="http://schemas.microsoft.com/office/drawing/2014/main" val="2985236826"/>
                  </a:ext>
                </a:extLst>
              </a:tr>
              <a:tr h="213984">
                <a:tc>
                  <a:txBody>
                    <a:bodyPr/>
                    <a:lstStyle/>
                    <a:p>
                      <a:pPr algn="l" rtl="0" fontAlgn="ctr"/>
                      <a:r>
                        <a:rPr lang="en-US" sz="1300" b="0" i="0" u="none" strike="noStrike">
                          <a:solidFill>
                            <a:srgbClr val="000000"/>
                          </a:solidFill>
                          <a:effectLst/>
                          <a:latin typeface="Calibri" panose="020F0502020204030204" pitchFamily="34" charset="0"/>
                        </a:rPr>
                        <a:t>G.728 Code Book Search</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2.7x</a:t>
                      </a:r>
                    </a:p>
                  </a:txBody>
                  <a:tcPr marL="15506" marR="15506" marT="15506" marB="0" anchor="ctr"/>
                </a:tc>
                <a:extLst>
                  <a:ext uri="{0D108BD9-81ED-4DB2-BD59-A6C34878D82A}">
                    <a16:rowId xmlns:a16="http://schemas.microsoft.com/office/drawing/2014/main" val="2726693639"/>
                  </a:ext>
                </a:extLst>
              </a:tr>
              <a:tr h="213984">
                <a:tc>
                  <a:txBody>
                    <a:bodyPr/>
                    <a:lstStyle/>
                    <a:p>
                      <a:pPr algn="l" rtl="0" fontAlgn="ctr"/>
                      <a:r>
                        <a:rPr lang="en-US" sz="1300" b="0" i="0" u="none" strike="noStrike">
                          <a:solidFill>
                            <a:srgbClr val="000000"/>
                          </a:solidFill>
                          <a:effectLst/>
                          <a:latin typeface="Calibri" panose="020F0502020204030204" pitchFamily="34" charset="0"/>
                        </a:rPr>
                        <a:t>DSP Kernels</a:t>
                      </a:r>
                    </a:p>
                  </a:txBody>
                  <a:tcPr marL="15506" marR="15506" marT="15506" marB="0" anchor="ctr">
                    <a:solidFill>
                      <a:schemeClr val="bg2"/>
                    </a:solidFill>
                  </a:tcPr>
                </a:tc>
                <a:tc>
                  <a:txBody>
                    <a:bodyPr/>
                    <a:lstStyle/>
                    <a:p>
                      <a:pPr algn="l" fontAlgn="ctr"/>
                      <a:r>
                        <a:rPr lang="en-US" sz="1300" b="0" i="0" u="none" strike="noStrike" dirty="0">
                          <a:solidFill>
                            <a:srgbClr val="000000"/>
                          </a:solidFill>
                          <a:effectLst/>
                          <a:latin typeface="Calibri" panose="020F0502020204030204" pitchFamily="34" charset="0"/>
                        </a:rPr>
                        <a:t> </a:t>
                      </a:r>
                    </a:p>
                  </a:txBody>
                  <a:tcPr marL="15506" marR="15506" marT="15506" marB="0" anchor="ctr">
                    <a:solidFill>
                      <a:schemeClr val="bg2"/>
                    </a:solidFill>
                  </a:tcPr>
                </a:tc>
                <a:extLst>
                  <a:ext uri="{0D108BD9-81ED-4DB2-BD59-A6C34878D82A}">
                    <a16:rowId xmlns:a16="http://schemas.microsoft.com/office/drawing/2014/main" val="3506913885"/>
                  </a:ext>
                </a:extLst>
              </a:tr>
              <a:tr h="213984">
                <a:tc>
                  <a:txBody>
                    <a:bodyPr/>
                    <a:lstStyle/>
                    <a:p>
                      <a:pPr algn="l" rtl="0" fontAlgn="ctr"/>
                      <a:r>
                        <a:rPr lang="fr-FR" sz="1300" b="0" i="0" u="none" strike="noStrike">
                          <a:solidFill>
                            <a:srgbClr val="000000"/>
                          </a:solidFill>
                          <a:effectLst/>
                          <a:latin typeface="Calibri" panose="020F0502020204030204" pitchFamily="34" charset="0"/>
                        </a:rPr>
                        <a:t>Efficient Vector/Matrix Multiply Routine</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14.6x</a:t>
                      </a:r>
                    </a:p>
                  </a:txBody>
                  <a:tcPr marL="15506" marR="15506" marT="15506" marB="0" anchor="ctr"/>
                </a:tc>
                <a:extLst>
                  <a:ext uri="{0D108BD9-81ED-4DB2-BD59-A6C34878D82A}">
                    <a16:rowId xmlns:a16="http://schemas.microsoft.com/office/drawing/2014/main" val="322494799"/>
                  </a:ext>
                </a:extLst>
              </a:tr>
              <a:tr h="213984">
                <a:tc>
                  <a:txBody>
                    <a:bodyPr/>
                    <a:lstStyle/>
                    <a:p>
                      <a:pPr algn="l" rtl="0" fontAlgn="ctr"/>
                      <a:r>
                        <a:rPr lang="en-US" sz="1300" b="0" i="0" u="none" strike="noStrike">
                          <a:solidFill>
                            <a:srgbClr val="000000"/>
                          </a:solidFill>
                          <a:effectLst/>
                          <a:latin typeface="Calibri" panose="020F0502020204030204" pitchFamily="34" charset="0"/>
                        </a:rPr>
                        <a:t>Matrix Transpose</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2x</a:t>
                      </a:r>
                    </a:p>
                  </a:txBody>
                  <a:tcPr marL="15506" marR="15506" marT="15506" marB="0" anchor="ctr"/>
                </a:tc>
                <a:extLst>
                  <a:ext uri="{0D108BD9-81ED-4DB2-BD59-A6C34878D82A}">
                    <a16:rowId xmlns:a16="http://schemas.microsoft.com/office/drawing/2014/main" val="578429156"/>
                  </a:ext>
                </a:extLst>
              </a:tr>
              <a:tr h="213984">
                <a:tc>
                  <a:txBody>
                    <a:bodyPr/>
                    <a:lstStyle/>
                    <a:p>
                      <a:pPr algn="l" rtl="0" fontAlgn="ctr"/>
                      <a:r>
                        <a:rPr lang="en-US" sz="1300" b="0" i="0" u="none" strike="noStrike">
                          <a:solidFill>
                            <a:srgbClr val="000000"/>
                          </a:solidFill>
                          <a:effectLst/>
                          <a:latin typeface="Calibri" panose="020F0502020204030204" pitchFamily="34" charset="0"/>
                        </a:rPr>
                        <a:t>Dot Product - 16x16 -&gt; 32</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5x</a:t>
                      </a:r>
                    </a:p>
                  </a:txBody>
                  <a:tcPr marL="15506" marR="15506" marT="15506" marB="0" anchor="ctr"/>
                </a:tc>
                <a:extLst>
                  <a:ext uri="{0D108BD9-81ED-4DB2-BD59-A6C34878D82A}">
                    <a16:rowId xmlns:a16="http://schemas.microsoft.com/office/drawing/2014/main" val="74158758"/>
                  </a:ext>
                </a:extLst>
              </a:tr>
              <a:tr h="213984">
                <a:tc>
                  <a:txBody>
                    <a:bodyPr/>
                    <a:lstStyle/>
                    <a:p>
                      <a:pPr algn="l" rtl="0" fontAlgn="ctr"/>
                      <a:r>
                        <a:rPr lang="en-US" sz="1300" b="0" i="0" u="none" strike="noStrike">
                          <a:solidFill>
                            <a:srgbClr val="000000"/>
                          </a:solidFill>
                          <a:effectLst/>
                          <a:latin typeface="Calibri" panose="020F0502020204030204" pitchFamily="34" charset="0"/>
                        </a:rPr>
                        <a:t>Real FIR - 16 bit</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5x</a:t>
                      </a:r>
                    </a:p>
                  </a:txBody>
                  <a:tcPr marL="15506" marR="15506" marT="15506" marB="0" anchor="ctr"/>
                </a:tc>
                <a:extLst>
                  <a:ext uri="{0D108BD9-81ED-4DB2-BD59-A6C34878D82A}">
                    <a16:rowId xmlns:a16="http://schemas.microsoft.com/office/drawing/2014/main" val="2068576285"/>
                  </a:ext>
                </a:extLst>
              </a:tr>
              <a:tr h="213984">
                <a:tc>
                  <a:txBody>
                    <a:bodyPr/>
                    <a:lstStyle/>
                    <a:p>
                      <a:pPr algn="l" rtl="0" fontAlgn="ctr"/>
                      <a:r>
                        <a:rPr lang="en-US" sz="1300" b="0" i="0" u="none" strike="noStrike">
                          <a:solidFill>
                            <a:srgbClr val="000000"/>
                          </a:solidFill>
                          <a:effectLst/>
                          <a:latin typeface="Calibri" panose="020F0502020204030204" pitchFamily="34" charset="0"/>
                        </a:rPr>
                        <a:t>Vector Arithmetic and Logic Operations</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6x</a:t>
                      </a:r>
                    </a:p>
                  </a:txBody>
                  <a:tcPr marL="15506" marR="15506" marT="15506" marB="0" anchor="ctr"/>
                </a:tc>
                <a:extLst>
                  <a:ext uri="{0D108BD9-81ED-4DB2-BD59-A6C34878D82A}">
                    <a16:rowId xmlns:a16="http://schemas.microsoft.com/office/drawing/2014/main" val="2611134299"/>
                  </a:ext>
                </a:extLst>
              </a:tr>
              <a:tr h="213984">
                <a:tc>
                  <a:txBody>
                    <a:bodyPr/>
                    <a:lstStyle/>
                    <a:p>
                      <a:pPr algn="l" rtl="0" fontAlgn="ctr"/>
                      <a:r>
                        <a:rPr lang="en-US" sz="1300" b="0" i="0" u="none" strike="noStrike">
                          <a:solidFill>
                            <a:srgbClr val="000000"/>
                          </a:solidFill>
                          <a:effectLst/>
                          <a:latin typeface="Calibri" panose="020F0502020204030204" pitchFamily="34" charset="0"/>
                        </a:rPr>
                        <a:t>Graphics (2D)</a:t>
                      </a:r>
                    </a:p>
                  </a:txBody>
                  <a:tcPr marL="15506" marR="15506" marT="15506" marB="0" anchor="ctr">
                    <a:solidFill>
                      <a:schemeClr val="bg2"/>
                    </a:solidFill>
                  </a:tcPr>
                </a:tc>
                <a:tc>
                  <a:txBody>
                    <a:bodyPr/>
                    <a:lstStyle/>
                    <a:p>
                      <a:pPr algn="l" fontAlgn="ctr"/>
                      <a:r>
                        <a:rPr lang="en-US" sz="1300" b="0" i="0" u="none" strike="noStrike" dirty="0">
                          <a:solidFill>
                            <a:srgbClr val="000000"/>
                          </a:solidFill>
                          <a:effectLst/>
                          <a:latin typeface="Calibri" panose="020F0502020204030204" pitchFamily="34" charset="0"/>
                        </a:rPr>
                        <a:t> </a:t>
                      </a:r>
                    </a:p>
                  </a:txBody>
                  <a:tcPr marL="15506" marR="15506" marT="15506" marB="0" anchor="ctr">
                    <a:solidFill>
                      <a:schemeClr val="bg2"/>
                    </a:solidFill>
                  </a:tcPr>
                </a:tc>
                <a:extLst>
                  <a:ext uri="{0D108BD9-81ED-4DB2-BD59-A6C34878D82A}">
                    <a16:rowId xmlns:a16="http://schemas.microsoft.com/office/drawing/2014/main" val="3326374804"/>
                  </a:ext>
                </a:extLst>
              </a:tr>
              <a:tr h="213984">
                <a:tc>
                  <a:txBody>
                    <a:bodyPr/>
                    <a:lstStyle/>
                    <a:p>
                      <a:pPr algn="l" rtl="0" fontAlgn="ctr"/>
                      <a:r>
                        <a:rPr lang="en-US" sz="1300" b="0" i="0" u="none" strike="noStrike">
                          <a:solidFill>
                            <a:srgbClr val="000000"/>
                          </a:solidFill>
                          <a:effectLst/>
                          <a:latin typeface="Calibri" panose="020F0502020204030204" pitchFamily="34" charset="0"/>
                        </a:rPr>
                        <a:t>Fractals with MMX Technology</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1.5x</a:t>
                      </a:r>
                    </a:p>
                  </a:txBody>
                  <a:tcPr marL="15506" marR="15506" marT="15506" marB="0" anchor="ctr"/>
                </a:tc>
                <a:extLst>
                  <a:ext uri="{0D108BD9-81ED-4DB2-BD59-A6C34878D82A}">
                    <a16:rowId xmlns:a16="http://schemas.microsoft.com/office/drawing/2014/main" val="1944854962"/>
                  </a:ext>
                </a:extLst>
              </a:tr>
              <a:tr h="213984">
                <a:tc>
                  <a:txBody>
                    <a:bodyPr/>
                    <a:lstStyle/>
                    <a:p>
                      <a:pPr algn="l" rtl="0" fontAlgn="ctr"/>
                      <a:r>
                        <a:rPr lang="en-US" sz="1300" b="0" i="0" u="none" strike="noStrike">
                          <a:solidFill>
                            <a:srgbClr val="000000"/>
                          </a:solidFill>
                          <a:effectLst/>
                          <a:latin typeface="Calibri" panose="020F0502020204030204" pitchFamily="34" charset="0"/>
                        </a:rPr>
                        <a:t>Graphics (3D)</a:t>
                      </a:r>
                    </a:p>
                  </a:txBody>
                  <a:tcPr marL="15506" marR="15506" marT="15506" marB="0" anchor="ctr">
                    <a:solidFill>
                      <a:schemeClr val="bg2"/>
                    </a:solidFill>
                  </a:tcPr>
                </a:tc>
                <a:tc>
                  <a:txBody>
                    <a:bodyPr/>
                    <a:lstStyle/>
                    <a:p>
                      <a:pPr algn="l" fontAlgn="ctr"/>
                      <a:r>
                        <a:rPr lang="en-US" sz="1300" b="0" i="0" u="none" strike="noStrike" dirty="0">
                          <a:solidFill>
                            <a:srgbClr val="000000"/>
                          </a:solidFill>
                          <a:effectLst/>
                          <a:latin typeface="Calibri" panose="020F0502020204030204" pitchFamily="34" charset="0"/>
                        </a:rPr>
                        <a:t> </a:t>
                      </a:r>
                    </a:p>
                  </a:txBody>
                  <a:tcPr marL="15506" marR="15506" marT="15506" marB="0" anchor="ctr">
                    <a:solidFill>
                      <a:schemeClr val="bg2"/>
                    </a:solidFill>
                  </a:tcPr>
                </a:tc>
                <a:extLst>
                  <a:ext uri="{0D108BD9-81ED-4DB2-BD59-A6C34878D82A}">
                    <a16:rowId xmlns:a16="http://schemas.microsoft.com/office/drawing/2014/main" val="931301246"/>
                  </a:ext>
                </a:extLst>
              </a:tr>
              <a:tr h="213984">
                <a:tc>
                  <a:txBody>
                    <a:bodyPr/>
                    <a:lstStyle/>
                    <a:p>
                      <a:pPr algn="l" rtl="0" fontAlgn="ctr"/>
                      <a:r>
                        <a:rPr lang="en-US" sz="1300" b="0" i="0" u="none" strike="noStrike">
                          <a:solidFill>
                            <a:srgbClr val="000000"/>
                          </a:solidFill>
                          <a:effectLst/>
                          <a:latin typeface="Calibri" panose="020F0502020204030204" pitchFamily="34" charset="0"/>
                        </a:rPr>
                        <a:t>Advanced Procedural Texturing</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10x</a:t>
                      </a:r>
                    </a:p>
                  </a:txBody>
                  <a:tcPr marL="15506" marR="15506" marT="15506" marB="0" anchor="ctr"/>
                </a:tc>
                <a:extLst>
                  <a:ext uri="{0D108BD9-81ED-4DB2-BD59-A6C34878D82A}">
                    <a16:rowId xmlns:a16="http://schemas.microsoft.com/office/drawing/2014/main" val="3377515314"/>
                  </a:ext>
                </a:extLst>
              </a:tr>
              <a:tr h="213984">
                <a:tc>
                  <a:txBody>
                    <a:bodyPr/>
                    <a:lstStyle/>
                    <a:p>
                      <a:pPr algn="l" rtl="0" fontAlgn="ctr"/>
                      <a:r>
                        <a:rPr lang="en-US" sz="1300" b="0" i="0" u="none" strike="noStrike">
                          <a:solidFill>
                            <a:srgbClr val="000000"/>
                          </a:solidFill>
                          <a:effectLst/>
                          <a:latin typeface="Calibri" panose="020F0502020204030204" pitchFamily="34" charset="0"/>
                        </a:rPr>
                        <a:t>3D Bilinear Texture Mapping</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7x</a:t>
                      </a:r>
                    </a:p>
                  </a:txBody>
                  <a:tcPr marL="15506" marR="15506" marT="15506" marB="0" anchor="ctr"/>
                </a:tc>
                <a:extLst>
                  <a:ext uri="{0D108BD9-81ED-4DB2-BD59-A6C34878D82A}">
                    <a16:rowId xmlns:a16="http://schemas.microsoft.com/office/drawing/2014/main" val="1794725491"/>
                  </a:ext>
                </a:extLst>
              </a:tr>
              <a:tr h="213984">
                <a:tc>
                  <a:txBody>
                    <a:bodyPr/>
                    <a:lstStyle/>
                    <a:p>
                      <a:pPr algn="l" rtl="0" fontAlgn="ctr"/>
                      <a:r>
                        <a:rPr lang="en-US" sz="1300" b="0" i="0" u="none" strike="noStrike">
                          <a:solidFill>
                            <a:srgbClr val="000000"/>
                          </a:solidFill>
                          <a:effectLst/>
                          <a:latin typeface="Calibri" panose="020F0502020204030204" pitchFamily="34" charset="0"/>
                        </a:rPr>
                        <a:t>3D Transform</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3.1x</a:t>
                      </a:r>
                    </a:p>
                  </a:txBody>
                  <a:tcPr marL="15506" marR="15506" marT="15506" marB="0" anchor="ctr"/>
                </a:tc>
                <a:extLst>
                  <a:ext uri="{0D108BD9-81ED-4DB2-BD59-A6C34878D82A}">
                    <a16:rowId xmlns:a16="http://schemas.microsoft.com/office/drawing/2014/main" val="2369299010"/>
                  </a:ext>
                </a:extLst>
              </a:tr>
              <a:tr h="213984">
                <a:tc>
                  <a:txBody>
                    <a:bodyPr/>
                    <a:lstStyle/>
                    <a:p>
                      <a:pPr algn="l" rtl="0" fontAlgn="ctr"/>
                      <a:r>
                        <a:rPr lang="en-US" sz="1300" b="0" i="0" u="none" strike="noStrike">
                          <a:solidFill>
                            <a:srgbClr val="000000"/>
                          </a:solidFill>
                          <a:effectLst/>
                          <a:latin typeface="Calibri" panose="020F0502020204030204" pitchFamily="34" charset="0"/>
                        </a:rPr>
                        <a:t>Image Processing</a:t>
                      </a:r>
                    </a:p>
                  </a:txBody>
                  <a:tcPr marL="15506" marR="15506" marT="15506" marB="0" anchor="ctr">
                    <a:solidFill>
                      <a:schemeClr val="bg2"/>
                    </a:solidFill>
                  </a:tcPr>
                </a:tc>
                <a:tc>
                  <a:txBody>
                    <a:bodyPr/>
                    <a:lstStyle/>
                    <a:p>
                      <a:pPr algn="l" fontAlgn="ctr"/>
                      <a:r>
                        <a:rPr lang="en-US" sz="1300" b="0" i="0" u="none" strike="noStrike" dirty="0">
                          <a:solidFill>
                            <a:srgbClr val="000000"/>
                          </a:solidFill>
                          <a:effectLst/>
                          <a:latin typeface="Calibri" panose="020F0502020204030204" pitchFamily="34" charset="0"/>
                        </a:rPr>
                        <a:t> </a:t>
                      </a:r>
                    </a:p>
                  </a:txBody>
                  <a:tcPr marL="15506" marR="15506" marT="15506" marB="0" anchor="ctr">
                    <a:solidFill>
                      <a:schemeClr val="bg2"/>
                    </a:solidFill>
                  </a:tcPr>
                </a:tc>
                <a:extLst>
                  <a:ext uri="{0D108BD9-81ED-4DB2-BD59-A6C34878D82A}">
                    <a16:rowId xmlns:a16="http://schemas.microsoft.com/office/drawing/2014/main" val="3361618907"/>
                  </a:ext>
                </a:extLst>
              </a:tr>
              <a:tr h="213984">
                <a:tc>
                  <a:txBody>
                    <a:bodyPr/>
                    <a:lstStyle/>
                    <a:p>
                      <a:pPr algn="l" rtl="0" fontAlgn="ctr"/>
                      <a:r>
                        <a:rPr lang="en-US" sz="1300" b="0" i="0" u="none" strike="noStrike">
                          <a:solidFill>
                            <a:srgbClr val="000000"/>
                          </a:solidFill>
                          <a:effectLst/>
                          <a:latin typeface="Calibri" panose="020F0502020204030204" pitchFamily="34" charset="0"/>
                        </a:rPr>
                        <a:t>2X 8-bit Image Scaling</a:t>
                      </a:r>
                    </a:p>
                  </a:txBody>
                  <a:tcPr marL="15506" marR="15506" marT="15506" marB="0" anchor="ctr"/>
                </a:tc>
                <a:tc>
                  <a:txBody>
                    <a:bodyPr/>
                    <a:lstStyle/>
                    <a:p>
                      <a:pPr algn="l" rtl="0" fontAlgn="ctr"/>
                      <a:r>
                        <a:rPr lang="en-US" sz="1300" b="0" i="0" u="none" strike="noStrike" dirty="0">
                          <a:solidFill>
                            <a:srgbClr val="000000"/>
                          </a:solidFill>
                          <a:effectLst/>
                          <a:latin typeface="Calibri" panose="020F0502020204030204" pitchFamily="34" charset="0"/>
                        </a:rPr>
                        <a:t>13.5x</a:t>
                      </a:r>
                    </a:p>
                  </a:txBody>
                  <a:tcPr marL="15506" marR="15506" marT="15506" marB="0" anchor="ctr"/>
                </a:tc>
                <a:extLst>
                  <a:ext uri="{0D108BD9-81ED-4DB2-BD59-A6C34878D82A}">
                    <a16:rowId xmlns:a16="http://schemas.microsoft.com/office/drawing/2014/main" val="2492785955"/>
                  </a:ext>
                </a:extLst>
              </a:tr>
              <a:tr h="213984">
                <a:tc>
                  <a:txBody>
                    <a:bodyPr/>
                    <a:lstStyle/>
                    <a:p>
                      <a:pPr algn="l" rtl="0" fontAlgn="ctr"/>
                      <a:r>
                        <a:rPr lang="en-US" sz="1300" b="0" i="0" u="none" strike="noStrike">
                          <a:solidFill>
                            <a:srgbClr val="000000"/>
                          </a:solidFill>
                          <a:effectLst/>
                          <a:latin typeface="Calibri" panose="020F0502020204030204" pitchFamily="34" charset="0"/>
                        </a:rPr>
                        <a:t>Bilinear Interpolation</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3.9x</a:t>
                      </a:r>
                    </a:p>
                  </a:txBody>
                  <a:tcPr marL="15506" marR="15506" marT="15506" marB="0" anchor="ctr"/>
                </a:tc>
                <a:extLst>
                  <a:ext uri="{0D108BD9-81ED-4DB2-BD59-A6C34878D82A}">
                    <a16:rowId xmlns:a16="http://schemas.microsoft.com/office/drawing/2014/main" val="669412664"/>
                  </a:ext>
                </a:extLst>
              </a:tr>
              <a:tr h="213984">
                <a:tc>
                  <a:txBody>
                    <a:bodyPr/>
                    <a:lstStyle/>
                    <a:p>
                      <a:pPr algn="l" rtl="0" fontAlgn="ctr"/>
                      <a:r>
                        <a:rPr lang="en-US" sz="1300" b="0" i="0" u="none" strike="noStrike">
                          <a:solidFill>
                            <a:srgbClr val="000000"/>
                          </a:solidFill>
                          <a:effectLst/>
                          <a:latin typeface="Calibri" panose="020F0502020204030204" pitchFamily="34" charset="0"/>
                        </a:rPr>
                        <a:t>Median Filter</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3.8x</a:t>
                      </a:r>
                    </a:p>
                  </a:txBody>
                  <a:tcPr marL="15506" marR="15506" marT="15506" marB="0" anchor="ctr"/>
                </a:tc>
                <a:extLst>
                  <a:ext uri="{0D108BD9-81ED-4DB2-BD59-A6C34878D82A}">
                    <a16:rowId xmlns:a16="http://schemas.microsoft.com/office/drawing/2014/main" val="236255696"/>
                  </a:ext>
                </a:extLst>
              </a:tr>
              <a:tr h="213984">
                <a:tc>
                  <a:txBody>
                    <a:bodyPr/>
                    <a:lstStyle/>
                    <a:p>
                      <a:pPr algn="l" rtl="0" fontAlgn="ctr"/>
                      <a:r>
                        <a:rPr lang="en-US" sz="1300" b="0" i="0" u="none" strike="noStrike">
                          <a:solidFill>
                            <a:srgbClr val="000000"/>
                          </a:solidFill>
                          <a:effectLst/>
                          <a:latin typeface="Calibri" panose="020F0502020204030204" pitchFamily="34" charset="0"/>
                        </a:rPr>
                        <a:t>Alpha Blending</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8x</a:t>
                      </a:r>
                    </a:p>
                  </a:txBody>
                  <a:tcPr marL="15506" marR="15506" marT="15506" marB="0" anchor="ctr"/>
                </a:tc>
                <a:extLst>
                  <a:ext uri="{0D108BD9-81ED-4DB2-BD59-A6C34878D82A}">
                    <a16:rowId xmlns:a16="http://schemas.microsoft.com/office/drawing/2014/main" val="3361471326"/>
                  </a:ext>
                </a:extLst>
              </a:tr>
              <a:tr h="213984">
                <a:tc>
                  <a:txBody>
                    <a:bodyPr/>
                    <a:lstStyle/>
                    <a:p>
                      <a:pPr algn="l" rtl="0" fontAlgn="ctr"/>
                      <a:r>
                        <a:rPr lang="en-US" sz="1300" b="0" i="0" u="none" strike="noStrike">
                          <a:solidFill>
                            <a:srgbClr val="000000"/>
                          </a:solidFill>
                          <a:effectLst/>
                          <a:latin typeface="Calibri" panose="020F0502020204030204" pitchFamily="34" charset="0"/>
                        </a:rPr>
                        <a:t>RGB -&gt; YUV</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&gt; 10x</a:t>
                      </a:r>
                    </a:p>
                  </a:txBody>
                  <a:tcPr marL="15506" marR="15506" marT="15506" marB="0" anchor="ctr"/>
                </a:tc>
                <a:extLst>
                  <a:ext uri="{0D108BD9-81ED-4DB2-BD59-A6C34878D82A}">
                    <a16:rowId xmlns:a16="http://schemas.microsoft.com/office/drawing/2014/main" val="581577418"/>
                  </a:ext>
                </a:extLst>
              </a:tr>
              <a:tr h="213984">
                <a:tc>
                  <a:txBody>
                    <a:bodyPr/>
                    <a:lstStyle/>
                    <a:p>
                      <a:pPr algn="l" rtl="0" fontAlgn="ctr"/>
                      <a:r>
                        <a:rPr lang="en-US" sz="1300" b="0" i="0" u="none" strike="noStrike">
                          <a:solidFill>
                            <a:srgbClr val="000000"/>
                          </a:solidFill>
                          <a:effectLst/>
                          <a:latin typeface="Calibri" panose="020F0502020204030204" pitchFamily="34" charset="0"/>
                        </a:rPr>
                        <a:t>Speech Recognition</a:t>
                      </a:r>
                    </a:p>
                  </a:txBody>
                  <a:tcPr marL="15506" marR="15506" marT="15506" marB="0" anchor="ctr">
                    <a:solidFill>
                      <a:schemeClr val="bg2"/>
                    </a:solidFill>
                  </a:tcPr>
                </a:tc>
                <a:tc>
                  <a:txBody>
                    <a:bodyPr/>
                    <a:lstStyle/>
                    <a:p>
                      <a:pPr algn="l" fontAlgn="ctr"/>
                      <a:r>
                        <a:rPr lang="en-US" sz="1300" b="0" i="0" u="none" strike="noStrike" dirty="0">
                          <a:solidFill>
                            <a:srgbClr val="000000"/>
                          </a:solidFill>
                          <a:effectLst/>
                          <a:latin typeface="Calibri" panose="020F0502020204030204" pitchFamily="34" charset="0"/>
                        </a:rPr>
                        <a:t> </a:t>
                      </a:r>
                    </a:p>
                  </a:txBody>
                  <a:tcPr marL="15506" marR="15506" marT="15506" marB="0" anchor="ctr">
                    <a:solidFill>
                      <a:schemeClr val="bg2"/>
                    </a:solidFill>
                  </a:tcPr>
                </a:tc>
                <a:extLst>
                  <a:ext uri="{0D108BD9-81ED-4DB2-BD59-A6C34878D82A}">
                    <a16:rowId xmlns:a16="http://schemas.microsoft.com/office/drawing/2014/main" val="3312864055"/>
                  </a:ext>
                </a:extLst>
              </a:tr>
              <a:tr h="213984">
                <a:tc>
                  <a:txBody>
                    <a:bodyPr/>
                    <a:lstStyle/>
                    <a:p>
                      <a:pPr algn="l" rtl="0" fontAlgn="ctr"/>
                      <a:r>
                        <a:rPr lang="en-US" sz="1300" b="0" i="0" u="none" strike="noStrike">
                          <a:solidFill>
                            <a:srgbClr val="000000"/>
                          </a:solidFill>
                          <a:effectLst/>
                          <a:latin typeface="Calibri" panose="020F0502020204030204" pitchFamily="34" charset="0"/>
                        </a:rPr>
                        <a:t>Viterbi Decoding</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2x</a:t>
                      </a:r>
                    </a:p>
                  </a:txBody>
                  <a:tcPr marL="15506" marR="15506" marT="15506" marB="0" anchor="ctr"/>
                </a:tc>
                <a:extLst>
                  <a:ext uri="{0D108BD9-81ED-4DB2-BD59-A6C34878D82A}">
                    <a16:rowId xmlns:a16="http://schemas.microsoft.com/office/drawing/2014/main" val="759224673"/>
                  </a:ext>
                </a:extLst>
              </a:tr>
              <a:tr h="213984">
                <a:tc>
                  <a:txBody>
                    <a:bodyPr/>
                    <a:lstStyle/>
                    <a:p>
                      <a:pPr algn="l" rtl="0" fontAlgn="ctr"/>
                      <a:r>
                        <a:rPr lang="en-US" sz="1300" b="0" i="0" u="none" strike="noStrike">
                          <a:solidFill>
                            <a:srgbClr val="000000"/>
                          </a:solidFill>
                          <a:effectLst/>
                          <a:latin typeface="Calibri" panose="020F0502020204030204" pitchFamily="34" charset="0"/>
                        </a:rPr>
                        <a:t>L1 Distance Measure</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3.3x</a:t>
                      </a:r>
                    </a:p>
                  </a:txBody>
                  <a:tcPr marL="15506" marR="15506" marT="15506" marB="0" anchor="ctr"/>
                </a:tc>
                <a:extLst>
                  <a:ext uri="{0D108BD9-81ED-4DB2-BD59-A6C34878D82A}">
                    <a16:rowId xmlns:a16="http://schemas.microsoft.com/office/drawing/2014/main" val="588190323"/>
                  </a:ext>
                </a:extLst>
              </a:tr>
              <a:tr h="213984">
                <a:tc>
                  <a:txBody>
                    <a:bodyPr/>
                    <a:lstStyle/>
                    <a:p>
                      <a:pPr algn="l" rtl="0" fontAlgn="ctr"/>
                      <a:r>
                        <a:rPr lang="en-US" sz="1300" b="0" i="0" u="none" strike="noStrike">
                          <a:solidFill>
                            <a:srgbClr val="000000"/>
                          </a:solidFill>
                          <a:effectLst/>
                          <a:latin typeface="Calibri" panose="020F0502020204030204" pitchFamily="34" charset="0"/>
                        </a:rPr>
                        <a:t>L2 Norm Distance Measure</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7.3x</a:t>
                      </a:r>
                    </a:p>
                  </a:txBody>
                  <a:tcPr marL="15506" marR="15506" marT="15506" marB="0" anchor="ctr"/>
                </a:tc>
                <a:extLst>
                  <a:ext uri="{0D108BD9-81ED-4DB2-BD59-A6C34878D82A}">
                    <a16:rowId xmlns:a16="http://schemas.microsoft.com/office/drawing/2014/main" val="54731213"/>
                  </a:ext>
                </a:extLst>
              </a:tr>
              <a:tr h="213984">
                <a:tc>
                  <a:txBody>
                    <a:bodyPr/>
                    <a:lstStyle/>
                    <a:p>
                      <a:pPr algn="l" rtl="0" fontAlgn="ctr"/>
                      <a:r>
                        <a:rPr lang="en-US" sz="1300" b="0" i="0" u="none" strike="noStrike">
                          <a:solidFill>
                            <a:srgbClr val="000000"/>
                          </a:solidFill>
                          <a:effectLst/>
                          <a:latin typeface="Calibri" panose="020F0502020204030204" pitchFamily="34" charset="0"/>
                        </a:rPr>
                        <a:t>Video</a:t>
                      </a:r>
                    </a:p>
                  </a:txBody>
                  <a:tcPr marL="15506" marR="15506" marT="15506" marB="0" anchor="ctr">
                    <a:solidFill>
                      <a:schemeClr val="bg2"/>
                    </a:solidFill>
                  </a:tcPr>
                </a:tc>
                <a:tc>
                  <a:txBody>
                    <a:bodyPr/>
                    <a:lstStyle/>
                    <a:p>
                      <a:pPr algn="l" fontAlgn="ctr"/>
                      <a:r>
                        <a:rPr lang="en-US" sz="1300" b="0" i="0" u="none" strike="noStrike" dirty="0">
                          <a:solidFill>
                            <a:srgbClr val="000000"/>
                          </a:solidFill>
                          <a:effectLst/>
                          <a:latin typeface="Calibri" panose="020F0502020204030204" pitchFamily="34" charset="0"/>
                        </a:rPr>
                        <a:t> </a:t>
                      </a:r>
                    </a:p>
                  </a:txBody>
                  <a:tcPr marL="15506" marR="15506" marT="15506" marB="0" anchor="ctr">
                    <a:solidFill>
                      <a:schemeClr val="bg2"/>
                    </a:solidFill>
                  </a:tcPr>
                </a:tc>
                <a:extLst>
                  <a:ext uri="{0D108BD9-81ED-4DB2-BD59-A6C34878D82A}">
                    <a16:rowId xmlns:a16="http://schemas.microsoft.com/office/drawing/2014/main" val="2352996381"/>
                  </a:ext>
                </a:extLst>
              </a:tr>
              <a:tr h="213984">
                <a:tc>
                  <a:txBody>
                    <a:bodyPr/>
                    <a:lstStyle/>
                    <a:p>
                      <a:pPr algn="l" rtl="0" fontAlgn="ctr"/>
                      <a:r>
                        <a:rPr lang="en-US" sz="1300" b="0" i="0" u="none" strike="noStrike">
                          <a:solidFill>
                            <a:srgbClr val="000000"/>
                          </a:solidFill>
                          <a:effectLst/>
                          <a:latin typeface="Calibri" panose="020F0502020204030204" pitchFamily="34" charset="0"/>
                        </a:rPr>
                        <a:t>IDCT 2D 8x8</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3.5x</a:t>
                      </a:r>
                    </a:p>
                  </a:txBody>
                  <a:tcPr marL="15506" marR="15506" marT="15506" marB="0" anchor="ctr"/>
                </a:tc>
                <a:extLst>
                  <a:ext uri="{0D108BD9-81ED-4DB2-BD59-A6C34878D82A}">
                    <a16:rowId xmlns:a16="http://schemas.microsoft.com/office/drawing/2014/main" val="124362127"/>
                  </a:ext>
                </a:extLst>
              </a:tr>
              <a:tr h="213984">
                <a:tc>
                  <a:txBody>
                    <a:bodyPr/>
                    <a:lstStyle/>
                    <a:p>
                      <a:pPr algn="l" rtl="0" fontAlgn="ctr"/>
                      <a:r>
                        <a:rPr lang="en-US" sz="1300" b="0" i="0" u="none" strike="noStrike">
                          <a:solidFill>
                            <a:srgbClr val="000000"/>
                          </a:solidFill>
                          <a:effectLst/>
                          <a:latin typeface="Calibri" panose="020F0502020204030204" pitchFamily="34" charset="0"/>
                        </a:rPr>
                        <a:t>Absolute Difference</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5x</a:t>
                      </a:r>
                    </a:p>
                  </a:txBody>
                  <a:tcPr marL="15506" marR="15506" marT="15506" marB="0" anchor="ctr"/>
                </a:tc>
                <a:extLst>
                  <a:ext uri="{0D108BD9-81ED-4DB2-BD59-A6C34878D82A}">
                    <a16:rowId xmlns:a16="http://schemas.microsoft.com/office/drawing/2014/main" val="2749772623"/>
                  </a:ext>
                </a:extLst>
              </a:tr>
              <a:tr h="213984">
                <a:tc>
                  <a:txBody>
                    <a:bodyPr/>
                    <a:lstStyle/>
                    <a:p>
                      <a:pPr algn="l" rtl="0" fontAlgn="ctr"/>
                      <a:r>
                        <a:rPr lang="en-US" sz="1300" b="0" i="0" u="none" strike="noStrike">
                          <a:solidFill>
                            <a:srgbClr val="000000"/>
                          </a:solidFill>
                          <a:effectLst/>
                          <a:latin typeface="Calibri" panose="020F0502020204030204" pitchFamily="34" charset="0"/>
                        </a:rPr>
                        <a:t>Haar Transform - 2x2</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2.2x</a:t>
                      </a:r>
                    </a:p>
                  </a:txBody>
                  <a:tcPr marL="15506" marR="15506" marT="15506" marB="0" anchor="ctr"/>
                </a:tc>
                <a:extLst>
                  <a:ext uri="{0D108BD9-81ED-4DB2-BD59-A6C34878D82A}">
                    <a16:rowId xmlns:a16="http://schemas.microsoft.com/office/drawing/2014/main" val="15273378"/>
                  </a:ext>
                </a:extLst>
              </a:tr>
              <a:tr h="213984">
                <a:tc>
                  <a:txBody>
                    <a:bodyPr/>
                    <a:lstStyle/>
                    <a:p>
                      <a:pPr algn="l" rtl="0" fontAlgn="ctr"/>
                      <a:r>
                        <a:rPr lang="en-US" sz="1300" b="0" i="0" u="none" strike="noStrike">
                          <a:solidFill>
                            <a:srgbClr val="000000"/>
                          </a:solidFill>
                          <a:effectLst/>
                          <a:latin typeface="Calibri" panose="020F0502020204030204" pitchFamily="34" charset="0"/>
                        </a:rPr>
                        <a:t>Get Bits</a:t>
                      </a:r>
                    </a:p>
                  </a:txBody>
                  <a:tcPr marL="15506" marR="15506" marT="15506" marB="0" anchor="ctr"/>
                </a:tc>
                <a:tc>
                  <a:txBody>
                    <a:bodyPr/>
                    <a:lstStyle/>
                    <a:p>
                      <a:pPr algn="l" rtl="0" fontAlgn="ctr"/>
                      <a:r>
                        <a:rPr lang="en-US" sz="1300" b="0" i="0" u="none" strike="noStrike">
                          <a:solidFill>
                            <a:srgbClr val="000000"/>
                          </a:solidFill>
                          <a:effectLst/>
                          <a:latin typeface="Calibri" panose="020F0502020204030204" pitchFamily="34" charset="0"/>
                        </a:rPr>
                        <a:t>2.4x</a:t>
                      </a:r>
                    </a:p>
                  </a:txBody>
                  <a:tcPr marL="15506" marR="15506" marT="15506" marB="0" anchor="ctr"/>
                </a:tc>
                <a:extLst>
                  <a:ext uri="{0D108BD9-81ED-4DB2-BD59-A6C34878D82A}">
                    <a16:rowId xmlns:a16="http://schemas.microsoft.com/office/drawing/2014/main" val="4182972529"/>
                  </a:ext>
                </a:extLst>
              </a:tr>
              <a:tr h="213984">
                <a:tc>
                  <a:txBody>
                    <a:bodyPr/>
                    <a:lstStyle/>
                    <a:p>
                      <a:pPr algn="l" rtl="0" fontAlgn="ctr"/>
                      <a:r>
                        <a:rPr lang="en-US" sz="1300" b="0" i="0" u="none" strike="noStrike">
                          <a:solidFill>
                            <a:srgbClr val="000000"/>
                          </a:solidFill>
                          <a:effectLst/>
                          <a:latin typeface="Calibri" panose="020F0502020204030204" pitchFamily="34" charset="0"/>
                        </a:rPr>
                        <a:t>Video Loop Filter</a:t>
                      </a:r>
                    </a:p>
                  </a:txBody>
                  <a:tcPr marL="15506" marR="15506" marT="15506" marB="0" anchor="ctr"/>
                </a:tc>
                <a:tc>
                  <a:txBody>
                    <a:bodyPr/>
                    <a:lstStyle/>
                    <a:p>
                      <a:pPr algn="l" rtl="0" fontAlgn="ctr"/>
                      <a:r>
                        <a:rPr lang="en-US" sz="1300" b="0" i="0" u="none" strike="noStrike" dirty="0">
                          <a:solidFill>
                            <a:srgbClr val="000000"/>
                          </a:solidFill>
                          <a:effectLst/>
                          <a:latin typeface="Calibri" panose="020F0502020204030204" pitchFamily="34" charset="0"/>
                        </a:rPr>
                        <a:t>1.9</a:t>
                      </a:r>
                    </a:p>
                  </a:txBody>
                  <a:tcPr marL="15506" marR="15506" marT="15506" marB="0" anchor="ctr"/>
                </a:tc>
                <a:extLst>
                  <a:ext uri="{0D108BD9-81ED-4DB2-BD59-A6C34878D82A}">
                    <a16:rowId xmlns:a16="http://schemas.microsoft.com/office/drawing/2014/main" val="1761760492"/>
                  </a:ext>
                </a:extLst>
              </a:tr>
            </a:tbl>
          </a:graphicData>
        </a:graphic>
      </p:graphicFrame>
      <p:sp>
        <p:nvSpPr>
          <p:cNvPr id="5" name="TextBox 4">
            <a:extLst>
              <a:ext uri="{FF2B5EF4-FFF2-40B4-BE49-F238E27FC236}">
                <a16:creationId xmlns:a16="http://schemas.microsoft.com/office/drawing/2014/main" id="{BA150D41-783F-47D2-BB90-78B78BB26FFE}"/>
              </a:ext>
            </a:extLst>
          </p:cNvPr>
          <p:cNvSpPr txBox="1"/>
          <p:nvPr/>
        </p:nvSpPr>
        <p:spPr>
          <a:xfrm>
            <a:off x="461554" y="2394857"/>
            <a:ext cx="3239589" cy="646331"/>
          </a:xfrm>
          <a:prstGeom prst="rect">
            <a:avLst/>
          </a:prstGeom>
          <a:noFill/>
        </p:spPr>
        <p:txBody>
          <a:bodyPr wrap="square" rtlCol="0">
            <a:spAutoFit/>
          </a:bodyPr>
          <a:lstStyle/>
          <a:p>
            <a:r>
              <a:rPr lang="en-US" dirty="0"/>
              <a:t>These are Intel’s numbers – your mileage may vary…</a:t>
            </a:r>
          </a:p>
        </p:txBody>
      </p:sp>
    </p:spTree>
    <p:extLst>
      <p:ext uri="{BB962C8B-B14F-4D97-AF65-F5344CB8AC3E}">
        <p14:creationId xmlns:p14="http://schemas.microsoft.com/office/powerpoint/2010/main" val="34596374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BDD3A-FA7B-490F-91D3-CE378ED1E182}"/>
              </a:ext>
            </a:extLst>
          </p:cNvPr>
          <p:cNvSpPr>
            <a:spLocks noGrp="1"/>
          </p:cNvSpPr>
          <p:nvPr>
            <p:ph type="title"/>
          </p:nvPr>
        </p:nvSpPr>
        <p:spPr/>
        <p:txBody>
          <a:bodyPr/>
          <a:lstStyle/>
          <a:p>
            <a:r>
              <a:rPr lang="en-US" dirty="0"/>
              <a:t>SSE (Streaming SIMD </a:t>
            </a:r>
            <a:r>
              <a:rPr lang="en-US" dirty="0" err="1"/>
              <a:t>Extenstions</a:t>
            </a:r>
            <a:r>
              <a:rPr lang="en-US" dirty="0"/>
              <a:t>)</a:t>
            </a:r>
          </a:p>
        </p:txBody>
      </p:sp>
      <p:sp>
        <p:nvSpPr>
          <p:cNvPr id="3" name="Content Placeholder 2">
            <a:extLst>
              <a:ext uri="{FF2B5EF4-FFF2-40B4-BE49-F238E27FC236}">
                <a16:creationId xmlns:a16="http://schemas.microsoft.com/office/drawing/2014/main" id="{840CA9D1-F224-48A6-9688-0E03C8A3C493}"/>
              </a:ext>
            </a:extLst>
          </p:cNvPr>
          <p:cNvSpPr>
            <a:spLocks noGrp="1"/>
          </p:cNvSpPr>
          <p:nvPr>
            <p:ph idx="1"/>
          </p:nvPr>
        </p:nvSpPr>
        <p:spPr/>
        <p:txBody>
          <a:bodyPr/>
          <a:lstStyle/>
          <a:p>
            <a:pPr marL="0" indent="0">
              <a:buNone/>
            </a:pPr>
            <a:r>
              <a:rPr lang="en-US" dirty="0"/>
              <a:t>MMX was a good idea. SSE was the next generation (1999).</a:t>
            </a:r>
          </a:p>
          <a:p>
            <a:pPr marL="0" indent="0">
              <a:buNone/>
            </a:pPr>
            <a:r>
              <a:rPr lang="en-US" dirty="0"/>
              <a:t>MM0 – MM7 were extended to 128 bit XMM0 – XMM7</a:t>
            </a:r>
          </a:p>
          <a:p>
            <a:pPr marL="0" indent="0">
              <a:buNone/>
            </a:pPr>
            <a:r>
              <a:rPr lang="en-US" dirty="0"/>
              <a:t>Same idea – 16 bytes, 8 words, 4 long words, 2 quadwords</a:t>
            </a:r>
          </a:p>
          <a:p>
            <a:pPr marL="0" indent="0">
              <a:buNone/>
            </a:pPr>
            <a:r>
              <a:rPr lang="en-US" dirty="0"/>
              <a:t>These registers are DIFFERENT from the FP registers. They have to be load/stored on task swap. </a:t>
            </a:r>
          </a:p>
          <a:p>
            <a:pPr marL="0" indent="0">
              <a:buNone/>
            </a:pPr>
            <a:r>
              <a:rPr lang="en-US" dirty="0"/>
              <a:t>New instructions were added to control caching – looping over a lot of data typically pollutes the cache. </a:t>
            </a:r>
          </a:p>
        </p:txBody>
      </p:sp>
    </p:spTree>
    <p:extLst>
      <p:ext uri="{BB962C8B-B14F-4D97-AF65-F5344CB8AC3E}">
        <p14:creationId xmlns:p14="http://schemas.microsoft.com/office/powerpoint/2010/main" val="155045695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AF625-07CB-4B6D-AEA8-8FE2C2E72749}"/>
              </a:ext>
            </a:extLst>
          </p:cNvPr>
          <p:cNvSpPr>
            <a:spLocks noGrp="1"/>
          </p:cNvSpPr>
          <p:nvPr>
            <p:ph type="title"/>
          </p:nvPr>
        </p:nvSpPr>
        <p:spPr/>
        <p:txBody>
          <a:bodyPr/>
          <a:lstStyle/>
          <a:p>
            <a:r>
              <a:rPr lang="en-US" dirty="0"/>
              <a:t>SSE2, SSE3, SSE4</a:t>
            </a:r>
          </a:p>
        </p:txBody>
      </p:sp>
      <p:sp>
        <p:nvSpPr>
          <p:cNvPr id="3" name="Content Placeholder 2">
            <a:extLst>
              <a:ext uri="{FF2B5EF4-FFF2-40B4-BE49-F238E27FC236}">
                <a16:creationId xmlns:a16="http://schemas.microsoft.com/office/drawing/2014/main" id="{99E623AA-C5C7-40DA-8678-E3D5FE746E1B}"/>
              </a:ext>
            </a:extLst>
          </p:cNvPr>
          <p:cNvSpPr>
            <a:spLocks noGrp="1"/>
          </p:cNvSpPr>
          <p:nvPr>
            <p:ph idx="1"/>
          </p:nvPr>
        </p:nvSpPr>
        <p:spPr/>
        <p:txBody>
          <a:bodyPr/>
          <a:lstStyle/>
          <a:p>
            <a:r>
              <a:rPr lang="en-US" dirty="0"/>
              <a:t>SSE2 (2000) added the instructions from MMX to SSE. This frees the FP registers to be “just” FP registers, since developers should no longer write MMX instructions, but their SSE counterparts.</a:t>
            </a:r>
          </a:p>
          <a:p>
            <a:r>
              <a:rPr lang="en-US" dirty="0"/>
              <a:t>SSE3 (2004) adds the ability to add within a “package”</a:t>
            </a:r>
          </a:p>
          <a:p>
            <a:pPr marL="457200" lvl="1" indent="0">
              <a:buNone/>
            </a:pPr>
            <a:r>
              <a:rPr lang="en-US" dirty="0"/>
              <a:t>In MMX, SSE, SSE2, you might have a1=a1+b1, a2=a2+b2</a:t>
            </a:r>
          </a:p>
          <a:p>
            <a:pPr marL="457200" lvl="1" indent="0">
              <a:buNone/>
            </a:pPr>
            <a:r>
              <a:rPr lang="en-US" dirty="0"/>
              <a:t>In SSE3, you can now do: a1=a1+a2, a2=b1+b2</a:t>
            </a:r>
          </a:p>
          <a:p>
            <a:r>
              <a:rPr lang="en-US" dirty="0"/>
              <a:t>SSE4 (2006) adds a number of instructions requested by developers. No significant architectural change.</a:t>
            </a:r>
          </a:p>
          <a:p>
            <a:pPr marL="457200" lvl="1" indent="0">
              <a:buNone/>
            </a:pPr>
            <a:endParaRPr lang="en-US" dirty="0"/>
          </a:p>
          <a:p>
            <a:endParaRPr lang="en-US" dirty="0"/>
          </a:p>
        </p:txBody>
      </p:sp>
    </p:spTree>
    <p:extLst>
      <p:ext uri="{BB962C8B-B14F-4D97-AF65-F5344CB8AC3E}">
        <p14:creationId xmlns:p14="http://schemas.microsoft.com/office/powerpoint/2010/main" val="409937089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6F736-5900-45D3-BB57-64CDCA5E4BF2}"/>
              </a:ext>
            </a:extLst>
          </p:cNvPr>
          <p:cNvSpPr>
            <a:spLocks noGrp="1"/>
          </p:cNvSpPr>
          <p:nvPr>
            <p:ph type="title"/>
          </p:nvPr>
        </p:nvSpPr>
        <p:spPr/>
        <p:txBody>
          <a:bodyPr/>
          <a:lstStyle/>
          <a:p>
            <a:r>
              <a:rPr lang="en-US" dirty="0"/>
              <a:t>AVX, AVX2, AVX512</a:t>
            </a:r>
          </a:p>
        </p:txBody>
      </p:sp>
      <p:sp>
        <p:nvSpPr>
          <p:cNvPr id="3" name="Content Placeholder 2">
            <a:extLst>
              <a:ext uri="{FF2B5EF4-FFF2-40B4-BE49-F238E27FC236}">
                <a16:creationId xmlns:a16="http://schemas.microsoft.com/office/drawing/2014/main" id="{98C8969C-73AD-4011-A7BF-6554BFEF4982}"/>
              </a:ext>
            </a:extLst>
          </p:cNvPr>
          <p:cNvSpPr>
            <a:spLocks noGrp="1"/>
          </p:cNvSpPr>
          <p:nvPr>
            <p:ph idx="1"/>
          </p:nvPr>
        </p:nvSpPr>
        <p:spPr>
          <a:xfrm>
            <a:off x="531224" y="1851751"/>
            <a:ext cx="11146970" cy="4351338"/>
          </a:xfrm>
        </p:spPr>
        <p:txBody>
          <a:bodyPr/>
          <a:lstStyle/>
          <a:p>
            <a:pPr marL="0" indent="0">
              <a:buNone/>
            </a:pPr>
            <a:r>
              <a:rPr lang="en-US" dirty="0"/>
              <a:t>AVX (2011) – the 128bit SSE registers (XMM0-XMM15) are extended. YMM0-YMM15 are 256 bit registers; each one shares 128 bits with an XMM instruction. MMX and SSE instructions were all two operand (A=A op B). AVX introduces three operand (A=B op C) instructions; new opcodes “clone” SSE instructions to make a 3 operand version.</a:t>
            </a:r>
          </a:p>
          <a:p>
            <a:pPr marL="0" indent="0">
              <a:buNone/>
            </a:pPr>
            <a:r>
              <a:rPr lang="en-US" dirty="0"/>
              <a:t>AVX2 (2016) – brings YMM support to most SSE and AVX instructions and adds more instructions.</a:t>
            </a:r>
          </a:p>
          <a:p>
            <a:pPr marL="0" indent="0">
              <a:buNone/>
            </a:pPr>
            <a:r>
              <a:rPr lang="en-US" dirty="0"/>
              <a:t>AVX512- extends XMM0-7 to ZMM0-7 (ZMM31 if in 64 bit mode) as 512 bit registers. Includes neural network </a:t>
            </a:r>
            <a:r>
              <a:rPr lang="en-US"/>
              <a:t>and cryptography instructions</a:t>
            </a:r>
            <a:r>
              <a:rPr lang="en-US" dirty="0"/>
              <a:t>! Not widely/completely supported as of 2018.</a:t>
            </a:r>
          </a:p>
        </p:txBody>
      </p:sp>
    </p:spTree>
    <p:extLst>
      <p:ext uri="{BB962C8B-B14F-4D97-AF65-F5344CB8AC3E}">
        <p14:creationId xmlns:p14="http://schemas.microsoft.com/office/powerpoint/2010/main" val="12834238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356</TotalTime>
  <Words>6180</Words>
  <Application>Microsoft Office PowerPoint</Application>
  <PresentationFormat>Widescreen</PresentationFormat>
  <Paragraphs>725</Paragraphs>
  <Slides>95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95</vt:i4>
      </vt:variant>
    </vt:vector>
  </HeadingPairs>
  <TitlesOfParts>
    <vt:vector size="101" baseType="lpstr">
      <vt:lpstr>Arial</vt:lpstr>
      <vt:lpstr>Calibri</vt:lpstr>
      <vt:lpstr>Calibri Light</vt:lpstr>
      <vt:lpstr>Cambria Math</vt:lpstr>
      <vt:lpstr>Wingdings</vt:lpstr>
      <vt:lpstr>Office Theme</vt:lpstr>
      <vt:lpstr>Instruction Sets</vt:lpstr>
      <vt:lpstr>Where have we been?</vt:lpstr>
      <vt:lpstr>Computer Organization Vs Architecture</vt:lpstr>
      <vt:lpstr>The Whole Stack</vt:lpstr>
      <vt:lpstr>Loaders</vt:lpstr>
      <vt:lpstr>What is an instruction?</vt:lpstr>
      <vt:lpstr>x86 is not uniform</vt:lpstr>
      <vt:lpstr>Tradeoffs – number of bits</vt:lpstr>
      <vt:lpstr>Bit Steering</vt:lpstr>
      <vt:lpstr>Accumulator Architectures</vt:lpstr>
      <vt:lpstr>Stack Based Architectures</vt:lpstr>
      <vt:lpstr>Dataflow Architecture</vt:lpstr>
      <vt:lpstr>CISC </vt:lpstr>
      <vt:lpstr>RISC</vt:lpstr>
      <vt:lpstr>Hybrid CISC-RISC</vt:lpstr>
      <vt:lpstr>Registers</vt:lpstr>
      <vt:lpstr>Register Use</vt:lpstr>
      <vt:lpstr>R0</vt:lpstr>
      <vt:lpstr>Status Register</vt:lpstr>
      <vt:lpstr>Status Register Tradeoffs</vt:lpstr>
      <vt:lpstr>Addressing Modes</vt:lpstr>
      <vt:lpstr>Addressing Modes (x86)</vt:lpstr>
      <vt:lpstr>Other CISC addressing modes</vt:lpstr>
      <vt:lpstr>Addressing Modes (MIPS)</vt:lpstr>
      <vt:lpstr>Orthogonality</vt:lpstr>
      <vt:lpstr>Alignment</vt:lpstr>
      <vt:lpstr>Load/Store vs Memory-Memory</vt:lpstr>
      <vt:lpstr>Variable Vs Fixed Width Instructions</vt:lpstr>
      <vt:lpstr>PowerPoint Presentation</vt:lpstr>
      <vt:lpstr>Alternate Encodings</vt:lpstr>
      <vt:lpstr>Data Types</vt:lpstr>
      <vt:lpstr>Semantic Gap</vt:lpstr>
      <vt:lpstr>Complex Instructions</vt:lpstr>
      <vt:lpstr>Simple Instructions</vt:lpstr>
      <vt:lpstr>How Can We Have It All?</vt:lpstr>
      <vt:lpstr>Finished!</vt:lpstr>
      <vt:lpstr>Microcode</vt:lpstr>
      <vt:lpstr>Big Endian vs Little Endian</vt:lpstr>
      <vt:lpstr>How Do We Write Numbers?</vt:lpstr>
      <vt:lpstr>Why? </vt:lpstr>
      <vt:lpstr>And why does this matter?</vt:lpstr>
      <vt:lpstr>Instruction Classes</vt:lpstr>
      <vt:lpstr>How to decide what instructions go in your ISA</vt:lpstr>
      <vt:lpstr>This is an art…</vt:lpstr>
      <vt:lpstr>Measure twice, cut once</vt:lpstr>
      <vt:lpstr>Amdahl's law</vt:lpstr>
      <vt:lpstr>Amdahl's law example</vt:lpstr>
      <vt:lpstr>Amdahl’s Law and Parallelism</vt:lpstr>
      <vt:lpstr>CPI</vt:lpstr>
      <vt:lpstr>CPI Example</vt:lpstr>
      <vt:lpstr>Wait a second…</vt:lpstr>
      <vt:lpstr>Getting an accurate CPI</vt:lpstr>
      <vt:lpstr>What’s it good for?</vt:lpstr>
      <vt:lpstr>The shield is still up!</vt:lpstr>
      <vt:lpstr>So what do you do?</vt:lpstr>
      <vt:lpstr>Hardware Interaction</vt:lpstr>
      <vt:lpstr>A (very) bad design for I/O</vt:lpstr>
      <vt:lpstr>Interrupt Processing</vt:lpstr>
      <vt:lpstr>Vectored Interrupts</vt:lpstr>
      <vt:lpstr>A bad design for I/O</vt:lpstr>
      <vt:lpstr>DMA – Direct Memory Access</vt:lpstr>
      <vt:lpstr>A Note About Performance…</vt:lpstr>
      <vt:lpstr>Calling Conventions</vt:lpstr>
      <vt:lpstr>Register Spilling</vt:lpstr>
      <vt:lpstr>Stack ‘em up!</vt:lpstr>
      <vt:lpstr>Operating Systems</vt:lpstr>
      <vt:lpstr>Resource Management</vt:lpstr>
      <vt:lpstr>Kernel Mode</vt:lpstr>
      <vt:lpstr>Task Switching</vt:lpstr>
      <vt:lpstr>Task Switching</vt:lpstr>
      <vt:lpstr>Debugging Support</vt:lpstr>
      <vt:lpstr>Debugging Support – Single Step</vt:lpstr>
      <vt:lpstr>Virtual Memory</vt:lpstr>
      <vt:lpstr>Virtual Memory</vt:lpstr>
      <vt:lpstr>Writing Memory to Disk</vt:lpstr>
      <vt:lpstr>Why do we care about Virtual Memory</vt:lpstr>
      <vt:lpstr>Memory Access Control</vt:lpstr>
      <vt:lpstr>mmap</vt:lpstr>
      <vt:lpstr>Segmentation</vt:lpstr>
      <vt:lpstr>PowerPoint Presentation</vt:lpstr>
      <vt:lpstr>x64 paging</vt:lpstr>
      <vt:lpstr>Wait – isn’t that an infinite loop?</vt:lpstr>
      <vt:lpstr>What else is in the page table entry?</vt:lpstr>
      <vt:lpstr>MIPS virtual memory (easier!)</vt:lpstr>
      <vt:lpstr>More MIPS VM</vt:lpstr>
      <vt:lpstr>PowerPoint Presentation</vt:lpstr>
      <vt:lpstr>Multimedia</vt:lpstr>
      <vt:lpstr>MMX and 3DNow</vt:lpstr>
      <vt:lpstr>Flynn’s Taxonomy</vt:lpstr>
      <vt:lpstr>MMX Example</vt:lpstr>
      <vt:lpstr>How does this work?</vt:lpstr>
      <vt:lpstr>How well did this work?</vt:lpstr>
      <vt:lpstr>SSE (Streaming SIMD Extenstions)</vt:lpstr>
      <vt:lpstr>SSE2, SSE3, SSE4</vt:lpstr>
      <vt:lpstr>AVX, AVX2, AVX512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 Sets</dc:title>
  <dc:creator>Michael Phipps</dc:creator>
  <cp:lastModifiedBy>Michael Phipps</cp:lastModifiedBy>
  <cp:revision>25</cp:revision>
  <dcterms:created xsi:type="dcterms:W3CDTF">2018-07-24T20:13:39Z</dcterms:created>
  <dcterms:modified xsi:type="dcterms:W3CDTF">2018-11-28T15:07:23Z</dcterms:modified>
</cp:coreProperties>
</file>