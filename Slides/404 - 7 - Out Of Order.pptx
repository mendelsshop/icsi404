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7" r:id="rId3"/>
    <p:sldId id="308" r:id="rId4"/>
    <p:sldId id="296" r:id="rId5"/>
    <p:sldId id="297" r:id="rId6"/>
    <p:sldId id="295" r:id="rId7"/>
    <p:sldId id="301" r:id="rId8"/>
    <p:sldId id="303" r:id="rId9"/>
    <p:sldId id="325" r:id="rId10"/>
    <p:sldId id="304" r:id="rId11"/>
    <p:sldId id="319" r:id="rId12"/>
    <p:sldId id="309" r:id="rId13"/>
    <p:sldId id="310" r:id="rId14"/>
    <p:sldId id="311" r:id="rId15"/>
    <p:sldId id="312" r:id="rId16"/>
    <p:sldId id="313" r:id="rId17"/>
    <p:sldId id="314" r:id="rId18"/>
    <p:sldId id="315" r:id="rId19"/>
    <p:sldId id="316" r:id="rId20"/>
    <p:sldId id="317" r:id="rId21"/>
    <p:sldId id="318" r:id="rId22"/>
    <p:sldId id="320" r:id="rId23"/>
    <p:sldId id="322" r:id="rId24"/>
    <p:sldId id="306" r:id="rId25"/>
    <p:sldId id="324" r:id="rId26"/>
    <p:sldId id="32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110" d="100"/>
          <a:sy n="110" d="100"/>
        </p:scale>
        <p:origin x="12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CC5B0-BC4B-410D-856A-C0F1419C07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80C8CC-18B6-4D7A-A7BA-C8D59F9550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7B30A6-62EE-458E-BAA7-4E57419A9722}"/>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D2F3BA74-8708-4178-B03F-2FB917139F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36969-FF92-4A65-B8D8-441DB3E73D2A}"/>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225688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3CC5D-ED04-4E50-83E5-76F4B81AE9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931DA2-A0C6-421E-A527-BE53081C68D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CCE79F-0D55-4151-9068-5C08246990F2}"/>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98A1C196-D3D9-4716-9BA5-A369EE933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E86E04-A9EE-440A-BC37-231B5DD796B7}"/>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2321074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5BC8-CDAB-4EE0-A76A-E8D1DEB84D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8E3EB6-EC37-48DC-950C-A2E67B868D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E9F000B-F276-4682-A778-31261BF11B19}"/>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850EBE1C-A424-4691-B6FB-1A5FF5712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269EFA-EA60-464D-8D80-CD307FFDC248}"/>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4117657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172D9-6091-4380-BC1C-C365F193B7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68CE5-29E2-4999-81D6-BFDC5E2D21B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0A26D9-BF69-407D-B4E6-52E3AAD6587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37EB9F-850E-4AD1-8516-F6F8FD9DD3AC}"/>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6" name="Footer Placeholder 5">
            <a:extLst>
              <a:ext uri="{FF2B5EF4-FFF2-40B4-BE49-F238E27FC236}">
                <a16:creationId xmlns:a16="http://schemas.microsoft.com/office/drawing/2014/main" id="{8300F1C7-D0CE-4940-BF34-78F5AED704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21463-2AB2-44F9-8CFB-87783E351016}"/>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888482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EEA6-756F-429D-8A49-273790B6D8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3174F8-CDB0-4785-8173-7B40DA072F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4F1A2AB-EFE6-4949-BB33-ABC073AB91E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9A9070-81B2-4E23-A9F4-E6DFEFBFC4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1F3C2D-6F51-4829-B063-8C0A710D72A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F243D1-B2A2-483F-AFBE-5568B5E41AE6}"/>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8" name="Footer Placeholder 7">
            <a:extLst>
              <a:ext uri="{FF2B5EF4-FFF2-40B4-BE49-F238E27FC236}">
                <a16:creationId xmlns:a16="http://schemas.microsoft.com/office/drawing/2014/main" id="{C2F18743-7C5F-49D6-A27A-DB29E5F8F7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83BBB-B3EE-4500-9110-A0FFDF0F40E1}"/>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337422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581D3-FA50-401B-86EC-44D5173AA5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B771E1-A3C0-427E-B581-EFA2532870E5}"/>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4" name="Footer Placeholder 3">
            <a:extLst>
              <a:ext uri="{FF2B5EF4-FFF2-40B4-BE49-F238E27FC236}">
                <a16:creationId xmlns:a16="http://schemas.microsoft.com/office/drawing/2014/main" id="{88100516-4197-4C44-8F5A-EB5FC678F4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4DEB35-7AFC-4FA3-9E7E-EF9B413E874D}"/>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142384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9A030-0760-4DF6-B8B5-EF0E66421C7D}"/>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3" name="Footer Placeholder 2">
            <a:extLst>
              <a:ext uri="{FF2B5EF4-FFF2-40B4-BE49-F238E27FC236}">
                <a16:creationId xmlns:a16="http://schemas.microsoft.com/office/drawing/2014/main" id="{52480C69-5BB7-4C5B-A5A1-75039B1A6A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24E9E9-E8B0-4360-B096-7A8677F085DC}"/>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3249430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A1C09-A845-4E81-B4EE-61F256A9B2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42D52E-C885-45FB-A47F-467577663E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B5857E-1B55-44E4-B923-0D175C83A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1B7DFF5-2C37-4E8E-A827-8BC2A28FA71A}"/>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6" name="Footer Placeholder 5">
            <a:extLst>
              <a:ext uri="{FF2B5EF4-FFF2-40B4-BE49-F238E27FC236}">
                <a16:creationId xmlns:a16="http://schemas.microsoft.com/office/drawing/2014/main" id="{4018EF15-5952-406E-B3D8-27BF36D79D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7C3D93-9B33-4126-A42A-998CF980230C}"/>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1613446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4A7D-C366-40CA-A64C-6A49A4202E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A0F9A3-EBF3-40E6-AE71-358BB8238A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6A186F-DB8D-4BFB-A3F6-A27F8311AD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2F7026-112C-4C02-B0D7-8F01348384C3}"/>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6" name="Footer Placeholder 5">
            <a:extLst>
              <a:ext uri="{FF2B5EF4-FFF2-40B4-BE49-F238E27FC236}">
                <a16:creationId xmlns:a16="http://schemas.microsoft.com/office/drawing/2014/main" id="{4D2AC47C-ADBA-4A33-BBB0-1BBE7AB966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34D72D-8F76-4CF4-9669-4C104F5BC7EB}"/>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244721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F6896-E6F7-4495-BAB8-B13CE62670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CDFD5-8789-450D-89E4-44DCD88F7A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3D9D0-98FA-4C9B-B4FD-6E4CE0C6A0E5}"/>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F335BB3B-8DAE-40E9-8985-13D2C3651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102E67-B22E-4014-9191-296A2E761D34}"/>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191751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297EF-1D2B-4F6D-A3AA-4AF8BCDBB5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B85015-6F8B-46FA-981E-7B8E8724CFA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0CAB0-3D93-429B-AD81-BBFC9AFD7597}"/>
              </a:ext>
            </a:extLst>
          </p:cNvPr>
          <p:cNvSpPr>
            <a:spLocks noGrp="1"/>
          </p:cNvSpPr>
          <p:nvPr>
            <p:ph type="dt" sz="half" idx="10"/>
          </p:nvPr>
        </p:nvSpPr>
        <p:spPr/>
        <p:txBody>
          <a:body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5007D4AA-0147-4CB7-9C7E-21E54A46D5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2B8410-28CA-4B2C-A207-1A3AAB44EF97}"/>
              </a:ext>
            </a:extLst>
          </p:cNvPr>
          <p:cNvSpPr>
            <a:spLocks noGrp="1"/>
          </p:cNvSpPr>
          <p:nvPr>
            <p:ph type="sldNum" sz="quarter" idx="12"/>
          </p:nvPr>
        </p:nvSpPr>
        <p:spPr/>
        <p:txBody>
          <a:bodyPr/>
          <a:lstStyle/>
          <a:p>
            <a:fld id="{DB0B5084-7C20-449A-A947-0309630105EA}" type="slidenum">
              <a:rPr lang="en-US" smtClean="0"/>
              <a:t>‹#›</a:t>
            </a:fld>
            <a:endParaRPr lang="en-US"/>
          </a:p>
        </p:txBody>
      </p:sp>
    </p:spTree>
    <p:extLst>
      <p:ext uri="{BB962C8B-B14F-4D97-AF65-F5344CB8AC3E}">
        <p14:creationId xmlns:p14="http://schemas.microsoft.com/office/powerpoint/2010/main" val="409758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44330D-AF4F-46F1-BE0F-6244A0229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31C3E7-3592-4918-8574-0FDF856F5E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7DBDC-5851-456F-B4CB-2B135DB85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59E186-4CBE-4688-8599-4BB27B3E8765}" type="datetimeFigureOut">
              <a:rPr lang="en-US" smtClean="0"/>
              <a:t>8/17/2018</a:t>
            </a:fld>
            <a:endParaRPr lang="en-US"/>
          </a:p>
        </p:txBody>
      </p:sp>
      <p:sp>
        <p:nvSpPr>
          <p:cNvPr id="5" name="Footer Placeholder 4">
            <a:extLst>
              <a:ext uri="{FF2B5EF4-FFF2-40B4-BE49-F238E27FC236}">
                <a16:creationId xmlns:a16="http://schemas.microsoft.com/office/drawing/2014/main" id="{41ECA9C1-140C-473F-B888-3EA8BD3D4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7C3FDE-9F4A-40B4-8566-546D618B5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0B5084-7C20-449A-A947-0309630105EA}" type="slidenum">
              <a:rPr lang="en-US" smtClean="0"/>
              <a:t>‹#›</a:t>
            </a:fld>
            <a:endParaRPr lang="en-US"/>
          </a:p>
        </p:txBody>
      </p:sp>
    </p:spTree>
    <p:extLst>
      <p:ext uri="{BB962C8B-B14F-4D97-AF65-F5344CB8AC3E}">
        <p14:creationId xmlns:p14="http://schemas.microsoft.com/office/powerpoint/2010/main" val="143794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1E9D-0CE9-4589-AA5F-8DDDBD36F536}"/>
              </a:ext>
            </a:extLst>
          </p:cNvPr>
          <p:cNvSpPr>
            <a:spLocks noGrp="1"/>
          </p:cNvSpPr>
          <p:nvPr>
            <p:ph type="ctrTitle"/>
          </p:nvPr>
        </p:nvSpPr>
        <p:spPr>
          <a:xfrm>
            <a:off x="1524000" y="1122363"/>
            <a:ext cx="9144000" cy="1549400"/>
          </a:xfrm>
        </p:spPr>
        <p:txBody>
          <a:bodyPr/>
          <a:lstStyle/>
          <a:p>
            <a:r>
              <a:rPr lang="en-US" dirty="0"/>
              <a:t>Out Of Order Execution</a:t>
            </a:r>
          </a:p>
        </p:txBody>
      </p:sp>
      <p:sp>
        <p:nvSpPr>
          <p:cNvPr id="3" name="Subtitle 2">
            <a:extLst>
              <a:ext uri="{FF2B5EF4-FFF2-40B4-BE49-F238E27FC236}">
                <a16:creationId xmlns:a16="http://schemas.microsoft.com/office/drawing/2014/main" id="{B70C7647-2031-4105-A513-43EE741D5CC6}"/>
              </a:ext>
            </a:extLst>
          </p:cNvPr>
          <p:cNvSpPr>
            <a:spLocks noGrp="1"/>
          </p:cNvSpPr>
          <p:nvPr>
            <p:ph type="subTitle" idx="1"/>
          </p:nvPr>
        </p:nvSpPr>
        <p:spPr>
          <a:xfrm>
            <a:off x="1524000" y="3602038"/>
            <a:ext cx="9144000" cy="2684462"/>
          </a:xfrm>
        </p:spPr>
        <p:txBody>
          <a:bodyPr>
            <a:normAutofit/>
          </a:bodyPr>
          <a:lstStyle/>
          <a:p>
            <a:r>
              <a:rPr lang="en-US" dirty="0"/>
              <a:t>A foolish consistency is the hobgoblin of little minds, adored by little statesmen and philosophers and divines. With consistency a great soul has simply nothing to do. He may as well concern himself with his shadow on the wall. Speak what you think now in hard words, and tomorrow speak what tomorrow thinks in hard words again, though it contradict every thing you said today. </a:t>
            </a:r>
          </a:p>
          <a:p>
            <a:r>
              <a:rPr lang="en-US" dirty="0"/>
              <a:t>(Ralph Waldo Emerson)</a:t>
            </a:r>
          </a:p>
          <a:p>
            <a:endParaRPr lang="en-US" dirty="0"/>
          </a:p>
        </p:txBody>
      </p:sp>
    </p:spTree>
    <p:extLst>
      <p:ext uri="{BB962C8B-B14F-4D97-AF65-F5344CB8AC3E}">
        <p14:creationId xmlns:p14="http://schemas.microsoft.com/office/powerpoint/2010/main" val="1861042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D41C3-E5D3-4A63-8691-624741431563}"/>
              </a:ext>
            </a:extLst>
          </p:cNvPr>
          <p:cNvSpPr>
            <a:spLocks noGrp="1"/>
          </p:cNvSpPr>
          <p:nvPr>
            <p:ph type="title"/>
          </p:nvPr>
        </p:nvSpPr>
        <p:spPr/>
        <p:txBody>
          <a:bodyPr/>
          <a:lstStyle/>
          <a:p>
            <a:r>
              <a:rPr lang="en-US" dirty="0"/>
              <a:t>Who schedules the instructions?</a:t>
            </a:r>
          </a:p>
        </p:txBody>
      </p:sp>
      <p:sp>
        <p:nvSpPr>
          <p:cNvPr id="3" name="Content Placeholder 2">
            <a:extLst>
              <a:ext uri="{FF2B5EF4-FFF2-40B4-BE49-F238E27FC236}">
                <a16:creationId xmlns:a16="http://schemas.microsoft.com/office/drawing/2014/main" id="{28FD011D-729B-448B-A7D6-B7643EBF0EAB}"/>
              </a:ext>
            </a:extLst>
          </p:cNvPr>
          <p:cNvSpPr>
            <a:spLocks noGrp="1"/>
          </p:cNvSpPr>
          <p:nvPr>
            <p:ph idx="1"/>
          </p:nvPr>
        </p:nvSpPr>
        <p:spPr/>
        <p:txBody>
          <a:bodyPr/>
          <a:lstStyle/>
          <a:p>
            <a:pPr marL="0" indent="0">
              <a:buNone/>
            </a:pPr>
            <a:r>
              <a:rPr lang="en-US" dirty="0"/>
              <a:t>The compiler can schedule the instructions, to some degree, but what can it NOT know before hand?</a:t>
            </a:r>
          </a:p>
        </p:txBody>
      </p:sp>
    </p:spTree>
    <p:extLst>
      <p:ext uri="{BB962C8B-B14F-4D97-AF65-F5344CB8AC3E}">
        <p14:creationId xmlns:p14="http://schemas.microsoft.com/office/powerpoint/2010/main" val="3942736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D41C3-E5D3-4A63-8691-624741431563}"/>
              </a:ext>
            </a:extLst>
          </p:cNvPr>
          <p:cNvSpPr>
            <a:spLocks noGrp="1"/>
          </p:cNvSpPr>
          <p:nvPr>
            <p:ph type="title"/>
          </p:nvPr>
        </p:nvSpPr>
        <p:spPr/>
        <p:txBody>
          <a:bodyPr/>
          <a:lstStyle/>
          <a:p>
            <a:r>
              <a:rPr lang="en-US" dirty="0"/>
              <a:t>Who schedules the instructions?</a:t>
            </a:r>
          </a:p>
        </p:txBody>
      </p:sp>
      <p:sp>
        <p:nvSpPr>
          <p:cNvPr id="3" name="Content Placeholder 2">
            <a:extLst>
              <a:ext uri="{FF2B5EF4-FFF2-40B4-BE49-F238E27FC236}">
                <a16:creationId xmlns:a16="http://schemas.microsoft.com/office/drawing/2014/main" id="{28FD011D-729B-448B-A7D6-B7643EBF0EAB}"/>
              </a:ext>
            </a:extLst>
          </p:cNvPr>
          <p:cNvSpPr>
            <a:spLocks noGrp="1"/>
          </p:cNvSpPr>
          <p:nvPr>
            <p:ph idx="1"/>
          </p:nvPr>
        </p:nvSpPr>
        <p:spPr/>
        <p:txBody>
          <a:bodyPr/>
          <a:lstStyle/>
          <a:p>
            <a:pPr marL="0" indent="0">
              <a:buNone/>
            </a:pPr>
            <a:r>
              <a:rPr lang="en-US" dirty="0"/>
              <a:t>The compiler can schedule the instructions, to some degree, but what can it NOT know before hand?</a:t>
            </a:r>
          </a:p>
          <a:p>
            <a:pPr marL="0" indent="0">
              <a:buNone/>
            </a:pPr>
            <a:endParaRPr lang="en-US" dirty="0"/>
          </a:p>
          <a:p>
            <a:pPr marL="0" indent="0">
              <a:buNone/>
            </a:pPr>
            <a:r>
              <a:rPr lang="en-US" dirty="0"/>
              <a:t>Memory latency </a:t>
            </a:r>
          </a:p>
          <a:p>
            <a:pPr marL="0" indent="0">
              <a:buNone/>
            </a:pPr>
            <a:r>
              <a:rPr lang="en-US" dirty="0"/>
              <a:t>Cache contents (and therefore cache hits/misses)</a:t>
            </a:r>
          </a:p>
          <a:p>
            <a:pPr marL="0" indent="0">
              <a:buNone/>
            </a:pPr>
            <a:r>
              <a:rPr lang="en-US" dirty="0"/>
              <a:t>Branch decisions</a:t>
            </a:r>
          </a:p>
          <a:p>
            <a:pPr marL="0" indent="0">
              <a:buNone/>
            </a:pPr>
            <a:r>
              <a:rPr lang="en-US" dirty="0"/>
              <a:t>Anything determined at runtime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8819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9860-0162-4C34-8D4F-EDDC5F3B2AE6}"/>
              </a:ext>
            </a:extLst>
          </p:cNvPr>
          <p:cNvSpPr>
            <a:spLocks noGrp="1"/>
          </p:cNvSpPr>
          <p:nvPr>
            <p:ph type="title"/>
          </p:nvPr>
        </p:nvSpPr>
        <p:spPr/>
        <p:txBody>
          <a:bodyPr/>
          <a:lstStyle/>
          <a:p>
            <a:r>
              <a:rPr lang="en-US" dirty="0"/>
              <a:t>Floating Point</a:t>
            </a:r>
          </a:p>
        </p:txBody>
      </p:sp>
      <p:sp>
        <p:nvSpPr>
          <p:cNvPr id="3" name="Content Placeholder 2">
            <a:extLst>
              <a:ext uri="{FF2B5EF4-FFF2-40B4-BE49-F238E27FC236}">
                <a16:creationId xmlns:a16="http://schemas.microsoft.com/office/drawing/2014/main" id="{AB4AE95B-EDC8-4F39-812B-2A2B5436E954}"/>
              </a:ext>
            </a:extLst>
          </p:cNvPr>
          <p:cNvSpPr>
            <a:spLocks noGrp="1"/>
          </p:cNvSpPr>
          <p:nvPr>
            <p:ph idx="1"/>
          </p:nvPr>
        </p:nvSpPr>
        <p:spPr/>
        <p:txBody>
          <a:bodyPr/>
          <a:lstStyle/>
          <a:p>
            <a:pPr marL="0" indent="0">
              <a:buNone/>
            </a:pPr>
            <a:r>
              <a:rPr lang="en-US" dirty="0"/>
              <a:t>One thing that we haven’t mentioned is floating point. Remember back in week 1 we talked about how numbers are represented in IEEE floating point format?</a:t>
            </a:r>
          </a:p>
          <a:p>
            <a:pPr marL="0" indent="0">
              <a:buNone/>
            </a:pPr>
            <a:endParaRPr lang="en-US" dirty="0"/>
          </a:p>
          <a:p>
            <a:pPr marL="0" indent="0">
              <a:buNone/>
            </a:pPr>
            <a:r>
              <a:rPr lang="en-US" dirty="0"/>
              <a:t>Sending those numbers through an integer ALU will not work. Floating point has to be done with a set of (similar) circuits that follow different rules. Think back to the process of calculating with numbers in scientific notation. How do you deal with the exponent and the mantissa? A different representation of numbers needs different circuits.</a:t>
            </a:r>
          </a:p>
        </p:txBody>
      </p:sp>
    </p:spTree>
    <p:extLst>
      <p:ext uri="{BB962C8B-B14F-4D97-AF65-F5344CB8AC3E}">
        <p14:creationId xmlns:p14="http://schemas.microsoft.com/office/powerpoint/2010/main" val="3027714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0B1A0-C442-4027-9710-F84E42332813}"/>
              </a:ext>
            </a:extLst>
          </p:cNvPr>
          <p:cNvSpPr>
            <a:spLocks noGrp="1"/>
          </p:cNvSpPr>
          <p:nvPr>
            <p:ph type="title"/>
          </p:nvPr>
        </p:nvSpPr>
        <p:spPr/>
        <p:txBody>
          <a:bodyPr/>
          <a:lstStyle/>
          <a:p>
            <a:r>
              <a:rPr lang="en-US" dirty="0"/>
              <a:t>An opportunity has arrived!</a:t>
            </a:r>
          </a:p>
        </p:txBody>
      </p:sp>
      <p:sp>
        <p:nvSpPr>
          <p:cNvPr id="3" name="Content Placeholder 2">
            <a:extLst>
              <a:ext uri="{FF2B5EF4-FFF2-40B4-BE49-F238E27FC236}">
                <a16:creationId xmlns:a16="http://schemas.microsoft.com/office/drawing/2014/main" id="{3964A714-C990-4CFA-9C5F-9B7AE09A9AA1}"/>
              </a:ext>
            </a:extLst>
          </p:cNvPr>
          <p:cNvSpPr>
            <a:spLocks noGrp="1"/>
          </p:cNvSpPr>
          <p:nvPr>
            <p:ph idx="1"/>
          </p:nvPr>
        </p:nvSpPr>
        <p:spPr/>
        <p:txBody>
          <a:bodyPr/>
          <a:lstStyle/>
          <a:p>
            <a:pPr marL="0" indent="0">
              <a:buNone/>
            </a:pPr>
            <a:r>
              <a:rPr lang="en-US" dirty="0"/>
              <a:t>If we have to have different hardware for integer and floating point, doesn’t that mean that ½ of our hardware is sitting idle at any time?</a:t>
            </a:r>
          </a:p>
          <a:p>
            <a:pPr marL="0" indent="0">
              <a:buNone/>
            </a:pPr>
            <a:endParaRPr lang="en-US" dirty="0"/>
          </a:p>
          <a:p>
            <a:pPr marL="0" indent="0">
              <a:buNone/>
            </a:pPr>
            <a:r>
              <a:rPr lang="en-US" dirty="0"/>
              <a:t>Could we use that to make our CPU faster?</a:t>
            </a:r>
          </a:p>
          <a:p>
            <a:pPr marL="0" indent="0">
              <a:buNone/>
            </a:pPr>
            <a:endParaRPr lang="en-US" dirty="0"/>
          </a:p>
          <a:p>
            <a:pPr marL="0" indent="0">
              <a:buNone/>
            </a:pPr>
            <a:r>
              <a:rPr lang="en-US" dirty="0"/>
              <a:t>YES! In fact, we can do better than JUST that!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9237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3B07D-C7B3-4E1A-9034-CD814798155E}"/>
              </a:ext>
            </a:extLst>
          </p:cNvPr>
          <p:cNvSpPr>
            <a:spLocks noGrp="1"/>
          </p:cNvSpPr>
          <p:nvPr>
            <p:ph type="title"/>
          </p:nvPr>
        </p:nvSpPr>
        <p:spPr>
          <a:xfrm>
            <a:off x="6392598" y="640263"/>
            <a:ext cx="5221266" cy="1344975"/>
          </a:xfrm>
        </p:spPr>
        <p:txBody>
          <a:bodyPr>
            <a:normAutofit/>
          </a:bodyPr>
          <a:lstStyle/>
          <a:p>
            <a:pPr algn="ctr"/>
            <a:r>
              <a:rPr lang="en-US" sz="4000"/>
              <a:t>Superscalar</a:t>
            </a:r>
          </a:p>
        </p:txBody>
      </p:sp>
      <p:pic>
        <p:nvPicPr>
          <p:cNvPr id="6146" name="Picture 2" descr="Image result for ryzen block diagram">
            <a:extLst>
              <a:ext uri="{FF2B5EF4-FFF2-40B4-BE49-F238E27FC236}">
                <a16:creationId xmlns:a16="http://schemas.microsoft.com/office/drawing/2014/main" id="{4D028F7A-0946-4FE2-9C83-231FCB7B6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3" y="303590"/>
            <a:ext cx="6048571" cy="604857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3DF5035-47F2-49C7-960C-6B88DA26D480}"/>
              </a:ext>
            </a:extLst>
          </p:cNvPr>
          <p:cNvSpPr>
            <a:spLocks noGrp="1"/>
          </p:cNvSpPr>
          <p:nvPr>
            <p:ph idx="1"/>
          </p:nvPr>
        </p:nvSpPr>
        <p:spPr>
          <a:xfrm>
            <a:off x="6391903" y="2121763"/>
            <a:ext cx="5235490" cy="3773010"/>
          </a:xfrm>
        </p:spPr>
        <p:txBody>
          <a:bodyPr>
            <a:normAutofit/>
          </a:bodyPr>
          <a:lstStyle/>
          <a:p>
            <a:pPr marL="0" indent="0">
              <a:buNone/>
            </a:pPr>
            <a:r>
              <a:rPr lang="en-US" sz="2000" dirty="0"/>
              <a:t>A superscalar architecture can execute MORE THAN 1 instruction per cycle!</a:t>
            </a:r>
          </a:p>
          <a:p>
            <a:pPr marL="0" indent="0">
              <a:buNone/>
            </a:pPr>
            <a:endParaRPr lang="en-US" sz="2000" dirty="0"/>
          </a:p>
          <a:p>
            <a:pPr marL="0" indent="0">
              <a:buNone/>
            </a:pPr>
            <a:r>
              <a:rPr lang="en-US" sz="2000" dirty="0"/>
              <a:t>How is that possible? Read in many instructions, and execute them in parallel!</a:t>
            </a:r>
          </a:p>
          <a:p>
            <a:pPr marL="0" indent="0">
              <a:buNone/>
            </a:pPr>
            <a:endParaRPr lang="en-US" sz="2000" dirty="0"/>
          </a:p>
          <a:p>
            <a:pPr marL="0" indent="0">
              <a:buNone/>
            </a:pPr>
            <a:r>
              <a:rPr lang="en-US" sz="2000" dirty="0">
                <a:sym typeface="Wingdings" panose="05000000000000000000" pitchFamily="2" charset="2"/>
              </a:rPr>
              <a:t></a:t>
            </a:r>
            <a:r>
              <a:rPr lang="en-US" sz="2000" dirty="0"/>
              <a:t>The Zen (Ryzen) block diagram</a:t>
            </a:r>
          </a:p>
          <a:p>
            <a:pPr marL="0" indent="0">
              <a:buNone/>
            </a:pPr>
            <a:endParaRPr lang="en-US" sz="2000" dirty="0"/>
          </a:p>
          <a:p>
            <a:pPr marL="0" indent="0">
              <a:buNone/>
            </a:pPr>
            <a:r>
              <a:rPr lang="en-US" sz="2000" dirty="0"/>
              <a:t>AGU == address generation unit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1247239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49C3-7078-46CB-875E-0F7C36FE1BE2}"/>
              </a:ext>
            </a:extLst>
          </p:cNvPr>
          <p:cNvSpPr>
            <a:spLocks noGrp="1"/>
          </p:cNvSpPr>
          <p:nvPr>
            <p:ph type="title"/>
          </p:nvPr>
        </p:nvSpPr>
        <p:spPr/>
        <p:txBody>
          <a:bodyPr/>
          <a:lstStyle/>
          <a:p>
            <a:r>
              <a:rPr lang="en-US" dirty="0"/>
              <a:t>VLIW</a:t>
            </a:r>
          </a:p>
        </p:txBody>
      </p:sp>
      <p:sp>
        <p:nvSpPr>
          <p:cNvPr id="3" name="Content Placeholder 2">
            <a:extLst>
              <a:ext uri="{FF2B5EF4-FFF2-40B4-BE49-F238E27FC236}">
                <a16:creationId xmlns:a16="http://schemas.microsoft.com/office/drawing/2014/main" id="{DFD9BDC1-91E0-41DE-B4AF-2C260C3C67E7}"/>
              </a:ext>
            </a:extLst>
          </p:cNvPr>
          <p:cNvSpPr>
            <a:spLocks noGrp="1"/>
          </p:cNvSpPr>
          <p:nvPr>
            <p:ph idx="1"/>
          </p:nvPr>
        </p:nvSpPr>
        <p:spPr/>
        <p:txBody>
          <a:bodyPr/>
          <a:lstStyle/>
          <a:p>
            <a:pPr marL="0" indent="0">
              <a:buNone/>
            </a:pPr>
            <a:r>
              <a:rPr lang="en-US" dirty="0"/>
              <a:t>All of the hazards and delays that we have come across happen because there are no rules about machine code. Any valid instruction can come before or after any other, regardless of dependencies.</a:t>
            </a:r>
          </a:p>
          <a:p>
            <a:pPr marL="0" indent="0">
              <a:buNone/>
            </a:pPr>
            <a:endParaRPr lang="en-US" dirty="0"/>
          </a:p>
          <a:p>
            <a:pPr marL="0" indent="0">
              <a:buNone/>
            </a:pPr>
            <a:r>
              <a:rPr lang="en-US" dirty="0"/>
              <a:t>VLIW (Very Long Instruction Word) is a different approach. What if the machine language consisted of “groups” of operations? The assembly developer/compiler would be responsible for ensuring that the group was internally parallelizable.</a:t>
            </a:r>
          </a:p>
        </p:txBody>
      </p:sp>
    </p:spTree>
    <p:extLst>
      <p:ext uri="{BB962C8B-B14F-4D97-AF65-F5344CB8AC3E}">
        <p14:creationId xmlns:p14="http://schemas.microsoft.com/office/powerpoint/2010/main" val="2164251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95927-A3CC-4D3C-854C-70213E7AC729}"/>
              </a:ext>
            </a:extLst>
          </p:cNvPr>
          <p:cNvSpPr>
            <a:spLocks noGrp="1"/>
          </p:cNvSpPr>
          <p:nvPr>
            <p:ph type="title"/>
          </p:nvPr>
        </p:nvSpPr>
        <p:spPr/>
        <p:txBody>
          <a:bodyPr/>
          <a:lstStyle/>
          <a:p>
            <a:r>
              <a:rPr lang="en-US" dirty="0"/>
              <a:t>VLIW (continued)</a:t>
            </a:r>
          </a:p>
        </p:txBody>
      </p:sp>
      <p:sp>
        <p:nvSpPr>
          <p:cNvPr id="3" name="Content Placeholder 2">
            <a:extLst>
              <a:ext uri="{FF2B5EF4-FFF2-40B4-BE49-F238E27FC236}">
                <a16:creationId xmlns:a16="http://schemas.microsoft.com/office/drawing/2014/main" id="{61AA00FC-E074-439D-A6E8-75176777A869}"/>
              </a:ext>
            </a:extLst>
          </p:cNvPr>
          <p:cNvSpPr>
            <a:spLocks noGrp="1"/>
          </p:cNvSpPr>
          <p:nvPr>
            <p:ph idx="1"/>
          </p:nvPr>
        </p:nvSpPr>
        <p:spPr>
          <a:xfrm>
            <a:off x="0" y="1825625"/>
            <a:ext cx="12192000" cy="4351338"/>
          </a:xfrm>
        </p:spPr>
        <p:txBody>
          <a:bodyPr/>
          <a:lstStyle/>
          <a:p>
            <a:pPr marL="0" indent="0">
              <a:buNone/>
            </a:pPr>
            <a:r>
              <a:rPr lang="en-US" dirty="0"/>
              <a:t>If your CPU had 3 integer units, 2 load/store units and a floating point unit, each instruction would look like this:</a:t>
            </a:r>
          </a:p>
          <a:p>
            <a:pPr marL="0" indent="0">
              <a:buNone/>
            </a:pPr>
            <a:endParaRPr lang="en-US" dirty="0"/>
          </a:p>
          <a:p>
            <a:pPr marL="0" indent="0">
              <a:buNone/>
            </a:pPr>
            <a:r>
              <a:rPr lang="en-US" dirty="0"/>
              <a:t>(</a:t>
            </a:r>
            <a:r>
              <a:rPr lang="en-US" u="sng" dirty="0"/>
              <a:t>ADD R1 </a:t>
            </a:r>
            <a:r>
              <a:rPr lang="en-US" u="sng" dirty="0">
                <a:sym typeface="Wingdings" panose="05000000000000000000" pitchFamily="2" charset="2"/>
              </a:rPr>
              <a:t> R2, R3; SUB R4 R2,R5; NOP</a:t>
            </a:r>
            <a:r>
              <a:rPr lang="en-US" dirty="0">
                <a:sym typeface="Wingdings" panose="05000000000000000000" pitchFamily="2" charset="2"/>
              </a:rPr>
              <a:t>; LOAD R6,$1234;NOP;</a:t>
            </a:r>
            <a:r>
              <a:rPr lang="en-US" u="sng" dirty="0">
                <a:sym typeface="Wingdings" panose="05000000000000000000" pitchFamily="2" charset="2"/>
              </a:rPr>
              <a:t>MULT R8 R7, R9</a:t>
            </a:r>
            <a:r>
              <a:rPr lang="en-US" dirty="0">
                <a:sym typeface="Wingdings" panose="05000000000000000000" pitchFamily="2" charset="2"/>
              </a:rPr>
              <a:t>)</a:t>
            </a:r>
          </a:p>
          <a:p>
            <a:pPr marL="0" indent="0">
              <a:buNone/>
            </a:pPr>
            <a:r>
              <a:rPr lang="en-US" dirty="0">
                <a:sym typeface="Wingdings" panose="05000000000000000000" pitchFamily="2" charset="2"/>
              </a:rPr>
              <a:t>                               Integer                                       Load/Store              Floating Point</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Harder to write the assembly language/assembler/code emitter, easier/cheaper/faster to make the CPU</a:t>
            </a:r>
            <a:endParaRPr lang="en-US" dirty="0"/>
          </a:p>
        </p:txBody>
      </p:sp>
    </p:spTree>
    <p:extLst>
      <p:ext uri="{BB962C8B-B14F-4D97-AF65-F5344CB8AC3E}">
        <p14:creationId xmlns:p14="http://schemas.microsoft.com/office/powerpoint/2010/main" val="225006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0E9AA-2EC6-4EFF-98AC-F3E81800B507}"/>
              </a:ext>
            </a:extLst>
          </p:cNvPr>
          <p:cNvSpPr>
            <a:spLocks noGrp="1"/>
          </p:cNvSpPr>
          <p:nvPr>
            <p:ph type="title"/>
          </p:nvPr>
        </p:nvSpPr>
        <p:spPr/>
        <p:txBody>
          <a:bodyPr/>
          <a:lstStyle/>
          <a:p>
            <a:r>
              <a:rPr lang="en-US" dirty="0"/>
              <a:t>VLIW issues</a:t>
            </a:r>
          </a:p>
        </p:txBody>
      </p:sp>
      <p:sp>
        <p:nvSpPr>
          <p:cNvPr id="3" name="Content Placeholder 2">
            <a:extLst>
              <a:ext uri="{FF2B5EF4-FFF2-40B4-BE49-F238E27FC236}">
                <a16:creationId xmlns:a16="http://schemas.microsoft.com/office/drawing/2014/main" id="{65161773-1180-4603-826F-E7DFA8C8E12D}"/>
              </a:ext>
            </a:extLst>
          </p:cNvPr>
          <p:cNvSpPr>
            <a:spLocks noGrp="1"/>
          </p:cNvSpPr>
          <p:nvPr>
            <p:ph idx="1"/>
          </p:nvPr>
        </p:nvSpPr>
        <p:spPr/>
        <p:txBody>
          <a:bodyPr/>
          <a:lstStyle/>
          <a:p>
            <a:pPr marL="514350" indent="-514350">
              <a:buAutoNum type="arabicParenR"/>
            </a:pPr>
            <a:r>
              <a:rPr lang="en-US" dirty="0"/>
              <a:t>Too many NOPs – the code didn’t have (or the compiler couldn’t find) parallelism</a:t>
            </a:r>
          </a:p>
          <a:p>
            <a:pPr marL="514350" indent="-514350">
              <a:buAutoNum type="arabicParenR"/>
            </a:pPr>
            <a:r>
              <a:rPr lang="en-US" dirty="0"/>
              <a:t>The generated code is tied to the particular microarchitecture (what if a new CPU design comes out?)</a:t>
            </a:r>
          </a:p>
          <a:p>
            <a:pPr marL="514350" indent="-514350">
              <a:buAutoNum type="arabicParenR"/>
            </a:pPr>
            <a:r>
              <a:rPr lang="en-US" dirty="0"/>
              <a:t>Because all of the instructions have to complete at the same time, any long instructions (memory accesses!) cause the whole set of instructions to stall</a:t>
            </a:r>
          </a:p>
        </p:txBody>
      </p:sp>
    </p:spTree>
    <p:extLst>
      <p:ext uri="{BB962C8B-B14F-4D97-AF65-F5344CB8AC3E}">
        <p14:creationId xmlns:p14="http://schemas.microsoft.com/office/powerpoint/2010/main" val="148890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Image result for titanic">
            <a:extLst>
              <a:ext uri="{FF2B5EF4-FFF2-40B4-BE49-F238E27FC236}">
                <a16:creationId xmlns:a16="http://schemas.microsoft.com/office/drawing/2014/main" id="{7E9C2B24-BB6C-465A-BC66-0688A5593669}"/>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l="1111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BB2DA68-7B5C-4919-BB3C-BA5B3ADD1CCF}"/>
              </a:ext>
            </a:extLst>
          </p:cNvPr>
          <p:cNvSpPr>
            <a:spLocks noGrp="1"/>
          </p:cNvSpPr>
          <p:nvPr>
            <p:ph type="title"/>
          </p:nvPr>
        </p:nvSpPr>
        <p:spPr>
          <a:xfrm>
            <a:off x="5489713" y="5532427"/>
            <a:ext cx="10515600" cy="1325563"/>
          </a:xfrm>
        </p:spPr>
        <p:txBody>
          <a:bodyPr>
            <a:normAutofit/>
          </a:bodyPr>
          <a:lstStyle/>
          <a:p>
            <a:r>
              <a:rPr lang="en-US" sz="6000" b="1" dirty="0">
                <a:solidFill>
                  <a:srgbClr val="FFFFFF"/>
                </a:solidFill>
              </a:rPr>
              <a:t>VLIW in real life</a:t>
            </a:r>
          </a:p>
        </p:txBody>
      </p:sp>
      <p:sp>
        <p:nvSpPr>
          <p:cNvPr id="3" name="Content Placeholder 2">
            <a:extLst>
              <a:ext uri="{FF2B5EF4-FFF2-40B4-BE49-F238E27FC236}">
                <a16:creationId xmlns:a16="http://schemas.microsoft.com/office/drawing/2014/main" id="{27D34AEF-2E30-4B82-A2C9-806044503FC8}"/>
              </a:ext>
            </a:extLst>
          </p:cNvPr>
          <p:cNvSpPr>
            <a:spLocks noGrp="1"/>
          </p:cNvSpPr>
          <p:nvPr>
            <p:ph idx="1"/>
          </p:nvPr>
        </p:nvSpPr>
        <p:spPr>
          <a:xfrm>
            <a:off x="1676400" y="0"/>
            <a:ext cx="10515600" cy="3362601"/>
          </a:xfrm>
          <a:solidFill>
            <a:schemeClr val="bg1">
              <a:alpha val="50000"/>
            </a:schemeClr>
          </a:solidFill>
        </p:spPr>
        <p:txBody>
          <a:bodyPr>
            <a:normAutofit/>
          </a:bodyPr>
          <a:lstStyle/>
          <a:p>
            <a:pPr marL="0" indent="0">
              <a:buNone/>
            </a:pPr>
            <a:r>
              <a:rPr lang="en-US" dirty="0"/>
              <a:t>Lots of embedded and special purpose chips are VLIW – DSPs, (some) graphics chips, media processors (the chip in your DVD/Blu-ray).</a:t>
            </a:r>
          </a:p>
          <a:p>
            <a:pPr marL="0" indent="0">
              <a:buNone/>
            </a:pPr>
            <a:endParaRPr lang="en-US" dirty="0"/>
          </a:p>
          <a:p>
            <a:pPr marL="0" indent="0">
              <a:buNone/>
            </a:pPr>
            <a:r>
              <a:rPr lang="en-US" dirty="0"/>
              <a:t>In the US, Intel created Itanium (IA-64). It didn’t go over well (the compilers were too hard to write).</a:t>
            </a:r>
          </a:p>
          <a:p>
            <a:pPr marL="0" indent="0">
              <a:buNone/>
            </a:pPr>
            <a:endParaRPr lang="en-US" dirty="0"/>
          </a:p>
          <a:p>
            <a:pPr marL="0" indent="0">
              <a:buNone/>
            </a:pPr>
            <a:r>
              <a:rPr lang="en-US" dirty="0"/>
              <a:t>Russia’s Elbrus chip is a VLIW.</a:t>
            </a:r>
          </a:p>
        </p:txBody>
      </p:sp>
    </p:spTree>
    <p:extLst>
      <p:ext uri="{BB962C8B-B14F-4D97-AF65-F5344CB8AC3E}">
        <p14:creationId xmlns:p14="http://schemas.microsoft.com/office/powerpoint/2010/main" val="942292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82E7F-4148-4DC1-BA8D-4F3BFC304D6E}"/>
              </a:ext>
            </a:extLst>
          </p:cNvPr>
          <p:cNvSpPr>
            <a:spLocks noGrp="1"/>
          </p:cNvSpPr>
          <p:nvPr>
            <p:ph type="title"/>
          </p:nvPr>
        </p:nvSpPr>
        <p:spPr>
          <a:xfrm>
            <a:off x="507999" y="365125"/>
            <a:ext cx="11117943" cy="1325563"/>
          </a:xfrm>
        </p:spPr>
        <p:txBody>
          <a:bodyPr/>
          <a:lstStyle/>
          <a:p>
            <a:r>
              <a:rPr lang="en-US" dirty="0"/>
              <a:t>If VLIW doesn’t work (well), what should we do?</a:t>
            </a:r>
          </a:p>
        </p:txBody>
      </p:sp>
      <p:sp>
        <p:nvSpPr>
          <p:cNvPr id="3" name="Content Placeholder 2">
            <a:extLst>
              <a:ext uri="{FF2B5EF4-FFF2-40B4-BE49-F238E27FC236}">
                <a16:creationId xmlns:a16="http://schemas.microsoft.com/office/drawing/2014/main" id="{9FCC3AE0-8140-4E30-99D1-444BD4E5DC11}"/>
              </a:ext>
            </a:extLst>
          </p:cNvPr>
          <p:cNvSpPr>
            <a:spLocks noGrp="1"/>
          </p:cNvSpPr>
          <p:nvPr>
            <p:ph idx="1"/>
          </p:nvPr>
        </p:nvSpPr>
        <p:spPr/>
        <p:txBody>
          <a:bodyPr/>
          <a:lstStyle/>
          <a:p>
            <a:pPr marL="0" indent="0">
              <a:buNone/>
            </a:pPr>
            <a:r>
              <a:rPr lang="en-US" dirty="0"/>
              <a:t>Instead of static dependency checking, we can do the dependency checking dynamically (in the CPU).</a:t>
            </a:r>
          </a:p>
          <a:p>
            <a:pPr marL="0" indent="0">
              <a:buNone/>
            </a:pPr>
            <a:endParaRPr lang="en-US" dirty="0"/>
          </a:p>
          <a:p>
            <a:pPr marL="0" indent="0">
              <a:buNone/>
            </a:pPr>
            <a:r>
              <a:rPr lang="en-US" dirty="0"/>
              <a:t>This works better, too, because:</a:t>
            </a:r>
          </a:p>
          <a:p>
            <a:pPr marL="514350" indent="-514350">
              <a:buAutoNum type="alphaLcParenR"/>
            </a:pPr>
            <a:r>
              <a:rPr lang="en-US" dirty="0"/>
              <a:t>VLIW doesn’t solve long load/store waits</a:t>
            </a:r>
          </a:p>
          <a:p>
            <a:pPr marL="514350" indent="-514350">
              <a:buAutoNum type="alphaLcParenR"/>
            </a:pPr>
            <a:r>
              <a:rPr lang="en-US" dirty="0"/>
              <a:t>Branches make the order of the code impossible to predict ahead of time.</a:t>
            </a:r>
          </a:p>
        </p:txBody>
      </p:sp>
    </p:spTree>
    <p:extLst>
      <p:ext uri="{BB962C8B-B14F-4D97-AF65-F5344CB8AC3E}">
        <p14:creationId xmlns:p14="http://schemas.microsoft.com/office/powerpoint/2010/main" val="789722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E6A6-834F-411D-9458-D31632159CC3}"/>
              </a:ext>
            </a:extLst>
          </p:cNvPr>
          <p:cNvSpPr>
            <a:spLocks noGrp="1"/>
          </p:cNvSpPr>
          <p:nvPr>
            <p:ph type="title"/>
          </p:nvPr>
        </p:nvSpPr>
        <p:spPr/>
        <p:txBody>
          <a:bodyPr/>
          <a:lstStyle/>
          <a:p>
            <a:r>
              <a:rPr lang="en-US" dirty="0"/>
              <a:t>“Reorder them by dependency”</a:t>
            </a:r>
          </a:p>
        </p:txBody>
      </p:sp>
      <p:sp>
        <p:nvSpPr>
          <p:cNvPr id="3" name="Content Placeholder 2">
            <a:extLst>
              <a:ext uri="{FF2B5EF4-FFF2-40B4-BE49-F238E27FC236}">
                <a16:creationId xmlns:a16="http://schemas.microsoft.com/office/drawing/2014/main" id="{E042C041-9737-4C2B-90CE-52DC7DF5B5D8}"/>
              </a:ext>
            </a:extLst>
          </p:cNvPr>
          <p:cNvSpPr>
            <a:spLocks noGrp="1"/>
          </p:cNvSpPr>
          <p:nvPr>
            <p:ph idx="1"/>
          </p:nvPr>
        </p:nvSpPr>
        <p:spPr/>
        <p:txBody>
          <a:bodyPr/>
          <a:lstStyle/>
          <a:p>
            <a:pPr marL="0" indent="0">
              <a:buNone/>
            </a:pPr>
            <a:r>
              <a:rPr lang="en-US" dirty="0"/>
              <a:t>If I have:</a:t>
            </a:r>
          </a:p>
          <a:p>
            <a:pPr marL="0" indent="0">
              <a:buNone/>
            </a:pPr>
            <a:r>
              <a:rPr lang="en-US" dirty="0"/>
              <a:t>ADD R1 </a:t>
            </a:r>
            <a:r>
              <a:rPr lang="en-US" dirty="0">
                <a:sym typeface="Wingdings" panose="05000000000000000000" pitchFamily="2" charset="2"/>
              </a:rPr>
              <a:t> R2, R3</a:t>
            </a:r>
          </a:p>
          <a:p>
            <a:pPr marL="0" indent="0">
              <a:buNone/>
            </a:pPr>
            <a:r>
              <a:rPr lang="en-US" dirty="0">
                <a:sym typeface="Wingdings" panose="05000000000000000000" pitchFamily="2" charset="2"/>
              </a:rPr>
              <a:t>ADD R2  R1, R4</a:t>
            </a:r>
          </a:p>
          <a:p>
            <a:pPr marL="0" indent="0">
              <a:buNone/>
            </a:pPr>
            <a:r>
              <a:rPr lang="en-US" dirty="0">
                <a:sym typeface="Wingdings" panose="05000000000000000000" pitchFamily="2" charset="2"/>
              </a:rPr>
              <a:t>ADD R7  R8, R9</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We can see that instruction 2 depends on the result of instruction 1.</a:t>
            </a:r>
          </a:p>
          <a:p>
            <a:pPr marL="0" indent="0">
              <a:buNone/>
            </a:pPr>
            <a:r>
              <a:rPr lang="en-US" dirty="0">
                <a:sym typeface="Wingdings" panose="05000000000000000000" pitchFamily="2" charset="2"/>
              </a:rPr>
              <a:t>We can see that instruction 3 has nothing to do with 1 or 2.</a:t>
            </a:r>
          </a:p>
          <a:p>
            <a:pPr marL="0" indent="0">
              <a:buNone/>
            </a:pPr>
            <a:r>
              <a:rPr lang="en-US" dirty="0">
                <a:sym typeface="Wingdings" panose="05000000000000000000" pitchFamily="2" charset="2"/>
              </a:rPr>
              <a:t>Register renaming can’t rescue us, here.</a:t>
            </a:r>
          </a:p>
        </p:txBody>
      </p:sp>
    </p:spTree>
    <p:extLst>
      <p:ext uri="{BB962C8B-B14F-4D97-AF65-F5344CB8AC3E}">
        <p14:creationId xmlns:p14="http://schemas.microsoft.com/office/powerpoint/2010/main" val="1996556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4FD15-35F2-448C-9B87-4D6F4021B7EB}"/>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835B35EA-4BE3-49E0-8E2D-639CB2B2D132}"/>
              </a:ext>
            </a:extLst>
          </p:cNvPr>
          <p:cNvSpPr>
            <a:spLocks noGrp="1"/>
          </p:cNvSpPr>
          <p:nvPr>
            <p:ph idx="1"/>
          </p:nvPr>
        </p:nvSpPr>
        <p:spPr/>
        <p:txBody>
          <a:bodyPr/>
          <a:lstStyle/>
          <a:p>
            <a:pPr marL="0" indent="0">
              <a:buNone/>
            </a:pPr>
            <a:r>
              <a:rPr lang="en-US" dirty="0"/>
              <a:t>LOAD R1 </a:t>
            </a:r>
            <a:r>
              <a:rPr lang="en-US" dirty="0">
                <a:sym typeface="Wingdings" panose="05000000000000000000" pitchFamily="2" charset="2"/>
              </a:rPr>
              <a:t> $12345678</a:t>
            </a:r>
          </a:p>
          <a:p>
            <a:pPr marL="0" indent="0">
              <a:buNone/>
            </a:pPr>
            <a:r>
              <a:rPr lang="en-US" dirty="0">
                <a:sym typeface="Wingdings" panose="05000000000000000000" pitchFamily="2" charset="2"/>
              </a:rPr>
              <a:t>ADD R2  R3, R4</a:t>
            </a:r>
          </a:p>
          <a:p>
            <a:pPr marL="0" indent="0">
              <a:buNone/>
            </a:pPr>
            <a:r>
              <a:rPr lang="en-US" dirty="0">
                <a:sym typeface="Wingdings" panose="05000000000000000000" pitchFamily="2" charset="2"/>
              </a:rPr>
              <a:t>SUB R5  R6, R7</a:t>
            </a:r>
          </a:p>
          <a:p>
            <a:pPr marL="0" indent="0">
              <a:buNone/>
            </a:pPr>
            <a:r>
              <a:rPr lang="en-US" dirty="0">
                <a:sym typeface="Wingdings" panose="05000000000000000000" pitchFamily="2" charset="2"/>
              </a:rPr>
              <a:t>MUL R8  R9, R10</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How far ahead would we need to get to “cover” an access to main memory?</a:t>
            </a:r>
          </a:p>
          <a:p>
            <a:pPr marL="0" indent="0">
              <a:buNone/>
            </a:pPr>
            <a:endParaRPr lang="en-US" dirty="0"/>
          </a:p>
        </p:txBody>
      </p:sp>
    </p:spTree>
    <p:extLst>
      <p:ext uri="{BB962C8B-B14F-4D97-AF65-F5344CB8AC3E}">
        <p14:creationId xmlns:p14="http://schemas.microsoft.com/office/powerpoint/2010/main" val="194862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F3FCF-804E-4C02-8F78-B6A5D1D60068}"/>
              </a:ext>
            </a:extLst>
          </p:cNvPr>
          <p:cNvSpPr>
            <a:spLocks noGrp="1"/>
          </p:cNvSpPr>
          <p:nvPr>
            <p:ph type="title"/>
          </p:nvPr>
        </p:nvSpPr>
        <p:spPr/>
        <p:txBody>
          <a:bodyPr/>
          <a:lstStyle/>
          <a:p>
            <a:r>
              <a:rPr lang="en-US" dirty="0"/>
              <a:t>Cooking metaphor</a:t>
            </a:r>
          </a:p>
        </p:txBody>
      </p:sp>
      <p:sp>
        <p:nvSpPr>
          <p:cNvPr id="3" name="Content Placeholder 2">
            <a:extLst>
              <a:ext uri="{FF2B5EF4-FFF2-40B4-BE49-F238E27FC236}">
                <a16:creationId xmlns:a16="http://schemas.microsoft.com/office/drawing/2014/main" id="{3BF81A84-3039-49FD-A494-3869248F9EAE}"/>
              </a:ext>
            </a:extLst>
          </p:cNvPr>
          <p:cNvSpPr>
            <a:spLocks noGrp="1"/>
          </p:cNvSpPr>
          <p:nvPr>
            <p:ph idx="1"/>
          </p:nvPr>
        </p:nvSpPr>
        <p:spPr/>
        <p:txBody>
          <a:bodyPr/>
          <a:lstStyle/>
          <a:p>
            <a:pPr marL="0" indent="0">
              <a:buNone/>
            </a:pPr>
            <a:r>
              <a:rPr lang="en-US" dirty="0"/>
              <a:t>If we were making a dinner, we want to serve appetizer, then the main course, then dessert. </a:t>
            </a:r>
          </a:p>
          <a:p>
            <a:pPr marL="0" indent="0">
              <a:buNone/>
            </a:pPr>
            <a:r>
              <a:rPr lang="en-US" dirty="0"/>
              <a:t>Ideally, we would make the appetizer, then while it is being eaten, we make the main course, etc.</a:t>
            </a:r>
          </a:p>
          <a:p>
            <a:pPr marL="0" indent="0">
              <a:buNone/>
            </a:pPr>
            <a:r>
              <a:rPr lang="en-US" dirty="0"/>
              <a:t>But if the appetizer requires 3 hours to chill, we will have a lot of “stalls” at our dinner.</a:t>
            </a:r>
          </a:p>
          <a:p>
            <a:pPr marL="0" indent="0">
              <a:buNone/>
            </a:pPr>
            <a:r>
              <a:rPr lang="en-US" dirty="0"/>
              <a:t>What if we reorder so that we make the appetizer and start it chilling, then make the main course and dessert? When the appetizer is done, we can serve it and then finish the other cooking (whatever isn’t done).</a:t>
            </a:r>
          </a:p>
          <a:p>
            <a:pPr marL="0" indent="0">
              <a:buNone/>
            </a:pPr>
            <a:endParaRPr lang="en-US" dirty="0"/>
          </a:p>
        </p:txBody>
      </p:sp>
    </p:spTree>
    <p:extLst>
      <p:ext uri="{BB962C8B-B14F-4D97-AF65-F5344CB8AC3E}">
        <p14:creationId xmlns:p14="http://schemas.microsoft.com/office/powerpoint/2010/main" val="127153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4CE6-870D-4D01-BA6E-B2FEBB4E1874}"/>
              </a:ext>
            </a:extLst>
          </p:cNvPr>
          <p:cNvSpPr>
            <a:spLocks noGrp="1"/>
          </p:cNvSpPr>
          <p:nvPr>
            <p:ph type="title"/>
          </p:nvPr>
        </p:nvSpPr>
        <p:spPr/>
        <p:txBody>
          <a:bodyPr/>
          <a:lstStyle/>
          <a:p>
            <a:r>
              <a:rPr lang="en-US" dirty="0"/>
              <a:t>A simple algorithm</a:t>
            </a:r>
          </a:p>
        </p:txBody>
      </p:sp>
      <p:sp>
        <p:nvSpPr>
          <p:cNvPr id="3" name="Content Placeholder 2">
            <a:extLst>
              <a:ext uri="{FF2B5EF4-FFF2-40B4-BE49-F238E27FC236}">
                <a16:creationId xmlns:a16="http://schemas.microsoft.com/office/drawing/2014/main" id="{9CB73714-2219-4D59-BF47-01AFBC72B76F}"/>
              </a:ext>
            </a:extLst>
          </p:cNvPr>
          <p:cNvSpPr>
            <a:spLocks noGrp="1"/>
          </p:cNvSpPr>
          <p:nvPr>
            <p:ph idx="1"/>
          </p:nvPr>
        </p:nvSpPr>
        <p:spPr/>
        <p:txBody>
          <a:bodyPr/>
          <a:lstStyle/>
          <a:p>
            <a:pPr marL="0" indent="0">
              <a:buNone/>
            </a:pPr>
            <a:r>
              <a:rPr lang="en-US" dirty="0"/>
              <a:t>We can proceed onto a new instruction if no pending instruction outputs its source(s).</a:t>
            </a:r>
          </a:p>
          <a:p>
            <a:pPr marL="0" indent="0">
              <a:buNone/>
            </a:pPr>
            <a:r>
              <a:rPr lang="en-US" dirty="0"/>
              <a:t>If we have:</a:t>
            </a:r>
          </a:p>
          <a:p>
            <a:pPr marL="0" indent="0">
              <a:buNone/>
            </a:pPr>
            <a:r>
              <a:rPr lang="en-US" dirty="0"/>
              <a:t>LOAD R1 </a:t>
            </a:r>
            <a:r>
              <a:rPr lang="en-US" dirty="0">
                <a:sym typeface="Wingdings" panose="05000000000000000000" pitchFamily="2" charset="2"/>
              </a:rPr>
              <a:t> $12345678</a:t>
            </a:r>
          </a:p>
          <a:p>
            <a:pPr marL="0" indent="0">
              <a:buNone/>
            </a:pPr>
            <a:r>
              <a:rPr lang="en-US" dirty="0">
                <a:sym typeface="Wingdings" panose="05000000000000000000" pitchFamily="2" charset="2"/>
              </a:rPr>
              <a:t>ADD R2 R1,R3 – we clearly can’t do this until the load comes back</a:t>
            </a:r>
          </a:p>
          <a:p>
            <a:pPr marL="0" indent="0">
              <a:buNone/>
            </a:pPr>
            <a:endParaRPr lang="en-US" dirty="0">
              <a:sym typeface="Wingdings" panose="05000000000000000000" pitchFamily="2" charset="2"/>
            </a:endParaRPr>
          </a:p>
          <a:p>
            <a:pPr marL="0" indent="0">
              <a:buNone/>
            </a:pPr>
            <a:endParaRPr lang="en-US" dirty="0">
              <a:sym typeface="Wingdings" panose="05000000000000000000" pitchFamily="2" charset="2"/>
            </a:endParaRPr>
          </a:p>
        </p:txBody>
      </p:sp>
    </p:spTree>
    <p:extLst>
      <p:ext uri="{BB962C8B-B14F-4D97-AF65-F5344CB8AC3E}">
        <p14:creationId xmlns:p14="http://schemas.microsoft.com/office/powerpoint/2010/main" val="71905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CCD68-8859-490F-9D83-528A844D4494}"/>
              </a:ext>
            </a:extLst>
          </p:cNvPr>
          <p:cNvSpPr>
            <a:spLocks noGrp="1"/>
          </p:cNvSpPr>
          <p:nvPr>
            <p:ph type="title"/>
          </p:nvPr>
        </p:nvSpPr>
        <p:spPr/>
        <p:txBody>
          <a:bodyPr/>
          <a:lstStyle/>
          <a:p>
            <a:r>
              <a:rPr lang="en-US" dirty="0"/>
              <a:t>The hard part is memory</a:t>
            </a:r>
          </a:p>
        </p:txBody>
      </p:sp>
      <p:sp>
        <p:nvSpPr>
          <p:cNvPr id="3" name="Content Placeholder 2">
            <a:extLst>
              <a:ext uri="{FF2B5EF4-FFF2-40B4-BE49-F238E27FC236}">
                <a16:creationId xmlns:a16="http://schemas.microsoft.com/office/drawing/2014/main" id="{F08C8E68-807B-4AD2-BFAE-2C1A8EB6906E}"/>
              </a:ext>
            </a:extLst>
          </p:cNvPr>
          <p:cNvSpPr>
            <a:spLocks noGrp="1"/>
          </p:cNvSpPr>
          <p:nvPr>
            <p:ph idx="1"/>
          </p:nvPr>
        </p:nvSpPr>
        <p:spPr/>
        <p:txBody>
          <a:bodyPr/>
          <a:lstStyle/>
          <a:p>
            <a:pPr marL="0" indent="0">
              <a:buNone/>
            </a:pPr>
            <a:r>
              <a:rPr lang="en-US" dirty="0"/>
              <a:t>We can’t make a “memory file” – memory is too big AND the CPU isn’t the only system that can read/write to it. </a:t>
            </a:r>
          </a:p>
          <a:p>
            <a:pPr marL="0" indent="0">
              <a:buNone/>
            </a:pPr>
            <a:endParaRPr lang="en-US" dirty="0"/>
          </a:p>
          <a:p>
            <a:pPr marL="0" indent="0">
              <a:buNone/>
            </a:pPr>
            <a:r>
              <a:rPr lang="en-US" dirty="0"/>
              <a:t>Often, too, we calculate memory addresses.</a:t>
            </a:r>
          </a:p>
          <a:p>
            <a:pPr marL="0" indent="0">
              <a:buNone/>
            </a:pPr>
            <a:r>
              <a:rPr lang="en-US" dirty="0"/>
              <a:t>Example:</a:t>
            </a:r>
          </a:p>
          <a:p>
            <a:pPr marL="0" indent="0">
              <a:buNone/>
            </a:pPr>
            <a:r>
              <a:rPr lang="en-US" dirty="0"/>
              <a:t>if (x&gt;0) </a:t>
            </a:r>
            <a:r>
              <a:rPr lang="en-US" dirty="0" err="1"/>
              <a:t>myPerson</a:t>
            </a:r>
            <a:r>
              <a:rPr lang="en-US" dirty="0"/>
              <a:t> = person1 else </a:t>
            </a:r>
            <a:r>
              <a:rPr lang="en-US" dirty="0" err="1"/>
              <a:t>myPerson</a:t>
            </a:r>
            <a:r>
              <a:rPr lang="en-US" dirty="0"/>
              <a:t> = person2;</a:t>
            </a:r>
          </a:p>
          <a:p>
            <a:pPr marL="0" indent="0">
              <a:buNone/>
            </a:pPr>
            <a:r>
              <a:rPr lang="en-US" dirty="0"/>
              <a:t>age = </a:t>
            </a:r>
            <a:r>
              <a:rPr lang="en-US" dirty="0" err="1"/>
              <a:t>myPerson.age</a:t>
            </a:r>
            <a:r>
              <a:rPr lang="en-US" dirty="0"/>
              <a:t>; </a:t>
            </a:r>
            <a:r>
              <a:rPr lang="en-US" dirty="0">
                <a:sym typeface="Wingdings" panose="05000000000000000000" pitchFamily="2" charset="2"/>
              </a:rPr>
              <a:t> age is located at </a:t>
            </a:r>
            <a:r>
              <a:rPr lang="en-US" dirty="0" err="1">
                <a:sym typeface="Wingdings" panose="05000000000000000000" pitchFamily="2" charset="2"/>
              </a:rPr>
              <a:t>myPerson</a:t>
            </a:r>
            <a:r>
              <a:rPr lang="en-US" dirty="0">
                <a:sym typeface="Wingdings" panose="05000000000000000000" pitchFamily="2" charset="2"/>
              </a:rPr>
              <a:t> + offset</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37301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413B-CDE3-4D8A-B909-5E9C4D0D0AE0}"/>
              </a:ext>
            </a:extLst>
          </p:cNvPr>
          <p:cNvSpPr>
            <a:spLocks noGrp="1"/>
          </p:cNvSpPr>
          <p:nvPr>
            <p:ph type="title"/>
          </p:nvPr>
        </p:nvSpPr>
        <p:spPr/>
        <p:txBody>
          <a:bodyPr/>
          <a:lstStyle/>
          <a:p>
            <a:r>
              <a:rPr lang="en-US" dirty="0"/>
              <a:t>Caches make it even worse</a:t>
            </a:r>
          </a:p>
        </p:txBody>
      </p:sp>
      <p:sp>
        <p:nvSpPr>
          <p:cNvPr id="3" name="Content Placeholder 2">
            <a:extLst>
              <a:ext uri="{FF2B5EF4-FFF2-40B4-BE49-F238E27FC236}">
                <a16:creationId xmlns:a16="http://schemas.microsoft.com/office/drawing/2014/main" id="{D9FC9E86-04CB-441C-A2EE-64B477494D02}"/>
              </a:ext>
            </a:extLst>
          </p:cNvPr>
          <p:cNvSpPr>
            <a:spLocks noGrp="1"/>
          </p:cNvSpPr>
          <p:nvPr>
            <p:ph idx="1"/>
          </p:nvPr>
        </p:nvSpPr>
        <p:spPr/>
        <p:txBody>
          <a:bodyPr/>
          <a:lstStyle/>
          <a:p>
            <a:pPr marL="0" indent="0">
              <a:buNone/>
            </a:pPr>
            <a:r>
              <a:rPr lang="en-US" dirty="0"/>
              <a:t>load R1 </a:t>
            </a:r>
            <a:r>
              <a:rPr lang="en-US" dirty="0">
                <a:sym typeface="Wingdings" panose="05000000000000000000" pitchFamily="2" charset="2"/>
              </a:rPr>
              <a:t> $12345678</a:t>
            </a:r>
          </a:p>
          <a:p>
            <a:pPr marL="0" indent="0">
              <a:buNone/>
            </a:pPr>
            <a:r>
              <a:rPr lang="en-US" dirty="0">
                <a:sym typeface="Wingdings" panose="05000000000000000000" pitchFamily="2" charset="2"/>
              </a:rPr>
              <a:t>load R2  $23456780</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Assuming that they are both started via out of order execution, which one will finish first?</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Now what if we have a store to one of those addresses?</a:t>
            </a:r>
            <a:endParaRPr lang="en-US" dirty="0"/>
          </a:p>
        </p:txBody>
      </p:sp>
    </p:spTree>
    <p:extLst>
      <p:ext uri="{BB962C8B-B14F-4D97-AF65-F5344CB8AC3E}">
        <p14:creationId xmlns:p14="http://schemas.microsoft.com/office/powerpoint/2010/main" val="2845441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7F06-3E7A-43C0-BFEA-B958FF78CBE0}"/>
              </a:ext>
            </a:extLst>
          </p:cNvPr>
          <p:cNvSpPr>
            <a:spLocks noGrp="1"/>
          </p:cNvSpPr>
          <p:nvPr>
            <p:ph type="title"/>
          </p:nvPr>
        </p:nvSpPr>
        <p:spPr/>
        <p:txBody>
          <a:bodyPr/>
          <a:lstStyle/>
          <a:p>
            <a:r>
              <a:rPr lang="en-US" dirty="0"/>
              <a:t>Worse yet…</a:t>
            </a:r>
          </a:p>
        </p:txBody>
      </p:sp>
      <p:sp>
        <p:nvSpPr>
          <p:cNvPr id="3" name="Content Placeholder 2">
            <a:extLst>
              <a:ext uri="{FF2B5EF4-FFF2-40B4-BE49-F238E27FC236}">
                <a16:creationId xmlns:a16="http://schemas.microsoft.com/office/drawing/2014/main" id="{E39905A1-4F6A-4F54-83E9-AE6ACE24A143}"/>
              </a:ext>
            </a:extLst>
          </p:cNvPr>
          <p:cNvSpPr>
            <a:spLocks noGrp="1"/>
          </p:cNvSpPr>
          <p:nvPr>
            <p:ph idx="1"/>
          </p:nvPr>
        </p:nvSpPr>
        <p:spPr/>
        <p:txBody>
          <a:bodyPr/>
          <a:lstStyle/>
          <a:p>
            <a:pPr marL="0" indent="0">
              <a:buNone/>
            </a:pPr>
            <a:r>
              <a:rPr lang="en-US" dirty="0"/>
              <a:t>store $12345678 </a:t>
            </a:r>
            <a:r>
              <a:rPr lang="en-US" dirty="0">
                <a:sym typeface="Wingdings" panose="05000000000000000000" pitchFamily="2" charset="2"/>
              </a:rPr>
              <a:t> R1</a:t>
            </a:r>
          </a:p>
          <a:p>
            <a:pPr marL="0" indent="0">
              <a:buNone/>
            </a:pPr>
            <a:r>
              <a:rPr lang="en-US" dirty="0">
                <a:sym typeface="Wingdings" panose="05000000000000000000" pitchFamily="2" charset="2"/>
              </a:rPr>
              <a:t>add R2  R3,R4</a:t>
            </a:r>
          </a:p>
          <a:p>
            <a:pPr marL="0" indent="0">
              <a:buNone/>
            </a:pPr>
            <a:r>
              <a:rPr lang="en-US" dirty="0">
                <a:sym typeface="Wingdings" panose="05000000000000000000" pitchFamily="2" charset="2"/>
              </a:rPr>
              <a:t>load R3  $12345678</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the store could still be working. How do we make sure that the load gets the right data?</a:t>
            </a:r>
            <a:endParaRPr lang="en-US" dirty="0"/>
          </a:p>
        </p:txBody>
      </p:sp>
    </p:spTree>
    <p:extLst>
      <p:ext uri="{BB962C8B-B14F-4D97-AF65-F5344CB8AC3E}">
        <p14:creationId xmlns:p14="http://schemas.microsoft.com/office/powerpoint/2010/main" val="28017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E4D2D-4698-428B-BA5B-5ACC6B1C3E1F}"/>
              </a:ext>
            </a:extLst>
          </p:cNvPr>
          <p:cNvSpPr>
            <a:spLocks noGrp="1"/>
          </p:cNvSpPr>
          <p:nvPr>
            <p:ph type="title"/>
          </p:nvPr>
        </p:nvSpPr>
        <p:spPr/>
        <p:txBody>
          <a:bodyPr/>
          <a:lstStyle/>
          <a:p>
            <a:r>
              <a:rPr lang="en-US" dirty="0"/>
              <a:t>Easy, dumb approach </a:t>
            </a:r>
          </a:p>
        </p:txBody>
      </p:sp>
      <p:sp>
        <p:nvSpPr>
          <p:cNvPr id="3" name="Content Placeholder 2">
            <a:extLst>
              <a:ext uri="{FF2B5EF4-FFF2-40B4-BE49-F238E27FC236}">
                <a16:creationId xmlns:a16="http://schemas.microsoft.com/office/drawing/2014/main" id="{77C90FB7-07D6-4A68-BECE-AFE09C98BB32}"/>
              </a:ext>
            </a:extLst>
          </p:cNvPr>
          <p:cNvSpPr>
            <a:spLocks noGrp="1"/>
          </p:cNvSpPr>
          <p:nvPr>
            <p:ph idx="1"/>
          </p:nvPr>
        </p:nvSpPr>
        <p:spPr/>
        <p:txBody>
          <a:bodyPr/>
          <a:lstStyle/>
          <a:p>
            <a:pPr marL="0" indent="0">
              <a:buNone/>
            </a:pPr>
            <a:r>
              <a:rPr lang="en-US" dirty="0"/>
              <a:t>Wait for all stores to complete before allowing a load to occur.</a:t>
            </a:r>
          </a:p>
          <a:p>
            <a:pPr marL="0" indent="0">
              <a:buNone/>
            </a:pPr>
            <a:endParaRPr lang="en-US" dirty="0"/>
          </a:p>
          <a:p>
            <a:pPr marL="0" indent="0">
              <a:buNone/>
            </a:pPr>
            <a:r>
              <a:rPr lang="en-US" dirty="0"/>
              <a:t>We will wait unnecessarily, but we know that we are right and it takes very little hardware to build.</a:t>
            </a:r>
          </a:p>
        </p:txBody>
      </p:sp>
    </p:spTree>
    <p:extLst>
      <p:ext uri="{BB962C8B-B14F-4D97-AF65-F5344CB8AC3E}">
        <p14:creationId xmlns:p14="http://schemas.microsoft.com/office/powerpoint/2010/main" val="3372280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2F41-308E-43E7-9C0E-16F5DC85A7D2}"/>
              </a:ext>
            </a:extLst>
          </p:cNvPr>
          <p:cNvSpPr>
            <a:spLocks noGrp="1"/>
          </p:cNvSpPr>
          <p:nvPr>
            <p:ph type="title"/>
          </p:nvPr>
        </p:nvSpPr>
        <p:spPr/>
        <p:txBody>
          <a:bodyPr/>
          <a:lstStyle/>
          <a:p>
            <a:r>
              <a:rPr lang="en-US" dirty="0"/>
              <a:t>Slightly harder</a:t>
            </a:r>
          </a:p>
        </p:txBody>
      </p:sp>
      <p:sp>
        <p:nvSpPr>
          <p:cNvPr id="3" name="Content Placeholder 2">
            <a:extLst>
              <a:ext uri="{FF2B5EF4-FFF2-40B4-BE49-F238E27FC236}">
                <a16:creationId xmlns:a16="http://schemas.microsoft.com/office/drawing/2014/main" id="{B21AE15C-6F4B-4062-B104-D6EFBD33DB62}"/>
              </a:ext>
            </a:extLst>
          </p:cNvPr>
          <p:cNvSpPr>
            <a:spLocks noGrp="1"/>
          </p:cNvSpPr>
          <p:nvPr>
            <p:ph idx="1"/>
          </p:nvPr>
        </p:nvSpPr>
        <p:spPr/>
        <p:txBody>
          <a:bodyPr/>
          <a:lstStyle/>
          <a:p>
            <a:pPr marL="0" indent="0">
              <a:buNone/>
            </a:pPr>
            <a:r>
              <a:rPr lang="en-US" dirty="0"/>
              <a:t>Check the addresses of all pending stores to make sure that none of them match our load.</a:t>
            </a:r>
          </a:p>
          <a:p>
            <a:pPr marL="0" indent="0">
              <a:buNone/>
            </a:pPr>
            <a:endParaRPr lang="en-US" dirty="0"/>
          </a:p>
          <a:p>
            <a:pPr marL="0" indent="0">
              <a:buNone/>
            </a:pPr>
            <a:r>
              <a:rPr lang="en-US" dirty="0"/>
              <a:t>What if we have this:</a:t>
            </a:r>
          </a:p>
          <a:p>
            <a:pPr marL="0" indent="0">
              <a:buNone/>
            </a:pPr>
            <a:r>
              <a:rPr lang="en-US" dirty="0"/>
              <a:t>load R1 </a:t>
            </a:r>
            <a:r>
              <a:rPr lang="en-US" dirty="0">
                <a:sym typeface="Wingdings" panose="05000000000000000000" pitchFamily="2" charset="2"/>
              </a:rPr>
              <a:t> $12345678</a:t>
            </a:r>
          </a:p>
          <a:p>
            <a:pPr marL="0" indent="0">
              <a:buNone/>
            </a:pPr>
            <a:r>
              <a:rPr lang="en-US" dirty="0" err="1">
                <a:sym typeface="Wingdings" panose="05000000000000000000" pitchFamily="2" charset="2"/>
              </a:rPr>
              <a:t>addi</a:t>
            </a:r>
            <a:r>
              <a:rPr lang="en-US" dirty="0">
                <a:sym typeface="Wingdings" panose="05000000000000000000" pitchFamily="2" charset="2"/>
              </a:rPr>
              <a:t> R2  R1, #16</a:t>
            </a:r>
          </a:p>
          <a:p>
            <a:pPr marL="0" indent="0">
              <a:buNone/>
            </a:pPr>
            <a:r>
              <a:rPr lang="en-US" dirty="0">
                <a:sym typeface="Wingdings" panose="05000000000000000000" pitchFamily="2" charset="2"/>
              </a:rPr>
              <a:t>store (R2)  R3 </a:t>
            </a:r>
          </a:p>
          <a:p>
            <a:pPr marL="0" indent="0">
              <a:buNone/>
            </a:pPr>
            <a:r>
              <a:rPr lang="en-US" dirty="0">
                <a:sym typeface="Wingdings" panose="05000000000000000000" pitchFamily="2" charset="2"/>
              </a:rPr>
              <a:t>load R4  $23456780 – this happens to be what R2 will be…</a:t>
            </a:r>
          </a:p>
        </p:txBody>
      </p:sp>
    </p:spTree>
    <p:extLst>
      <p:ext uri="{BB962C8B-B14F-4D97-AF65-F5344CB8AC3E}">
        <p14:creationId xmlns:p14="http://schemas.microsoft.com/office/powerpoint/2010/main" val="3169388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CD56A-433A-42BF-9B91-80C8B908966C}"/>
              </a:ext>
            </a:extLst>
          </p:cNvPr>
          <p:cNvSpPr>
            <a:spLocks noGrp="1"/>
          </p:cNvSpPr>
          <p:nvPr>
            <p:ph type="title"/>
          </p:nvPr>
        </p:nvSpPr>
        <p:spPr/>
        <p:txBody>
          <a:bodyPr/>
          <a:lstStyle/>
          <a:p>
            <a:r>
              <a:rPr lang="en-US" dirty="0"/>
              <a:t>Aggressive</a:t>
            </a:r>
          </a:p>
        </p:txBody>
      </p:sp>
      <p:sp>
        <p:nvSpPr>
          <p:cNvPr id="3" name="Content Placeholder 2">
            <a:extLst>
              <a:ext uri="{FF2B5EF4-FFF2-40B4-BE49-F238E27FC236}">
                <a16:creationId xmlns:a16="http://schemas.microsoft.com/office/drawing/2014/main" id="{DE235603-62E7-43AF-B27D-63D7A4D9F9CC}"/>
              </a:ext>
            </a:extLst>
          </p:cNvPr>
          <p:cNvSpPr>
            <a:spLocks noGrp="1"/>
          </p:cNvSpPr>
          <p:nvPr>
            <p:ph idx="1"/>
          </p:nvPr>
        </p:nvSpPr>
        <p:spPr/>
        <p:txBody>
          <a:bodyPr/>
          <a:lstStyle/>
          <a:p>
            <a:pPr marL="0" indent="0">
              <a:buNone/>
            </a:pPr>
            <a:r>
              <a:rPr lang="en-US" dirty="0"/>
              <a:t>Assume that you will never have a store-load collision, but then check if you DID and redo the work.</a:t>
            </a:r>
          </a:p>
          <a:p>
            <a:pPr marL="0" indent="0">
              <a:buNone/>
            </a:pPr>
            <a:endParaRPr lang="en-US" dirty="0"/>
          </a:p>
          <a:p>
            <a:pPr marL="0" indent="0">
              <a:buNone/>
            </a:pPr>
            <a:r>
              <a:rPr lang="en-US" dirty="0"/>
              <a:t>Complex to redo the work, requires rework (lose efficiency).</a:t>
            </a:r>
          </a:p>
        </p:txBody>
      </p:sp>
    </p:spTree>
    <p:extLst>
      <p:ext uri="{BB962C8B-B14F-4D97-AF65-F5344CB8AC3E}">
        <p14:creationId xmlns:p14="http://schemas.microsoft.com/office/powerpoint/2010/main" val="1681571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6C9C-C94F-4EC0-81B3-51FB9AA0FB1C}"/>
              </a:ext>
            </a:extLst>
          </p:cNvPr>
          <p:cNvSpPr>
            <a:spLocks noGrp="1"/>
          </p:cNvSpPr>
          <p:nvPr>
            <p:ph type="title"/>
          </p:nvPr>
        </p:nvSpPr>
        <p:spPr/>
        <p:txBody>
          <a:bodyPr/>
          <a:lstStyle/>
          <a:p>
            <a:r>
              <a:rPr lang="en-US" dirty="0"/>
              <a:t>Get smarter</a:t>
            </a:r>
          </a:p>
        </p:txBody>
      </p:sp>
      <p:sp>
        <p:nvSpPr>
          <p:cNvPr id="3" name="Content Placeholder 2">
            <a:extLst>
              <a:ext uri="{FF2B5EF4-FFF2-40B4-BE49-F238E27FC236}">
                <a16:creationId xmlns:a16="http://schemas.microsoft.com/office/drawing/2014/main" id="{DE1A20E3-0D7F-429D-BCC6-961233F0FEA2}"/>
              </a:ext>
            </a:extLst>
          </p:cNvPr>
          <p:cNvSpPr>
            <a:spLocks noGrp="1"/>
          </p:cNvSpPr>
          <p:nvPr>
            <p:ph idx="1"/>
          </p:nvPr>
        </p:nvSpPr>
        <p:spPr/>
        <p:txBody>
          <a:bodyPr/>
          <a:lstStyle/>
          <a:p>
            <a:pPr marL="0" indent="0">
              <a:buNone/>
            </a:pPr>
            <a:r>
              <a:rPr lang="en-US" dirty="0"/>
              <a:t>Chose the aggressive path, with one slight change. </a:t>
            </a:r>
          </a:p>
          <a:p>
            <a:pPr marL="0" indent="0">
              <a:buNone/>
            </a:pPr>
            <a:endParaRPr lang="en-US" dirty="0"/>
          </a:p>
          <a:p>
            <a:pPr marL="0" indent="0">
              <a:buNone/>
            </a:pPr>
            <a:r>
              <a:rPr lang="en-US" dirty="0"/>
              <a:t>When we have to go back and redo work, create a cache of store locations that caused the rework.</a:t>
            </a:r>
          </a:p>
          <a:p>
            <a:pPr marL="0" indent="0">
              <a:buNone/>
            </a:pPr>
            <a:endParaRPr lang="en-US" dirty="0"/>
          </a:p>
          <a:p>
            <a:pPr marL="0" indent="0">
              <a:buNone/>
            </a:pPr>
            <a:r>
              <a:rPr lang="en-US" dirty="0"/>
              <a:t>Next time, check to see if there is any instruction in the cache that is a pending store. If so, wait for it before performing our load.</a:t>
            </a:r>
          </a:p>
        </p:txBody>
      </p:sp>
    </p:spTree>
    <p:extLst>
      <p:ext uri="{BB962C8B-B14F-4D97-AF65-F5344CB8AC3E}">
        <p14:creationId xmlns:p14="http://schemas.microsoft.com/office/powerpoint/2010/main" val="2513409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9B065-5B54-4CA8-8AAF-0193BC35733A}"/>
              </a:ext>
            </a:extLst>
          </p:cNvPr>
          <p:cNvSpPr>
            <a:spLocks noGrp="1"/>
          </p:cNvSpPr>
          <p:nvPr>
            <p:ph type="title"/>
          </p:nvPr>
        </p:nvSpPr>
        <p:spPr/>
        <p:txBody>
          <a:bodyPr/>
          <a:lstStyle/>
          <a:p>
            <a:r>
              <a:rPr lang="en-US" dirty="0"/>
              <a:t>What if we get stuck?</a:t>
            </a:r>
          </a:p>
        </p:txBody>
      </p:sp>
      <p:sp>
        <p:nvSpPr>
          <p:cNvPr id="3" name="Content Placeholder 2">
            <a:extLst>
              <a:ext uri="{FF2B5EF4-FFF2-40B4-BE49-F238E27FC236}">
                <a16:creationId xmlns:a16="http://schemas.microsoft.com/office/drawing/2014/main" id="{3EA93F70-59DA-4818-AEBC-7BE484FCC2EF}"/>
              </a:ext>
            </a:extLst>
          </p:cNvPr>
          <p:cNvSpPr>
            <a:spLocks noGrp="1"/>
          </p:cNvSpPr>
          <p:nvPr>
            <p:ph idx="1"/>
          </p:nvPr>
        </p:nvSpPr>
        <p:spPr/>
        <p:txBody>
          <a:bodyPr/>
          <a:lstStyle/>
          <a:p>
            <a:pPr marL="0" indent="0">
              <a:buNone/>
            </a:pPr>
            <a:r>
              <a:rPr lang="en-US" dirty="0"/>
              <a:t>At some point, we could be waiting for memory operations to complete such that we can’t move forward. </a:t>
            </a:r>
          </a:p>
          <a:p>
            <a:pPr marL="0" indent="0">
              <a:buNone/>
            </a:pPr>
            <a:endParaRPr lang="en-US" dirty="0"/>
          </a:p>
          <a:p>
            <a:pPr marL="0" indent="0">
              <a:buNone/>
            </a:pPr>
            <a:r>
              <a:rPr lang="en-US" dirty="0"/>
              <a:t>What if we had *2* register files? We could “lie” to the operating system and tell it that we are actually *2* CPUs. When one “CPU” is tied up waiting for memory, the “other” CPU could do useful work.</a:t>
            </a:r>
          </a:p>
        </p:txBody>
      </p:sp>
    </p:spTree>
    <p:extLst>
      <p:ext uri="{BB962C8B-B14F-4D97-AF65-F5344CB8AC3E}">
        <p14:creationId xmlns:p14="http://schemas.microsoft.com/office/powerpoint/2010/main" val="143456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F9A4-72A8-4C03-9E1A-26B9D865ED9F}"/>
              </a:ext>
            </a:extLst>
          </p:cNvPr>
          <p:cNvSpPr>
            <a:spLocks noGrp="1"/>
          </p:cNvSpPr>
          <p:nvPr>
            <p:ph type="title"/>
          </p:nvPr>
        </p:nvSpPr>
        <p:spPr/>
        <p:txBody>
          <a:bodyPr/>
          <a:lstStyle/>
          <a:p>
            <a:r>
              <a:rPr lang="en-US" dirty="0"/>
              <a:t>Hyperthreading</a:t>
            </a:r>
          </a:p>
        </p:txBody>
      </p:sp>
      <p:sp>
        <p:nvSpPr>
          <p:cNvPr id="3" name="Content Placeholder 2">
            <a:extLst>
              <a:ext uri="{FF2B5EF4-FFF2-40B4-BE49-F238E27FC236}">
                <a16:creationId xmlns:a16="http://schemas.microsoft.com/office/drawing/2014/main" id="{D1C8902C-A6F4-448F-A6EF-90447DF75701}"/>
              </a:ext>
            </a:extLst>
          </p:cNvPr>
          <p:cNvSpPr>
            <a:spLocks noGrp="1"/>
          </p:cNvSpPr>
          <p:nvPr>
            <p:ph idx="1"/>
          </p:nvPr>
        </p:nvSpPr>
        <p:spPr/>
        <p:txBody>
          <a:bodyPr/>
          <a:lstStyle/>
          <a:p>
            <a:pPr marL="0" indent="0">
              <a:buNone/>
            </a:pPr>
            <a:r>
              <a:rPr lang="en-US" dirty="0"/>
              <a:t>SUN (now owned by Oracle) came up with the idea – let’s duplicate some of the state hardware like program counter and have the CPU look like </a:t>
            </a:r>
            <a:r>
              <a:rPr lang="en-US" b="1" dirty="0"/>
              <a:t>2</a:t>
            </a:r>
            <a:r>
              <a:rPr lang="en-US" dirty="0"/>
              <a:t> CPUs! </a:t>
            </a:r>
          </a:p>
          <a:p>
            <a:pPr marL="0" indent="0">
              <a:buNone/>
            </a:pPr>
            <a:endParaRPr lang="en-US" dirty="0"/>
          </a:p>
          <a:p>
            <a:pPr marL="0" indent="0">
              <a:buNone/>
            </a:pPr>
            <a:r>
              <a:rPr lang="en-US" dirty="0"/>
              <a:t>Those 2 CPUs will share the units. The operating system will run processes on each CPU and hopefully their work loads will balance out.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29801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8AD5-CF1E-4DCC-BB10-CEA17F3CA372}"/>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193AE9F5-B5D3-425B-8434-6C41F3F0D1AC}"/>
              </a:ext>
            </a:extLst>
          </p:cNvPr>
          <p:cNvSpPr>
            <a:spLocks noGrp="1"/>
          </p:cNvSpPr>
          <p:nvPr>
            <p:ph idx="1"/>
          </p:nvPr>
        </p:nvSpPr>
        <p:spPr/>
        <p:txBody>
          <a:bodyPr>
            <a:normAutofit lnSpcReduction="10000"/>
          </a:bodyPr>
          <a:lstStyle/>
          <a:p>
            <a:pPr marL="0" indent="0">
              <a:buNone/>
            </a:pPr>
            <a:r>
              <a:rPr lang="en-US" dirty="0"/>
              <a:t>What happens if something breaks in this process? Examples include arithmetic overflow, an undefined opcode, or a bad address?</a:t>
            </a:r>
          </a:p>
          <a:p>
            <a:pPr marL="0" indent="0">
              <a:buNone/>
            </a:pPr>
            <a:endParaRPr lang="en-US" dirty="0"/>
          </a:p>
          <a:p>
            <a:pPr marL="0" indent="0">
              <a:buNone/>
            </a:pPr>
            <a:r>
              <a:rPr lang="en-US" dirty="0"/>
              <a:t>A CPU exception happens and the processor jumps to a known address where (presumably) there is code to recover. </a:t>
            </a:r>
          </a:p>
          <a:p>
            <a:pPr marL="0" indent="0">
              <a:buNone/>
            </a:pPr>
            <a:endParaRPr lang="en-US" dirty="0"/>
          </a:p>
          <a:p>
            <a:pPr marL="0" indent="0">
              <a:buNone/>
            </a:pPr>
            <a:r>
              <a:rPr lang="en-US" dirty="0"/>
              <a:t>Some CPUs have “precise” exceptions – the state of the CPU is updated so that there is no partially completed work. An imprecise exception CPU does not do this update and the interrupt handler needs to deal with this. Pros/cons?</a:t>
            </a:r>
          </a:p>
        </p:txBody>
      </p:sp>
    </p:spTree>
    <p:extLst>
      <p:ext uri="{BB962C8B-B14F-4D97-AF65-F5344CB8AC3E}">
        <p14:creationId xmlns:p14="http://schemas.microsoft.com/office/powerpoint/2010/main" val="131776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698E-6E89-4947-AC9B-3DA492647BEE}"/>
              </a:ext>
            </a:extLst>
          </p:cNvPr>
          <p:cNvSpPr>
            <a:spLocks noGrp="1"/>
          </p:cNvSpPr>
          <p:nvPr>
            <p:ph type="title"/>
          </p:nvPr>
        </p:nvSpPr>
        <p:spPr/>
        <p:txBody>
          <a:bodyPr/>
          <a:lstStyle/>
          <a:p>
            <a:r>
              <a:rPr lang="en-US" dirty="0"/>
              <a:t>Superscalar and Out of order conclusion </a:t>
            </a:r>
          </a:p>
        </p:txBody>
      </p:sp>
      <p:sp>
        <p:nvSpPr>
          <p:cNvPr id="3" name="Content Placeholder 2">
            <a:extLst>
              <a:ext uri="{FF2B5EF4-FFF2-40B4-BE49-F238E27FC236}">
                <a16:creationId xmlns:a16="http://schemas.microsoft.com/office/drawing/2014/main" id="{B187F28F-192F-42A4-9FB7-8C0698674C8E}"/>
              </a:ext>
            </a:extLst>
          </p:cNvPr>
          <p:cNvSpPr>
            <a:spLocks noGrp="1"/>
          </p:cNvSpPr>
          <p:nvPr>
            <p:ph idx="1"/>
          </p:nvPr>
        </p:nvSpPr>
        <p:spPr/>
        <p:txBody>
          <a:bodyPr/>
          <a:lstStyle/>
          <a:p>
            <a:pPr marL="0" indent="0">
              <a:buNone/>
            </a:pPr>
            <a:r>
              <a:rPr lang="en-US" dirty="0"/>
              <a:t>Executing more than one instruction at a time is a huge performance win. </a:t>
            </a:r>
          </a:p>
          <a:p>
            <a:pPr marL="0" indent="0">
              <a:buNone/>
            </a:pPr>
            <a:endParaRPr lang="en-US" dirty="0"/>
          </a:p>
          <a:p>
            <a:pPr marL="0" indent="0">
              <a:buNone/>
            </a:pPr>
            <a:r>
              <a:rPr lang="en-US" dirty="0"/>
              <a:t>It’s also hard to do and requires a lot of effort and circuitry to ensure that the CPU is consistent, with precise exceptions.</a:t>
            </a:r>
          </a:p>
        </p:txBody>
      </p:sp>
    </p:spTree>
    <p:extLst>
      <p:ext uri="{BB962C8B-B14F-4D97-AF65-F5344CB8AC3E}">
        <p14:creationId xmlns:p14="http://schemas.microsoft.com/office/powerpoint/2010/main" val="654528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1544</TotalTime>
  <Words>1587</Words>
  <Application>Microsoft Office PowerPoint</Application>
  <PresentationFormat>Widescreen</PresentationFormat>
  <Paragraphs>145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Wingdings</vt:lpstr>
      <vt:lpstr>Office Theme</vt:lpstr>
      <vt:lpstr>Out Of Order Execution</vt:lpstr>
      <vt:lpstr>Who schedules the instructions?</vt:lpstr>
      <vt:lpstr>Who schedules the instructions?</vt:lpstr>
      <vt:lpstr>Floating Point</vt:lpstr>
      <vt:lpstr>An opportunity has arrived!</vt:lpstr>
      <vt:lpstr>Superscalar</vt:lpstr>
      <vt:lpstr>VLIW</vt:lpstr>
      <vt:lpstr>VLIW (continued)</vt:lpstr>
      <vt:lpstr>VLIW issues</vt:lpstr>
      <vt:lpstr>VLIW in real life</vt:lpstr>
      <vt:lpstr>If VLIW doesn’t work (well), what should we do?</vt:lpstr>
      <vt:lpstr>“Reorder them by dependency”</vt:lpstr>
      <vt:lpstr>Another example</vt:lpstr>
      <vt:lpstr>Cooking metaphor</vt:lpstr>
      <vt:lpstr>A simple algorithm</vt:lpstr>
      <vt:lpstr>The hard part is memory</vt:lpstr>
      <vt:lpstr>Caches make it even worse</vt:lpstr>
      <vt:lpstr>Worse yet…</vt:lpstr>
      <vt:lpstr>Easy, dumb approach </vt:lpstr>
      <vt:lpstr>Slightly harder</vt:lpstr>
      <vt:lpstr>Aggressive</vt:lpstr>
      <vt:lpstr>Get smarter</vt:lpstr>
      <vt:lpstr>What if we get stuck?</vt:lpstr>
      <vt:lpstr>Hyperthreading</vt:lpstr>
      <vt:lpstr>Exceptions</vt:lpstr>
      <vt:lpstr>Superscalar and Out of order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 Of Order Execution</dc:title>
  <dc:creator>Michael Phipps</dc:creator>
  <cp:lastModifiedBy>Michael Phipps</cp:lastModifiedBy>
  <cp:revision>14</cp:revision>
  <dcterms:created xsi:type="dcterms:W3CDTF">2018-08-15T14:22:59Z</dcterms:created>
  <dcterms:modified xsi:type="dcterms:W3CDTF">2018-08-17T19:26:34Z</dcterms:modified>
</cp:coreProperties>
</file>