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6" r:id="rId18"/>
    <p:sldId id="271" r:id="rId19"/>
    <p:sldId id="272" r:id="rId20"/>
    <p:sldId id="273" r:id="rId21"/>
    <p:sldId id="27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3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pps, Michael" userId="22b19e64-ae93-4d74-aed7-bbb364ca0772" providerId="ADAL" clId="{12743969-918C-4F8F-9302-66CC4DD651DD}"/>
    <pc:docChg chg="custSel modSld">
      <pc:chgData name="Phipps, Michael" userId="22b19e64-ae93-4d74-aed7-bbb364ca0772" providerId="ADAL" clId="{12743969-918C-4F8F-9302-66CC4DD651DD}" dt="2021-10-26T16:51:21.999" v="66" actId="20577"/>
      <pc:docMkLst>
        <pc:docMk/>
      </pc:docMkLst>
      <pc:sldChg chg="modSp mod">
        <pc:chgData name="Phipps, Michael" userId="22b19e64-ae93-4d74-aed7-bbb364ca0772" providerId="ADAL" clId="{12743969-918C-4F8F-9302-66CC4DD651DD}" dt="2021-10-26T16:51:21.999" v="66" actId="20577"/>
        <pc:sldMkLst>
          <pc:docMk/>
          <pc:sldMk cId="4128859653" sldId="259"/>
        </pc:sldMkLst>
        <pc:spChg chg="mod">
          <ac:chgData name="Phipps, Michael" userId="22b19e64-ae93-4d74-aed7-bbb364ca0772" providerId="ADAL" clId="{12743969-918C-4F8F-9302-66CC4DD651DD}" dt="2021-10-26T16:51:21.999" v="66" actId="20577"/>
          <ac:spMkLst>
            <pc:docMk/>
            <pc:sldMk cId="4128859653" sldId="259"/>
            <ac:spMk id="3" creationId="{7FC18A07-F8EE-4699-8C13-E6B48098CC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C4C5C-E5BB-41B2-B73E-537F44A59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F60C0-76CE-4BE0-B9F3-8C58625A7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1F144-98DF-4D5E-874E-38373193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917DD-F7C0-4EAF-91D2-E3B8D0BF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01BEF-D15C-4960-8C1B-7B0AC2EE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1FCC-6F4F-4D7E-BF04-91C53CE2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26127-5002-4DBC-AF6D-BBE922B0C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2F36B-8CDD-4C10-8A7A-21479ED6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287F6-CC62-461B-A0DA-01E18905B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1A237-AAEF-4A8D-BF2B-D4361F8D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0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6AF49-D397-4CE2-9E7D-CE1533856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CE4B4-3128-4522-906F-07A9C81D2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5144A-B231-4BDE-8326-225F16CA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BD9ED-E9A1-4623-9838-5202E26D0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0AFBA-6915-4FB6-B693-CC581818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07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B82A-7675-4BDF-B9A0-3D79656F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362F-5C09-430B-9F43-2321F7A6B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3D389-2E6E-49D3-A6FA-A35614224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3A986-8064-48E5-ABB9-B456230F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691E4-D85A-47BC-BE86-9459D07B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D13D9-B00E-40DF-A3D4-EA88CFA5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9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7EFE-A034-4062-BBC7-0EB52402C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C930-70A3-45E0-9C05-1085332CF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D257F-4D25-4865-AE17-7BEAD7AD1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65AD4-6080-4054-86FC-113E96B819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3F597-47DD-4236-BBD3-D913CECA9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A84D0-C7C4-41C0-8A7F-E291C77F9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959751-0A50-416A-BDD2-559C9C2AC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C5239-27AA-4D42-B0A8-DD5968DD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4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1D37-886B-4E52-A2EF-E23A6B6C1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4076FD-26AD-4E11-B3F7-A94454AE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918DC-75DD-42A3-B9D1-29B94EC8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DBB86E-C5BD-4E4B-8A1B-D80DD80A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4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9CF1DB-E291-4FAF-85D2-AAB4F213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68316-214A-4569-B795-18B40EF7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0AD5D-053E-4577-ADEE-A6CC65AE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73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C42F-78B3-46DF-BE26-50402C6AA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BAF64-263B-4F26-9FED-696956D21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E249E-5528-4A1F-9315-41221668C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24A97-667D-4887-82BC-606193919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CCA07-F1AC-4604-B21A-911095E1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81D80-3FD8-4EEF-B622-395A8733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7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12E0F-F869-4C46-87D9-69C5DA5C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03A9B1-A193-437A-8C4E-EC8C8C762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D39CE-DA49-48B6-A8CC-62CA4C1BE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9AFAC-DE3D-4876-B2A9-C5D644EF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75F3B-72CF-461E-B038-C7666ED7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69FAE-4E6C-423B-BB15-D3FDC715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2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BB3F-65BF-46C9-9124-A664E83C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0475A-DC35-4718-8FAB-BB9952F44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E5FDE-76A3-4D2A-86BC-FBE5DF51B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69FFB-FBB5-476D-A646-FFE3DD82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17F29-1112-4D30-B32D-6207114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16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F135C-6A38-43CF-8AC9-0721141D0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3D7E0-6645-4379-B0F9-0E66A2EEB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C35F9-2CA6-4588-905F-B0B5F2BDB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3045C-7D7B-48A7-AB17-488F2DCE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740E7-5964-4EB6-A8B8-5E85D1F57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9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F4EB8-C7A5-44C3-97DB-B6E4D5D62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73691-54AF-4520-AA6B-31B8F5C64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9A6BB-6BD2-4FA2-BC00-2C8A26804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9839F-BE95-4E09-B3EC-15F2157ABA7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F19B5-23AC-4229-A8DB-D8F7DCACC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421FE-8EAE-48CD-A57B-88FC8376F7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00153-4752-44AA-968F-5AC37D0501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69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B9207-AFD9-44DC-8D8A-1820405A60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Parallelism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B9182-A515-4DCA-AE09-2257CAB50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008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B7C1-A992-47C5-BE2F-F8539894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Taxonomy (Flynn’s)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4C5AF-CF96-4F41-BE77-619D68A81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1429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Think about a CPU as a box that takes in instructions and data and yields results. Ignoring multi-core and SMP for a moment…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14E483-A974-441D-A465-D1E31886369F}"/>
              </a:ext>
            </a:extLst>
          </p:cNvPr>
          <p:cNvSpPr/>
          <p:nvPr/>
        </p:nvSpPr>
        <p:spPr>
          <a:xfrm>
            <a:off x="4492869" y="4123592"/>
            <a:ext cx="2470639" cy="13255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CPU/Core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63BC112-D16D-4167-8994-A454523E58E8}"/>
              </a:ext>
            </a:extLst>
          </p:cNvPr>
          <p:cNvSpPr/>
          <p:nvPr/>
        </p:nvSpPr>
        <p:spPr>
          <a:xfrm>
            <a:off x="1776046" y="4123592"/>
            <a:ext cx="2716823" cy="527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0682FAE-2D0C-4118-9580-8989DEEABDF9}"/>
              </a:ext>
            </a:extLst>
          </p:cNvPr>
          <p:cNvSpPr/>
          <p:nvPr/>
        </p:nvSpPr>
        <p:spPr>
          <a:xfrm>
            <a:off x="1776046" y="4921617"/>
            <a:ext cx="2716823" cy="527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94033B7-D7FA-4382-9D38-44EAC04F6441}"/>
              </a:ext>
            </a:extLst>
          </p:cNvPr>
          <p:cNvSpPr/>
          <p:nvPr/>
        </p:nvSpPr>
        <p:spPr>
          <a:xfrm>
            <a:off x="6963508" y="4522604"/>
            <a:ext cx="2716823" cy="5275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59531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D840-066E-4ABC-82E2-54703B9F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Instruction Stream, Single Data 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86EF-AF68-4767-BE53-D8CAFA819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single instruction operates on a single stream. Most programming models work this way – it is natural to us.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it’s not the only way.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Acronym: SISD</a:t>
            </a:r>
          </a:p>
        </p:txBody>
      </p:sp>
    </p:spTree>
    <p:extLst>
      <p:ext uri="{BB962C8B-B14F-4D97-AF65-F5344CB8AC3E}">
        <p14:creationId xmlns:p14="http://schemas.microsoft.com/office/powerpoint/2010/main" val="2091416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55CC-E5C3-4CD4-95EA-B8C7A7B4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18A07-F8EE-4699-8C13-E6B48098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SIMD – Single instruction, multiple data </a:t>
            </a:r>
          </a:p>
          <a:p>
            <a:pPr marL="0" indent="0">
              <a:buNone/>
            </a:pPr>
            <a:r>
              <a:rPr lang="en-US" dirty="0"/>
              <a:t>	What we will talk about today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MISD – Multiple instruction, single data</a:t>
            </a:r>
          </a:p>
          <a:p>
            <a:pPr marL="0" indent="0">
              <a:buNone/>
            </a:pPr>
            <a:r>
              <a:rPr lang="en-US" dirty="0"/>
              <a:t>	Not really useful (spaceships need </a:t>
            </a:r>
            <a:r>
              <a:rPr lang="en-US"/>
              <a:t>redundant calculations)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MIMD – Multiple Instructions, Multiple Data</a:t>
            </a:r>
          </a:p>
          <a:p>
            <a:pPr marL="0" indent="0">
              <a:buNone/>
            </a:pPr>
            <a:r>
              <a:rPr lang="en-US" dirty="0"/>
              <a:t>	This model is the multi-CPU, multi-core systems of today.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859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7C05-296E-42F8-B03F-4D27B2418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8BAA7-6F83-439B-B429-F2892A46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is not uncommon that we need to do the same operations on a lot of pieces of data: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for (a in array)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doSomething</a:t>
            </a:r>
            <a:r>
              <a:rPr lang="en-US" dirty="0"/>
              <a:t>(a)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 Image/sound/video processing, matrix operations, AI</a:t>
            </a:r>
          </a:p>
        </p:txBody>
      </p:sp>
    </p:spTree>
    <p:extLst>
      <p:ext uri="{BB962C8B-B14F-4D97-AF65-F5344CB8AC3E}">
        <p14:creationId xmlns:p14="http://schemas.microsoft.com/office/powerpoint/2010/main" val="42363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4185-91EB-4EB3-ACB1-2A17F367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EC9A-9410-41F5-99CA-2EE8BFC8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order for code to be parallelizable, loop iterations must be independent.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=0;i&lt;</a:t>
            </a:r>
            <a:r>
              <a:rPr lang="en-US" dirty="0" err="1">
                <a:latin typeface="Consolas" panose="020B0609020204030204" pitchFamily="49" charset="0"/>
              </a:rPr>
              <a:t>N;i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a[i] = a[i-1] + a[i-2];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code is not vectorizable.</a:t>
            </a:r>
          </a:p>
        </p:txBody>
      </p:sp>
    </p:spTree>
    <p:extLst>
      <p:ext uri="{BB962C8B-B14F-4D97-AF65-F5344CB8AC3E}">
        <p14:creationId xmlns:p14="http://schemas.microsoft.com/office/powerpoint/2010/main" val="302020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ACB0-49DE-4008-9BAA-742FE6A9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AFBCB-FB4B-4DE0-90E7-9AB47BFC8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Array Processor – we have N ALUs. To process a batch (image, matrix, sound file, whatever), we break it up into N sections. We load N items. We do the operations on all N items. Then we save all N items out. Example – taking ALL of the laundry to the laundromat.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Vector Processor – we have 1 ALU. At time 0, we load item 0. At time 1, we load item 1 and process item 0. At time 2, we load item 2, process item 1 and store item 0. Essentially, we pipeline the items. Think of doing laundry at home with 1 washer and 1 dryer.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Tradeoffs?</a:t>
            </a:r>
          </a:p>
        </p:txBody>
      </p:sp>
    </p:spTree>
    <p:extLst>
      <p:ext uri="{BB962C8B-B14F-4D97-AF65-F5344CB8AC3E}">
        <p14:creationId xmlns:p14="http://schemas.microsoft.com/office/powerpoint/2010/main" val="3429517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FADC7-8618-4F43-BC3E-41BDF738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processors sound like CPUs!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FD493-0977-4861-82F9-06C936790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Some key differences: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By definition, there are no dependencies</a:t>
            </a:r>
          </a:p>
          <a:p>
            <a:pPr marL="0" indent="0">
              <a:buNone/>
            </a:pPr>
            <a:r>
              <a:rPr lang="en-US" dirty="0"/>
              <a:t>With a known stride, we can accurately prefetch correctly</a:t>
            </a:r>
          </a:p>
          <a:p>
            <a:pPr marL="0" indent="0">
              <a:buNone/>
            </a:pPr>
            <a:r>
              <a:rPr lang="en-US" dirty="0"/>
              <a:t>Never any branches (loop is inherent until all strides complete)</a:t>
            </a:r>
          </a:p>
          <a:p>
            <a:pPr marL="0" indent="0">
              <a:buNone/>
            </a:pPr>
            <a:r>
              <a:rPr lang="en-US" dirty="0"/>
              <a:t>Short “programs” reduce the memory bandwidth pain – can live in cache?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Much simpler than the out of order, pipelined “normal” CPUs.</a:t>
            </a:r>
          </a:p>
          <a:p>
            <a:pPr marL="0" indent="0">
              <a:buNone/>
            </a:pPr>
            <a:r>
              <a:rPr lang="en-US" dirty="0"/>
              <a:t>Result: very deep pipelines are OK</a:t>
            </a:r>
          </a:p>
        </p:txBody>
      </p:sp>
    </p:spTree>
    <p:extLst>
      <p:ext uri="{BB962C8B-B14F-4D97-AF65-F5344CB8AC3E}">
        <p14:creationId xmlns:p14="http://schemas.microsoft.com/office/powerpoint/2010/main" val="222662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3537-BDDB-4CE0-ACFD-057ED7786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a array processor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404A1-E852-44AC-BA39-15E00392B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need N*M registers to work on N items at a time. </a:t>
            </a:r>
          </a:p>
          <a:p>
            <a:pPr marL="0" indent="0">
              <a:buNone/>
            </a:pPr>
            <a:r>
              <a:rPr lang="en-US" dirty="0"/>
              <a:t>	M is the number of operands we can have.</a:t>
            </a:r>
          </a:p>
          <a:p>
            <a:pPr marL="0" indent="0">
              <a:buNone/>
            </a:pPr>
            <a:r>
              <a:rPr lang="en-US" dirty="0"/>
              <a:t>	Consider C[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 + B[</a:t>
            </a:r>
            <a:r>
              <a:rPr lang="en-US" dirty="0" err="1"/>
              <a:t>i</a:t>
            </a:r>
            <a:r>
              <a:rPr lang="en-US" dirty="0"/>
              <a:t>]. We need 3 (M) registers for each 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need a few control registers: </a:t>
            </a:r>
          </a:p>
          <a:p>
            <a:pPr marL="0" indent="0">
              <a:buNone/>
            </a:pPr>
            <a:r>
              <a:rPr lang="en-US" dirty="0"/>
              <a:t>VLEN – how many total data items we need to work on</a:t>
            </a:r>
          </a:p>
          <a:p>
            <a:pPr marL="0" indent="0">
              <a:buNone/>
            </a:pPr>
            <a:r>
              <a:rPr lang="en-US" dirty="0"/>
              <a:t>VSTR – how many words between data items (stride)</a:t>
            </a:r>
          </a:p>
          <a:p>
            <a:pPr marL="0" indent="0">
              <a:buNone/>
            </a:pPr>
            <a:r>
              <a:rPr lang="en-US" dirty="0"/>
              <a:t>VMASK – indicates which of the registers (bitwise) to work on.</a:t>
            </a:r>
          </a:p>
        </p:txBody>
      </p:sp>
    </p:spTree>
    <p:extLst>
      <p:ext uri="{BB962C8B-B14F-4D97-AF65-F5344CB8AC3E}">
        <p14:creationId xmlns:p14="http://schemas.microsoft.com/office/powerpoint/2010/main" val="278653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607D0-9ADC-428E-87B9-38BB6840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about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75CF-4535-4637-992D-4C2FA6B95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Because vector processors are deeply pipelined, they can issue a lot of load/store combinations in a short time and will very quickly saturate memory.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important that you divide your workload up so that elements  (both load and store) are divided up among banks of memory.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fastest processor that sits and waits for memory is no better than a brick.</a:t>
            </a:r>
          </a:p>
        </p:txBody>
      </p:sp>
    </p:spTree>
    <p:extLst>
      <p:ext uri="{BB962C8B-B14F-4D97-AF65-F5344CB8AC3E}">
        <p14:creationId xmlns:p14="http://schemas.microsoft.com/office/powerpoint/2010/main" val="2251167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34EA-9201-4B68-9BD2-B05BCD87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only everything were quite this simple…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F6644-0754-4619-9EF4-A3FAB05D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some cases, there are data items used by more than 1 calculation.</a:t>
            </a:r>
          </a:p>
          <a:p>
            <a:pPr marL="0" indent="0">
              <a:buNone/>
            </a:pPr>
            <a:r>
              <a:rPr lang="en-US" dirty="0"/>
              <a:t>For example, consider 1 dimensional blurring (2D is just an extension of the same idea). The value of o[j] = (</a:t>
            </a:r>
            <a:r>
              <a:rPr lang="en-US" dirty="0" err="1"/>
              <a:t>i</a:t>
            </a:r>
            <a:r>
              <a:rPr lang="en-US" dirty="0"/>
              <a:t>[j-1]+</a:t>
            </a:r>
            <a:r>
              <a:rPr lang="en-US" dirty="0" err="1"/>
              <a:t>i</a:t>
            </a:r>
            <a:r>
              <a:rPr lang="en-US" dirty="0"/>
              <a:t>[j] + </a:t>
            </a:r>
            <a:r>
              <a:rPr lang="en-US" dirty="0" err="1"/>
              <a:t>i</a:t>
            </a:r>
            <a:r>
              <a:rPr lang="en-US" dirty="0"/>
              <a:t>[j+1])/3 (o = output, </a:t>
            </a:r>
            <a:r>
              <a:rPr lang="en-US" dirty="0" err="1"/>
              <a:t>i</a:t>
            </a:r>
            <a:r>
              <a:rPr lang="en-US" dirty="0"/>
              <a:t> = input).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called chaining. Vector processors typically support it, but now we have a problem. We can’t pipeline. Why?</a:t>
            </a:r>
          </a:p>
        </p:txBody>
      </p:sp>
    </p:spTree>
    <p:extLst>
      <p:ext uri="{BB962C8B-B14F-4D97-AF65-F5344CB8AC3E}">
        <p14:creationId xmlns:p14="http://schemas.microsoft.com/office/powerpoint/2010/main" val="321771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9446-098C-483D-8DC4-24344580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the diagram help?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860D8D-114A-43F9-B8F7-1F36FE833B69}"/>
              </a:ext>
            </a:extLst>
          </p:cNvPr>
          <p:cNvSpPr/>
          <p:nvPr/>
        </p:nvSpPr>
        <p:spPr>
          <a:xfrm>
            <a:off x="1011115" y="2074985"/>
            <a:ext cx="76493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In[0]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3982AE-E849-4E1D-B4F1-F3C7E0699DA1}"/>
              </a:ext>
            </a:extLst>
          </p:cNvPr>
          <p:cNvSpPr/>
          <p:nvPr/>
        </p:nvSpPr>
        <p:spPr>
          <a:xfrm>
            <a:off x="2080846" y="2074985"/>
            <a:ext cx="76493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In[1]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89D693-5640-4E78-8496-A61B5A5D1EC8}"/>
              </a:ext>
            </a:extLst>
          </p:cNvPr>
          <p:cNvSpPr/>
          <p:nvPr/>
        </p:nvSpPr>
        <p:spPr>
          <a:xfrm>
            <a:off x="3150577" y="2083777"/>
            <a:ext cx="76493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In[2]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773077-7242-4173-BD8A-ECE5CB35A974}"/>
              </a:ext>
            </a:extLst>
          </p:cNvPr>
          <p:cNvSpPr/>
          <p:nvPr/>
        </p:nvSpPr>
        <p:spPr>
          <a:xfrm>
            <a:off x="1011115" y="5709139"/>
            <a:ext cx="76493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Out[0]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8FF5F9-4916-4955-8D1D-DAAB500A183A}"/>
              </a:ext>
            </a:extLst>
          </p:cNvPr>
          <p:cNvSpPr/>
          <p:nvPr/>
        </p:nvSpPr>
        <p:spPr>
          <a:xfrm>
            <a:off x="2080846" y="5709139"/>
            <a:ext cx="76493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Out[1]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B6006B-9D17-4548-8991-A59CAE03126D}"/>
              </a:ext>
            </a:extLst>
          </p:cNvPr>
          <p:cNvSpPr/>
          <p:nvPr/>
        </p:nvSpPr>
        <p:spPr>
          <a:xfrm>
            <a:off x="3150577" y="5717931"/>
            <a:ext cx="764931" cy="65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Out[2]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AB19BB-A48A-4BDA-A05D-4ABADDCBA1CB}"/>
              </a:ext>
            </a:extLst>
          </p:cNvPr>
          <p:cNvSpPr/>
          <p:nvPr/>
        </p:nvSpPr>
        <p:spPr>
          <a:xfrm>
            <a:off x="984739" y="3429000"/>
            <a:ext cx="791307" cy="518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09F061-45CB-4588-BB1E-DB7C3FDA61F8}"/>
              </a:ext>
            </a:extLst>
          </p:cNvPr>
          <p:cNvSpPr/>
          <p:nvPr/>
        </p:nvSpPr>
        <p:spPr>
          <a:xfrm>
            <a:off x="984738" y="4569069"/>
            <a:ext cx="791307" cy="518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Div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631163C-3028-40B1-961A-A2E4C9294DAA}"/>
              </a:ext>
            </a:extLst>
          </p:cNvPr>
          <p:cNvSpPr/>
          <p:nvPr/>
        </p:nvSpPr>
        <p:spPr>
          <a:xfrm>
            <a:off x="2080846" y="3429000"/>
            <a:ext cx="791307" cy="518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798A59-1CC0-4B28-8C10-5DE55DE78629}"/>
              </a:ext>
            </a:extLst>
          </p:cNvPr>
          <p:cNvSpPr/>
          <p:nvPr/>
        </p:nvSpPr>
        <p:spPr>
          <a:xfrm>
            <a:off x="2080845" y="4569069"/>
            <a:ext cx="791307" cy="518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Div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9B15A2D-DCE6-459E-8186-E5699D93B46A}"/>
              </a:ext>
            </a:extLst>
          </p:cNvPr>
          <p:cNvSpPr/>
          <p:nvPr/>
        </p:nvSpPr>
        <p:spPr>
          <a:xfrm>
            <a:off x="3150577" y="3429000"/>
            <a:ext cx="791307" cy="518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0805A51-FA6D-4503-8D92-DBD094C0F92F}"/>
              </a:ext>
            </a:extLst>
          </p:cNvPr>
          <p:cNvSpPr/>
          <p:nvPr/>
        </p:nvSpPr>
        <p:spPr>
          <a:xfrm>
            <a:off x="3150577" y="4569069"/>
            <a:ext cx="791307" cy="5187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Div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5BE063-1CD1-4FD0-A9A4-ACD7B8B42C89}"/>
              </a:ext>
            </a:extLst>
          </p:cNvPr>
          <p:cNvCxnSpPr>
            <a:cxnSpLocks/>
          </p:cNvCxnSpPr>
          <p:nvPr/>
        </p:nvCxnSpPr>
        <p:spPr>
          <a:xfrm>
            <a:off x="1538654" y="2734407"/>
            <a:ext cx="586153" cy="717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28749E-B5A2-4D95-9F5E-B9E45EF88B42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>
            <a:off x="2463312" y="2725615"/>
            <a:ext cx="13188" cy="70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A28383-A2BA-4024-ABDA-8AA03249A823}"/>
              </a:ext>
            </a:extLst>
          </p:cNvPr>
          <p:cNvCxnSpPr/>
          <p:nvPr/>
        </p:nvCxnSpPr>
        <p:spPr>
          <a:xfrm flipH="1">
            <a:off x="2845777" y="2734407"/>
            <a:ext cx="539261" cy="694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B339173-F217-4428-87CB-FF076CFF2497}"/>
              </a:ext>
            </a:extLst>
          </p:cNvPr>
          <p:cNvCxnSpPr/>
          <p:nvPr/>
        </p:nvCxnSpPr>
        <p:spPr>
          <a:xfrm>
            <a:off x="2463311" y="3947746"/>
            <a:ext cx="0" cy="621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DD0CC4C-214B-4B72-894D-1D4B833B6AEC}"/>
              </a:ext>
            </a:extLst>
          </p:cNvPr>
          <p:cNvCxnSpPr/>
          <p:nvPr/>
        </p:nvCxnSpPr>
        <p:spPr>
          <a:xfrm>
            <a:off x="2494084" y="5096607"/>
            <a:ext cx="0" cy="6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3D45834-1709-4A82-BD81-72B54BADF43E}"/>
              </a:ext>
            </a:extLst>
          </p:cNvPr>
          <p:cNvCxnSpPr>
            <a:stCxn id="4" idx="2"/>
            <a:endCxn id="12" idx="0"/>
          </p:cNvCxnSpPr>
          <p:nvPr/>
        </p:nvCxnSpPr>
        <p:spPr>
          <a:xfrm flipH="1">
            <a:off x="1380393" y="2725615"/>
            <a:ext cx="13188" cy="70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7A89282-0DA6-4D85-83EA-768A3A844B2C}"/>
              </a:ext>
            </a:extLst>
          </p:cNvPr>
          <p:cNvCxnSpPr>
            <a:stCxn id="5" idx="2"/>
          </p:cNvCxnSpPr>
          <p:nvPr/>
        </p:nvCxnSpPr>
        <p:spPr>
          <a:xfrm flipH="1">
            <a:off x="1776045" y="2725615"/>
            <a:ext cx="687267" cy="70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1E75D5-9FD8-4413-80EB-E2541BB740B9}"/>
              </a:ext>
            </a:extLst>
          </p:cNvPr>
          <p:cNvCxnSpPr>
            <a:stCxn id="12" idx="2"/>
            <a:endCxn id="17" idx="0"/>
          </p:cNvCxnSpPr>
          <p:nvPr/>
        </p:nvCxnSpPr>
        <p:spPr>
          <a:xfrm flipH="1">
            <a:off x="1380392" y="3947746"/>
            <a:ext cx="1" cy="621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028BC3B-979A-4325-AC3C-6FA45C9F80FF}"/>
              </a:ext>
            </a:extLst>
          </p:cNvPr>
          <p:cNvCxnSpPr>
            <a:stCxn id="17" idx="2"/>
            <a:endCxn id="8" idx="0"/>
          </p:cNvCxnSpPr>
          <p:nvPr/>
        </p:nvCxnSpPr>
        <p:spPr>
          <a:xfrm>
            <a:off x="1380392" y="5087815"/>
            <a:ext cx="13189" cy="621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01917A9-7185-429C-935D-32A51AF05C91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3546231" y="3947746"/>
            <a:ext cx="0" cy="621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7D47849-781F-44A1-AC9D-7BC13E4613C3}"/>
              </a:ext>
            </a:extLst>
          </p:cNvPr>
          <p:cNvCxnSpPr>
            <a:stCxn id="21" idx="2"/>
            <a:endCxn id="10" idx="0"/>
          </p:cNvCxnSpPr>
          <p:nvPr/>
        </p:nvCxnSpPr>
        <p:spPr>
          <a:xfrm flipH="1">
            <a:off x="3533043" y="5087815"/>
            <a:ext cx="13188" cy="630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75D78A6-7515-45D6-B467-D4F67A12A55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463312" y="2725615"/>
            <a:ext cx="713641" cy="726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906520F-09C7-463B-BD56-C1477456A940}"/>
              </a:ext>
            </a:extLst>
          </p:cNvPr>
          <p:cNvCxnSpPr>
            <a:stCxn id="6" idx="2"/>
            <a:endCxn id="20" idx="0"/>
          </p:cNvCxnSpPr>
          <p:nvPr/>
        </p:nvCxnSpPr>
        <p:spPr>
          <a:xfrm>
            <a:off x="3533043" y="2734407"/>
            <a:ext cx="13188" cy="694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91B5E4A-3032-4612-BD04-E00B3ABC8B19}"/>
              </a:ext>
            </a:extLst>
          </p:cNvPr>
          <p:cNvCxnSpPr/>
          <p:nvPr/>
        </p:nvCxnSpPr>
        <p:spPr>
          <a:xfrm flipH="1">
            <a:off x="3915508" y="2734407"/>
            <a:ext cx="849923" cy="717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10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1430-E77A-4A02-B5F3-ABE78DDD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can’t serve two (or three) masters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492A5-21AC-4888-94EC-0FAA7D12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Typically, memory can only be read by one unit at a time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multi-ported memory can be used.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case, we need 3 ported memory in order to pipeline this process fully.</a:t>
            </a:r>
          </a:p>
        </p:txBody>
      </p:sp>
    </p:spTree>
    <p:extLst>
      <p:ext uri="{BB962C8B-B14F-4D97-AF65-F5344CB8AC3E}">
        <p14:creationId xmlns:p14="http://schemas.microsoft.com/office/powerpoint/2010/main" val="3059531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EE82-AC66-40E7-9751-D56BBDC97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“fun” with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C7BCF-C152-43BD-B9D8-F9B725C80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we need to reference memory, but we want to either load or store indirectly: A[B[</a:t>
            </a:r>
            <a:r>
              <a:rPr lang="en-US" dirty="0" err="1"/>
              <a:t>i</a:t>
            </a:r>
            <a:r>
              <a:rPr lang="en-US" dirty="0"/>
              <a:t>]] = C[D[</a:t>
            </a:r>
            <a:r>
              <a:rPr lang="en-US" dirty="0" err="1"/>
              <a:t>i</a:t>
            </a:r>
            <a:r>
              <a:rPr lang="en-US" dirty="0"/>
              <a:t>]] + 1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called a scatter (output) and gather (input) operation.</a:t>
            </a:r>
          </a:p>
          <a:p>
            <a:pPr marL="0" indent="0">
              <a:buNone/>
            </a:pPr>
            <a:r>
              <a:rPr lang="en-US" dirty="0"/>
              <a:t>There is hardware for this in most vector processors.</a:t>
            </a:r>
          </a:p>
        </p:txBody>
      </p:sp>
    </p:spTree>
    <p:extLst>
      <p:ext uri="{BB962C8B-B14F-4D97-AF65-F5344CB8AC3E}">
        <p14:creationId xmlns:p14="http://schemas.microsoft.com/office/powerpoint/2010/main" val="1066954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ADDC-6C6E-4DFF-ACCB-EA97CA780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little more…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526FF-A61E-4D0F-BCF5-D6635976F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we want to only operate on certain data items?</a:t>
            </a:r>
          </a:p>
          <a:p>
            <a:pPr marL="0" indent="0">
              <a:buNone/>
            </a:pPr>
            <a:r>
              <a:rPr lang="en-US" dirty="0"/>
              <a:t>A[</a:t>
            </a:r>
            <a:r>
              <a:rPr lang="en-US" dirty="0" err="1"/>
              <a:t>i</a:t>
            </a:r>
            <a:r>
              <a:rPr lang="en-US" dirty="0"/>
              <a:t>] = B[</a:t>
            </a:r>
            <a:r>
              <a:rPr lang="en-US" dirty="0" err="1"/>
              <a:t>i</a:t>
            </a:r>
            <a:r>
              <a:rPr lang="en-US" dirty="0"/>
              <a:t>] / C[</a:t>
            </a:r>
            <a:r>
              <a:rPr lang="en-US" dirty="0" err="1"/>
              <a:t>i</a:t>
            </a:r>
            <a:r>
              <a:rPr lang="en-US" dirty="0"/>
              <a:t>], if C[</a:t>
            </a:r>
            <a:r>
              <a:rPr lang="en-US" dirty="0" err="1"/>
              <a:t>i</a:t>
            </a:r>
            <a:r>
              <a:rPr lang="en-US" dirty="0"/>
              <a:t>] != 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That’s what the VMASK is for. </a:t>
            </a:r>
          </a:p>
          <a:p>
            <a:pPr marL="0" indent="0">
              <a:buNone/>
            </a:pPr>
            <a:r>
              <a:rPr lang="en-US" dirty="0"/>
              <a:t>We can mask out the records where C[</a:t>
            </a:r>
            <a:r>
              <a:rPr lang="en-US" dirty="0" err="1"/>
              <a:t>i</a:t>
            </a:r>
            <a:r>
              <a:rPr lang="en-US" dirty="0"/>
              <a:t>] is 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Does this remind you of something? Maybe from ARM?</a:t>
            </a:r>
          </a:p>
        </p:txBody>
      </p:sp>
    </p:spTree>
    <p:extLst>
      <p:ext uri="{BB962C8B-B14F-4D97-AF65-F5344CB8AC3E}">
        <p14:creationId xmlns:p14="http://schemas.microsoft.com/office/powerpoint/2010/main" val="737476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F2AB-39D2-4858-87B6-22BF9269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masking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03673-A93E-4836-9D32-4D46AC1E2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What if I want to do something like this:</a:t>
            </a:r>
          </a:p>
          <a:p>
            <a:pPr marL="0" indent="0">
              <a:buNone/>
            </a:pPr>
            <a:r>
              <a:rPr lang="en-US" dirty="0"/>
              <a:t>if (a[</a:t>
            </a:r>
            <a:r>
              <a:rPr lang="en-US" dirty="0" err="1"/>
              <a:t>i</a:t>
            </a:r>
            <a:r>
              <a:rPr lang="en-US" dirty="0"/>
              <a:t>] &gt; b[</a:t>
            </a:r>
            <a:r>
              <a:rPr lang="en-US" dirty="0" err="1"/>
              <a:t>i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	c[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]-b[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	c[</a:t>
            </a:r>
            <a:r>
              <a:rPr lang="en-US" dirty="0" err="1"/>
              <a:t>i</a:t>
            </a:r>
            <a:r>
              <a:rPr lang="en-US" dirty="0"/>
              <a:t>] = b[</a:t>
            </a:r>
            <a:r>
              <a:rPr lang="en-US" dirty="0" err="1"/>
              <a:t>i</a:t>
            </a:r>
            <a:r>
              <a:rPr lang="en-US" dirty="0"/>
              <a:t>] – a[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marL="0" indent="0">
              <a:buNone/>
            </a:pPr>
            <a:r>
              <a:rPr lang="en-US" dirty="0"/>
              <a:t>Becomes:</a:t>
            </a:r>
          </a:p>
          <a:p>
            <a:pPr marL="0" indent="0">
              <a:buNone/>
            </a:pPr>
            <a:r>
              <a:rPr lang="en-US" dirty="0"/>
              <a:t>	VMASK = A&gt;B</a:t>
            </a:r>
          </a:p>
          <a:p>
            <a:pPr marL="0" indent="0">
              <a:buNone/>
            </a:pPr>
            <a:r>
              <a:rPr lang="en-US" dirty="0"/>
              <a:t>	C = A-B</a:t>
            </a:r>
          </a:p>
          <a:p>
            <a:pPr marL="0" indent="0">
              <a:buNone/>
            </a:pPr>
            <a:r>
              <a:rPr lang="en-US" dirty="0"/>
              <a:t>	VMASK = !VMASK</a:t>
            </a:r>
          </a:p>
          <a:p>
            <a:pPr marL="0" indent="0">
              <a:buNone/>
            </a:pPr>
            <a:r>
              <a:rPr lang="en-US" dirty="0"/>
              <a:t>	C = B-A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55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B7791-A4BB-413D-936B-91F83F6B2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59"/>
            <a:ext cx="10515600" cy="1325563"/>
          </a:xfrm>
        </p:spPr>
        <p:txBody>
          <a:bodyPr/>
          <a:lstStyle/>
          <a:p>
            <a:r>
              <a:rPr lang="en-US" dirty="0"/>
              <a:t>Loop Unrolling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816A-C410-4338-88EB-3F43598B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400"/>
            <a:ext cx="5545667" cy="5135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You might remember this from 311…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=0;i&lt;</a:t>
            </a:r>
            <a:r>
              <a:rPr lang="en-US" dirty="0" err="1">
                <a:latin typeface="Consolas" panose="020B0609020204030204" pitchFamily="49" charset="0"/>
              </a:rPr>
              <a:t>N;i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c[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a[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+ b[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/>
              <a:t>can become: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=0;i&lt;</a:t>
            </a:r>
            <a:r>
              <a:rPr lang="en-US" dirty="0" err="1">
                <a:latin typeface="Consolas" panose="020B0609020204030204" pitchFamily="49" charset="0"/>
              </a:rPr>
              <a:t>N;i</a:t>
            </a:r>
            <a:r>
              <a:rPr lang="en-US" dirty="0">
                <a:latin typeface="Consolas" panose="020B0609020204030204" pitchFamily="49" charset="0"/>
              </a:rPr>
              <a:t>+=4)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	c[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a[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+ b[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	c[i+1] = a[i+1] + b[i+1];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	c[i+2] = a[i+2] + b[i+2];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	c[i+3] = a[i+3] + b[i+3];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82573-D1CE-4E12-8CB6-15DF838B4001}"/>
              </a:ext>
            </a:extLst>
          </p:cNvPr>
          <p:cNvSpPr txBox="1"/>
          <p:nvPr/>
        </p:nvSpPr>
        <p:spPr>
          <a:xfrm>
            <a:off x="7103533" y="1041400"/>
            <a:ext cx="425026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Why do we (the compiler, really) do this?  Because looping (branches, compares) </a:t>
            </a:r>
          </a:p>
          <a:p>
            <a:r>
              <a:rPr lang="en-US" sz="2800" dirty="0"/>
              <a:t>are overhead – “useful” work is not getting done.</a:t>
            </a:r>
          </a:p>
          <a:p>
            <a:endParaRPr lang="en-US" sz="2800" dirty="0"/>
          </a:p>
          <a:p>
            <a:r>
              <a:rPr lang="en-US" sz="2800" dirty="0"/>
              <a:t>Why don’t we unroll the loop completely (i.e. make N copies of the row)?</a:t>
            </a:r>
          </a:p>
        </p:txBody>
      </p:sp>
    </p:spTree>
    <p:extLst>
      <p:ext uri="{BB962C8B-B14F-4D97-AF65-F5344CB8AC3E}">
        <p14:creationId xmlns:p14="http://schemas.microsoft.com/office/powerpoint/2010/main" val="91884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CDED-59D4-481F-9887-1077A322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Let’s think about a piece of simple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9C673-B038-4357-931D-857F0041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8281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(int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=0;i&lt;</a:t>
            </a:r>
            <a:r>
              <a:rPr lang="en-US" dirty="0" err="1">
                <a:latin typeface="Consolas" panose="020B0609020204030204" pitchFamily="49" charset="0"/>
              </a:rPr>
              <a:t>N;i</a:t>
            </a:r>
            <a:r>
              <a:rPr lang="en-US" dirty="0"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c[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a[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+ b[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3306A7-C634-4BB9-A95B-BD31F65BDA71}"/>
              </a:ext>
            </a:extLst>
          </p:cNvPr>
          <p:cNvSpPr/>
          <p:nvPr/>
        </p:nvSpPr>
        <p:spPr>
          <a:xfrm>
            <a:off x="5864469" y="1943100"/>
            <a:ext cx="2004646" cy="24442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39BAC-C0E8-4CDD-8F34-34EA2832AA72}"/>
              </a:ext>
            </a:extLst>
          </p:cNvPr>
          <p:cNvSpPr/>
          <p:nvPr/>
        </p:nvSpPr>
        <p:spPr>
          <a:xfrm>
            <a:off x="6934199" y="2394438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03DF9-6CD9-4848-B8CA-33E345DDEFF2}"/>
              </a:ext>
            </a:extLst>
          </p:cNvPr>
          <p:cNvSpPr/>
          <p:nvPr/>
        </p:nvSpPr>
        <p:spPr>
          <a:xfrm>
            <a:off x="5999284" y="214825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5CE7E6-5CDC-4562-BD9E-61B106867E50}"/>
              </a:ext>
            </a:extLst>
          </p:cNvPr>
          <p:cNvSpPr/>
          <p:nvPr/>
        </p:nvSpPr>
        <p:spPr>
          <a:xfrm>
            <a:off x="6390542" y="3021623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A96671-AC6D-409B-812D-A271AD3101B1}"/>
              </a:ext>
            </a:extLst>
          </p:cNvPr>
          <p:cNvSpPr/>
          <p:nvPr/>
        </p:nvSpPr>
        <p:spPr>
          <a:xfrm>
            <a:off x="6542941" y="369276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E67A311-4192-4125-BA06-FC15FB66BD95}"/>
              </a:ext>
            </a:extLst>
          </p:cNvPr>
          <p:cNvSpPr/>
          <p:nvPr/>
        </p:nvSpPr>
        <p:spPr>
          <a:xfrm>
            <a:off x="8030305" y="3906715"/>
            <a:ext cx="2004646" cy="24442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4B9DCC-C6C5-4E2C-96A3-16F71360F59B}"/>
              </a:ext>
            </a:extLst>
          </p:cNvPr>
          <p:cNvSpPr/>
          <p:nvPr/>
        </p:nvSpPr>
        <p:spPr>
          <a:xfrm>
            <a:off x="9100035" y="4358053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E155E-2F1F-4878-B27C-1FF8365D6B6F}"/>
              </a:ext>
            </a:extLst>
          </p:cNvPr>
          <p:cNvSpPr/>
          <p:nvPr/>
        </p:nvSpPr>
        <p:spPr>
          <a:xfrm>
            <a:off x="8165120" y="411186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CA425F-F0D9-4F95-9105-FDED3D465600}"/>
              </a:ext>
            </a:extLst>
          </p:cNvPr>
          <p:cNvSpPr/>
          <p:nvPr/>
        </p:nvSpPr>
        <p:spPr>
          <a:xfrm>
            <a:off x="8556378" y="4985238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C4EA99-E985-4489-A5F0-73A2FCD504E1}"/>
              </a:ext>
            </a:extLst>
          </p:cNvPr>
          <p:cNvSpPr/>
          <p:nvPr/>
        </p:nvSpPr>
        <p:spPr>
          <a:xfrm>
            <a:off x="8708777" y="565638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E6AFA-CC98-40F6-9852-A5DFFA8961E5}"/>
              </a:ext>
            </a:extLst>
          </p:cNvPr>
          <p:cNvSpPr txBox="1"/>
          <p:nvPr/>
        </p:nvSpPr>
        <p:spPr>
          <a:xfrm>
            <a:off x="6242538" y="1667366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38EF68-F7FD-486F-9C14-24AD421EEA9C}"/>
              </a:ext>
            </a:extLst>
          </p:cNvPr>
          <p:cNvSpPr txBox="1"/>
          <p:nvPr/>
        </p:nvSpPr>
        <p:spPr>
          <a:xfrm>
            <a:off x="8461130" y="3613397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2</a:t>
            </a:r>
          </a:p>
        </p:txBody>
      </p:sp>
    </p:spTree>
    <p:extLst>
      <p:ext uri="{BB962C8B-B14F-4D97-AF65-F5344CB8AC3E}">
        <p14:creationId xmlns:p14="http://schemas.microsoft.com/office/powerpoint/2010/main" val="628449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1391-9EEF-42F2-967C-F0A3E724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44662" cy="1367207"/>
          </a:xfrm>
        </p:spPr>
        <p:txBody>
          <a:bodyPr>
            <a:normAutofit/>
          </a:bodyPr>
          <a:lstStyle/>
          <a:p>
            <a:r>
              <a:rPr lang="en-US" dirty="0"/>
              <a:t>We can think about </a:t>
            </a:r>
            <a:br>
              <a:rPr lang="en-US" dirty="0"/>
            </a:br>
            <a:r>
              <a:rPr lang="en-US" dirty="0"/>
              <a:t>this as a simple in-order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B71FCE-4420-4649-873E-5B0C5C6B4A7C}"/>
              </a:ext>
            </a:extLst>
          </p:cNvPr>
          <p:cNvSpPr/>
          <p:nvPr/>
        </p:nvSpPr>
        <p:spPr>
          <a:xfrm>
            <a:off x="2366595" y="2206627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0F7CFF-E7E2-4958-8206-7142254B74A7}"/>
              </a:ext>
            </a:extLst>
          </p:cNvPr>
          <p:cNvSpPr/>
          <p:nvPr/>
        </p:nvSpPr>
        <p:spPr>
          <a:xfrm>
            <a:off x="2366595" y="1667366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96DE99-6D8D-4127-AB48-D738CB8C71DC}"/>
              </a:ext>
            </a:extLst>
          </p:cNvPr>
          <p:cNvSpPr/>
          <p:nvPr/>
        </p:nvSpPr>
        <p:spPr>
          <a:xfrm>
            <a:off x="2366595" y="274674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37C7EC-6905-43C4-A716-68F801623DCD}"/>
              </a:ext>
            </a:extLst>
          </p:cNvPr>
          <p:cNvSpPr/>
          <p:nvPr/>
        </p:nvSpPr>
        <p:spPr>
          <a:xfrm>
            <a:off x="2366595" y="3286861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A4A5F3-ADDA-4749-9FAF-6530D65EF27F}"/>
              </a:ext>
            </a:extLst>
          </p:cNvPr>
          <p:cNvSpPr txBox="1"/>
          <p:nvPr/>
        </p:nvSpPr>
        <p:spPr>
          <a:xfrm>
            <a:off x="3235568" y="1579325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7D880-172A-4BA2-899C-73A088FF1B11}"/>
              </a:ext>
            </a:extLst>
          </p:cNvPr>
          <p:cNvSpPr/>
          <p:nvPr/>
        </p:nvSpPr>
        <p:spPr>
          <a:xfrm>
            <a:off x="2366595" y="4618650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57CAFE-0E9B-4BF5-A249-C48B1A0AD7C9}"/>
              </a:ext>
            </a:extLst>
          </p:cNvPr>
          <p:cNvSpPr/>
          <p:nvPr/>
        </p:nvSpPr>
        <p:spPr>
          <a:xfrm>
            <a:off x="2366595" y="407938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0EA8C9-C661-41EF-9759-840F17E289A9}"/>
              </a:ext>
            </a:extLst>
          </p:cNvPr>
          <p:cNvSpPr/>
          <p:nvPr/>
        </p:nvSpPr>
        <p:spPr>
          <a:xfrm>
            <a:off x="2366595" y="5158767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D3CC69-5666-4BA2-97EE-98AE6F411BA4}"/>
              </a:ext>
            </a:extLst>
          </p:cNvPr>
          <p:cNvSpPr/>
          <p:nvPr/>
        </p:nvSpPr>
        <p:spPr>
          <a:xfrm>
            <a:off x="2366595" y="569888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862DAA-A81D-4B65-917D-5F8AEC814D4A}"/>
              </a:ext>
            </a:extLst>
          </p:cNvPr>
          <p:cNvSpPr txBox="1"/>
          <p:nvPr/>
        </p:nvSpPr>
        <p:spPr>
          <a:xfrm>
            <a:off x="3308837" y="3956241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2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8A1F0B6-A5DA-44C8-ADE8-4C3A02C9AA02}"/>
              </a:ext>
            </a:extLst>
          </p:cNvPr>
          <p:cNvSpPr txBox="1">
            <a:spLocks/>
          </p:cNvSpPr>
          <p:nvPr/>
        </p:nvSpPr>
        <p:spPr>
          <a:xfrm>
            <a:off x="6561993" y="64359"/>
            <a:ext cx="5644662" cy="1367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Or out of order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9A912A-0B9C-45D8-9CEA-8403ABC1FB35}"/>
              </a:ext>
            </a:extLst>
          </p:cNvPr>
          <p:cNvSpPr/>
          <p:nvPr/>
        </p:nvSpPr>
        <p:spPr>
          <a:xfrm>
            <a:off x="8928588" y="2359027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29742A-0D19-4F09-9AA2-6F1C8EB7109F}"/>
              </a:ext>
            </a:extLst>
          </p:cNvPr>
          <p:cNvSpPr/>
          <p:nvPr/>
        </p:nvSpPr>
        <p:spPr>
          <a:xfrm>
            <a:off x="8928588" y="1819766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4A7702-872B-4547-A83A-B006B044A485}"/>
              </a:ext>
            </a:extLst>
          </p:cNvPr>
          <p:cNvSpPr/>
          <p:nvPr/>
        </p:nvSpPr>
        <p:spPr>
          <a:xfrm>
            <a:off x="8928588" y="289914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5433FC-C03C-44CA-9915-9A7EC7B2CD4C}"/>
              </a:ext>
            </a:extLst>
          </p:cNvPr>
          <p:cNvSpPr/>
          <p:nvPr/>
        </p:nvSpPr>
        <p:spPr>
          <a:xfrm>
            <a:off x="8928588" y="3439261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082D3A-4EC9-4970-8D86-AC5D4E2F3D7C}"/>
              </a:ext>
            </a:extLst>
          </p:cNvPr>
          <p:cNvSpPr txBox="1"/>
          <p:nvPr/>
        </p:nvSpPr>
        <p:spPr>
          <a:xfrm>
            <a:off x="9797561" y="1731725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B9C9F4-B27B-418D-B9D9-8CCCC1BA0CF4}"/>
              </a:ext>
            </a:extLst>
          </p:cNvPr>
          <p:cNvSpPr/>
          <p:nvPr/>
        </p:nvSpPr>
        <p:spPr>
          <a:xfrm>
            <a:off x="9856604" y="345390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875F8A-3A31-4D98-8B65-05DB3D54FC11}"/>
              </a:ext>
            </a:extLst>
          </p:cNvPr>
          <p:cNvSpPr/>
          <p:nvPr/>
        </p:nvSpPr>
        <p:spPr>
          <a:xfrm>
            <a:off x="9845921" y="290561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E654FE-750C-413E-B21F-0621AFD0C9B7}"/>
              </a:ext>
            </a:extLst>
          </p:cNvPr>
          <p:cNvSpPr/>
          <p:nvPr/>
        </p:nvSpPr>
        <p:spPr>
          <a:xfrm>
            <a:off x="9856604" y="400219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5ABE21-5EA0-48E7-853C-61A45AA95DF6}"/>
              </a:ext>
            </a:extLst>
          </p:cNvPr>
          <p:cNvSpPr/>
          <p:nvPr/>
        </p:nvSpPr>
        <p:spPr>
          <a:xfrm>
            <a:off x="9856604" y="4571758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7E394D-8E92-4852-841F-045932C8A8D0}"/>
              </a:ext>
            </a:extLst>
          </p:cNvPr>
          <p:cNvSpPr txBox="1"/>
          <p:nvPr/>
        </p:nvSpPr>
        <p:spPr>
          <a:xfrm>
            <a:off x="10741268" y="4063717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742715-D3DD-461D-844A-187D68397718}"/>
              </a:ext>
            </a:extLst>
          </p:cNvPr>
          <p:cNvSpPr txBox="1"/>
          <p:nvPr/>
        </p:nvSpPr>
        <p:spPr>
          <a:xfrm>
            <a:off x="8928588" y="5404951"/>
            <a:ext cx="25617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is, essentially, the CPU unrolling the loop for us</a:t>
            </a:r>
          </a:p>
        </p:txBody>
      </p:sp>
    </p:spTree>
    <p:extLst>
      <p:ext uri="{BB962C8B-B14F-4D97-AF65-F5344CB8AC3E}">
        <p14:creationId xmlns:p14="http://schemas.microsoft.com/office/powerpoint/2010/main" val="4016985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A6F7-70E8-458D-B512-1A28BD2F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 a vector processor (SIMD)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39F39-044E-4B2F-8A99-0BE524862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LOAD A </a:t>
            </a:r>
            <a:r>
              <a:rPr lang="en-US" dirty="0">
                <a:sym typeface="Wingdings" panose="05000000000000000000" pitchFamily="2" charset="2"/>
              </a:rPr>
              <a:t> V1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LOAD B  V2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ADD V1, V2  V3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STORE V3  C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Ignoring stride, masks,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83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50D0-D244-4EEE-8E0C-9BBC88A6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0" y="-4548"/>
            <a:ext cx="10515600" cy="1325563"/>
          </a:xfrm>
        </p:spPr>
        <p:txBody>
          <a:bodyPr/>
          <a:lstStyle/>
          <a:p>
            <a:r>
              <a:rPr lang="en-US" dirty="0"/>
              <a:t>Or a multi-core CPU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9A9850-3648-45B8-A9E3-C33FABCCFC25}"/>
              </a:ext>
            </a:extLst>
          </p:cNvPr>
          <p:cNvSpPr/>
          <p:nvPr/>
        </p:nvSpPr>
        <p:spPr>
          <a:xfrm>
            <a:off x="9147356" y="1685191"/>
            <a:ext cx="2004646" cy="24442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3B7EE0-0F2A-45A5-AC0B-2F871A0495C8}"/>
              </a:ext>
            </a:extLst>
          </p:cNvPr>
          <p:cNvSpPr/>
          <p:nvPr/>
        </p:nvSpPr>
        <p:spPr>
          <a:xfrm>
            <a:off x="10217086" y="213652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9366F8-A659-45CB-99FC-CB352460B271}"/>
              </a:ext>
            </a:extLst>
          </p:cNvPr>
          <p:cNvSpPr/>
          <p:nvPr/>
        </p:nvSpPr>
        <p:spPr>
          <a:xfrm>
            <a:off x="9282171" y="1890345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E727F4-1A5C-4CA7-B145-0027EEAD4FC4}"/>
              </a:ext>
            </a:extLst>
          </p:cNvPr>
          <p:cNvSpPr/>
          <p:nvPr/>
        </p:nvSpPr>
        <p:spPr>
          <a:xfrm>
            <a:off x="9673429" y="276371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F7995E-0915-444E-9A5C-4FC645C7C0BA}"/>
              </a:ext>
            </a:extLst>
          </p:cNvPr>
          <p:cNvSpPr/>
          <p:nvPr/>
        </p:nvSpPr>
        <p:spPr>
          <a:xfrm>
            <a:off x="9825828" y="3434860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3D16D62-BD7F-4BE5-9063-3E1E06AABA0A}"/>
              </a:ext>
            </a:extLst>
          </p:cNvPr>
          <p:cNvGrpSpPr/>
          <p:nvPr/>
        </p:nvGrpSpPr>
        <p:grpSpPr>
          <a:xfrm>
            <a:off x="1154726" y="1391873"/>
            <a:ext cx="2004646" cy="2719996"/>
            <a:chOff x="5864469" y="1667366"/>
            <a:chExt cx="2004646" cy="271999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9B5E59D-F425-4AAB-96BF-84EAF7F46D82}"/>
                </a:ext>
              </a:extLst>
            </p:cNvPr>
            <p:cNvSpPr/>
            <p:nvPr/>
          </p:nvSpPr>
          <p:spPr>
            <a:xfrm>
              <a:off x="5864469" y="1943100"/>
              <a:ext cx="2004646" cy="2444262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D15EBF-CFB3-457B-885F-7F08D939874D}"/>
                </a:ext>
              </a:extLst>
            </p:cNvPr>
            <p:cNvSpPr/>
            <p:nvPr/>
          </p:nvSpPr>
          <p:spPr>
            <a:xfrm>
              <a:off x="6934199" y="2394438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2247FA-7D1A-4637-830B-B1DC2A8519EC}"/>
                </a:ext>
              </a:extLst>
            </p:cNvPr>
            <p:cNvSpPr/>
            <p:nvPr/>
          </p:nvSpPr>
          <p:spPr>
            <a:xfrm>
              <a:off x="5999284" y="2148254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40082C-82DE-4493-A328-4D8C4A800DE2}"/>
                </a:ext>
              </a:extLst>
            </p:cNvPr>
            <p:cNvSpPr/>
            <p:nvPr/>
          </p:nvSpPr>
          <p:spPr>
            <a:xfrm>
              <a:off x="6390542" y="3021623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1DC14-2315-470C-82B5-3DBD34D12D44}"/>
                </a:ext>
              </a:extLst>
            </p:cNvPr>
            <p:cNvSpPr/>
            <p:nvPr/>
          </p:nvSpPr>
          <p:spPr>
            <a:xfrm>
              <a:off x="6542941" y="3692769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9025D32-E444-4AD4-96D9-B80A646D2025}"/>
                </a:ext>
              </a:extLst>
            </p:cNvPr>
            <p:cNvSpPr txBox="1"/>
            <p:nvPr/>
          </p:nvSpPr>
          <p:spPr>
            <a:xfrm>
              <a:off x="6242538" y="1667366"/>
              <a:ext cx="1159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Iteration 1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0C34B1B-F6F3-4B51-A676-A169AB4EB7CE}"/>
              </a:ext>
            </a:extLst>
          </p:cNvPr>
          <p:cNvSpPr txBox="1"/>
          <p:nvPr/>
        </p:nvSpPr>
        <p:spPr>
          <a:xfrm>
            <a:off x="9578181" y="1391873"/>
            <a:ext cx="151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3N/4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A9FD2F-F119-4F68-B281-8A3FF66C87FB}"/>
              </a:ext>
            </a:extLst>
          </p:cNvPr>
          <p:cNvSpPr/>
          <p:nvPr/>
        </p:nvSpPr>
        <p:spPr>
          <a:xfrm>
            <a:off x="3685444" y="1685191"/>
            <a:ext cx="2004646" cy="24442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4A1A97-36D1-4BB4-94FF-7654DC0CD8E8}"/>
              </a:ext>
            </a:extLst>
          </p:cNvPr>
          <p:cNvSpPr/>
          <p:nvPr/>
        </p:nvSpPr>
        <p:spPr>
          <a:xfrm>
            <a:off x="4755174" y="213652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6D4C8F-E09D-4767-B29B-578B2EC111CE}"/>
              </a:ext>
            </a:extLst>
          </p:cNvPr>
          <p:cNvSpPr/>
          <p:nvPr/>
        </p:nvSpPr>
        <p:spPr>
          <a:xfrm>
            <a:off x="3820259" y="1890345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474EB-416D-4321-B6EB-D2D2BD76AB42}"/>
              </a:ext>
            </a:extLst>
          </p:cNvPr>
          <p:cNvSpPr/>
          <p:nvPr/>
        </p:nvSpPr>
        <p:spPr>
          <a:xfrm>
            <a:off x="4211517" y="276371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53D77C-3534-4F68-B1AC-7BB44E9A70C9}"/>
              </a:ext>
            </a:extLst>
          </p:cNvPr>
          <p:cNvSpPr/>
          <p:nvPr/>
        </p:nvSpPr>
        <p:spPr>
          <a:xfrm>
            <a:off x="4363916" y="3434860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639D4A-A116-4CC0-A339-59FBCDAAA2A1}"/>
              </a:ext>
            </a:extLst>
          </p:cNvPr>
          <p:cNvSpPr txBox="1"/>
          <p:nvPr/>
        </p:nvSpPr>
        <p:spPr>
          <a:xfrm>
            <a:off x="4116269" y="1391873"/>
            <a:ext cx="1398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N/4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758D316-D4B0-48C9-9F1D-0ABFD73A4DCE}"/>
              </a:ext>
            </a:extLst>
          </p:cNvPr>
          <p:cNvSpPr/>
          <p:nvPr/>
        </p:nvSpPr>
        <p:spPr>
          <a:xfrm>
            <a:off x="6288700" y="1685191"/>
            <a:ext cx="2004646" cy="2444262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9E8174-E97C-4EAF-842F-AED8B250A28D}"/>
              </a:ext>
            </a:extLst>
          </p:cNvPr>
          <p:cNvSpPr/>
          <p:nvPr/>
        </p:nvSpPr>
        <p:spPr>
          <a:xfrm>
            <a:off x="7358430" y="2136529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01A065-9908-4E28-999D-C3F98F6A6D93}"/>
              </a:ext>
            </a:extLst>
          </p:cNvPr>
          <p:cNvSpPr/>
          <p:nvPr/>
        </p:nvSpPr>
        <p:spPr>
          <a:xfrm>
            <a:off x="6423515" y="1890345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Load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780BF0-718C-4248-99E8-1EBADA43B4C8}"/>
              </a:ext>
            </a:extLst>
          </p:cNvPr>
          <p:cNvSpPr/>
          <p:nvPr/>
        </p:nvSpPr>
        <p:spPr>
          <a:xfrm>
            <a:off x="6814773" y="2763714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E98E322-611F-46C9-8CFE-37FFBA05DB81}"/>
              </a:ext>
            </a:extLst>
          </p:cNvPr>
          <p:cNvSpPr/>
          <p:nvPr/>
        </p:nvSpPr>
        <p:spPr>
          <a:xfrm>
            <a:off x="6967172" y="3434860"/>
            <a:ext cx="782516" cy="4923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89443C-4BE1-43B6-857F-4F5ED3B9F90C}"/>
              </a:ext>
            </a:extLst>
          </p:cNvPr>
          <p:cNvSpPr txBox="1"/>
          <p:nvPr/>
        </p:nvSpPr>
        <p:spPr>
          <a:xfrm>
            <a:off x="6719525" y="1391873"/>
            <a:ext cx="1515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2N/4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03E8F93-7168-4E14-ACEB-69DC17F4C510}"/>
              </a:ext>
            </a:extLst>
          </p:cNvPr>
          <p:cNvCxnSpPr/>
          <p:nvPr/>
        </p:nvCxnSpPr>
        <p:spPr>
          <a:xfrm>
            <a:off x="3342234" y="1225738"/>
            <a:ext cx="0" cy="5412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D8E28EF-DBD7-4ABB-97B5-719B2C8052CC}"/>
              </a:ext>
            </a:extLst>
          </p:cNvPr>
          <p:cNvCxnSpPr/>
          <p:nvPr/>
        </p:nvCxnSpPr>
        <p:spPr>
          <a:xfrm>
            <a:off x="5991650" y="1203418"/>
            <a:ext cx="0" cy="5412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BEA50DE-888F-47DA-833A-2A723AC748A8}"/>
              </a:ext>
            </a:extLst>
          </p:cNvPr>
          <p:cNvCxnSpPr/>
          <p:nvPr/>
        </p:nvCxnSpPr>
        <p:spPr>
          <a:xfrm>
            <a:off x="8699680" y="1203418"/>
            <a:ext cx="0" cy="5412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018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4C94B-553F-4491-9CFB-492FC3E5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BDBB4-DE5F-4D04-B797-6CDB2C160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If we have SPMD (single program, multiple data), where can we execute it?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have the best of all worlds with this case – </a:t>
            </a:r>
          </a:p>
          <a:p>
            <a:pPr marL="0" indent="0">
              <a:buNone/>
            </a:pPr>
            <a:r>
              <a:rPr lang="en-US" dirty="0"/>
              <a:t>We can run it in a loop on an SISD</a:t>
            </a:r>
          </a:p>
          <a:p>
            <a:pPr marL="0" indent="0">
              <a:buNone/>
            </a:pPr>
            <a:r>
              <a:rPr lang="en-US" dirty="0"/>
              <a:t>We can run it on MIMD (multi-core)</a:t>
            </a:r>
          </a:p>
          <a:p>
            <a:pPr marL="0" indent="0">
              <a:buNone/>
            </a:pPr>
            <a:r>
              <a:rPr lang="en-US" dirty="0"/>
              <a:t>We can run it in a vector processor (SIMD)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Because it is the same code and we are applying it to many pieces of data, we can run it anywhere.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AB203F-F49D-4AC2-ACFB-2EEE19529401}"/>
              </a:ext>
            </a:extLst>
          </p:cNvPr>
          <p:cNvSpPr txBox="1"/>
          <p:nvPr/>
        </p:nvSpPr>
        <p:spPr>
          <a:xfrm>
            <a:off x="7156113" y="265538"/>
            <a:ext cx="4878002" cy="83099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This model has another name:</a:t>
            </a:r>
          </a:p>
          <a:p>
            <a:r>
              <a:rPr lang="en-US" sz="2400" dirty="0"/>
              <a:t>SPMD: Single Program, Multiple Data </a:t>
            </a:r>
          </a:p>
        </p:txBody>
      </p:sp>
    </p:spTree>
    <p:extLst>
      <p:ext uri="{BB962C8B-B14F-4D97-AF65-F5344CB8AC3E}">
        <p14:creationId xmlns:p14="http://schemas.microsoft.com/office/powerpoint/2010/main" val="2928171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2CC98-1D25-496C-BE50-2BCF358F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911F-B17D-41A9-A7DB-2A1D2CD54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GPUs are SIMD, but they don’t use the “special” vector instruction model. They use a threading model.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vector processor is a very specific “machine” – you set it up and it runs until it is done.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GPU is more like a series of CPUs with threads – you can start threads, stop threads, etc. You can have different threads working on different programs, even.</a:t>
            </a:r>
          </a:p>
        </p:txBody>
      </p:sp>
    </p:spTree>
    <p:extLst>
      <p:ext uri="{BB962C8B-B14F-4D97-AF65-F5344CB8AC3E}">
        <p14:creationId xmlns:p14="http://schemas.microsoft.com/office/powerpoint/2010/main" val="2647807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4C2C4-3BA3-40CB-AB92-26716EBF5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14B62-37E1-4A6A-90D3-B18600170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Considering the last slide, how are GPUs, then, different from multi-core CPUs?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have support for threads executing the same instruction at the same time. These threads are a “warp” or a </a:t>
            </a:r>
            <a:r>
              <a:rPr lang="en-US" dirty="0" err="1"/>
              <a:t>wavefront</a:t>
            </a:r>
            <a:r>
              <a:rPr lang="en-US" dirty="0"/>
              <a:t>. This is done dynamically (i.e. programmatically). Doing this creates a SIMD operation.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size of the warp can be 1 to number of execution units.</a:t>
            </a:r>
          </a:p>
        </p:txBody>
      </p:sp>
    </p:spTree>
    <p:extLst>
      <p:ext uri="{BB962C8B-B14F-4D97-AF65-F5344CB8AC3E}">
        <p14:creationId xmlns:p14="http://schemas.microsoft.com/office/powerpoint/2010/main" val="1797171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EDE3CB8-FBBF-4BB7-A9E8-F9720E561916}"/>
              </a:ext>
            </a:extLst>
          </p:cNvPr>
          <p:cNvSpPr/>
          <p:nvPr/>
        </p:nvSpPr>
        <p:spPr>
          <a:xfrm>
            <a:off x="194733" y="2666260"/>
            <a:ext cx="10363197" cy="36933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F7ADDD6-7EAF-47BF-89F5-2AA0063750CB}"/>
              </a:ext>
            </a:extLst>
          </p:cNvPr>
          <p:cNvSpPr/>
          <p:nvPr/>
        </p:nvSpPr>
        <p:spPr>
          <a:xfrm>
            <a:off x="194732" y="3407024"/>
            <a:ext cx="10363197" cy="36933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3890B1D-9CC0-46BA-91A2-DFBBAF81879B}"/>
              </a:ext>
            </a:extLst>
          </p:cNvPr>
          <p:cNvSpPr/>
          <p:nvPr/>
        </p:nvSpPr>
        <p:spPr>
          <a:xfrm>
            <a:off x="205953" y="4196171"/>
            <a:ext cx="10363197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D16A2C-8622-4CEF-8C7B-06224AD430F0}"/>
              </a:ext>
            </a:extLst>
          </p:cNvPr>
          <p:cNvSpPr/>
          <p:nvPr/>
        </p:nvSpPr>
        <p:spPr>
          <a:xfrm>
            <a:off x="194734" y="1981200"/>
            <a:ext cx="10363197" cy="36933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450D0-D244-4EEE-8E0C-9BBC88A6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70" y="-4548"/>
            <a:ext cx="10515600" cy="1325563"/>
          </a:xfrm>
        </p:spPr>
        <p:txBody>
          <a:bodyPr/>
          <a:lstStyle/>
          <a:p>
            <a:r>
              <a:rPr lang="en-US" dirty="0"/>
              <a:t>On A GPU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FB16BD0-FAFE-4D88-97C0-893277579473}"/>
              </a:ext>
            </a:extLst>
          </p:cNvPr>
          <p:cNvGrpSpPr/>
          <p:nvPr/>
        </p:nvGrpSpPr>
        <p:grpSpPr>
          <a:xfrm>
            <a:off x="496310" y="1803079"/>
            <a:ext cx="1173355" cy="3005988"/>
            <a:chOff x="1453045" y="1803079"/>
            <a:chExt cx="1173355" cy="30059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9B5E59D-F425-4AAB-96BF-84EAF7F46D82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7D15EBF-CFB3-457B-885F-7F08D939874D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2247FA-7D1A-4637-830B-B1DC2A8519EC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340082C-82DE-4493-A328-4D8C4A800DE2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1DC14-2315-470C-82B5-3DBD34D12D44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9025D32-E444-4AD4-96D9-B80A646D2025}"/>
              </a:ext>
            </a:extLst>
          </p:cNvPr>
          <p:cNvSpPr txBox="1"/>
          <p:nvPr/>
        </p:nvSpPr>
        <p:spPr>
          <a:xfrm>
            <a:off x="347451" y="1323379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34B1B-F6F3-4B51-A676-A169AB4EB7CE}"/>
              </a:ext>
            </a:extLst>
          </p:cNvPr>
          <p:cNvSpPr txBox="1"/>
          <p:nvPr/>
        </p:nvSpPr>
        <p:spPr>
          <a:xfrm>
            <a:off x="6919642" y="1391873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639D4A-A116-4CC0-A339-59FBCDAAA2A1}"/>
              </a:ext>
            </a:extLst>
          </p:cNvPr>
          <p:cNvSpPr txBox="1"/>
          <p:nvPr/>
        </p:nvSpPr>
        <p:spPr>
          <a:xfrm>
            <a:off x="2456800" y="1391873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89443C-4BE1-43B6-857F-4F5ED3B9F90C}"/>
              </a:ext>
            </a:extLst>
          </p:cNvPr>
          <p:cNvSpPr txBox="1"/>
          <p:nvPr/>
        </p:nvSpPr>
        <p:spPr>
          <a:xfrm>
            <a:off x="4763720" y="1391873"/>
            <a:ext cx="1159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Iteration 3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DE56387-7B27-4339-8B61-614EC259E987}"/>
              </a:ext>
            </a:extLst>
          </p:cNvPr>
          <p:cNvGrpSpPr/>
          <p:nvPr/>
        </p:nvGrpSpPr>
        <p:grpSpPr>
          <a:xfrm>
            <a:off x="2473646" y="1803079"/>
            <a:ext cx="1173355" cy="3005988"/>
            <a:chOff x="1453045" y="1803079"/>
            <a:chExt cx="1173355" cy="300598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2CFF4E7-D7F2-47C2-98A4-1D2EEE29CE85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656C3FA-BB8E-4F68-9C61-72C7375281C0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3B5329D-0526-4AE3-8850-D8F29BEB7656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9B1A15F-EA05-4489-B985-B61F8093FCA5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D8C6BDB-08FC-459E-9642-618669130F58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1EB264B-237F-4744-B47C-83D3B75D95A0}"/>
              </a:ext>
            </a:extLst>
          </p:cNvPr>
          <p:cNvGrpSpPr/>
          <p:nvPr/>
        </p:nvGrpSpPr>
        <p:grpSpPr>
          <a:xfrm>
            <a:off x="4763720" y="1803079"/>
            <a:ext cx="1173355" cy="3005988"/>
            <a:chOff x="1453045" y="1803079"/>
            <a:chExt cx="1173355" cy="3005988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61E58D7-E3C0-4E8F-A0A0-0429D8B4E35A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8EC77D3-0933-41F1-9109-CA52D4E46972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0664007-433C-474B-B2B5-90777EE0F670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EAA2F05-B0A2-4C05-A743-0F82008B0912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B1341E6-964E-4F74-AFC9-E7E48AA25DA6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DF61405-4B6F-400A-9131-F874038652F2}"/>
              </a:ext>
            </a:extLst>
          </p:cNvPr>
          <p:cNvGrpSpPr/>
          <p:nvPr/>
        </p:nvGrpSpPr>
        <p:grpSpPr>
          <a:xfrm>
            <a:off x="6922442" y="1803079"/>
            <a:ext cx="1173355" cy="3005988"/>
            <a:chOff x="1453045" y="1803079"/>
            <a:chExt cx="1173355" cy="3005988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F71A5F9-8B46-4A7D-8527-83C4D5EF6768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AB6CBDA-DE02-4287-BDE1-D60BC824E6F1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2B835FB-3A74-45A7-8B02-5B43A58A94CA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9DD573C-CE15-4FED-A722-44499631D9C1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6E45F0E-840F-4B82-B499-2D728203BDD8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8862ED5-AB14-4CE4-90E0-A953A3523DDC}"/>
              </a:ext>
            </a:extLst>
          </p:cNvPr>
          <p:cNvSpPr txBox="1"/>
          <p:nvPr/>
        </p:nvSpPr>
        <p:spPr>
          <a:xfrm>
            <a:off x="9232061" y="1984939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Warp 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D3ECE3-EE98-43A5-8499-045AD819825B}"/>
              </a:ext>
            </a:extLst>
          </p:cNvPr>
          <p:cNvSpPr txBox="1"/>
          <p:nvPr/>
        </p:nvSpPr>
        <p:spPr>
          <a:xfrm>
            <a:off x="9232062" y="2666069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Warp 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7C2F4E-1210-40D9-BE2F-A3A3EAF77AC1}"/>
              </a:ext>
            </a:extLst>
          </p:cNvPr>
          <p:cNvSpPr txBox="1"/>
          <p:nvPr/>
        </p:nvSpPr>
        <p:spPr>
          <a:xfrm>
            <a:off x="9232061" y="339009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Warp 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AC985B-20B1-4E93-91B9-26B587FF69E5}"/>
              </a:ext>
            </a:extLst>
          </p:cNvPr>
          <p:cNvSpPr txBox="1"/>
          <p:nvPr/>
        </p:nvSpPr>
        <p:spPr>
          <a:xfrm>
            <a:off x="9232061" y="419598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Warp 3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2D8EE6-8578-499E-919B-0A395A2FA5C9}"/>
              </a:ext>
            </a:extLst>
          </p:cNvPr>
          <p:cNvCxnSpPr/>
          <p:nvPr/>
        </p:nvCxnSpPr>
        <p:spPr>
          <a:xfrm>
            <a:off x="11015133" y="1692711"/>
            <a:ext cx="0" cy="294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9194842-29B4-4009-9046-27A2B45D3112}"/>
              </a:ext>
            </a:extLst>
          </p:cNvPr>
          <p:cNvSpPr txBox="1"/>
          <p:nvPr/>
        </p:nvSpPr>
        <p:spPr>
          <a:xfrm>
            <a:off x="11116733" y="3137956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165AE4-F576-4DF5-B939-A360F8B9F869}"/>
              </a:ext>
            </a:extLst>
          </p:cNvPr>
          <p:cNvSpPr txBox="1"/>
          <p:nvPr/>
        </p:nvSpPr>
        <p:spPr>
          <a:xfrm>
            <a:off x="3327400" y="5630333"/>
            <a:ext cx="6450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iterations are working on the same instruction at the same time</a:t>
            </a:r>
            <a:br>
              <a:rPr lang="en-US" dirty="0"/>
            </a:br>
            <a:r>
              <a:rPr lang="en-US" dirty="0"/>
              <a:t>if they are part of the same warp.</a:t>
            </a:r>
          </a:p>
        </p:txBody>
      </p:sp>
    </p:spTree>
    <p:extLst>
      <p:ext uri="{BB962C8B-B14F-4D97-AF65-F5344CB8AC3E}">
        <p14:creationId xmlns:p14="http://schemas.microsoft.com/office/powerpoint/2010/main" val="1875016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F8A63-0599-4C8E-BEEA-4929C29E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Shader 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7FF9CF-B5F0-4928-8FE9-BDC0CCD47AB6}"/>
              </a:ext>
            </a:extLst>
          </p:cNvPr>
          <p:cNvSpPr/>
          <p:nvPr/>
        </p:nvSpPr>
        <p:spPr>
          <a:xfrm>
            <a:off x="7035801" y="390525"/>
            <a:ext cx="1498600" cy="544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PC, Mask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7ED9E-0BFE-4CBF-8047-ABB076A9F68C}"/>
              </a:ext>
            </a:extLst>
          </p:cNvPr>
          <p:cNvSpPr/>
          <p:nvPr/>
        </p:nvSpPr>
        <p:spPr>
          <a:xfrm>
            <a:off x="6400801" y="1264177"/>
            <a:ext cx="1498600" cy="643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 Cache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054C95-1668-4137-9CA3-BB7AFCDEE44C}"/>
              </a:ext>
            </a:extLst>
          </p:cNvPr>
          <p:cNvSpPr/>
          <p:nvPr/>
        </p:nvSpPr>
        <p:spPr>
          <a:xfrm>
            <a:off x="7150100" y="2236784"/>
            <a:ext cx="16383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766CE3-596B-4DA1-8353-CBE0E46CEB3C}"/>
              </a:ext>
            </a:extLst>
          </p:cNvPr>
          <p:cNvCxnSpPr/>
          <p:nvPr/>
        </p:nvCxnSpPr>
        <p:spPr>
          <a:xfrm>
            <a:off x="7306733" y="935037"/>
            <a:ext cx="0" cy="32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625DA4B-AF62-4853-9177-F24AE0FEE6A5}"/>
              </a:ext>
            </a:extLst>
          </p:cNvPr>
          <p:cNvCxnSpPr/>
          <p:nvPr/>
        </p:nvCxnSpPr>
        <p:spPr>
          <a:xfrm>
            <a:off x="7577667" y="1907644"/>
            <a:ext cx="0" cy="32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BCA012-B79B-43B7-A89C-61B98BA8A012}"/>
              </a:ext>
            </a:extLst>
          </p:cNvPr>
          <p:cNvCxnSpPr/>
          <p:nvPr/>
        </p:nvCxnSpPr>
        <p:spPr>
          <a:xfrm>
            <a:off x="8178800" y="935037"/>
            <a:ext cx="0" cy="130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5E563C2-FF10-4DAF-A727-B7E1B2414329}"/>
              </a:ext>
            </a:extLst>
          </p:cNvPr>
          <p:cNvGrpSpPr/>
          <p:nvPr/>
        </p:nvGrpSpPr>
        <p:grpSpPr>
          <a:xfrm>
            <a:off x="5934548" y="2971800"/>
            <a:ext cx="762000" cy="1029618"/>
            <a:chOff x="5071533" y="3225800"/>
            <a:chExt cx="762000" cy="102961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3E152D2-0A64-4AAC-A4F3-D732C3CD779D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283276A-7532-4EE7-BDAD-37FAB5274DA8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6D5A9FB-8066-4FAE-8993-17388153743B}"/>
                </a:ext>
              </a:extLst>
            </p:cNvPr>
            <p:cNvCxnSpPr>
              <a:cxnSpLocks/>
              <a:stCxn id="28" idx="2"/>
              <a:endCxn id="27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74E8B7-EC6F-4F7E-92E0-2FE5E0D054A4}"/>
              </a:ext>
            </a:extLst>
          </p:cNvPr>
          <p:cNvGrpSpPr/>
          <p:nvPr/>
        </p:nvGrpSpPr>
        <p:grpSpPr>
          <a:xfrm>
            <a:off x="6836128" y="2971800"/>
            <a:ext cx="762000" cy="1029618"/>
            <a:chOff x="5071533" y="3225800"/>
            <a:chExt cx="762000" cy="1029618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DC79C8C-B05F-42CB-ADE1-A9E686851FA8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A26D7B1-A0DA-475F-ABB9-AF9B3D61CD9D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8A6CE7F8-91C5-41DB-B637-02993A689F8E}"/>
                </a:ext>
              </a:extLst>
            </p:cNvPr>
            <p:cNvCxnSpPr>
              <a:cxnSpLocks/>
              <a:stCxn id="32" idx="2"/>
              <a:endCxn id="31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59233F-9C5E-4F13-A399-C015334C5990}"/>
              </a:ext>
            </a:extLst>
          </p:cNvPr>
          <p:cNvGrpSpPr/>
          <p:nvPr/>
        </p:nvGrpSpPr>
        <p:grpSpPr>
          <a:xfrm>
            <a:off x="7776453" y="2980266"/>
            <a:ext cx="762000" cy="1029618"/>
            <a:chOff x="5071533" y="3225800"/>
            <a:chExt cx="762000" cy="102961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91FBAD-A651-4D88-8378-E96DFB9A679C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12D3AAF-A42C-47D7-9B5A-F1DEA7E7800C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E7E4BE3-4274-4434-847F-9BC711A9E098}"/>
                </a:ext>
              </a:extLst>
            </p:cNvPr>
            <p:cNvCxnSpPr>
              <a:cxnSpLocks/>
              <a:stCxn id="36" idx="2"/>
              <a:endCxn id="35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391B004-B6CF-498B-A584-5BB0028E98A1}"/>
              </a:ext>
            </a:extLst>
          </p:cNvPr>
          <p:cNvGrpSpPr/>
          <p:nvPr/>
        </p:nvGrpSpPr>
        <p:grpSpPr>
          <a:xfrm>
            <a:off x="8788400" y="2971800"/>
            <a:ext cx="762000" cy="1029618"/>
            <a:chOff x="5071533" y="3225800"/>
            <a:chExt cx="762000" cy="1029618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E54AB4F-5BD6-4A42-8672-32BD6AA656DF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526F91A-05E5-43F8-B808-49ABC29F50F0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14EA500-9F33-419E-AABD-EAECABB7447A}"/>
                </a:ext>
              </a:extLst>
            </p:cNvPr>
            <p:cNvCxnSpPr>
              <a:cxnSpLocks/>
              <a:stCxn id="40" idx="2"/>
              <a:endCxn id="39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50ABE62-8711-4C2A-BF46-937D9A7E4436}"/>
              </a:ext>
            </a:extLst>
          </p:cNvPr>
          <p:cNvCxnSpPr>
            <a:endCxn id="28" idx="0"/>
          </p:cNvCxnSpPr>
          <p:nvPr/>
        </p:nvCxnSpPr>
        <p:spPr>
          <a:xfrm flipH="1">
            <a:off x="6315548" y="2579684"/>
            <a:ext cx="901580" cy="39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C5AB3C9-6681-4986-9424-9C225629C934}"/>
              </a:ext>
            </a:extLst>
          </p:cNvPr>
          <p:cNvCxnSpPr>
            <a:endCxn id="32" idx="0"/>
          </p:cNvCxnSpPr>
          <p:nvPr/>
        </p:nvCxnSpPr>
        <p:spPr>
          <a:xfrm flipH="1">
            <a:off x="7217128" y="2586826"/>
            <a:ext cx="233244" cy="384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FA50E57-990D-427D-9BCF-675D31C5FDC6}"/>
              </a:ext>
            </a:extLst>
          </p:cNvPr>
          <p:cNvCxnSpPr>
            <a:stCxn id="6" idx="2"/>
            <a:endCxn id="36" idx="0"/>
          </p:cNvCxnSpPr>
          <p:nvPr/>
        </p:nvCxnSpPr>
        <p:spPr>
          <a:xfrm>
            <a:off x="7969250" y="2579684"/>
            <a:ext cx="188203" cy="40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69B421B-6A58-432F-96E6-B1E34BA88899}"/>
              </a:ext>
            </a:extLst>
          </p:cNvPr>
          <p:cNvCxnSpPr>
            <a:endCxn id="40" idx="0"/>
          </p:cNvCxnSpPr>
          <p:nvPr/>
        </p:nvCxnSpPr>
        <p:spPr>
          <a:xfrm>
            <a:off x="8716778" y="2582593"/>
            <a:ext cx="452622" cy="389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50AC97F5-3DFA-48DE-B026-4E895D3AB6E0}"/>
              </a:ext>
            </a:extLst>
          </p:cNvPr>
          <p:cNvSpPr/>
          <p:nvPr/>
        </p:nvSpPr>
        <p:spPr>
          <a:xfrm>
            <a:off x="5934548" y="4357315"/>
            <a:ext cx="3615852" cy="318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Cache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A28322-A488-4CE4-8D27-BE4822679533}"/>
              </a:ext>
            </a:extLst>
          </p:cNvPr>
          <p:cNvSpPr/>
          <p:nvPr/>
        </p:nvSpPr>
        <p:spPr>
          <a:xfrm>
            <a:off x="5934548" y="5062185"/>
            <a:ext cx="3615852" cy="318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Writeback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F3FC198-D8B3-4ED4-82E5-A63B7C1671FB}"/>
              </a:ext>
            </a:extLst>
          </p:cNvPr>
          <p:cNvCxnSpPr>
            <a:stCxn id="27" idx="2"/>
          </p:cNvCxnSpPr>
          <p:nvPr/>
        </p:nvCxnSpPr>
        <p:spPr>
          <a:xfrm>
            <a:off x="6315548" y="4001418"/>
            <a:ext cx="0" cy="35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2A5064A-D96B-4758-9024-2FB1D8AB651C}"/>
              </a:ext>
            </a:extLst>
          </p:cNvPr>
          <p:cNvCxnSpPr>
            <a:stCxn id="31" idx="2"/>
          </p:cNvCxnSpPr>
          <p:nvPr/>
        </p:nvCxnSpPr>
        <p:spPr>
          <a:xfrm>
            <a:off x="7217128" y="4001418"/>
            <a:ext cx="0" cy="35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237FEDC-5F0C-4DF3-A7AB-26CBF469BE80}"/>
              </a:ext>
            </a:extLst>
          </p:cNvPr>
          <p:cNvCxnSpPr>
            <a:stCxn id="35" idx="2"/>
          </p:cNvCxnSpPr>
          <p:nvPr/>
        </p:nvCxnSpPr>
        <p:spPr>
          <a:xfrm>
            <a:off x="8157453" y="4009884"/>
            <a:ext cx="0" cy="347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914AE45-228D-4E2E-8060-D1E3BFEB85A2}"/>
              </a:ext>
            </a:extLst>
          </p:cNvPr>
          <p:cNvCxnSpPr>
            <a:stCxn id="39" idx="2"/>
          </p:cNvCxnSpPr>
          <p:nvPr/>
        </p:nvCxnSpPr>
        <p:spPr>
          <a:xfrm>
            <a:off x="9169400" y="4001418"/>
            <a:ext cx="0" cy="35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913B8C-BADE-481A-836C-3DE52E6A0DCD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>
            <a:off x="7742474" y="4676245"/>
            <a:ext cx="0" cy="385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AADD06E-DC16-4EC9-A6CF-20F4BC5A6033}"/>
              </a:ext>
            </a:extLst>
          </p:cNvPr>
          <p:cNvSpPr txBox="1"/>
          <p:nvPr/>
        </p:nvSpPr>
        <p:spPr>
          <a:xfrm>
            <a:off x="645404" y="2135825"/>
            <a:ext cx="42771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any thread is waiting for memory, all of the threads become </a:t>
            </a:r>
            <a:r>
              <a:rPr lang="en-US" dirty="0" err="1"/>
              <a:t>unschedulable</a:t>
            </a:r>
            <a:r>
              <a:rPr lang="en-US" dirty="0"/>
              <a:t>, waiting for memory accesses to complete.</a:t>
            </a:r>
          </a:p>
          <a:p>
            <a:endParaRPr lang="en-US" dirty="0"/>
          </a:p>
          <a:p>
            <a:r>
              <a:rPr lang="en-US" dirty="0"/>
              <a:t>This allows the GPU to make more effective use of the ALUs.</a:t>
            </a:r>
          </a:p>
        </p:txBody>
      </p:sp>
    </p:spTree>
    <p:extLst>
      <p:ext uri="{BB962C8B-B14F-4D97-AF65-F5344CB8AC3E}">
        <p14:creationId xmlns:p14="http://schemas.microsoft.com/office/powerpoint/2010/main" val="27154679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4AA7-641C-4C64-BE89-731A3853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Vector Processor To GPU Processor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EF4B43-CC08-417F-8AF6-068E62B9520F}"/>
              </a:ext>
            </a:extLst>
          </p:cNvPr>
          <p:cNvCxnSpPr/>
          <p:nvPr/>
        </p:nvCxnSpPr>
        <p:spPr>
          <a:xfrm>
            <a:off x="739471" y="2886323"/>
            <a:ext cx="10543430" cy="95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458D2A8-C090-4C7D-8BB5-E05162871E3C}"/>
              </a:ext>
            </a:extLst>
          </p:cNvPr>
          <p:cNvSpPr txBox="1"/>
          <p:nvPr/>
        </p:nvSpPr>
        <p:spPr>
          <a:xfrm>
            <a:off x="3578091" y="2623935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203A08-14C6-4FF0-BBF1-C87DD6DCE765}"/>
              </a:ext>
            </a:extLst>
          </p:cNvPr>
          <p:cNvCxnSpPr/>
          <p:nvPr/>
        </p:nvCxnSpPr>
        <p:spPr>
          <a:xfrm>
            <a:off x="732849" y="5336651"/>
            <a:ext cx="10543430" cy="95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83A833-E012-4B39-80A1-4A7E9B9D49DF}"/>
              </a:ext>
            </a:extLst>
          </p:cNvPr>
          <p:cNvSpPr txBox="1"/>
          <p:nvPr/>
        </p:nvSpPr>
        <p:spPr>
          <a:xfrm>
            <a:off x="3578091" y="5287156"/>
            <a:ext cx="10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Complete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4CFF81-3D70-45DE-8EAE-9C5C083013D7}"/>
              </a:ext>
            </a:extLst>
          </p:cNvPr>
          <p:cNvGrpSpPr/>
          <p:nvPr/>
        </p:nvGrpSpPr>
        <p:grpSpPr>
          <a:xfrm>
            <a:off x="1394614" y="2953641"/>
            <a:ext cx="1113074" cy="2264650"/>
            <a:chOff x="1453045" y="1803079"/>
            <a:chExt cx="1173355" cy="30059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9CBF6B-6A21-4CC7-BB80-2E92F1E3F6B7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2E6C6D-C97D-41AE-9059-397CC5E950FD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0A5A6C-D455-4D99-AF2A-0C4AE5216A75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86B9DA2-D0F5-4CC9-8197-45B815468C12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3FAAE3C-CF9B-4E1C-8CF4-7651BFA8B9F1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E79920B-4640-4C21-90F5-07D70B8E6A41}"/>
              </a:ext>
            </a:extLst>
          </p:cNvPr>
          <p:cNvSpPr txBox="1"/>
          <p:nvPr/>
        </p:nvSpPr>
        <p:spPr>
          <a:xfrm>
            <a:off x="1557902" y="5359612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5F959D-7B69-4391-9B82-D1BAF68A6400}"/>
              </a:ext>
            </a:extLst>
          </p:cNvPr>
          <p:cNvSpPr txBox="1"/>
          <p:nvPr/>
        </p:nvSpPr>
        <p:spPr>
          <a:xfrm>
            <a:off x="2536357" y="4757906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361EF8-80F6-4A74-BB6C-101DF1DBB1CA}"/>
              </a:ext>
            </a:extLst>
          </p:cNvPr>
          <p:cNvSpPr txBox="1"/>
          <p:nvPr/>
        </p:nvSpPr>
        <p:spPr>
          <a:xfrm>
            <a:off x="2527724" y="4193717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1DA636-DA25-4B14-A5E9-7F3876952775}"/>
              </a:ext>
            </a:extLst>
          </p:cNvPr>
          <p:cNvSpPr txBox="1"/>
          <p:nvPr/>
        </p:nvSpPr>
        <p:spPr>
          <a:xfrm>
            <a:off x="2551005" y="3629528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1CC8B8-291E-4E5B-96B9-DF16C8C2C939}"/>
              </a:ext>
            </a:extLst>
          </p:cNvPr>
          <p:cNvSpPr txBox="1"/>
          <p:nvPr/>
        </p:nvSpPr>
        <p:spPr>
          <a:xfrm>
            <a:off x="2542842" y="3077451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7254CF-F433-4D0B-A31E-BC4AB5CFE0AA}"/>
              </a:ext>
            </a:extLst>
          </p:cNvPr>
          <p:cNvSpPr txBox="1"/>
          <p:nvPr/>
        </p:nvSpPr>
        <p:spPr>
          <a:xfrm>
            <a:off x="1602712" y="2374896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5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6C09B7A-356F-4F77-B891-302DD5CCD3C5}"/>
              </a:ext>
            </a:extLst>
          </p:cNvPr>
          <p:cNvGrpSpPr/>
          <p:nvPr/>
        </p:nvGrpSpPr>
        <p:grpSpPr>
          <a:xfrm>
            <a:off x="5066310" y="3043312"/>
            <a:ext cx="1113074" cy="2264650"/>
            <a:chOff x="1453045" y="1803079"/>
            <a:chExt cx="1173355" cy="300598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48B7C40-996A-405A-B9BD-FBE04DE3B594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2AC7B38-3D0C-4157-81FF-5818E35B3EEB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374AB2-D077-468C-9BD8-F8DFC83CBEF0}"/>
                </a:ext>
              </a:extLst>
            </p:cNvPr>
            <p:cNvSpPr/>
            <p:nvPr/>
          </p:nvSpPr>
          <p:spPr>
            <a:xfrm>
              <a:off x="1681218" y="192124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088FD0E-F66A-4D33-96A9-D17EB2136843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C10735-803C-4509-B335-1C91BB645260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EEA894-3678-4A53-96C1-DF84C56628AC}"/>
              </a:ext>
            </a:extLst>
          </p:cNvPr>
          <p:cNvGrpSpPr/>
          <p:nvPr/>
        </p:nvGrpSpPr>
        <p:grpSpPr>
          <a:xfrm>
            <a:off x="6986394" y="3061392"/>
            <a:ext cx="1113074" cy="2264650"/>
            <a:chOff x="1453045" y="1803079"/>
            <a:chExt cx="1173355" cy="30059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AAD0E70-2FAA-4595-ADAE-7D0F30429FCD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27388C7-06CA-462C-9879-B63AE2FE01DB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0D614B-12A2-49A0-BE60-F5F703EDC3EE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ED303ED-F7C6-42EB-A80C-1CB6A061F32D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EB34C20-6AF8-4FE9-972A-6958A35646FC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164A517-5B6D-4A32-ACD1-022298958F78}"/>
              </a:ext>
            </a:extLst>
          </p:cNvPr>
          <p:cNvGrpSpPr/>
          <p:nvPr/>
        </p:nvGrpSpPr>
        <p:grpSpPr>
          <a:xfrm>
            <a:off x="8753002" y="3081435"/>
            <a:ext cx="1113074" cy="2264650"/>
            <a:chOff x="1453045" y="1803079"/>
            <a:chExt cx="1173355" cy="300598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0CE9361-A61D-483B-BD41-B58367A62FA2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4AC24C2-BF47-43AB-9912-32750132124F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0CD385-E079-46E2-A58E-E5456F164104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F27793B-2E20-4C9B-A577-20C0AF80A3A6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7D03D05-7636-4AB4-BAC5-2ED4C4C7570B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8B45EA-5D5E-4948-892D-3D42BD35DF21}"/>
              </a:ext>
            </a:extLst>
          </p:cNvPr>
          <p:cNvGrpSpPr/>
          <p:nvPr/>
        </p:nvGrpSpPr>
        <p:grpSpPr>
          <a:xfrm>
            <a:off x="10451417" y="3074258"/>
            <a:ext cx="1113074" cy="2264650"/>
            <a:chOff x="1453045" y="1803079"/>
            <a:chExt cx="1173355" cy="3005988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D9B95934-6CE0-455C-B692-5474BD2622E2}"/>
                </a:ext>
              </a:extLst>
            </p:cNvPr>
            <p:cNvSpPr/>
            <p:nvPr/>
          </p:nvSpPr>
          <p:spPr>
            <a:xfrm>
              <a:off x="1453045" y="1803079"/>
              <a:ext cx="1173355" cy="3005988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6AB0ABD-70CD-4A8D-902F-E0C06AD37078}"/>
                </a:ext>
              </a:extLst>
            </p:cNvPr>
            <p:cNvSpPr/>
            <p:nvPr/>
          </p:nvSpPr>
          <p:spPr>
            <a:xfrm>
              <a:off x="1681218" y="2645587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08023D5-B973-45EE-93D0-DFE897B3D055}"/>
                </a:ext>
              </a:extLst>
            </p:cNvPr>
            <p:cNvSpPr/>
            <p:nvPr/>
          </p:nvSpPr>
          <p:spPr>
            <a:xfrm>
              <a:off x="1681218" y="1921246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Load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CB841E4-56BE-4FD2-AF58-B71BA1C7B908}"/>
                </a:ext>
              </a:extLst>
            </p:cNvPr>
            <p:cNvSpPr/>
            <p:nvPr/>
          </p:nvSpPr>
          <p:spPr>
            <a:xfrm>
              <a:off x="1681218" y="339435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Add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0311257-9543-4696-8130-12C0566ED7A4}"/>
                </a:ext>
              </a:extLst>
            </p:cNvPr>
            <p:cNvSpPr/>
            <p:nvPr/>
          </p:nvSpPr>
          <p:spPr>
            <a:xfrm>
              <a:off x="1681218" y="4148465"/>
              <a:ext cx="782516" cy="49236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Store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C798DF9-224E-4300-8F0D-7CC2A6B5133E}"/>
              </a:ext>
            </a:extLst>
          </p:cNvPr>
          <p:cNvSpPr txBox="1"/>
          <p:nvPr/>
        </p:nvSpPr>
        <p:spPr>
          <a:xfrm>
            <a:off x="5238578" y="5394942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B5D91C-86D9-4A06-9EC5-C62FA084C6A8}"/>
              </a:ext>
            </a:extLst>
          </p:cNvPr>
          <p:cNvSpPr txBox="1"/>
          <p:nvPr/>
        </p:nvSpPr>
        <p:spPr>
          <a:xfrm>
            <a:off x="7149682" y="5411475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22591F-FEC3-4D99-BDC5-FCC03C3D1E91}"/>
              </a:ext>
            </a:extLst>
          </p:cNvPr>
          <p:cNvSpPr txBox="1"/>
          <p:nvPr/>
        </p:nvSpPr>
        <p:spPr>
          <a:xfrm>
            <a:off x="10645776" y="5420108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8F8CAE-EB92-496B-A47D-9DC7AAE56906}"/>
              </a:ext>
            </a:extLst>
          </p:cNvPr>
          <p:cNvSpPr txBox="1"/>
          <p:nvPr/>
        </p:nvSpPr>
        <p:spPr>
          <a:xfrm>
            <a:off x="8947361" y="5411591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9B7C43-9329-4BD3-91E9-BC12D72F85F6}"/>
              </a:ext>
            </a:extLst>
          </p:cNvPr>
          <p:cNvSpPr txBox="1"/>
          <p:nvPr/>
        </p:nvSpPr>
        <p:spPr>
          <a:xfrm>
            <a:off x="5965119" y="4840576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89E7F7-59D6-4146-8200-D0D25FC039B1}"/>
              </a:ext>
            </a:extLst>
          </p:cNvPr>
          <p:cNvSpPr txBox="1"/>
          <p:nvPr/>
        </p:nvSpPr>
        <p:spPr>
          <a:xfrm>
            <a:off x="7890154" y="4840576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AACDAA3-35EB-40CD-8A81-AE0D27CE2065}"/>
              </a:ext>
            </a:extLst>
          </p:cNvPr>
          <p:cNvSpPr txBox="1"/>
          <p:nvPr/>
        </p:nvSpPr>
        <p:spPr>
          <a:xfrm>
            <a:off x="9655643" y="4858368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21668D-506D-47A0-BF0D-10BF6D160A1D}"/>
              </a:ext>
            </a:extLst>
          </p:cNvPr>
          <p:cNvSpPr txBox="1"/>
          <p:nvPr/>
        </p:nvSpPr>
        <p:spPr>
          <a:xfrm>
            <a:off x="11343665" y="4889137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9CB180-796F-4E57-91BF-99E28FEDB72C}"/>
              </a:ext>
            </a:extLst>
          </p:cNvPr>
          <p:cNvSpPr txBox="1"/>
          <p:nvPr/>
        </p:nvSpPr>
        <p:spPr>
          <a:xfrm>
            <a:off x="5969602" y="4253723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8DAC99-34EF-467B-80C1-0AB867BF13AB}"/>
              </a:ext>
            </a:extLst>
          </p:cNvPr>
          <p:cNvSpPr txBox="1"/>
          <p:nvPr/>
        </p:nvSpPr>
        <p:spPr>
          <a:xfrm>
            <a:off x="7894637" y="4253723"/>
            <a:ext cx="786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FF2CDF-52AA-43CF-BD92-94D4827ADE56}"/>
              </a:ext>
            </a:extLst>
          </p:cNvPr>
          <p:cNvSpPr txBox="1"/>
          <p:nvPr/>
        </p:nvSpPr>
        <p:spPr>
          <a:xfrm>
            <a:off x="9660126" y="4271515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DCFC16-CAF5-45FC-9AF3-FF3AA7002DF7}"/>
              </a:ext>
            </a:extLst>
          </p:cNvPr>
          <p:cNvSpPr txBox="1"/>
          <p:nvPr/>
        </p:nvSpPr>
        <p:spPr>
          <a:xfrm>
            <a:off x="11348148" y="4302284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B3319D6-9489-4DD0-A8C3-17D4DF7BCDB2}"/>
              </a:ext>
            </a:extLst>
          </p:cNvPr>
          <p:cNvSpPr txBox="1"/>
          <p:nvPr/>
        </p:nvSpPr>
        <p:spPr>
          <a:xfrm>
            <a:off x="5227829" y="2470217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264F9D-DB5C-47FD-B62B-BC087DF11FEA}"/>
              </a:ext>
            </a:extLst>
          </p:cNvPr>
          <p:cNvSpPr txBox="1"/>
          <p:nvPr/>
        </p:nvSpPr>
        <p:spPr>
          <a:xfrm>
            <a:off x="7138933" y="2486750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21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132755-1DAF-4AEF-9902-2EC3DE1EC9AA}"/>
              </a:ext>
            </a:extLst>
          </p:cNvPr>
          <p:cNvSpPr txBox="1"/>
          <p:nvPr/>
        </p:nvSpPr>
        <p:spPr>
          <a:xfrm>
            <a:off x="10635027" y="2495383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23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89EED1-8A4F-4133-9EFB-7E23881C06D6}"/>
              </a:ext>
            </a:extLst>
          </p:cNvPr>
          <p:cNvSpPr txBox="1"/>
          <p:nvPr/>
        </p:nvSpPr>
        <p:spPr>
          <a:xfrm>
            <a:off x="8936612" y="2486866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22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564186-8F22-41BE-82C0-667C91E3989B}"/>
              </a:ext>
            </a:extLst>
          </p:cNvPr>
          <p:cNvSpPr txBox="1"/>
          <p:nvPr/>
        </p:nvSpPr>
        <p:spPr>
          <a:xfrm>
            <a:off x="6002606" y="3683733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393916-8FB4-4D76-9C97-86D76C2413CB}"/>
              </a:ext>
            </a:extLst>
          </p:cNvPr>
          <p:cNvSpPr txBox="1"/>
          <p:nvPr/>
        </p:nvSpPr>
        <p:spPr>
          <a:xfrm>
            <a:off x="7822137" y="3707334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CF9183-4B3C-46FA-9198-41D28A6D3AA1}"/>
              </a:ext>
            </a:extLst>
          </p:cNvPr>
          <p:cNvSpPr txBox="1"/>
          <p:nvPr/>
        </p:nvSpPr>
        <p:spPr>
          <a:xfrm>
            <a:off x="9640995" y="3709002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9D7128-4A6E-4D29-871E-387B725B7F63}"/>
              </a:ext>
            </a:extLst>
          </p:cNvPr>
          <p:cNvSpPr txBox="1"/>
          <p:nvPr/>
        </p:nvSpPr>
        <p:spPr>
          <a:xfrm>
            <a:off x="11329017" y="3739771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E636AE-0C13-4364-98B1-C6815D26EC28}"/>
              </a:ext>
            </a:extLst>
          </p:cNvPr>
          <p:cNvSpPr txBox="1"/>
          <p:nvPr/>
        </p:nvSpPr>
        <p:spPr>
          <a:xfrm>
            <a:off x="5970567" y="3129500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649BE3-C2B9-4204-B821-50E7500F8411}"/>
              </a:ext>
            </a:extLst>
          </p:cNvPr>
          <p:cNvSpPr txBox="1"/>
          <p:nvPr/>
        </p:nvSpPr>
        <p:spPr>
          <a:xfrm>
            <a:off x="7790098" y="3153101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760736-BBF2-4021-81BA-6B53742C9516}"/>
              </a:ext>
            </a:extLst>
          </p:cNvPr>
          <p:cNvSpPr txBox="1"/>
          <p:nvPr/>
        </p:nvSpPr>
        <p:spPr>
          <a:xfrm>
            <a:off x="9608956" y="3154769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C0791E-C7A0-4239-8902-40C0DAB52AE3}"/>
              </a:ext>
            </a:extLst>
          </p:cNvPr>
          <p:cNvSpPr txBox="1"/>
          <p:nvPr/>
        </p:nvSpPr>
        <p:spPr>
          <a:xfrm>
            <a:off x="11296978" y="3185538"/>
            <a:ext cx="903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Item 19</a:t>
            </a:r>
          </a:p>
        </p:txBody>
      </p:sp>
    </p:spTree>
    <p:extLst>
      <p:ext uri="{BB962C8B-B14F-4D97-AF65-F5344CB8AC3E}">
        <p14:creationId xmlns:p14="http://schemas.microsoft.com/office/powerpoint/2010/main" val="508668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3EF2-5215-48C2-8C19-9337E5B3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Dividing your program into warps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5C7CE-113A-4193-8FED-AB34BA42B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bigger the warp, the more parallelism you get from having only a single PC/instruction decode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bigger the warp, the more likely that you get a memory stall and your whole warp gets unscheduled until the memory access completes.</a:t>
            </a:r>
          </a:p>
        </p:txBody>
      </p:sp>
    </p:spTree>
    <p:extLst>
      <p:ext uri="{BB962C8B-B14F-4D97-AF65-F5344CB8AC3E}">
        <p14:creationId xmlns:p14="http://schemas.microsoft.com/office/powerpoint/2010/main" val="13488151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741D3-84A7-4C5C-AC4D-1F438418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 Divergence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F1894-1B51-40AA-8543-2CD4775F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happens if you have a piece of code:</a:t>
            </a: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for (int i=0;i&lt;N;i++)</a:t>
            </a:r>
          </a:p>
          <a:p>
            <a:pPr marL="0" indent="0">
              <a:buNone/>
            </a:pP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	if (b[i]&gt; 0)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    c[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a[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+ b[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else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    c[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a[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- b[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660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264B-00AD-41EF-A6F8-286527F0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of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D5CC2-618C-421C-8706-14AE9BD59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Your warp splits into 2 warps; some execute one path some execute the other. Then they come back together to become one warp again.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lot like the vector mask, in that some data elements run for one warp and some run for another.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stack is kept to track the threads of execution.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408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57E993-E7C2-4A41-AAE9-B067E439222C}"/>
              </a:ext>
            </a:extLst>
          </p:cNvPr>
          <p:cNvSpPr/>
          <p:nvPr/>
        </p:nvSpPr>
        <p:spPr>
          <a:xfrm>
            <a:off x="201432" y="249284"/>
            <a:ext cx="4195639" cy="148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for (int i=0;i&lt;N;i++)</a:t>
            </a:r>
          </a:p>
          <a:p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	if (b[i]&gt; 0)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    c[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a[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+ b[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else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	    c[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 a[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- b[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333C7B-423D-43B4-8CD1-C6C98759EDC7}"/>
              </a:ext>
            </a:extLst>
          </p:cNvPr>
          <p:cNvSpPr/>
          <p:nvPr/>
        </p:nvSpPr>
        <p:spPr>
          <a:xfrm>
            <a:off x="1671099" y="2674290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(1)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E0823D-4636-448E-AE6C-ED00C170C981}"/>
              </a:ext>
            </a:extLst>
          </p:cNvPr>
          <p:cNvSpPr/>
          <p:nvPr/>
        </p:nvSpPr>
        <p:spPr>
          <a:xfrm>
            <a:off x="534062" y="3683442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(2)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EA58B-6D85-4567-A518-BFB7CA4744CF}"/>
              </a:ext>
            </a:extLst>
          </p:cNvPr>
          <p:cNvSpPr/>
          <p:nvPr/>
        </p:nvSpPr>
        <p:spPr>
          <a:xfrm>
            <a:off x="2834640" y="3683441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Subtract (3)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F65419-595A-485C-B3A6-6991C13CFC5D}"/>
              </a:ext>
            </a:extLst>
          </p:cNvPr>
          <p:cNvSpPr/>
          <p:nvPr/>
        </p:nvSpPr>
        <p:spPr>
          <a:xfrm>
            <a:off x="1671099" y="4692594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Complete (4)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E23DAC7-0143-443E-9C55-0C3E82E5E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57408"/>
              </p:ext>
            </p:extLst>
          </p:nvPr>
        </p:nvGraphicFramePr>
        <p:xfrm>
          <a:off x="5422790" y="1866788"/>
          <a:ext cx="6566010" cy="1973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8670">
                  <a:extLst>
                    <a:ext uri="{9D8B030D-6E8A-4147-A177-3AD203B41FA5}">
                      <a16:colId xmlns:a16="http://schemas.microsoft.com/office/drawing/2014/main" val="298701340"/>
                    </a:ext>
                  </a:extLst>
                </a:gridCol>
                <a:gridCol w="2188670">
                  <a:extLst>
                    <a:ext uri="{9D8B030D-6E8A-4147-A177-3AD203B41FA5}">
                      <a16:colId xmlns:a16="http://schemas.microsoft.com/office/drawing/2014/main" val="743635267"/>
                    </a:ext>
                  </a:extLst>
                </a:gridCol>
                <a:gridCol w="2188670">
                  <a:extLst>
                    <a:ext uri="{9D8B030D-6E8A-4147-A177-3AD203B41FA5}">
                      <a16:colId xmlns:a16="http://schemas.microsoft.com/office/drawing/2014/main" val="3667435985"/>
                    </a:ext>
                  </a:extLst>
                </a:gridCol>
              </a:tblGrid>
              <a:tr h="493423">
                <a:tc>
                  <a:txBody>
                    <a:bodyPr/>
                    <a:lstStyle/>
                    <a:p>
                      <a:r>
                        <a:rPr lang="en-US" dirty="0"/>
                        <a:t>Reconvene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Next 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Active Mask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0867070"/>
                  </a:ext>
                </a:extLst>
              </a:tr>
              <a:tr h="493423">
                <a:tc>
                  <a:txBody>
                    <a:bodyPr/>
                    <a:lstStyle/>
                    <a:p>
                      <a:r>
                        <a:rPr lang="en-US" dirty="0"/>
                        <a:t>----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433161"/>
                  </a:ext>
                </a:extLst>
              </a:tr>
              <a:tr h="49342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298993"/>
                  </a:ext>
                </a:extLst>
              </a:tr>
              <a:tr h="49342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5972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9549868-3014-4FC1-B679-821284EAC67B}"/>
              </a:ext>
            </a:extLst>
          </p:cNvPr>
          <p:cNvSpPr txBox="1"/>
          <p:nvPr/>
        </p:nvSpPr>
        <p:spPr>
          <a:xfrm>
            <a:off x="6941046" y="5369780"/>
            <a:ext cx="50729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Notice that we get less effectively done with this method for the amount of CPU time used</a:t>
            </a:r>
          </a:p>
        </p:txBody>
      </p:sp>
    </p:spTree>
    <p:extLst>
      <p:ext uri="{BB962C8B-B14F-4D97-AF65-F5344CB8AC3E}">
        <p14:creationId xmlns:p14="http://schemas.microsoft.com/office/powerpoint/2010/main" val="28769015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AE69-DC45-46F3-B47C-FAC900B5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Warp 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964AD-9F00-45C5-AC17-2274D0FB1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the GPU could determine if A[</a:t>
            </a:r>
            <a:r>
              <a:rPr lang="en-US" dirty="0" err="1"/>
              <a:t>i</a:t>
            </a:r>
            <a:r>
              <a:rPr lang="en-US" dirty="0"/>
              <a:t>] &gt; B[</a:t>
            </a:r>
            <a:r>
              <a:rPr lang="en-US" dirty="0" err="1"/>
              <a:t>i</a:t>
            </a:r>
            <a:r>
              <a:rPr lang="en-US" dirty="0"/>
              <a:t>] and group all of those into one set of warps and all of the A[</a:t>
            </a:r>
            <a:r>
              <a:rPr lang="en-US" dirty="0" err="1"/>
              <a:t>i</a:t>
            </a:r>
            <a:r>
              <a:rPr lang="en-US" dirty="0"/>
              <a:t>] &lt;= B[</a:t>
            </a:r>
            <a:r>
              <a:rPr lang="en-US" dirty="0" err="1"/>
              <a:t>i</a:t>
            </a:r>
            <a:r>
              <a:rPr lang="en-US" dirty="0"/>
              <a:t>] into another warp.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That would mean that we don’t need branch divergence!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26645-3866-42FC-919B-8EC908174B7E}"/>
              </a:ext>
            </a:extLst>
          </p:cNvPr>
          <p:cNvSpPr/>
          <p:nvPr/>
        </p:nvSpPr>
        <p:spPr>
          <a:xfrm>
            <a:off x="4128052" y="3731814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(1)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806031-4B7E-422B-A1AE-432BE9FFD72F}"/>
              </a:ext>
            </a:extLst>
          </p:cNvPr>
          <p:cNvSpPr/>
          <p:nvPr/>
        </p:nvSpPr>
        <p:spPr>
          <a:xfrm>
            <a:off x="4128052" y="4740965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(2)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62F8B-9AD9-447F-83D5-36B95B83E98A}"/>
              </a:ext>
            </a:extLst>
          </p:cNvPr>
          <p:cNvSpPr/>
          <p:nvPr/>
        </p:nvSpPr>
        <p:spPr>
          <a:xfrm>
            <a:off x="4128052" y="5750118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Complete (4)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6DF40-7F37-4482-B759-50F6A935204B}"/>
              </a:ext>
            </a:extLst>
          </p:cNvPr>
          <p:cNvSpPr/>
          <p:nvPr/>
        </p:nvSpPr>
        <p:spPr>
          <a:xfrm>
            <a:off x="8753725" y="3731814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Compare (1)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FBC1D5-0C6D-48EA-BA40-9311D2FF7EF0}"/>
              </a:ext>
            </a:extLst>
          </p:cNvPr>
          <p:cNvSpPr/>
          <p:nvPr/>
        </p:nvSpPr>
        <p:spPr>
          <a:xfrm>
            <a:off x="8753725" y="4740965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Subtract (3)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DDFA5C-C82F-4E54-9B5A-3BFF2C92DF62}"/>
              </a:ext>
            </a:extLst>
          </p:cNvPr>
          <p:cNvSpPr/>
          <p:nvPr/>
        </p:nvSpPr>
        <p:spPr>
          <a:xfrm>
            <a:off x="8753725" y="5750118"/>
            <a:ext cx="1868556" cy="6758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Complete (4)</a:t>
            </a:r>
          </a:p>
        </p:txBody>
      </p:sp>
    </p:spTree>
    <p:extLst>
      <p:ext uri="{BB962C8B-B14F-4D97-AF65-F5344CB8AC3E}">
        <p14:creationId xmlns:p14="http://schemas.microsoft.com/office/powerpoint/2010/main" val="8659845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A7A5-CFED-4712-9986-1453984F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781"/>
            <a:ext cx="10515600" cy="777755"/>
          </a:xfrm>
        </p:spPr>
        <p:txBody>
          <a:bodyPr/>
          <a:lstStyle/>
          <a:p>
            <a:r>
              <a:rPr lang="en-US" dirty="0"/>
              <a:t>Hardware constraints ruin our perfect plan…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EBC6D-16E6-4F39-A2DA-8A785745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41390" cy="16968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Remember our shader hardware diagram: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0CF894-F3E8-49A7-906A-D560C9216ED9}"/>
              </a:ext>
            </a:extLst>
          </p:cNvPr>
          <p:cNvSpPr/>
          <p:nvPr/>
        </p:nvSpPr>
        <p:spPr>
          <a:xfrm>
            <a:off x="3926841" y="1312876"/>
            <a:ext cx="1498600" cy="5445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PC, Mask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F55FB-B827-4624-9640-DCE3E031AA91}"/>
              </a:ext>
            </a:extLst>
          </p:cNvPr>
          <p:cNvSpPr/>
          <p:nvPr/>
        </p:nvSpPr>
        <p:spPr>
          <a:xfrm>
            <a:off x="3291841" y="2186528"/>
            <a:ext cx="1498600" cy="6434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Instruction Cache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BFE503-6539-4F26-912B-468817C494F9}"/>
              </a:ext>
            </a:extLst>
          </p:cNvPr>
          <p:cNvSpPr/>
          <p:nvPr/>
        </p:nvSpPr>
        <p:spPr>
          <a:xfrm>
            <a:off x="4041140" y="3159135"/>
            <a:ext cx="16383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Decode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50C813-E4DF-4B78-A5BB-E1E3D7A8348F}"/>
              </a:ext>
            </a:extLst>
          </p:cNvPr>
          <p:cNvCxnSpPr/>
          <p:nvPr/>
        </p:nvCxnSpPr>
        <p:spPr>
          <a:xfrm>
            <a:off x="4197773" y="1857388"/>
            <a:ext cx="0" cy="32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EC8FF2-FF87-499D-B1B8-0A3CCE17AAAB}"/>
              </a:ext>
            </a:extLst>
          </p:cNvPr>
          <p:cNvCxnSpPr/>
          <p:nvPr/>
        </p:nvCxnSpPr>
        <p:spPr>
          <a:xfrm>
            <a:off x="4468707" y="2829995"/>
            <a:ext cx="0" cy="329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D955AE-FD49-4D16-A9F7-0F85E80A10F5}"/>
              </a:ext>
            </a:extLst>
          </p:cNvPr>
          <p:cNvCxnSpPr/>
          <p:nvPr/>
        </p:nvCxnSpPr>
        <p:spPr>
          <a:xfrm>
            <a:off x="5069840" y="1857388"/>
            <a:ext cx="0" cy="130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507086-CC0F-4500-9968-6DF4EC12DB58}"/>
              </a:ext>
            </a:extLst>
          </p:cNvPr>
          <p:cNvGrpSpPr/>
          <p:nvPr/>
        </p:nvGrpSpPr>
        <p:grpSpPr>
          <a:xfrm>
            <a:off x="2825588" y="3894151"/>
            <a:ext cx="762000" cy="1029618"/>
            <a:chOff x="5071533" y="3225800"/>
            <a:chExt cx="762000" cy="10296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AB56534-466B-4A50-80B4-3D8EE5DB62B2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9E8A666-93C2-40CA-8A7D-767B5CF0A4D7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64F3C16-899E-45C5-9A8A-2253CCD74F23}"/>
                </a:ext>
              </a:extLst>
            </p:cNvPr>
            <p:cNvCxnSpPr>
              <a:cxnSpLocks/>
              <a:stCxn id="12" idx="2"/>
              <a:endCxn id="11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2E6187-9462-4608-A44D-2292161C4146}"/>
              </a:ext>
            </a:extLst>
          </p:cNvPr>
          <p:cNvGrpSpPr/>
          <p:nvPr/>
        </p:nvGrpSpPr>
        <p:grpSpPr>
          <a:xfrm>
            <a:off x="3727168" y="3894151"/>
            <a:ext cx="762000" cy="1029618"/>
            <a:chOff x="5071533" y="3225800"/>
            <a:chExt cx="762000" cy="102961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153EB1D-F102-444F-BD17-369986B667F3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BFA3F5-BF92-433A-91F7-50D60466F5E3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F620163-E0D7-49AC-AB4A-6853D0C7D5D2}"/>
                </a:ext>
              </a:extLst>
            </p:cNvPr>
            <p:cNvCxnSpPr>
              <a:cxnSpLocks/>
              <a:stCxn id="16" idx="2"/>
              <a:endCxn id="15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411D69-8E28-40CE-B5EB-1497846215E4}"/>
              </a:ext>
            </a:extLst>
          </p:cNvPr>
          <p:cNvGrpSpPr/>
          <p:nvPr/>
        </p:nvGrpSpPr>
        <p:grpSpPr>
          <a:xfrm>
            <a:off x="4667493" y="3902617"/>
            <a:ext cx="762000" cy="1029618"/>
            <a:chOff x="5071533" y="3225800"/>
            <a:chExt cx="762000" cy="102961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70B621-096A-43DC-8550-EED8561399B9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F627B4-7DBB-4586-915A-916B00191C3A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7A21CE4-2DDE-4B14-81E9-B1A6E92AD40D}"/>
                </a:ext>
              </a:extLst>
            </p:cNvPr>
            <p:cNvCxnSpPr>
              <a:cxnSpLocks/>
              <a:stCxn id="20" idx="2"/>
              <a:endCxn id="19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FD47CC-92B7-4892-A32B-8532695E0EDC}"/>
              </a:ext>
            </a:extLst>
          </p:cNvPr>
          <p:cNvGrpSpPr/>
          <p:nvPr/>
        </p:nvGrpSpPr>
        <p:grpSpPr>
          <a:xfrm>
            <a:off x="5679440" y="3894151"/>
            <a:ext cx="762000" cy="1029618"/>
            <a:chOff x="5071533" y="3225800"/>
            <a:chExt cx="762000" cy="102961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BEDFEC-5792-4D17-9F65-69743D3FC7D9}"/>
                </a:ext>
              </a:extLst>
            </p:cNvPr>
            <p:cNvSpPr/>
            <p:nvPr/>
          </p:nvSpPr>
          <p:spPr>
            <a:xfrm>
              <a:off x="5071533" y="3849018"/>
              <a:ext cx="762000" cy="406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ALU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1B75EDF-B0D0-4F14-89A5-DC34082BB2D0}"/>
                </a:ext>
              </a:extLst>
            </p:cNvPr>
            <p:cNvSpPr/>
            <p:nvPr/>
          </p:nvSpPr>
          <p:spPr>
            <a:xfrm>
              <a:off x="5071533" y="3225800"/>
              <a:ext cx="762000" cy="4233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Fetch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4CC62F5-0780-4FE8-A077-B88927B93E19}"/>
                </a:ext>
              </a:extLst>
            </p:cNvPr>
            <p:cNvCxnSpPr>
              <a:cxnSpLocks/>
              <a:stCxn id="24" idx="2"/>
              <a:endCxn id="23" idx="0"/>
            </p:cNvCxnSpPr>
            <p:nvPr/>
          </p:nvCxnSpPr>
          <p:spPr>
            <a:xfrm>
              <a:off x="5452533" y="3649133"/>
              <a:ext cx="0" cy="199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32EE81-A4A1-4AAA-81FD-878E88BE8345}"/>
              </a:ext>
            </a:extLst>
          </p:cNvPr>
          <p:cNvCxnSpPr>
            <a:endCxn id="12" idx="0"/>
          </p:cNvCxnSpPr>
          <p:nvPr/>
        </p:nvCxnSpPr>
        <p:spPr>
          <a:xfrm flipH="1">
            <a:off x="3206588" y="3502035"/>
            <a:ext cx="901580" cy="39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5511F9-EA6F-4AD0-9100-CD13C628D959}"/>
              </a:ext>
            </a:extLst>
          </p:cNvPr>
          <p:cNvCxnSpPr>
            <a:endCxn id="16" idx="0"/>
          </p:cNvCxnSpPr>
          <p:nvPr/>
        </p:nvCxnSpPr>
        <p:spPr>
          <a:xfrm flipH="1">
            <a:off x="4108168" y="3509177"/>
            <a:ext cx="233244" cy="384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127B02-1488-4430-B4BB-F0E7D3E30E4E}"/>
              </a:ext>
            </a:extLst>
          </p:cNvPr>
          <p:cNvCxnSpPr>
            <a:stCxn id="6" idx="2"/>
            <a:endCxn id="20" idx="0"/>
          </p:cNvCxnSpPr>
          <p:nvPr/>
        </p:nvCxnSpPr>
        <p:spPr>
          <a:xfrm>
            <a:off x="4860290" y="3502035"/>
            <a:ext cx="188203" cy="400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7C17792-BDA3-40C6-A97B-74F50100AC6F}"/>
              </a:ext>
            </a:extLst>
          </p:cNvPr>
          <p:cNvCxnSpPr>
            <a:endCxn id="24" idx="0"/>
          </p:cNvCxnSpPr>
          <p:nvPr/>
        </p:nvCxnSpPr>
        <p:spPr>
          <a:xfrm>
            <a:off x="5607818" y="3504944"/>
            <a:ext cx="452622" cy="389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B005255-3ECF-481D-BABD-8E63F73AB1D9}"/>
              </a:ext>
            </a:extLst>
          </p:cNvPr>
          <p:cNvSpPr/>
          <p:nvPr/>
        </p:nvSpPr>
        <p:spPr>
          <a:xfrm>
            <a:off x="2825588" y="5279666"/>
            <a:ext cx="3615852" cy="318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Cache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37581B-5B09-4745-ABEF-A24B2266065F}"/>
              </a:ext>
            </a:extLst>
          </p:cNvPr>
          <p:cNvSpPr/>
          <p:nvPr/>
        </p:nvSpPr>
        <p:spPr>
          <a:xfrm>
            <a:off x="2825588" y="5984536"/>
            <a:ext cx="3615852" cy="318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Writeback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EB8DC6-512B-48E9-8218-A682EDEB6020}"/>
              </a:ext>
            </a:extLst>
          </p:cNvPr>
          <p:cNvCxnSpPr>
            <a:stCxn id="11" idx="2"/>
          </p:cNvCxnSpPr>
          <p:nvPr/>
        </p:nvCxnSpPr>
        <p:spPr>
          <a:xfrm>
            <a:off x="3206588" y="4923769"/>
            <a:ext cx="0" cy="35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98D1C0-64BB-4B36-9A3F-C263AEA3EE57}"/>
              </a:ext>
            </a:extLst>
          </p:cNvPr>
          <p:cNvCxnSpPr>
            <a:stCxn id="15" idx="2"/>
          </p:cNvCxnSpPr>
          <p:nvPr/>
        </p:nvCxnSpPr>
        <p:spPr>
          <a:xfrm>
            <a:off x="4108168" y="4923769"/>
            <a:ext cx="0" cy="35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490FAB7-2776-47BE-8191-6AA821FAC964}"/>
              </a:ext>
            </a:extLst>
          </p:cNvPr>
          <p:cNvCxnSpPr>
            <a:stCxn id="19" idx="2"/>
          </p:cNvCxnSpPr>
          <p:nvPr/>
        </p:nvCxnSpPr>
        <p:spPr>
          <a:xfrm>
            <a:off x="5048493" y="4932235"/>
            <a:ext cx="0" cy="347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FFD950-E389-459E-8C2A-DFAC4150B73F}"/>
              </a:ext>
            </a:extLst>
          </p:cNvPr>
          <p:cNvCxnSpPr>
            <a:stCxn id="23" idx="2"/>
          </p:cNvCxnSpPr>
          <p:nvPr/>
        </p:nvCxnSpPr>
        <p:spPr>
          <a:xfrm>
            <a:off x="6060440" y="4923769"/>
            <a:ext cx="0" cy="355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27FCB40-0036-4D25-92E5-AC2D6953A8FF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4633514" y="5598596"/>
            <a:ext cx="0" cy="385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BC316D2D-593F-4663-B570-7A13BAF3496E}"/>
              </a:ext>
            </a:extLst>
          </p:cNvPr>
          <p:cNvSpPr txBox="1">
            <a:spLocks/>
          </p:cNvSpPr>
          <p:nvPr/>
        </p:nvSpPr>
        <p:spPr>
          <a:xfrm>
            <a:off x="8743121" y="2989210"/>
            <a:ext cx="3088413" cy="28152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All of our code runs in the ALU; the fetch is into registers.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 can’t just switch “lanes”.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ECB828-C6B0-4AB3-A91E-7DFEFD3F4DEB}"/>
              </a:ext>
            </a:extLst>
          </p:cNvPr>
          <p:cNvCxnSpPr>
            <a:endCxn id="23" idx="3"/>
          </p:cNvCxnSpPr>
          <p:nvPr/>
        </p:nvCxnSpPr>
        <p:spPr>
          <a:xfrm flipH="1">
            <a:off x="6441440" y="3698093"/>
            <a:ext cx="2304995" cy="1022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487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E888-76C4-4D48-8502-79FD4F0B1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wins 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49BDF-F084-4CB6-A62B-BCFAC21A0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GPUs are designed to work on millions of data items.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chances that there will be roughly the same amount of work for each slot increases as the number of data items increase, if there is no bias of selection.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 additional hardware is necessary to make this work better.</a:t>
            </a:r>
          </a:p>
        </p:txBody>
      </p:sp>
    </p:spTree>
    <p:extLst>
      <p:ext uri="{BB962C8B-B14F-4D97-AF65-F5344CB8AC3E}">
        <p14:creationId xmlns:p14="http://schemas.microsoft.com/office/powerpoint/2010/main" val="133917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B71C-FB6B-4C59-9719-E70F3C70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parallelism roundup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C15C-E33C-4C75-A7C8-B05BB9D1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Vector processors are simplified “one at a time” pipelines.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Array processors are made up of many ALUs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GPUs are arrays of vector processors that use the simplified model to do a lot of simple work very quickly.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2324</Words>
  <Application>Microsoft Office PowerPoint</Application>
  <PresentationFormat>Widescreen</PresentationFormat>
  <Paragraphs>394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Office Theme</vt:lpstr>
      <vt:lpstr>More Parallelism</vt:lpstr>
      <vt:lpstr>Some Taxonomy (Flynn’s)</vt:lpstr>
      <vt:lpstr>Single Instruction Stream, Single Data Stream</vt:lpstr>
      <vt:lpstr>Other Options</vt:lpstr>
      <vt:lpstr>Data Parallelism</vt:lpstr>
      <vt:lpstr>Key Concept</vt:lpstr>
      <vt:lpstr>Two Options</vt:lpstr>
      <vt:lpstr>Vector processors sound like CPUs!</vt:lpstr>
      <vt:lpstr>Making a array processor</vt:lpstr>
      <vt:lpstr>A note about memory</vt:lpstr>
      <vt:lpstr>If only everything were quite this simple…</vt:lpstr>
      <vt:lpstr>Does the diagram help?</vt:lpstr>
      <vt:lpstr>Memory can’t serve two (or three) masters</vt:lpstr>
      <vt:lpstr>More “fun” with memory</vt:lpstr>
      <vt:lpstr>A little more…</vt:lpstr>
      <vt:lpstr>One more masking example</vt:lpstr>
      <vt:lpstr>Loop Unrolling</vt:lpstr>
      <vt:lpstr>Let’s think about a piece of simple code</vt:lpstr>
      <vt:lpstr>We can think about  this as a simple in-order</vt:lpstr>
      <vt:lpstr>Or a vector processor (SIMD)</vt:lpstr>
      <vt:lpstr>Or a multi-core CPU</vt:lpstr>
      <vt:lpstr>Execution Model</vt:lpstr>
      <vt:lpstr>GPUs</vt:lpstr>
      <vt:lpstr>GPUs</vt:lpstr>
      <vt:lpstr>On A GPU</vt:lpstr>
      <vt:lpstr>Shader Core</vt:lpstr>
      <vt:lpstr>Compare Vector Processor To GPU Processor</vt:lpstr>
      <vt:lpstr>Dividing your program into warps</vt:lpstr>
      <vt:lpstr>Branch Divergence</vt:lpstr>
      <vt:lpstr>Stack of execution</vt:lpstr>
      <vt:lpstr>PowerPoint Presentation</vt:lpstr>
      <vt:lpstr>Dynamic Warp Formation</vt:lpstr>
      <vt:lpstr>Hardware constraints ruin our perfect plan…</vt:lpstr>
      <vt:lpstr>Parallelism wins out…</vt:lpstr>
      <vt:lpstr>More parallelism roundup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Parallelism</dc:title>
  <dc:creator>Michael Phipps</dc:creator>
  <cp:lastModifiedBy>Phipps, Michael</cp:lastModifiedBy>
  <cp:revision>32</cp:revision>
  <dcterms:created xsi:type="dcterms:W3CDTF">2018-08-16T18:55:54Z</dcterms:created>
  <dcterms:modified xsi:type="dcterms:W3CDTF">2021-10-26T16:51:22Z</dcterms:modified>
</cp:coreProperties>
</file>